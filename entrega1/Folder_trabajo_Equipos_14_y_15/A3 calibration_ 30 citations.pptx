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SLIDES_API50336891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SLIDES_API5033689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SLIDES_API50336891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SLIDES_API50336891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SLIDES_API503368914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SLIDES_API503368914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We used VGG19 network consisting of 16 convolutional and 5 max-pooling layers, as implemented in MatConvNet[CITE] and pre-trained on the ImageNet dataset for the image classification.</a:t>
            </a:r>
            <a:endParaRPr/>
          </a:p>
          <a:p>
            <a:pPr indent="0" lvl="0" marL="0" rtl="0" algn="l">
              <a:spcBef>
                <a:spcPts val="0"/>
              </a:spcBef>
              <a:spcAft>
                <a:spcPts val="0"/>
              </a:spcAft>
              <a:buNone/>
            </a:pPr>
            <a:r>
              <a:rPr lang="en"/>
              <a:t>To be constistant with [CITE] and [CITE], we used the conv layers after the pooling</a:t>
            </a:r>
            <a:endParaRPr/>
          </a:p>
          <a:p>
            <a:pPr indent="0" lvl="0" marL="0" rtl="0" algn="l">
              <a:spcBef>
                <a:spcPts val="0"/>
              </a:spcBef>
              <a:spcAft>
                <a:spcPts val="0"/>
              </a:spcAft>
              <a:buNone/>
            </a:pPr>
            <a:r>
              <a:rPr lang="en"/>
              <a:t>. We also added the input as Layer 0 which enables the tracker to benefit from NCC tracking, hence [FORMULA]input, conv1_1, conv2_1, conv3_1, conv4_1, conv5_1[FORMULA] .In our implementation, [FORMULA] , regularization weights [FORMULA] are determined with cross-validation on YouTubeBB [[TARGET]] and are fixed for all the experiments, others parameters are similar to [CITE].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[Object detection] We then compared the relative difficulty of YT-BB and COCO for object detection. We used two instances of a Faster-RCNN REF detection proposal architecture [CITE] paired with an Inception-ResNet-v2 REF feature network [CITE], [CITE]. Increasing the number of detection proposal results in improved object localizations at the expense of more computationally expensive inference and training. We selected a set of hyperparameters that resulted in 1400b FLOPs per frame for inference. Both instances were partially initialized with the weights of an Inception-ResNet-v2 image classification system trained on the ImageNet 2012 Challenge data set [CITE]. One instance was subsequently trained further on YT-BB (“the YT-BB model”) and another on COCO (“the COCO model”).</a:t>
            </a:r>
            <a:endParaRPr/>
          </a:p>
          <a:p>
            <a:pPr indent="0" lvl="0" marL="0" rtl="0" algn="l">
              <a:spcBef>
                <a:spcPts val="0"/>
              </a:spcBef>
              <a:spcAft>
                <a:spcPts val="0"/>
              </a:spcAft>
              <a:buNone/>
            </a:pPr>
            <a:r>
              <a:rPr lang="en"/>
              <a:t> We evaluated the performance of each model by measuring the mean precision-recall curve across all 23 classes. These results are summarized across several</a:t>
            </a:r>
            <a:endParaRPr/>
          </a:p>
          <a:p>
            <a:pPr indent="0" lvl="0" marL="0" rtl="0" algn="l">
              <a:spcBef>
                <a:spcPts val="0"/>
              </a:spcBef>
              <a:spcAft>
                <a:spcPts val="0"/>
              </a:spcAft>
              <a:buNone/>
            </a:pPr>
            <a:r>
              <a:rPr lang="en"/>
              <a:t>standard calculations of mAP for object detection in Table REF and delineated by class in Supplementary Table REF . We find that training on YT-BB (mAP = 0.59) is easier than on COCO (mAP = 0.43). This result is consistent when measured across a range of detection box sizes.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[Image classification] We started by comparing the relative difficulty of two instances of the same image classification model, one trained on YT-BB (“the YT-BB model”) and one trained on COCO (“the COCO model”). Our data set has explicit classification annotations. For COCO, we treated the presence or absence of any object localization of a class as either a positive or negative label, respectively. Both models employed an Inception-v3See Supplementary Section  for GitHub locations. architecture [CITE] with logistic regression, implemented in TensorFlow[CITE]. The choice of logistic regression reflects the fact that multiple labels may be associated with a single image. Both models were initialized with the weights of an Inception-v3 image classification system pre-trained on the ImageNet 2012 Challenge data set [CITE] and subsequently fine-tuned on YT-BB/COCO individually.</a:t>
            </a:r>
            <a:endParaRPr/>
          </a:p>
          <a:p>
            <a:pPr indent="0" lvl="0" marL="0" rtl="0" algn="l">
              <a:spcBef>
                <a:spcPts val="0"/>
              </a:spcBef>
              <a:spcAft>
                <a:spcPts val="0"/>
              </a:spcAft>
              <a:buNone/>
            </a:pPr>
            <a:r>
              <a:rPr lang="en"/>
              <a:t> We measured the mean precision-recall curve across all 23 classes (excluding the “NONE” class since it is not available in COCO). These results are shown in the dark curves in Figure REF . We find that training on YT-BB (mAP = 0.93) is easier than on COCO (mAP = 0.83), which could reflect the larger amount of training data per-class available in YT-BB.</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[Exploiting temporal information in videos] For the object detection task, we down-weighted spurious weak object detections that appeared in single video frames but not in neighboring frames. Specifically, we artificially multiplied by [FORMULA] the confidence scores of detected objects that did not overlap significantly with previous and subsequent frame detections (IOU [FORMULA] ; confidence [FORMULA] ). Figure REF shows the effects of this manipulation on the precision-recall curves. When aggregating across all classes, temporal smoothing slightly reduces model performance (mAP = 0.36 vs mAP = 0.37). We broke down this result to expose the diversity of behavior across labels. This revealed elevated precision-recall curves for some classes (“knife”, “bus”) but lowered curves for other classes (“person”). In principle, a unified model could at least learn which classes benefit and apply the correction only to those. Despite the mixed results, this analysis suggests that taking into account the temporal structure of the video could result in better detection models.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SLIDES_API503368914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SLIDES_API503368914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SLIDES_API503368914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SLIDES_API503368914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The SINet-Caption is inspired by prior work using hierarchical LSTM for captioning task [[TARGET]], [CITE], and we extend it with the proposed recurrent higher-order interaction module so that the model can leverage the detected higher-order object interactions, as shown in Figure REF .</a:t>
            </a:r>
            <a:endParaRPr/>
          </a:p>
          <a:p>
            <a:pPr indent="0" lvl="0" marL="0" rtl="0" algn="l">
              <a:spcBef>
                <a:spcPts val="0"/>
              </a:spcBef>
              <a:spcAft>
                <a:spcPts val="0"/>
              </a:spcAft>
              <a:buNone/>
            </a:pPr>
            <a:r>
              <a:rPr lang="en"/>
              <a:t>The model consist of two LSTM layers: Attention LSTM and Language LSTM.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[Top-Down Attention LSTM] Within the captioning model, we characterize the first LSTM layer as a top-down visual attention model, and the second LSTM layer as a language model, indicating each layer with superscripts in the equations that follow. Note that the bottom-up attention model is described in sec:rcnn, and in this section its outputs are simply considered as features [FORMULA] . The input vector to the attention LSTM at each time step consists of the previous output of the language LSTM, concatenated with the mean-pooled image feature [FORMULA] and an encoding of the previously generated word, given by:</a:t>
            </a:r>
            <a:endParaRPr/>
          </a:p>
          <a:p>
            <a:pPr indent="0" lvl="0" marL="0" rtl="0" algn="l">
              <a:spcBef>
                <a:spcPts val="0"/>
              </a:spcBef>
              <a:spcAft>
                <a:spcPts val="0"/>
              </a:spcAft>
              <a:buNone/>
            </a:pPr>
            <a:r>
              <a:rPr lang="en"/>
              <a:t>[FORMULA] </a:t>
            </a:r>
            <a:endParaRPr/>
          </a:p>
          <a:p>
            <a:pPr indent="0" lvl="0" marL="0" rtl="0" algn="l">
              <a:spcBef>
                <a:spcPts val="0"/>
              </a:spcBef>
              <a:spcAft>
                <a:spcPts val="0"/>
              </a:spcAft>
              <a:buNone/>
            </a:pPr>
            <a:r>
              <a:rPr lang="en"/>
              <a:t> where [FORMULA] is a word embedding matrix for a vocabulary [FORMULA] , and [FORMULA] is one-hot encoding of the input word at timestep [FORMULA] . These inputs provide the attention LSTM with maximum context regarding the state of the language LSTM, the overall content of the image, and the partial caption output generated so far, respectively. The word embedding is learned from random initialization without pretraining.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[Captioning Model] Given a set of image features [FORMULA] , our proposed captioning model uses a `soft' top-down attention mechanism to weight each feature during caption generation, using the existing partial output sequence as context. This approach is broadly similar to several previous works [CITE], [CITE], [CITE]. However, the particular design choices outlined below make for a relatively simple yet high-performing baseline model. Even without bottom-up attention, our captioning model achieves performance comparable to state-of-the-art on most evaluation metrics (refer tab:karpathy).</a:t>
            </a:r>
            <a:endParaRPr/>
          </a:p>
          <a:p>
            <a:pPr indent="0" lvl="0" marL="0" rtl="0" algn="l">
              <a:spcBef>
                <a:spcPts val="0"/>
              </a:spcBef>
              <a:spcAft>
                <a:spcPts val="0"/>
              </a:spcAft>
              <a:buNone/>
            </a:pPr>
            <a:r>
              <a:rPr lang="en"/>
              <a:t> At a high level, the captioning model is composed of two LSTM [CITE] layers using a standard implementation [CITE]. In the sections that follow we will refer to the operation of the LSTM over a single time step using the following notation:</a:t>
            </a:r>
            <a:endParaRPr/>
          </a:p>
          <a:p>
            <a:pPr indent="0" lvl="0" marL="0" rtl="0" algn="l">
              <a:spcBef>
                <a:spcPts val="0"/>
              </a:spcBef>
              <a:spcAft>
                <a:spcPts val="0"/>
              </a:spcAft>
              <a:buNone/>
            </a:pPr>
            <a:r>
              <a:rPr lang="en"/>
              <a:t>[FORMULA]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[VQA Model] Given a set of spatial image features [FORMULA] , our proposed VQA model also uses a `soft' top-down attention mechanism to weight each feature, using the question representation as context. As illustrated in fig:vqa, the proposed model implements the well-known joint multimodal embedding of the question and the image, followed by a prediction of regression of scores over a set of candidate answers. This approach has been the basis of numerous previous models [CITE], [CITE], [CITE]. However, as with our captioning model, implementation decisions are important to ensure that this relatively simple model delivers high performance.</a:t>
            </a:r>
            <a:endParaRPr/>
          </a:p>
          <a:p>
            <a:pPr indent="0" lvl="0" marL="0" rtl="0" algn="l">
              <a:spcBef>
                <a:spcPts val="0"/>
              </a:spcBef>
              <a:spcAft>
                <a:spcPts val="0"/>
              </a:spcAft>
              <a:buNone/>
            </a:pPr>
            <a:r>
              <a:rPr lang="en"/>
              <a:t> The learned non-linear transformations within the network are implemented with gated hyperbolic tangent activations [CITE]. These are a special case of highway networks [CITE] that have shown a strong empirical advantage over traditional ReLU or tanh layers. Each of our `gated tanh' layers implements a function [FORMULA] with parameters [FORMULA] defined as follows:</a:t>
            </a:r>
            <a:endParaRPr/>
          </a:p>
          <a:p>
            <a:pPr indent="0" lvl="0" marL="0" rtl="0" algn="l">
              <a:spcBef>
                <a:spcPts val="0"/>
              </a:spcBef>
              <a:spcAft>
                <a:spcPts val="0"/>
              </a:spcAft>
              <a:buNone/>
            </a:pPr>
            <a:r>
              <a:rPr lang="en"/>
              <a:t>[FORMULA]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SLIDES_API503368914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SLIDES_API503368914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SLIDES_API503368914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SLIDES_API503368914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Skeleton-based action recognition has attracted growing attention in the realm of computer vision and a variety of methods have been proposed over the past decades.</a:t>
            </a:r>
            <a:endParaRPr/>
          </a:p>
          <a:p>
            <a:pPr indent="0" lvl="0" marL="0" rtl="0" algn="l">
              <a:spcBef>
                <a:spcPts val="0"/>
              </a:spcBef>
              <a:spcAft>
                <a:spcPts val="0"/>
              </a:spcAft>
              <a:buNone/>
            </a:pPr>
            <a:r>
              <a:rPr lang="en"/>
              <a:t>For a detailed survey we refer the reader to [[TARGET]], [CITE], [CITE], while here we provide a brief literature review.</a:t>
            </a:r>
            <a:endParaRPr/>
          </a:p>
          <a:p>
            <a:pPr indent="0" lvl="0" marL="0" rtl="0" algn="l">
              <a:spcBef>
                <a:spcPts val="0"/>
              </a:spcBef>
              <a:spcAft>
                <a:spcPts val="0"/>
              </a:spcAft>
              <a:buNone/>
            </a:pPr>
            <a:r>
              <a:rPr lang="en"/>
              <a:t>The early works on skeleton-based action recognition are based on hand-crafted features [CITE], [CITE], [CITE], [CITE],</a:t>
            </a:r>
            <a:endParaRPr/>
          </a:p>
          <a:p>
            <a:pPr indent="0" lvl="0" marL="0" rtl="0" algn="l">
              <a:spcBef>
                <a:spcPts val="0"/>
              </a:spcBef>
              <a:spcAft>
                <a:spcPts val="0"/>
              </a:spcAft>
              <a:buNone/>
            </a:pPr>
            <a:r>
              <a:rPr lang="en"/>
              <a:t>while recent approaches are devised by designing deep neural networks (DNNs) like convolutional neural networks</a:t>
            </a:r>
            <a:endParaRPr/>
          </a:p>
          <a:p>
            <a:pPr indent="0" lvl="0" marL="0" rtl="0" algn="l">
              <a:spcBef>
                <a:spcPts val="0"/>
              </a:spcBef>
              <a:spcAft>
                <a:spcPts val="0"/>
              </a:spcAft>
              <a:buNone/>
            </a:pPr>
            <a:r>
              <a:rPr lang="en"/>
              <a:t>(CNNs) [CITE], [CITE], [CITE] and recurrent neural networks (RNNs) [CITE], [CITE], [CITE].</a:t>
            </a:r>
            <a:endParaRPr/>
          </a:p>
          <a:p>
            <a:pPr indent="0" lvl="0" marL="0" rtl="0" algn="l">
              <a:spcBef>
                <a:spcPts val="0"/>
              </a:spcBef>
              <a:spcAft>
                <a:spcPts val="0"/>
              </a:spcAft>
              <a:buNone/>
            </a:pPr>
            <a:r>
              <a:rPr lang="en"/>
              <a:t>In order to better capture the relationship of different joints in the spatial domain or dependency of different frames in the temporal domain,</a:t>
            </a:r>
            <a:endParaRPr/>
          </a:p>
          <a:p>
            <a:pPr indent="0" lvl="0" marL="0" rtl="0" algn="l">
              <a:spcBef>
                <a:spcPts val="0"/>
              </a:spcBef>
              <a:spcAft>
                <a:spcPts val="0"/>
              </a:spcAft>
              <a:buNone/>
            </a:pPr>
            <a:r>
              <a:rPr lang="en"/>
              <a:t>a number of works utilized the attention mechanisms [CITE], [CITE], [CITE] and</a:t>
            </a:r>
            <a:endParaRPr/>
          </a:p>
          <a:p>
            <a:pPr indent="0" lvl="0" marL="0" rtl="0" algn="l">
              <a:spcBef>
                <a:spcPts val="0"/>
              </a:spcBef>
              <a:spcAft>
                <a:spcPts val="0"/>
              </a:spcAft>
              <a:buNone/>
            </a:pPr>
            <a:r>
              <a:rPr lang="en"/>
              <a:t>graph neural networks (GNNs) [CITE], [CITE], [CITE], [CITE], [CITE] more recently.</a:t>
            </a:r>
            <a:endParaRPr/>
          </a:p>
          <a:p>
            <a:pPr indent="0" lvl="0" marL="0" rtl="0" algn="l">
              <a:spcBef>
                <a:spcPts val="0"/>
              </a:spcBef>
              <a:spcAft>
                <a:spcPts val="0"/>
              </a:spcAft>
              <a:buNone/>
            </a:pPr>
            <a:r>
              <a:rPr lang="en"/>
              <a:t>Besides, there are various works using both skeleton joints and RGB videos as inputs for action recognition [CITE], [CITE], [CITE]. For example, Verma et al. [CITE] design two deep neural networks (DNNs) models for the multi-modal inputs respectively, and use a weight product model (WPM) to fuse the softmax scores obtained from the two DNNs.</a:t>
            </a:r>
            <a:endParaRPr/>
          </a:p>
          <a:p>
            <a:pPr indent="0" lvl="0" marL="0" rtl="0" algn="l">
              <a:spcBef>
                <a:spcPts val="0"/>
              </a:spcBef>
              <a:spcAft>
                <a:spcPts val="0"/>
              </a:spcAft>
              <a:buNone/>
            </a:pPr>
            <a:r>
              <a:rPr lang="en"/>
              <a:t>Different from these works which deal with the input videos from the same dataset during training and testing phases,</a:t>
            </a:r>
            <a:endParaRPr/>
          </a:p>
          <a:p>
            <a:pPr indent="0" lvl="0" marL="0" rtl="0" algn="l">
              <a:spcBef>
                <a:spcPts val="0"/>
              </a:spcBef>
              <a:spcAft>
                <a:spcPts val="0"/>
              </a:spcAft>
              <a:buNone/>
            </a:pPr>
            <a:r>
              <a:rPr lang="en"/>
              <a:t>we study a more practical and challenging UDA setting to deal with the samples across different datasets.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[Introduction] Several survey papers were published in related research areas</a:t>
            </a:r>
            <a:endParaRPr/>
          </a:p>
          <a:p>
            <a:pPr indent="0" lvl="0" marL="0" rtl="0" algn="l">
              <a:spcBef>
                <a:spcPts val="0"/>
              </a:spcBef>
              <a:spcAft>
                <a:spcPts val="0"/>
              </a:spcAft>
              <a:buNone/>
            </a:pPr>
            <a:r>
              <a:rPr lang="en"/>
              <a:t>such as motion and activity recognition.</a:t>
            </a:r>
            <a:endParaRPr/>
          </a:p>
          <a:p>
            <a:pPr indent="0" lvl="0" marL="0" rtl="0" algn="l">
              <a:spcBef>
                <a:spcPts val="0"/>
              </a:spcBef>
              <a:spcAft>
                <a:spcPts val="0"/>
              </a:spcAft>
              <a:buNone/>
            </a:pPr>
            <a:r>
              <a:rPr lang="en"/>
              <a:t>For example,</a:t>
            </a:r>
            <a:endParaRPr/>
          </a:p>
          <a:p>
            <a:pPr indent="0" lvl="0" marL="0" rtl="0" algn="l">
              <a:spcBef>
                <a:spcPts val="0"/>
              </a:spcBef>
              <a:spcAft>
                <a:spcPts val="0"/>
              </a:spcAft>
              <a:buNone/>
            </a:pPr>
            <a:r>
              <a:rPr lang="en"/>
              <a:t>Han et al. [CITE] described the Kinect sensor and its general application in computer vision and machine intelligence.</a:t>
            </a:r>
            <a:endParaRPr/>
          </a:p>
          <a:p>
            <a:pPr indent="0" lvl="0" marL="0" rtl="0" algn="l">
              <a:spcBef>
                <a:spcPts val="0"/>
              </a:spcBef>
              <a:spcAft>
                <a:spcPts val="0"/>
              </a:spcAft>
              <a:buNone/>
            </a:pPr>
            <a:r>
              <a:rPr lang="en"/>
              <a:t>Aggarwal and Xia [CITE] recently published a review paper on</a:t>
            </a:r>
            <a:endParaRPr/>
          </a:p>
          <a:p>
            <a:pPr indent="0" lvl="0" marL="0" rtl="0" algn="l">
              <a:spcBef>
                <a:spcPts val="0"/>
              </a:spcBef>
              <a:spcAft>
                <a:spcPts val="0"/>
              </a:spcAft>
              <a:buNone/>
            </a:pPr>
            <a:r>
              <a:rPr lang="en"/>
              <a:t>human activity recognition from 3D visual data,</a:t>
            </a:r>
            <a:endParaRPr/>
          </a:p>
          <a:p>
            <a:pPr indent="0" lvl="0" marL="0" rtl="0" algn="l">
              <a:spcBef>
                <a:spcPts val="0"/>
              </a:spcBef>
              <a:spcAft>
                <a:spcPts val="0"/>
              </a:spcAft>
              <a:buNone/>
            </a:pPr>
            <a:r>
              <a:rPr lang="en"/>
              <a:t>which summarized five categories of representations based on</a:t>
            </a:r>
            <a:endParaRPr/>
          </a:p>
          <a:p>
            <a:pPr indent="0" lvl="0" marL="0" rtl="0" algn="l">
              <a:spcBef>
                <a:spcPts val="0"/>
              </a:spcBef>
              <a:spcAft>
                <a:spcPts val="0"/>
              </a:spcAft>
              <a:buNone/>
            </a:pPr>
            <a:r>
              <a:rPr lang="en"/>
              <a:t>3D silhouettes,</a:t>
            </a:r>
            <a:endParaRPr/>
          </a:p>
          <a:p>
            <a:pPr indent="0" lvl="0" marL="0" rtl="0" algn="l">
              <a:spcBef>
                <a:spcPts val="0"/>
              </a:spcBef>
              <a:spcAft>
                <a:spcPts val="0"/>
              </a:spcAft>
              <a:buNone/>
            </a:pPr>
            <a:r>
              <a:rPr lang="en"/>
              <a:t>skeletal joints or body part locations,</a:t>
            </a:r>
            <a:endParaRPr/>
          </a:p>
          <a:p>
            <a:pPr indent="0" lvl="0" marL="0" rtl="0" algn="l">
              <a:spcBef>
                <a:spcPts val="0"/>
              </a:spcBef>
              <a:spcAft>
                <a:spcPts val="0"/>
              </a:spcAft>
              <a:buNone/>
            </a:pPr>
            <a:r>
              <a:rPr lang="en"/>
              <a:t>local spatio-temporal features, scene flow features,</a:t>
            </a:r>
            <a:endParaRPr/>
          </a:p>
          <a:p>
            <a:pPr indent="0" lvl="0" marL="0" rtl="0" algn="l">
              <a:spcBef>
                <a:spcPts val="0"/>
              </a:spcBef>
              <a:spcAft>
                <a:spcPts val="0"/>
              </a:spcAft>
              <a:buNone/>
            </a:pPr>
            <a:r>
              <a:rPr lang="en"/>
              <a:t>and local occupancy features.</a:t>
            </a:r>
            <a:endParaRPr/>
          </a:p>
          <a:p>
            <a:pPr indent="0" lvl="0" marL="0" rtl="0" algn="l">
              <a:spcBef>
                <a:spcPts val="0"/>
              </a:spcBef>
              <a:spcAft>
                <a:spcPts val="0"/>
              </a:spcAft>
              <a:buNone/>
            </a:pPr>
            <a:r>
              <a:rPr lang="en"/>
              <a:t>Several earlier surveys were also published to review</a:t>
            </a:r>
            <a:endParaRPr/>
          </a:p>
          <a:p>
            <a:pPr indent="0" lvl="0" marL="0" rtl="0" algn="l">
              <a:spcBef>
                <a:spcPts val="0"/>
              </a:spcBef>
              <a:spcAft>
                <a:spcPts val="0"/>
              </a:spcAft>
              <a:buNone/>
            </a:pPr>
            <a:r>
              <a:rPr lang="en"/>
              <a:t>methods to recognize human poses, motions, gestures, and activities</a:t>
            </a:r>
            <a:endParaRPr/>
          </a:p>
          <a:p>
            <a:pPr indent="0" lvl="0" marL="0" rtl="0" algn="l">
              <a:spcBef>
                <a:spcPts val="0"/>
              </a:spcBef>
              <a:spcAft>
                <a:spcPts val="0"/>
              </a:spcAft>
              <a:buNone/>
            </a:pPr>
            <a:r>
              <a:rPr lang="en"/>
              <a:t>[CITE], [CITE], [CITE], [CITE], [CITE], [CITE], [CITE], [CITE], [CITE], [CITE], [CITE], [CITE],</a:t>
            </a:r>
            <a:endParaRPr/>
          </a:p>
          <a:p>
            <a:pPr indent="0" lvl="0" marL="0" rtl="0" algn="l">
              <a:spcBef>
                <a:spcPts val="0"/>
              </a:spcBef>
              <a:spcAft>
                <a:spcPts val="0"/>
              </a:spcAft>
              <a:buNone/>
            </a:pPr>
            <a:r>
              <a:rPr lang="en"/>
              <a:t>as well as their applications [CITE], [CITE].</a:t>
            </a:r>
            <a:endParaRPr/>
          </a:p>
          <a:p>
            <a:pPr indent="0" lvl="0" marL="0" rtl="0" algn="l">
              <a:spcBef>
                <a:spcPts val="0"/>
              </a:spcBef>
              <a:spcAft>
                <a:spcPts val="0"/>
              </a:spcAft>
              <a:buNone/>
            </a:pPr>
            <a:r>
              <a:rPr lang="en"/>
              <a:t>However, none of the survey papers specifically focused on 3D human representation based on skeletal data,</a:t>
            </a:r>
            <a:endParaRPr/>
          </a:p>
          <a:p>
            <a:pPr indent="0" lvl="0" marL="0" rtl="0" algn="l">
              <a:spcBef>
                <a:spcPts val="0"/>
              </a:spcBef>
              <a:spcAft>
                <a:spcPts val="0"/>
              </a:spcAft>
              <a:buNone/>
            </a:pPr>
            <a:r>
              <a:rPr lang="en"/>
              <a:t>which was the subject of numerous research papers in the literature</a:t>
            </a:r>
            <a:endParaRPr/>
          </a:p>
          <a:p>
            <a:pPr indent="0" lvl="0" marL="0" rtl="0" algn="l">
              <a:spcBef>
                <a:spcPts val="0"/>
              </a:spcBef>
              <a:spcAft>
                <a:spcPts val="0"/>
              </a:spcAft>
              <a:buNone/>
            </a:pPr>
            <a:r>
              <a:rPr lang="en"/>
              <a:t>and continues to gain popularity in recent years.</a:t>
            </a:r>
            <a:endParaRPr/>
          </a:p>
          <a:p>
            <a:pPr indent="0" lvl="0" marL="0" rtl="0" algn="l">
              <a:spcBef>
                <a:spcPts val="0"/>
              </a:spcBef>
              <a:spcAft>
                <a:spcPts val="0"/>
              </a:spcAft>
              <a:buNone/>
            </a:pPr>
            <a:r>
              <a:rPr lang="en"/>
              <a:t> The objective of this survey is to provide a comprehensive overview of</a:t>
            </a:r>
            <a:endParaRPr/>
          </a:p>
          <a:p>
            <a:pPr indent="0" lvl="0" marL="0" rtl="0" algn="l">
              <a:spcBef>
                <a:spcPts val="0"/>
              </a:spcBef>
              <a:spcAft>
                <a:spcPts val="0"/>
              </a:spcAft>
              <a:buNone/>
            </a:pPr>
            <a:r>
              <a:rPr lang="en"/>
              <a:t>3D skeleton-based human representations mainly published in the computer vision and machine intelligence communities,</a:t>
            </a:r>
            <a:endParaRPr/>
          </a:p>
          <a:p>
            <a:pPr indent="0" lvl="0" marL="0" rtl="0" algn="l">
              <a:spcBef>
                <a:spcPts val="0"/>
              </a:spcBef>
              <a:spcAft>
                <a:spcPts val="0"/>
              </a:spcAft>
              <a:buNone/>
            </a:pPr>
            <a:r>
              <a:rPr lang="en"/>
              <a:t>which are built upon 3D human skeleton data that is assumed as the raw measurements directly from sensing hardware.</a:t>
            </a:r>
            <a:endParaRPr/>
          </a:p>
          <a:p>
            <a:pPr indent="0" lvl="0" marL="0" rtl="0" algn="l">
              <a:spcBef>
                <a:spcPts val="0"/>
              </a:spcBef>
              <a:spcAft>
                <a:spcPts val="0"/>
              </a:spcAft>
              <a:buNone/>
            </a:pPr>
            <a:r>
              <a:rPr lang="en"/>
              <a:t>We categorize and compare the reviewed approaches from multiple perspectives,</a:t>
            </a:r>
            <a:endParaRPr/>
          </a:p>
          <a:p>
            <a:pPr indent="0" lvl="0" marL="0" rtl="0" algn="l">
              <a:spcBef>
                <a:spcPts val="0"/>
              </a:spcBef>
              <a:spcAft>
                <a:spcPts val="0"/>
              </a:spcAft>
              <a:buNone/>
            </a:pPr>
            <a:r>
              <a:rPr lang="en"/>
              <a:t>including information modality, representation coding, structure and transition, and</a:t>
            </a:r>
            <a:endParaRPr/>
          </a:p>
          <a:p>
            <a:pPr indent="0" lvl="0" marL="0" rtl="0" algn="l">
              <a:spcBef>
                <a:spcPts val="0"/>
              </a:spcBef>
              <a:spcAft>
                <a:spcPts val="0"/>
              </a:spcAft>
              <a:buNone/>
            </a:pPr>
            <a:r>
              <a:rPr lang="en"/>
              <a:t>feature engineering methodology, and analyze the pros and cons of each category.</a:t>
            </a:r>
            <a:endParaRPr/>
          </a:p>
          <a:p>
            <a:pPr indent="0" lvl="0" marL="0" rtl="0" algn="l">
              <a:spcBef>
                <a:spcPts val="0"/>
              </a:spcBef>
              <a:spcAft>
                <a:spcPts val="0"/>
              </a:spcAft>
              <a:buNone/>
            </a:pPr>
            <a:r>
              <a:rPr lang="en"/>
              <a:t>Compared with the existing surveys,</a:t>
            </a:r>
            <a:endParaRPr/>
          </a:p>
          <a:p>
            <a:pPr indent="0" lvl="0" marL="0" rtl="0" algn="l">
              <a:spcBef>
                <a:spcPts val="0"/>
              </a:spcBef>
              <a:spcAft>
                <a:spcPts val="0"/>
              </a:spcAft>
              <a:buNone/>
            </a:pPr>
            <a:r>
              <a:rPr lang="en"/>
              <a:t>the main contributions of this review include: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[Introduction] Since the performance of machine learning and reasoning methods</a:t>
            </a:r>
            <a:endParaRPr/>
          </a:p>
          <a:p>
            <a:pPr indent="0" lvl="0" marL="0" rtl="0" algn="l">
              <a:spcBef>
                <a:spcPts val="0"/>
              </a:spcBef>
              <a:spcAft>
                <a:spcPts val="0"/>
              </a:spcAft>
              <a:buNone/>
            </a:pPr>
            <a:r>
              <a:rPr lang="en"/>
              <a:t>heavily relies on the design of data representation [CITE],</a:t>
            </a:r>
            <a:endParaRPr/>
          </a:p>
          <a:p>
            <a:pPr indent="0" lvl="0" marL="0" rtl="0" algn="l">
              <a:spcBef>
                <a:spcPts val="0"/>
              </a:spcBef>
              <a:spcAft>
                <a:spcPts val="0"/>
              </a:spcAft>
              <a:buNone/>
            </a:pPr>
            <a:r>
              <a:rPr lang="en"/>
              <a:t>human representations are intensively investigated to address human-centered research problems (e.g., human detection, tracking, pose estimation, and action recognition).</a:t>
            </a:r>
            <a:endParaRPr/>
          </a:p>
          <a:p>
            <a:pPr indent="0" lvl="0" marL="0" rtl="0" algn="l">
              <a:spcBef>
                <a:spcPts val="0"/>
              </a:spcBef>
              <a:spcAft>
                <a:spcPts val="0"/>
              </a:spcAft>
              <a:buNone/>
            </a:pPr>
            <a:r>
              <a:rPr lang="en"/>
              <a:t>Among a large number of human representation approaches [CITE], [CITE], [CITE], [CITE], [CITE], [CITE],</a:t>
            </a:r>
            <a:endParaRPr/>
          </a:p>
          <a:p>
            <a:pPr indent="0" lvl="0" marL="0" rtl="0" algn="l">
              <a:spcBef>
                <a:spcPts val="0"/>
              </a:spcBef>
              <a:spcAft>
                <a:spcPts val="0"/>
              </a:spcAft>
              <a:buNone/>
            </a:pPr>
            <a:r>
              <a:rPr lang="en"/>
              <a:t>most of the existing 3D based methods can be broadly grouped into two categories: representations based on local features [CITE], [CITE]</a:t>
            </a:r>
            <a:endParaRPr/>
          </a:p>
          <a:p>
            <a:pPr indent="0" lvl="0" marL="0" rtl="0" algn="l">
              <a:spcBef>
                <a:spcPts val="0"/>
              </a:spcBef>
              <a:spcAft>
                <a:spcPts val="0"/>
              </a:spcAft>
              <a:buNone/>
            </a:pPr>
            <a:r>
              <a:rPr lang="en"/>
              <a:t>and skeleton-based representations [CITE], [CITE], [CITE], [CITE].</a:t>
            </a:r>
            <a:endParaRPr/>
          </a:p>
          <a:p>
            <a:pPr indent="0" lvl="0" marL="0" rtl="0" algn="l">
              <a:spcBef>
                <a:spcPts val="0"/>
              </a:spcBef>
              <a:spcAft>
                <a:spcPts val="0"/>
              </a:spcAft>
              <a:buNone/>
            </a:pPr>
            <a:r>
              <a:rPr lang="en"/>
              <a:t>Methods based on local features detect points of interest in space-time dimensions,</a:t>
            </a:r>
            <a:endParaRPr/>
          </a:p>
          <a:p>
            <a:pPr indent="0" lvl="0" marL="0" rtl="0" algn="l">
              <a:spcBef>
                <a:spcPts val="0"/>
              </a:spcBef>
              <a:spcAft>
                <a:spcPts val="0"/>
              </a:spcAft>
              <a:buNone/>
            </a:pPr>
            <a:r>
              <a:rPr lang="en"/>
              <a:t>describe the patches centered at the points as features,</a:t>
            </a:r>
            <a:endParaRPr/>
          </a:p>
          <a:p>
            <a:pPr indent="0" lvl="0" marL="0" rtl="0" algn="l">
              <a:spcBef>
                <a:spcPts val="0"/>
              </a:spcBef>
              <a:spcAft>
                <a:spcPts val="0"/>
              </a:spcAft>
              <a:buNone/>
            </a:pPr>
            <a:r>
              <a:rPr lang="en"/>
              <a:t>and encode them (e.g., using bag-of-word models) into representations,</a:t>
            </a:r>
            <a:endParaRPr/>
          </a:p>
          <a:p>
            <a:pPr indent="0" lvl="0" marL="0" rtl="0" algn="l">
              <a:spcBef>
                <a:spcPts val="0"/>
              </a:spcBef>
              <a:spcAft>
                <a:spcPts val="0"/>
              </a:spcAft>
              <a:buNone/>
            </a:pPr>
            <a:r>
              <a:rPr lang="en"/>
              <a:t>which can locate salient regions and are relatively robust to partial occlusion.</a:t>
            </a:r>
            <a:endParaRPr/>
          </a:p>
          <a:p>
            <a:pPr indent="0" lvl="0" marL="0" rtl="0" algn="l">
              <a:spcBef>
                <a:spcPts val="0"/>
              </a:spcBef>
              <a:spcAft>
                <a:spcPts val="0"/>
              </a:spcAft>
              <a:buNone/>
            </a:pPr>
            <a:r>
              <a:rPr lang="en"/>
              <a:t>However, methods based on local features ignore spatial relationships among the features.</a:t>
            </a:r>
            <a:endParaRPr/>
          </a:p>
          <a:p>
            <a:pPr indent="0" lvl="0" marL="0" rtl="0" algn="l">
              <a:spcBef>
                <a:spcPts val="0"/>
              </a:spcBef>
              <a:spcAft>
                <a:spcPts val="0"/>
              </a:spcAft>
              <a:buNone/>
            </a:pPr>
            <a:r>
              <a:rPr lang="en"/>
              <a:t>These approaches are often incapable of identifying feature affiliations, and thus the methods are generally incapable to represent multiple individuals in the same scene.</a:t>
            </a:r>
            <a:endParaRPr/>
          </a:p>
          <a:p>
            <a:pPr indent="0" lvl="0" marL="0" rtl="0" algn="l">
              <a:spcBef>
                <a:spcPts val="0"/>
              </a:spcBef>
              <a:spcAft>
                <a:spcPts val="0"/>
              </a:spcAft>
              <a:buNone/>
            </a:pPr>
            <a:r>
              <a:rPr lang="en"/>
              <a:t>These methods are also computationally expensive because of the complexity of the procedures including keypoint detection,</a:t>
            </a:r>
            <a:endParaRPr/>
          </a:p>
          <a:p>
            <a:pPr indent="0" lvl="0" marL="0" rtl="0" algn="l">
              <a:spcBef>
                <a:spcPts val="0"/>
              </a:spcBef>
              <a:spcAft>
                <a:spcPts val="0"/>
              </a:spcAft>
              <a:buNone/>
            </a:pPr>
            <a:r>
              <a:rPr lang="en"/>
              <a:t>feature description, dictionary construction,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[Representations Based on Low-Level Features] Several multi-layer techniques were also implemented to create skeleton-based human representations from low-level features.</a:t>
            </a:r>
            <a:endParaRPr/>
          </a:p>
          <a:p>
            <a:pPr indent="0" lvl="0" marL="0" rtl="0" algn="l">
              <a:spcBef>
                <a:spcPts val="0"/>
              </a:spcBef>
              <a:spcAft>
                <a:spcPts val="0"/>
              </a:spcAft>
              <a:buNone/>
            </a:pPr>
            <a:r>
              <a:rPr lang="en"/>
              <a:t>In particular, deep learning approaches inherently consist of multiple layers</a:t>
            </a:r>
            <a:endParaRPr/>
          </a:p>
          <a:p>
            <a:pPr indent="0" lvl="0" marL="0" rtl="0" algn="l">
              <a:spcBef>
                <a:spcPts val="0"/>
              </a:spcBef>
              <a:spcAft>
                <a:spcPts val="0"/>
              </a:spcAft>
              <a:buNone/>
            </a:pPr>
            <a:r>
              <a:rPr lang="en"/>
              <a:t>with the intermediate and output layers encoding different levels of features [CITE].</a:t>
            </a:r>
            <a:endParaRPr/>
          </a:p>
          <a:p>
            <a:pPr indent="0" lvl="0" marL="0" rtl="0" algn="l">
              <a:spcBef>
                <a:spcPts val="0"/>
              </a:spcBef>
              <a:spcAft>
                <a:spcPts val="0"/>
              </a:spcAft>
              <a:buNone/>
            </a:pPr>
            <a:r>
              <a:rPr lang="en"/>
              <a:t>The multi-layer deep learning approaches have attracted an increasing attention</a:t>
            </a:r>
            <a:endParaRPr/>
          </a:p>
          <a:p>
            <a:pPr indent="0" lvl="0" marL="0" rtl="0" algn="l">
              <a:spcBef>
                <a:spcPts val="0"/>
              </a:spcBef>
              <a:spcAft>
                <a:spcPts val="0"/>
              </a:spcAft>
              <a:buNone/>
            </a:pPr>
            <a:r>
              <a:rPr lang="en"/>
              <a:t>in recent several years</a:t>
            </a:r>
            <a:endParaRPr/>
          </a:p>
          <a:p>
            <a:pPr indent="0" lvl="0" marL="0" rtl="0" algn="l">
              <a:spcBef>
                <a:spcPts val="0"/>
              </a:spcBef>
              <a:spcAft>
                <a:spcPts val="0"/>
              </a:spcAft>
              <a:buNone/>
            </a:pPr>
            <a:r>
              <a:rPr lang="en"/>
              <a:t>to learn human representations directly from human joint positions</a:t>
            </a:r>
            <a:endParaRPr/>
          </a:p>
          <a:p>
            <a:pPr indent="0" lvl="0" marL="0" rtl="0" algn="l">
              <a:spcBef>
                <a:spcPts val="0"/>
              </a:spcBef>
              <a:spcAft>
                <a:spcPts val="0"/>
              </a:spcAft>
              <a:buNone/>
            </a:pPr>
            <a:r>
              <a:rPr lang="en"/>
              <a:t>[CITE], [CITE].</a:t>
            </a:r>
            <a:endParaRPr/>
          </a:p>
          <a:p>
            <a:pPr indent="0" lvl="0" marL="0" rtl="0" algn="l">
              <a:spcBef>
                <a:spcPts val="0"/>
              </a:spcBef>
              <a:spcAft>
                <a:spcPts val="0"/>
              </a:spcAft>
              <a:buNone/>
            </a:pPr>
            <a:r>
              <a:rPr lang="en"/>
              <a:t>Inspired by the spatial pyramid method [CITE] to incorporate multi-layer image information,</a:t>
            </a:r>
            <a:endParaRPr/>
          </a:p>
          <a:p>
            <a:pPr indent="0" lvl="0" marL="0" rtl="0" algn="l">
              <a:spcBef>
                <a:spcPts val="0"/>
              </a:spcBef>
              <a:spcAft>
                <a:spcPts val="0"/>
              </a:spcAft>
              <a:buNone/>
            </a:pPr>
            <a:r>
              <a:rPr lang="en"/>
              <a:t>temporal pyramid methods were introduced and used by several skeleton-based human representations</a:t>
            </a:r>
            <a:endParaRPr/>
          </a:p>
          <a:p>
            <a:pPr indent="0" lvl="0" marL="0" rtl="0" algn="l">
              <a:spcBef>
                <a:spcPts val="0"/>
              </a:spcBef>
              <a:spcAft>
                <a:spcPts val="0"/>
              </a:spcAft>
              <a:buNone/>
            </a:pPr>
            <a:r>
              <a:rPr lang="en"/>
              <a:t>to capture the multi-layer information in the time dimension [CITE], [CITE], [CITE], [CITE], [CITE].</a:t>
            </a:r>
            <a:endParaRPr/>
          </a:p>
          <a:p>
            <a:pPr indent="0" lvl="0" marL="0" rtl="0" algn="l">
              <a:spcBef>
                <a:spcPts val="0"/>
              </a:spcBef>
              <a:spcAft>
                <a:spcPts val="0"/>
              </a:spcAft>
              <a:buNone/>
            </a:pPr>
            <a:r>
              <a:rPr lang="en"/>
              <a:t>For example, a temporal pyramid method was proposed by Zhang et al. [CITE] to capture long-term dependencies,</a:t>
            </a:r>
            <a:endParaRPr/>
          </a:p>
          <a:p>
            <a:pPr indent="0" lvl="0" marL="0" rtl="0" algn="l">
              <a:spcBef>
                <a:spcPts val="0"/>
              </a:spcBef>
              <a:spcAft>
                <a:spcPts val="0"/>
              </a:spcAft>
              <a:buNone/>
            </a:pPr>
            <a:r>
              <a:rPr lang="en"/>
              <a:t>as illustrated in Fig. REF .</a:t>
            </a:r>
            <a:endParaRPr/>
          </a:p>
          <a:p>
            <a:pPr indent="0" lvl="0" marL="0" rtl="0" algn="l">
              <a:spcBef>
                <a:spcPts val="0"/>
              </a:spcBef>
              <a:spcAft>
                <a:spcPts val="0"/>
              </a:spcAft>
              <a:buNone/>
            </a:pPr>
            <a:r>
              <a:rPr lang="en"/>
              <a:t>In this example, a temporal sequence of eleven frames is used to represent a tennis-serve motion,</a:t>
            </a:r>
            <a:endParaRPr/>
          </a:p>
          <a:p>
            <a:pPr indent="0" lvl="0" marL="0" rtl="0" algn="l">
              <a:spcBef>
                <a:spcPts val="0"/>
              </a:spcBef>
              <a:spcAft>
                <a:spcPts val="0"/>
              </a:spcAft>
              <a:buNone/>
            </a:pPr>
            <a:r>
              <a:rPr lang="en"/>
              <a:t>and the joint of interest is the right wrist, as denoted by the red dots in Fig REF .</a:t>
            </a:r>
            <a:endParaRPr/>
          </a:p>
          <a:p>
            <a:pPr indent="0" lvl="0" marL="0" rtl="0" algn="l">
              <a:spcBef>
                <a:spcPts val="0"/>
              </a:spcBef>
              <a:spcAft>
                <a:spcPts val="0"/>
              </a:spcAft>
              <a:buNone/>
            </a:pPr>
            <a:r>
              <a:rPr lang="en"/>
              <a:t>When three levels are used in the temporal pyramid,</a:t>
            </a:r>
            <a:endParaRPr/>
          </a:p>
          <a:p>
            <a:pPr indent="0" lvl="0" marL="0" rtl="0" algn="l">
              <a:spcBef>
                <a:spcPts val="0"/>
              </a:spcBef>
              <a:spcAft>
                <a:spcPts val="0"/>
              </a:spcAft>
              <a:buNone/>
            </a:pPr>
            <a:r>
              <a:rPr lang="en"/>
              <a:t>level 1 uses human skeleton data at all time points ([FORMULA] );</a:t>
            </a:r>
            <a:endParaRPr/>
          </a:p>
          <a:p>
            <a:pPr indent="0" lvl="0" marL="0" rtl="0" algn="l">
              <a:spcBef>
                <a:spcPts val="0"/>
              </a:spcBef>
              <a:spcAft>
                <a:spcPts val="0"/>
              </a:spcAft>
              <a:buNone/>
            </a:pPr>
            <a:r>
              <a:rPr lang="en"/>
              <a:t>level 2 selects the joints at odd time points ([FORMULA] );</a:t>
            </a:r>
            <a:endParaRPr/>
          </a:p>
          <a:p>
            <a:pPr indent="0" lvl="0" marL="0" rtl="0" algn="l">
              <a:spcBef>
                <a:spcPts val="0"/>
              </a:spcBef>
              <a:spcAft>
                <a:spcPts val="0"/>
              </a:spcAft>
              <a:buNone/>
            </a:pPr>
            <a:r>
              <a:rPr lang="en"/>
              <a:t>and level 3 continues this selection process and</a:t>
            </a:r>
            <a:endParaRPr/>
          </a:p>
          <a:p>
            <a:pPr indent="0" lvl="0" marL="0" rtl="0" algn="l">
              <a:spcBef>
                <a:spcPts val="0"/>
              </a:spcBef>
              <a:spcAft>
                <a:spcPts val="0"/>
              </a:spcAft>
              <a:buNone/>
            </a:pPr>
            <a:r>
              <a:rPr lang="en"/>
              <a:t>keeps half of the temporal data points ([FORMULA] ) to compute long-term orientation changes.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SLIDES_API503368914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SLIDES_API503368914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SLIDES_API503368914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SLIDES_API503368914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The state-of-the-art facial alignment architectures [[TARGET]][CITE][CITE] have not been developed for the purpose of real-time inference on resource restricted devices. However, our applications primarily target such devices. To strike a better balance for real-time applications on those platforms, the ideal architecture should minimize load and execution time while preserving alignment accuracy.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[Implementation] The Python implementation runs at 73 fps for images processed in parallel and at 45 fps for images processed sequentially on a GeForce GTX 1070 GPU. We believe that the processing speed can be further improved by optimizing the implementation of some of our custom layers, most notably the Image Transform layer.</a:t>
            </a:r>
            <a:endParaRPr/>
          </a:p>
          <a:p>
            <a:pPr indent="0" lvl="0" marL="0" rtl="0" algn="l">
              <a:spcBef>
                <a:spcPts val="0"/>
              </a:spcBef>
              <a:spcAft>
                <a:spcPts val="0"/>
              </a:spcAft>
              <a:buNone/>
            </a:pPr>
            <a:r>
              <a:rPr lang="en"/>
              <a:t> To enable reproducible research, we release the source code of our implementation as well as the models used in the experimentshttps://github.com/MarekKowalski/DeepAlignmentNetwork. The published implementation also contains an example of face tracking with the proposed method.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[Conclusions] In this paper, we introduced the Deep Alignment Network - a robust face alignment method based on convolutional neural networks. Contrary to the recently proposed face alignment methods, DAN performs face alignment based on entire face images, which makes it highly robust to large variations in both initialization and head pose. Using entire face images instead of local patches extracted around landmarks is possible thanks to the use of novel landmark heatmaps which transmit the information about landmark locations between DAN stages. Extensive evaluation performed on two challenging, publicly available datasets shows that the proposed method improves the state-of-the-art failure rate by a significant margin of over 70%.</a:t>
            </a:r>
            <a:endParaRPr/>
          </a:p>
          <a:p>
            <a:pPr indent="0" lvl="0" marL="0" rtl="0" algn="l">
              <a:spcBef>
                <a:spcPts val="0"/>
              </a:spcBef>
              <a:spcAft>
                <a:spcPts val="0"/>
              </a:spcAft>
              <a:buNone/>
            </a:pPr>
            <a:r>
              <a:rPr lang="en"/>
              <a:t> Future research includes investigation of new strategies for training DAN in an end-to-end manner. We also plan to introduce learning into the estimation of the transform [FORMULA] that normalizes the shapes and images between stages.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[Introduction] To summarize, the three main contributions of this work are the following:</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We introduce landmark heatmaps which transfer the information about current landmark location estimates between the stages of our method. This improvement allows our method to make use of the entire image of a face, instead of local patches, and avoid falling into local minima.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resulting robust face alignment method we propose in this paper reduces the failure rate by 60% on the 300W private test set [CITE] and 72% on the 300-W public test set [CITE] compared to the state of the art.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we publish both the source code of our implementation of the proposed method and the models used in the experiments.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SLIDES_API503368914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SLIDES_API503368914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SLIDES_API503368914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SLIDES_API503368914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In this paper, we target to obtain photo-realistic 3D human avatars from monocular RGB videos. Different from existing approaches based on pre-scanned human models [CITE] or parametric body models [CITE], [CITE], [CITE], our approach implicitly reconstructs the human geometry and appearance via generalizing Neural Radiance Fields (NeRF) [[TARGET]], which uses a neural network to encode color and density as a function of location and viewing angle, and generates photo-realistic images by volume rendering.</a:t>
            </a:r>
            <a:endParaRPr/>
          </a:p>
          <a:p>
            <a:pPr indent="0" lvl="0" marL="0" rtl="0" algn="l">
              <a:spcBef>
                <a:spcPts val="0"/>
              </a:spcBef>
              <a:spcAft>
                <a:spcPts val="0"/>
              </a:spcAft>
              <a:buNone/>
            </a:pPr>
            <a:r>
              <a:rPr lang="en"/>
              <a:t>NeRF [CITE] has shown impressive ability in reconstructing a static scene from multi-view images, and inspires many researchers in extending NeRF to scenes with severe lighting changes [CITE] and non-rigid deformations [CITE], [CITE]. However, these approaches are uncontrollable and limited to nearly static scenes with small movements, failing to deal with human subjects with large movements.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[unknown] Given a dense sampling of views, photorealistic novel views can be reconstructed by simple light field sample interpolation techniques [CITE], [CITE], [CITE]. For novel view synthesis with sparser view sampling, the computer vision and graphics communities have made significant progress by predicting traditional geometry and appearance representations from observed images.</a:t>
            </a:r>
            <a:endParaRPr/>
          </a:p>
          <a:p>
            <a:pPr indent="0" lvl="0" marL="0" rtl="0" algn="l">
              <a:spcBef>
                <a:spcPts val="0"/>
              </a:spcBef>
              <a:spcAft>
                <a:spcPts val="0"/>
              </a:spcAft>
              <a:buNone/>
            </a:pPr>
            <a:r>
              <a:rPr lang="en"/>
              <a:t>One popular class of approaches uses mesh-based representations of scenes with either diffuse [CITE] or view-dependent [CITE], [CITE], [CITE] appearance.</a:t>
            </a:r>
            <a:endParaRPr/>
          </a:p>
          <a:p>
            <a:pPr indent="0" lvl="0" marL="0" rtl="0" algn="l">
              <a:spcBef>
                <a:spcPts val="0"/>
              </a:spcBef>
              <a:spcAft>
                <a:spcPts val="0"/>
              </a:spcAft>
              <a:buNone/>
            </a:pPr>
            <a:r>
              <a:rPr lang="en"/>
              <a:t>Differentiable rasterizers [CITE], [CITE], [CITE], [CITE] or pathtracers [CITE], [CITE] can directly optimize mesh representations to reproduce a set of input images using gradient descent.</a:t>
            </a:r>
            <a:endParaRPr/>
          </a:p>
          <a:p>
            <a:pPr indent="0" lvl="0" marL="0" rtl="0" algn="l">
              <a:spcBef>
                <a:spcPts val="0"/>
              </a:spcBef>
              <a:spcAft>
                <a:spcPts val="0"/>
              </a:spcAft>
              <a:buNone/>
            </a:pPr>
            <a:r>
              <a:rPr lang="en"/>
              <a:t>However, gradient-based mesh optimization based on image reprojection is often difficult, likely because of local minima or poor conditioning of the loss landscape. Furthermore, this strategy requires a template mesh with fixed topology to be provided as an initialization before optimization [CITE], which is typically unavailable for unconstrained real-world scenes.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[unknown] Another class of methods use volumetric representations to address the task of high-quality photorealistic view synthesis from a set of input RGB images.</a:t>
            </a:r>
            <a:endParaRPr/>
          </a:p>
          <a:p>
            <a:pPr indent="0" lvl="0" marL="0" rtl="0" algn="l">
              <a:spcBef>
                <a:spcPts val="0"/>
              </a:spcBef>
              <a:spcAft>
                <a:spcPts val="0"/>
              </a:spcAft>
              <a:buNone/>
            </a:pPr>
            <a:r>
              <a:rPr lang="en"/>
              <a:t>Volumetric approaches are able to realistically represent complex shapes and materials, are well-suited for gradient-based optimization, and tend to produce less visually distracting artifacts than mesh-based methods.</a:t>
            </a:r>
            <a:endParaRPr/>
          </a:p>
          <a:p>
            <a:pPr indent="0" lvl="0" marL="0" rtl="0" algn="l">
              <a:spcBef>
                <a:spcPts val="0"/>
              </a:spcBef>
              <a:spcAft>
                <a:spcPts val="0"/>
              </a:spcAft>
              <a:buNone/>
            </a:pPr>
            <a:r>
              <a:rPr lang="en"/>
              <a:t>Early volumetric approaches used observed images to directly color voxel grids [CITE], [CITE], [CITE]. More recently, several methods [CITE], [CITE], [CITE], [CITE], [CITE], [CITE], [CITE], [CITE] have used large datasets of multiple scenes to train deep networks that predict a sampled volumetric representation from a set of input images, and then use either alpha-compositing [CITE] or learned compositing along rays to render novel views at test time.</a:t>
            </a:r>
            <a:endParaRPr/>
          </a:p>
          <a:p>
            <a:pPr indent="0" lvl="0" marL="0" rtl="0" algn="l">
              <a:spcBef>
                <a:spcPts val="0"/>
              </a:spcBef>
              <a:spcAft>
                <a:spcPts val="0"/>
              </a:spcAft>
              <a:buNone/>
            </a:pPr>
            <a:r>
              <a:rPr lang="en"/>
              <a:t>Other works have optimized a combination of convolutional networks (CNNs) and sampled voxel grids for each specific scene, such that the CNN can compensate for discretization artifacts from low resolution voxel grids [CITE] or allow the predicted voxel grids to vary based on input time or animation controls [CITE].</a:t>
            </a:r>
            <a:endParaRPr/>
          </a:p>
          <a:p>
            <a:pPr indent="0" lvl="0" marL="0" rtl="0" algn="l">
              <a:spcBef>
                <a:spcPts val="0"/>
              </a:spcBef>
              <a:spcAft>
                <a:spcPts val="0"/>
              </a:spcAft>
              <a:buNone/>
            </a:pPr>
            <a:r>
              <a:rPr lang="en"/>
              <a:t>While these volumetric techniques have achieved impressive results for novel view synthesis, their ability to scale to higher resolution imagery is fundamentally limited by poor time and space complexity due to their discrete sampling — rendering higher resolution images requires a finer sampling of 3D space.</a:t>
            </a:r>
            <a:endParaRPr/>
          </a:p>
          <a:p>
            <a:pPr indent="0" lvl="0" marL="0" rtl="0" algn="l">
              <a:spcBef>
                <a:spcPts val="0"/>
              </a:spcBef>
              <a:spcAft>
                <a:spcPts val="0"/>
              </a:spcAft>
              <a:buNone/>
            </a:pPr>
            <a:r>
              <a:rPr lang="en"/>
              <a:t>We circumvent this problem by instead encoding a continuous volume within the parameters of a deep fully-connected neural network, which not only produces significantly higher quality renderings than prior volumetric approaches, but also requires just a fraction of the storage cost of those sampled volumetric representations.</a:t>
            </a:r>
            <a:endParaRPr/>
          </a:p>
          <a:p>
            <a:pPr indent="0" lvl="0" marL="0" rtl="0" algn="l">
              <a:spcBef>
                <a:spcPts val="0"/>
              </a:spcBef>
              <a:spcAft>
                <a:spcPts val="0"/>
              </a:spcAft>
              <a:buNone/>
            </a:pPr>
            <a:r>
              <a:rPr lang="en"/>
              <a:t>[FIGURE]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[Introduction] Differentiable rasterizers [CITE], [CITE], [CITE], [CITE] or pathtracers [CITE], [CITE] can directly optimize mesh representations to reproduce a set of input images using gradient descent.</a:t>
            </a:r>
            <a:endParaRPr/>
          </a:p>
          <a:p>
            <a:pPr indent="0" lvl="0" marL="0" rtl="0" algn="l">
              <a:spcBef>
                <a:spcPts val="0"/>
              </a:spcBef>
              <a:spcAft>
                <a:spcPts val="0"/>
              </a:spcAft>
              <a:buNone/>
            </a:pPr>
            <a:r>
              <a:rPr lang="en"/>
              <a:t>However, gradient-based mesh optimization based on image reprojection is often difficult, likely because of local minima or poor conditioning of the loss landscape. Furthermore, this strategy requires a template mesh with fixed topology to be provided as an initialization before optimization [CITE], which is typically unavailable for unconstrained real-world scenes.</a:t>
            </a:r>
            <a:endParaRPr/>
          </a:p>
          <a:p>
            <a:pPr indent="0" lvl="0" marL="0" rtl="0" algn="l">
              <a:spcBef>
                <a:spcPts val="0"/>
              </a:spcBef>
              <a:spcAft>
                <a:spcPts val="0"/>
              </a:spcAft>
              <a:buNone/>
            </a:pPr>
            <a:r>
              <a:rPr lang="en"/>
              <a:t>Another class of methods use volumetric representations to address the task of high-quality photorealistic view synthesis from a set of input RGB images.</a:t>
            </a:r>
            <a:endParaRPr/>
          </a:p>
          <a:p>
            <a:pPr indent="0" lvl="0" marL="0" rtl="0" algn="l">
              <a:spcBef>
                <a:spcPts val="0"/>
              </a:spcBef>
              <a:spcAft>
                <a:spcPts val="0"/>
              </a:spcAft>
              <a:buNone/>
            </a:pPr>
            <a:r>
              <a:rPr lang="en"/>
              <a:t>Volumetric approaches are able to realistically represent complex shapes and materials, are well-suited for gradient-based optimization, and tend to produce less visually distracting artifacts than mesh-based methods.</a:t>
            </a:r>
            <a:endParaRPr/>
          </a:p>
          <a:p>
            <a:pPr indent="0" lvl="0" marL="0" rtl="0" algn="l">
              <a:spcBef>
                <a:spcPts val="0"/>
              </a:spcBef>
              <a:spcAft>
                <a:spcPts val="0"/>
              </a:spcAft>
              <a:buNone/>
            </a:pPr>
            <a:r>
              <a:rPr lang="en"/>
              <a:t>Early volumetric approaches used observed images to directly color voxel grids [CITE], [CITE], [CITE]. More recently, several methods [CITE], [CITE], [CITE], [CITE], [CITE], [CITE], [CITE], [CITE] have used large datasets of multiple scenes to train deep networks that predict a sampled volumetric representation from a set of input images, and then use either alpha-compositing [CITE] or learned compositing along rays to render novel views at test time.</a:t>
            </a:r>
            <a:endParaRPr/>
          </a:p>
          <a:p>
            <a:pPr indent="0" lvl="0" marL="0" rtl="0" algn="l">
              <a:spcBef>
                <a:spcPts val="0"/>
              </a:spcBef>
              <a:spcAft>
                <a:spcPts val="0"/>
              </a:spcAft>
              <a:buNone/>
            </a:pPr>
            <a:r>
              <a:rPr lang="en"/>
              <a:t>Other works have optimized a combination of convolutional networks (CNNs) and sampled voxel grids for each specific scene, such that the CNN can compensate for discretization artifacts from low resolution voxel grids [CITE] or allow the predicted voxel grids to vary based on input time or animation controls [CITE].</a:t>
            </a:r>
            <a:endParaRPr/>
          </a:p>
          <a:p>
            <a:pPr indent="0" lvl="0" marL="0" rtl="0" algn="l">
              <a:spcBef>
                <a:spcPts val="0"/>
              </a:spcBef>
              <a:spcAft>
                <a:spcPts val="0"/>
              </a:spcAft>
              <a:buNone/>
            </a:pPr>
            <a:r>
              <a:rPr lang="en"/>
              <a:t>While these volumetric techniques have achieved impressive results for novel view synthesis, their ability to scale to higher resolution imagery is fundamentally limited by poor time and space complexity due to their discrete sampling — rendering higher resolution images requires a finer sampling of 3D space.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SLIDES_API503368914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SLIDES_API503368914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SLIDES_API503368914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SLIDES_API503368914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A variety of papers have recently introduced “instance” segmentation methods that utilize recurrent or feed-forward networks to directly produce segmentation masks from an image. For example, [CITE] propose a recurrent architecture that at each iteration of the network dynamics produces a complete segmentation mask for a single object in the image. [CITE] propose “SharpMask”, a feed-forward architecture in which a convolutional network first generates coarse-resolution object masks, and then upsampling modules refine these masks at the original image resolution (resulting in an overall architecture similar to U-Net as developed by [[TARGET]]). Our approach builds on this prior work, but is distinct in several respects: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[Introduction] Obviously, the strategy in Ciresan et al. [CITE] has two drawbacks. First, it is quite slow because the network must be run separately for each patch, and there is a lot of redundancy due to overlapping patches.</a:t>
            </a:r>
            <a:endParaRPr/>
          </a:p>
          <a:p>
            <a:pPr indent="0" lvl="0" marL="0" rtl="0" algn="l">
              <a:spcBef>
                <a:spcPts val="0"/>
              </a:spcBef>
              <a:spcAft>
                <a:spcPts val="0"/>
              </a:spcAft>
              <a:buNone/>
            </a:pPr>
            <a:r>
              <a:rPr lang="en"/>
              <a:t>Secondly, there is a trade-off between localization accuracy and the use of context. Larger patches require more max-pooling layers that reduce the localization accuracy, while small patches allow the network to see only little context. More recent approaches [CITE], [CITE] proposed a classifier output that takes into account the features from multiple layers. Good localization and the use of context are possible at the same time.</a:t>
            </a:r>
            <a:endParaRPr/>
          </a:p>
          <a:p>
            <a:pPr indent="0" lvl="0" marL="0" rtl="0" algn="l">
              <a:spcBef>
                <a:spcPts val="0"/>
              </a:spcBef>
              <a:spcAft>
                <a:spcPts val="0"/>
              </a:spcAft>
              <a:buNone/>
            </a:pPr>
            <a:r>
              <a:rPr lang="en"/>
              <a:t>[FIGURE] In this paper, we build upon a more elegant architecture, the so-called “fully convolutional network” [CITE]. We modify and extend this architecture such that it works with very few training images and yields more precise segmentations; see fig:u-net. The main idea in [CITE] is to supplement a usual contracting network by successive layers, where pooling operators are replaced by upsampling operators. Hence, these layers increase the resolution of the output. In order to localize, high resolution features from the contracting path are combined with the upsampled output. A successive convolution layer can then learn to assemble a more precise output based on this information.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[Training] In deep networks with many convolutional layers and different paths through the network, a good initialization of the weights is extremely important. Otherwise, parts of the network might give excessive activations, while other parts never contribute. Ideally the initial weights should be adapted such that each feature map in the network has approximately unit variance. For a network with our architecture (alternating convolution and ReLU layers) this can be achieved by drawing the initial weights from a Gaussian distribution with a standard deviation of [FORMULA] , where [FORMULA] denotes the number of incoming nodes of one neuron [CITE]. E.g. for a 3x3 convolution and 64 feature channels in the previous layer [FORMULA]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[Introduction] One important modification in our architecture is that in the upsampling part we have also a large number of feature channels, which allow the network to propagate context information to higher resolution layers. As a consequence, the expansive path is more or less symmetric to the contracting path, and yields a u-shaped architecture. The network does not have any fully connected layers and only uses the valid part of each convolution, i.e., the segmentation map only contains the pixels, for which the full context is available in the input image. This strategy allows the seamless segmentation of arbitrarily large images by an overlap-tile strategy (see fig:overlap-tile). To predict the pixels in the border region of the image, the missing context is extrapolated by mirroring the input image. This tiling strategy is important to apply the network to large images, since otherwise the resolution would be limited by the GPU memory.</a:t>
            </a:r>
            <a:endParaRPr/>
          </a:p>
          <a:p>
            <a:pPr indent="0" lvl="0" marL="0" rtl="0" algn="l">
              <a:spcBef>
                <a:spcPts val="0"/>
              </a:spcBef>
              <a:spcAft>
                <a:spcPts val="0"/>
              </a:spcAft>
              <a:buNone/>
            </a:pPr>
            <a:r>
              <a:rPr lang="en"/>
              <a:t>[FIGURE] As for our tasks there is very little training data available, we use excessive data augmentation by applying elastic deformations to the available training images. This allows the network to learn invariance to such deformations, without the need to see these transformations in the annotated image corpus. This is particularly important in biomedical segmentation, since deformation used to be the most common variation in tissue and realistic deformations can be simulated efficiently. The value of data augmentation for learning invariance has been shown in Dosovitskiy et al. [CITE] in the scope of unsupervised feature learning.</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SLIDES_API503368914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SLIDES_API503368914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SLIDES_API503368914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SLIDES_API503368914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While face recognition is improved significantly over recent years thanks to the breakthroughs in deep learning, the face recognition models are prone to adversarial perturbations [CITE]. This shortcoming is severe since certain adversarial perturbations created by the white-box attacks can fool other unrelated models owing to the adversarial transferability phenomenon [[TARGET]]. One of the most thoroughly benchmarked defenses against adversarial attacks is adversarial training [CITE], [CITE], in which a CNN model is trained on adversarial examples generated by itself. Despite the considerable improvement in adversarial learning, recent works on biometrics mostly rest on developing robust face recognition [CITE], face identification [CITE], and face verification systems [CITE]. However, in the case of the morphed images, it has received far less attention to generate adversarial examples and benchmark their robustness against adversarial perturbations. To alleviate this threat, we augment the training dataset of the target model with multi-adversarial perturbations transferred from different pre-trained models.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[Introduction] Adversarial attacks can be classified into two categories: white-box attacks and black-box attacks. In white-box attacks, information of the model (i.e., its architecture, gradient information, etc.) is accessible, whereas in black-box attacks, the attackers have access only to the prediction. Black-box attacks are a bigger concern for real-world applications for the obvious reason that such applications typically will not reveal their models publicly, especially when security is a concern (e.g., CNN-based objectionable content filters in social media). Consequently, black-box attacks are mostly focused on the transferability of adversarial examples .</a:t>
            </a:r>
            <a:endParaRPr/>
          </a:p>
          <a:p>
            <a:pPr indent="0" lvl="0" marL="0" rtl="0" algn="l">
              <a:spcBef>
                <a:spcPts val="0"/>
              </a:spcBef>
              <a:spcAft>
                <a:spcPts val="0"/>
              </a:spcAft>
              <a:buNone/>
            </a:pPr>
            <a:r>
              <a:rPr lang="en"/>
              <a:t> Moreover, adversarial examples generated using white-box attacks will sometimes successfully attack an unrelated model. This phenomenon is known as “transferability.” However, black-box success rates for an attack are nearly always lower than those of white-box attacks, suggesting that the white-box attacks overfit on the source model. Different adversarial attacks transfer at different rates, but most of them are not optimizing specifically for transferability. This paper aims to achieve the goal of increasing the transferability of a given adversarial example. To this end, we propose a novel method that fine-tunes a given adversarial example through examining its representations in intermediate feature maps that we call Intermediate Level Attack (ILA).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[Introduction] Adversarial examples are small, imperceptible perturbations of images carefully crafted to fool trained models , . Studies such as have shown that Convolutional Neural Networks (CNNs) are particularly vulnerable to such adversarial attacks. The existence of these adversarial attacks suggests that our architectures and training procedures produce fundamental blind spots in our models, and that our models are not learning the same features that humans do.</a:t>
            </a:r>
            <a:endParaRPr/>
          </a:p>
          <a:p>
            <a:pPr indent="0" lvl="0" marL="0" rtl="0" algn="l">
              <a:spcBef>
                <a:spcPts val="0"/>
              </a:spcBef>
              <a:spcAft>
                <a:spcPts val="0"/>
              </a:spcAft>
              <a:buNone/>
            </a:pPr>
            <a:r>
              <a:rPr lang="en"/>
              <a:t> These adversarial attacks are of interest for more than just the theoretical issues they pose – concerns have also been raised over the vulnerability of CNNs to these perturbations in the real world, where they are used for mission-critical applications such as online content filtration systems and self-driving cars , . As a result, a great deal of effort has been dedicated to studying adversarial perturbations. Much of the literature has been dedicated to the development of new attacks that use different perceptibility metrics , , , security settings (black box/white box) , , as well as increasing efficiency . Defending against adversarial attacks is also well studied. In particular, adversarial training, where models are trained on adversarial examples, has been shown to be effective under certain assumptions ,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[Intermediate-layer Adversarial Attacks] A small number of studies have focused on perturbing mid-layer outputs. These include , which perturbs mid-layer activations by crafting a single universal perturbation that produces as many spurious mid-layer activations as possible. Another is Feature Adversary Attack , , which performs a targeted attack by minimizing the distance of the representations of two images in internal neural network layers (instead of in the output layer). However, instead of emphasizing adversarial transferability, it focuses more on internal representations. Results in the paper show that even when given a guide image and a dissimilar target image, it is possible to perturb the target image to produce an embedding similar to that of the guide image.</a:t>
            </a:r>
            <a:endParaRPr/>
          </a:p>
          <a:p>
            <a:pPr indent="0" lvl="0" marL="0" rtl="0" algn="l">
              <a:spcBef>
                <a:spcPts val="0"/>
              </a:spcBef>
              <a:spcAft>
                <a:spcPts val="0"/>
              </a:spcAft>
              <a:buNone/>
            </a:pPr>
            <a:r>
              <a:rPr lang="en"/>
              <a:t> Two other related works , focus on perturbing intermediate activation maps for the purpose of increasing adversarial transferability in a method similar to that of , except they focus on black-box transferability. Their method does not focus on fine-tuning existing adversarial examples and differs significantly in attack methodology from ours.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SLIDES_API503368914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SLIDES_API503368914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SLIDES_API503368914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SLIDES_API503368914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Object detection from video.</a:t>
            </a:r>
            <a:endParaRPr/>
          </a:p>
          <a:p>
            <a:pPr indent="0" lvl="0" marL="0" rtl="0" algn="l">
              <a:spcBef>
                <a:spcPts val="0"/>
              </a:spcBef>
              <a:spcAft>
                <a:spcPts val="0"/>
              </a:spcAft>
              <a:buNone/>
            </a:pPr>
            <a:r>
              <a:rPr lang="en"/>
              <a:t>Others have also exploited the temporal properties of video to improve object detection.</a:t>
            </a:r>
            <a:endParaRPr/>
          </a:p>
          <a:p>
            <a:pPr indent="0" lvl="0" marL="0" rtl="0" algn="l">
              <a:spcBef>
                <a:spcPts val="0"/>
              </a:spcBef>
              <a:spcAft>
                <a:spcPts val="0"/>
              </a:spcAft>
              <a:buNone/>
            </a:pPr>
            <a:r>
              <a:rPr lang="en"/>
              <a:t>T-CNN [CITE] regularizes detection results with tracking output.</a:t>
            </a:r>
            <a:endParaRPr/>
          </a:p>
          <a:p>
            <a:pPr indent="0" lvl="0" marL="0" rtl="0" algn="l">
              <a:spcBef>
                <a:spcPts val="0"/>
              </a:spcBef>
              <a:spcAft>
                <a:spcPts val="0"/>
              </a:spcAft>
              <a:buNone/>
            </a:pPr>
            <a:r>
              <a:rPr lang="en"/>
              <a:t>In Detect and Track [CITE], an end-to-end architecture is proposed which incorporates detection and tracking to improve accuracy. Both methods require future frames to predict current frame, therefore they are non-causal.</a:t>
            </a:r>
            <a:endParaRPr/>
          </a:p>
          <a:p>
            <a:pPr indent="0" lvl="0" marL="0" rtl="0" algn="l">
              <a:spcBef>
                <a:spcPts val="0"/>
              </a:spcBef>
              <a:spcAft>
                <a:spcPts val="0"/>
              </a:spcAft>
              <a:buNone/>
            </a:pPr>
            <a:r>
              <a:rPr lang="en"/>
              <a:t>Deep feature flow [CITE] exploits temporal redundancy between neighboring frames by estimating optical flow with FlowNet [CITE].</a:t>
            </a:r>
            <a:endParaRPr/>
          </a:p>
          <a:p>
            <a:pPr indent="0" lvl="0" marL="0" rtl="0" algn="l">
              <a:spcBef>
                <a:spcPts val="0"/>
              </a:spcBef>
              <a:spcAft>
                <a:spcPts val="0"/>
              </a:spcAft>
              <a:buNone/>
            </a:pPr>
            <a:r>
              <a:rPr lang="en"/>
              <a:t>It achieves high speed-ups by skipping feature extraction for non-key frames.</a:t>
            </a:r>
            <a:endParaRPr/>
          </a:p>
          <a:p>
            <a:pPr indent="0" lvl="0" marL="0" rtl="0" algn="l">
              <a:spcBef>
                <a:spcPts val="0"/>
              </a:spcBef>
              <a:spcAft>
                <a:spcPts val="0"/>
              </a:spcAft>
              <a:buNone/>
            </a:pPr>
            <a:r>
              <a:rPr lang="en"/>
              <a:t>Flow-guided feature aggregation [[TARGET]], on the other hand, tries to improve accuracy by aggregating features from nearby frames.</a:t>
            </a:r>
            <a:endParaRPr/>
          </a:p>
          <a:p>
            <a:pPr indent="0" lvl="0" marL="0" rtl="0" algn="l">
              <a:spcBef>
                <a:spcPts val="0"/>
              </a:spcBef>
              <a:spcAft>
                <a:spcPts val="0"/>
              </a:spcAft>
              <a:buNone/>
            </a:pPr>
            <a:r>
              <a:rPr lang="en"/>
              <a:t>In  [CITE], a unified approach of exploiting feature flow is presented, which improves both the detection accuracy and the speed. A similar flow based hardware solution is proposed in [FORMULA]  [CITE].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[Introduction] Nevertheless, the video has rich information about the same object instance, usually observed in multiple “snapshots" in a short time. Such temporal information is exploited in existing video object detection methods [CITE], [CITE], [CITE], [CITE] in a simple way. These methods firstly apply object detectors in single frames and then assemble the detected bounding boxes across temporal dimension in a dedicated post processing step. This step relies on off-the-shelf motion estimation such as optical flow, and hand-crafted bounding box association rules such as object tracking. In general, such methods manipulate the single-frame detection boxes with mediocre qualities but do not improve the detection quality. The performance improvement is from heuristic post-processing instead of principled learning. There is no end-to-end training. In this work, these techniques are called box level methods.</a:t>
            </a:r>
            <a:endParaRPr/>
          </a:p>
          <a:p>
            <a:pPr indent="0" lvl="0" marL="0" rtl="0" algn="l">
              <a:spcBef>
                <a:spcPts val="0"/>
              </a:spcBef>
              <a:spcAft>
                <a:spcPts val="0"/>
              </a:spcAft>
              <a:buNone/>
            </a:pPr>
            <a:r>
              <a:rPr lang="en"/>
              <a:t> We attempt to take a deeper look at video object detection. We seek to improve the detection or recognition quality by exploiting temporal information, in a principled way. As motivated by the success in image recognition [CITE], feature matters, and we propose to improve the per-frame feature learning by temporal aggregation. Note that the features of the same object instance are usually not spatially aligned across frames due to video motion. A naive feature aggregation may even deteriorate the performance, as elaborated in Table REF (b) later. This suggests that it is critical to model the motion during learning.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[Introduction] In this work, we propose flow-guided feature aggregation (FGFA). As illustrated in Figure REF , the feature extraction network is applied on individual frames to produce the per-frame feature maps. To enhance the features at a reference frame, an optical flow network [CITE] estimates the motions between the nearby frames and the reference frame. The feature maps from nearby frames are warped to the reference frame according to the flow motion. The warped features maps, as well as its own feature maps on the reference frame, are aggregated according to an adaptive weighting network. The resulting aggregated feature maps are then fed to the detection network to produce the detection result on the reference frame. All the modules of feature extraction, flow estimation, feature aggregation, and detection are trained end-to-end.</a:t>
            </a:r>
            <a:endParaRPr/>
          </a:p>
          <a:p>
            <a:pPr indent="0" lvl="0" marL="0" rtl="0" algn="l">
              <a:spcBef>
                <a:spcPts val="0"/>
              </a:spcBef>
              <a:spcAft>
                <a:spcPts val="0"/>
              </a:spcAft>
              <a:buNone/>
            </a:pPr>
            <a:r>
              <a:rPr lang="en"/>
              <a:t> Compared with box level methods, our approach works on feature level, performs end-to-end learning and is complementary (, to Seq-NMS [CITE]). It improves the per-frame features and generates high quality bounding boxes. The boxes can be further refined by box-level methods. Our approach is evaluated on the large-scale ImageNet VID dataset [CITE]. Rigorous ablation study verifies that it is effective and significantly improves upon strong single-frame baselines. Combination with box-level methods produces further improvement. We report object detection accuracy on par with the best engineered systems winning the ImageNet VID challenges, without additional bells-and-whistles (, model ensembling, multi-scale training/testing,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[Introduction] Recent years have witnessed significant progress in object detection [CITE]. State-of-the-art methods share a similar two-stage structure. Deep Convolutional Neural Networks (CNNs) [CITE], [CITE], [CITE], [CITE] are firstly applied to generate a set of feature maps over the whole input image. A shallow detection-specific network [CITE], [CITE], [CITE], [CITE], [CITE] then generates the detection results from the feature maps.</a:t>
            </a:r>
            <a:endParaRPr/>
          </a:p>
          <a:p>
            <a:pPr indent="0" lvl="0" marL="0" rtl="0" algn="l">
              <a:spcBef>
                <a:spcPts val="0"/>
              </a:spcBef>
              <a:spcAft>
                <a:spcPts val="0"/>
              </a:spcAft>
              <a:buNone/>
            </a:pPr>
            <a:r>
              <a:rPr lang="en"/>
              <a:t> These methods achieve excellent results in still images. However, directly applying them for video object detection is challenging. The recognition accuracy suffers from deteriorated object appearances in videos that are seldom observed in still images, such as motion blur, video defocus, rare poses, etc (See an example in Figure REF and more in Figure REF ). As quantified in experiments, a state-of-the-art still-image object detector (R-FCN [CITE] + ResNet-101 [CITE]) deteriorates remarkably for fast moving objects (Table REF (a)).</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SLIDES_API503368914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SLIDES_API503368914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SLIDES_API503368914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SLIDES_API503368914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We implement our model based on U-Net [CITE], which is also applied in the Traffic4cast 2019 competition and achieved the best results. As shown in Figure REF , it consists of 8 dense blocks and 7 transpose convolutional layers. The output of the [FORMULA] -th dense block will be input to the [FORMULA] -th transpose convolutional layer, which is a shortcut to retrieval more information from the original image. We also use these shortcuts inside the dense blocks. Each dense block has 4 convolutional layers. Each layer will take the output of the previous layer and the original input of the dense block as inputs, following [[TARGET]]. Dense blocks are followed by average pooling to half the size of the feature maps. The last dense block is followed by a single convolutional layer.</a:t>
            </a:r>
            <a:endParaRPr/>
          </a:p>
          <a:p>
            <a:pPr indent="0" lvl="0" marL="0" rtl="0" algn="l">
              <a:spcBef>
                <a:spcPts val="0"/>
              </a:spcBef>
              <a:spcAft>
                <a:spcPts val="0"/>
              </a:spcAft>
              <a:buNone/>
            </a:pPr>
            <a:r>
              <a:rPr lang="en"/>
              <a:t>[FIGURE]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[Implementation Details.] On all datasets except ImageNet, the DenseNet used in our experiments has three dense blocks that each has an equal number of layers. Before entering the first dense block, a convolution with 16 (or twice the growth rate for DenseNet-BC) output channels is performed on the input images. For convolutional layers with kernel size 3[FORMULA] 3, each side of the inputs is zero-padded by one pixel to keep the feature-map size fixed. We use 1[FORMULA] 1 convolution followed by 2[FORMULA] 2 average pooling as transition layers between two contiguous dense blocks. At the end of the last dense block, a global average pooling is performed and then a softmax classifier is attached. The feature-map sizes in the three dense blocks are 32[FORMULA] 32, 16[FORMULA] 16, and 8[FORMULA] 8, respectively. We experiment with the basic DenseNet structure with configurations [FORMULA] , [FORMULA] and [FORMULA] . For DenseNet-BC, the networks with configurations [FORMULA] , [FORMULA] and [FORMULA] are evaluated.</a:t>
            </a:r>
            <a:endParaRPr/>
          </a:p>
          <a:p>
            <a:pPr indent="0" lvl="0" marL="0" rtl="0" algn="l">
              <a:spcBef>
                <a:spcPts val="0"/>
              </a:spcBef>
              <a:spcAft>
                <a:spcPts val="0"/>
              </a:spcAft>
              <a:buNone/>
            </a:pPr>
            <a:r>
              <a:rPr lang="en"/>
              <a:t> In our experiments on ImageNet, we use a DenseNet-BC structure with 4 dense blocks on 224[FORMULA] 224 input images. The initial convolution layer comprises [FORMULA] convolutions of size 7[FORMULA] 7 with stride 2; the number of feature-maps in all other layers also follow from setting [FORMULA] . The exact network configurations we used on ImageNet are shown in Table REF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[Pooling layers.] The concatenation operation used in Eq. (REF ) is not viable when the size of feature-maps changes. However, an essential part of convolutional networks is down-sampling layers that change the size of feature-maps. To facilitate down-sampling in our architecture we divide the network into multiple densely connected dense blocks; see Figure REF . We refer to layers between blocks as transition layers, which do convolution and pooling. The transition layers used in our experiments consist of a batch normalization layer and an 1[FORMULA] 1 convolutional layer followed by a 2[FORMULA] 2 average pooling layer.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[Compression.] To further improve model compactness, we can reduce the number of feature-maps at transition layers. If a dense block contains [FORMULA] feature-maps, we let the following transition layer generate [FORMULA] output feature-maps, where [FORMULA] is referred to as the compression factor. When [FORMULA] , the number of feature-maps across transition layers remains unchanged. We refer the DenseNet with [FORMULA] as DenseNet-C, and we set [FORMULA] in our experiment. When both the bottleneck and transition layers with [FORMULA] are used, we refer to our model as DenseNet-BC.</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SLIDES_API503368914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SLIDES_API503368914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SLIDES_API503368914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SLIDES_API503368914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Accurate organ segmentation is the prerequisite of many subsequent</a:t>
            </a:r>
            <a:endParaRPr/>
          </a:p>
          <a:p>
            <a:pPr indent="0" lvl="0" marL="0" rtl="0" algn="l">
              <a:spcBef>
                <a:spcPts val="0"/>
              </a:spcBef>
              <a:spcAft>
                <a:spcPts val="0"/>
              </a:spcAft>
              <a:buNone/>
            </a:pPr>
            <a:r>
              <a:rPr lang="en"/>
              <a:t>computer based analysis. In recent years, with the rapid development</a:t>
            </a:r>
            <a:endParaRPr/>
          </a:p>
          <a:p>
            <a:pPr indent="0" lvl="0" marL="0" rtl="0" algn="l">
              <a:spcBef>
                <a:spcPts val="0"/>
              </a:spcBef>
              <a:spcAft>
                <a:spcPts val="0"/>
              </a:spcAft>
              <a:buNone/>
            </a:pPr>
            <a:r>
              <a:rPr lang="en"/>
              <a:t>of deep neural network, automatic segmentation of many organs and</a:t>
            </a:r>
            <a:endParaRPr/>
          </a:p>
          <a:p>
            <a:pPr indent="0" lvl="0" marL="0" rtl="0" algn="l">
              <a:spcBef>
                <a:spcPts val="0"/>
              </a:spcBef>
              <a:spcAft>
                <a:spcPts val="0"/>
              </a:spcAft>
              <a:buNone/>
            </a:pPr>
            <a:r>
              <a:rPr lang="en"/>
              <a:t>tissues have achieved good results, such as segmentation of the</a:t>
            </a:r>
            <a:endParaRPr/>
          </a:p>
          <a:p>
            <a:pPr indent="0" lvl="0" marL="0" rtl="0" algn="l">
              <a:spcBef>
                <a:spcPts val="0"/>
              </a:spcBef>
              <a:spcAft>
                <a:spcPts val="0"/>
              </a:spcAft>
              <a:buNone/>
            </a:pPr>
            <a:r>
              <a:rPr lang="en"/>
              <a:t>cortical and sub-cortical structures, lung, liver, heart,</a:t>
            </a:r>
            <a:endParaRPr/>
          </a:p>
          <a:p>
            <a:pPr indent="0" lvl="0" marL="0" rtl="0" algn="l">
              <a:spcBef>
                <a:spcPts val="0"/>
              </a:spcBef>
              <a:spcAft>
                <a:spcPts val="0"/>
              </a:spcAft>
              <a:buNone/>
            </a:pPr>
            <a:r>
              <a:rPr lang="en"/>
              <a:t>etc.. [CITE], [CITE], [CITE], [CITE], [CITE], [CITE].</a:t>
            </a:r>
            <a:endParaRPr/>
          </a:p>
          <a:p>
            <a:pPr indent="0" lvl="0" marL="0" rtl="0" algn="l">
              <a:spcBef>
                <a:spcPts val="0"/>
              </a:spcBef>
              <a:spcAft>
                <a:spcPts val="0"/>
              </a:spcAft>
              <a:buNone/>
            </a:pPr>
            <a:r>
              <a:rPr lang="en"/>
              <a:t>For the pancreas, however, while the segmentation result has been improved</a:t>
            </a:r>
            <a:endParaRPr/>
          </a:p>
          <a:p>
            <a:pPr indent="0" lvl="0" marL="0" rtl="0" algn="l">
              <a:spcBef>
                <a:spcPts val="0"/>
              </a:spcBef>
              <a:spcAft>
                <a:spcPts val="0"/>
              </a:spcAft>
              <a:buNone/>
            </a:pPr>
            <a:r>
              <a:rPr lang="en"/>
              <a:t>substantially from the pre-deep learning era, the accuracy is still</a:t>
            </a:r>
            <a:endParaRPr/>
          </a:p>
          <a:p>
            <a:pPr indent="0" lvl="0" marL="0" rtl="0" algn="l">
              <a:spcBef>
                <a:spcPts val="0"/>
              </a:spcBef>
              <a:spcAft>
                <a:spcPts val="0"/>
              </a:spcAft>
              <a:buNone/>
            </a:pPr>
            <a:r>
              <a:rPr lang="en"/>
              <a:t>relatively low compared with other organs [CITE], [CITE], [CITE], [CITE], [CITE], [[TARGET]].</a:t>
            </a:r>
            <a:endParaRPr/>
          </a:p>
          <a:p>
            <a:pPr indent="0" lvl="0" marL="0" rtl="0" algn="l">
              <a:spcBef>
                <a:spcPts val="0"/>
              </a:spcBef>
              <a:spcAft>
                <a:spcPts val="0"/>
              </a:spcAft>
              <a:buNone/>
            </a:pPr>
            <a:r>
              <a:rPr lang="en"/>
              <a:t>This is mainly caused by several aspects: 1) the shape, size and</a:t>
            </a:r>
            <a:endParaRPr/>
          </a:p>
          <a:p>
            <a:pPr indent="0" lvl="0" marL="0" rtl="0" algn="l">
              <a:spcBef>
                <a:spcPts val="0"/>
              </a:spcBef>
              <a:spcAft>
                <a:spcPts val="0"/>
              </a:spcAft>
              <a:buNone/>
            </a:pPr>
            <a:r>
              <a:rPr lang="en"/>
              <a:t>position of the pancreas vary greatly among different patients in</a:t>
            </a:r>
            <a:endParaRPr/>
          </a:p>
          <a:p>
            <a:pPr indent="0" lvl="0" marL="0" rtl="0" algn="l">
              <a:spcBef>
                <a:spcPts val="0"/>
              </a:spcBef>
              <a:spcAft>
                <a:spcPts val="0"/>
              </a:spcAft>
              <a:buNone/>
            </a:pPr>
            <a:r>
              <a:rPr lang="en"/>
              <a:t>abdomen; 2) the contrast between the pancreas and surrounding</a:t>
            </a:r>
            <a:endParaRPr/>
          </a:p>
          <a:p>
            <a:pPr indent="0" lvl="0" marL="0" rtl="0" algn="l">
              <a:spcBef>
                <a:spcPts val="0"/>
              </a:spcBef>
              <a:spcAft>
                <a:spcPts val="0"/>
              </a:spcAft>
              <a:buNone/>
            </a:pPr>
            <a:r>
              <a:rPr lang="en"/>
              <a:t>tissue is weak; 3) pancreas is relatively soft and easy to be</a:t>
            </a:r>
            <a:endParaRPr/>
          </a:p>
          <a:p>
            <a:pPr indent="0" lvl="0" marL="0" rtl="0" algn="l">
              <a:spcBef>
                <a:spcPts val="0"/>
              </a:spcBef>
              <a:spcAft>
                <a:spcPts val="0"/>
              </a:spcAft>
              <a:buNone/>
            </a:pPr>
            <a:r>
              <a:rPr lang="en"/>
              <a:t>pushed by surrounding organs, which could result in large</a:t>
            </a:r>
            <a:endParaRPr/>
          </a:p>
          <a:p>
            <a:pPr indent="0" lvl="0" marL="0" rtl="0" algn="l">
              <a:spcBef>
                <a:spcPts val="0"/>
              </a:spcBef>
              <a:spcAft>
                <a:spcPts val="0"/>
              </a:spcAft>
              <a:buNone/>
            </a:pPr>
            <a:r>
              <a:rPr lang="en"/>
              <a:t>deformation; 4)pancreas occupies a very small portion in the</a:t>
            </a:r>
            <a:endParaRPr/>
          </a:p>
          <a:p>
            <a:pPr indent="0" lvl="0" marL="0" rtl="0" algn="l">
              <a:spcBef>
                <a:spcPts val="0"/>
              </a:spcBef>
              <a:spcAft>
                <a:spcPts val="0"/>
              </a:spcAft>
              <a:buNone/>
            </a:pPr>
            <a:r>
              <a:rPr lang="en"/>
              <a:t>CT image. All these factors make accurate segmentation still a</a:t>
            </a:r>
            <a:endParaRPr/>
          </a:p>
          <a:p>
            <a:pPr indent="0" lvl="0" marL="0" rtl="0" algn="l">
              <a:spcBef>
                <a:spcPts val="0"/>
              </a:spcBef>
              <a:spcAft>
                <a:spcPts val="0"/>
              </a:spcAft>
              <a:buNone/>
            </a:pPr>
            <a:r>
              <a:rPr lang="en"/>
              <a:t>challenging task.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[Introduction] Pancreas segmentation in computed tomography (CT) challenges current computer-aided diagnosis (CAD) systems. While automatic segmentation of numerous other organs in CT scans, such as the liver, heart or kidneys, achieves good performance with Dice similarity coefficients (DSCs) of [FORMULA] 90% [CITE], [CITE], [CITE], the pancreas' variable shape, size, and location in the abdomen limits segmentation accuracy to [FORMULA] 73% DSC being reported in the literature [CITE], [CITE], [CITE], [CITE], [CITE], [CITE]. Previous pancreas segmentation work [CITE], [CITE], [CITE], [CITE] are all based on performing volumetric multiple atlas registration [CITE], [CITE], [CITE] and executing robust label fusion methods [CITE], [CITE], [CITE] to optimize the per-pixel organ labeling process. This type of organ segmentation strategy is widely used for many organ segmentation problems, such as the brain [CITE], [CITE], heart [CITE], lung [CITE], and pancreas [CITE], [CITE], [CITE], [CITE]. These methods can be referred as a top-down model fitting approach, or more specifically, MALF (Multi-Atlas Registration &amp; Label Fusion). Another group of top-down frameworks [CITE], [CITE], [CITE] leverages statistical model detection, e.g., generalized Hough transform [CITE] or marginal space learning [CITE], [CITE], for organ localization; and deformable statistical shape models for object segmentation. However, due to the intrinsic huge 3D shape variability of the pancreas, statistical shape modeling has not been applied for pancreas segmentation.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[Introduction] Recently, a new bottom-up pancreas segmentation representation has been proposed in [CITE], which uses dense binary image patch labeling confidence maps that are aggregated to classify image regions, or superpixels [CITE], [CITE], [CITE], into pancreas and non-pancreas label assignments. This method's motivation is to improve segmentation accuracy of highly deformable organs, such as the pancreas, by leveraging mid-level visual representations of image segments. This work was advanced further by Roth et al.[CITE], who proposed a probabilistic bottom-up approach using a set of multi-scale and multi-level deep convolutional neural networks (CNNs) to capture the complexity of pancreas appearance in CT images. The resulting system improved upon the performance of [CITE] with a reported DSC of 71.8[FORMULA] 10.7% against 68.8[FORMULA] 25.6%. Compared to the MALF based pancreas segmentation work [CITE], [CITE], [CITE], [CITE] that are evaluated using “leave-one-patient-out” (LOO) protocol, the bottom-up approaches using superpixel representation [CITE], [CITE] have reported comparable or higher DSC accuracy measurements, under more challenging 6-fold or 4-fold cross-validationAs discussed in [CITE], LOO can be considered as an extreme case of [FORMULA] -fold cross-validation with [FORMULA] when [FORMULA] patient datasets are available for experiments. When [FORMULA] is decreasing and significantly smaller than [FORMULA] , [FORMULA] -fold CV becomes more challenging since there are less data for training and more patient cases on testing.. Comparing the two bottom-up approaches, the usage of deep CNN models has noticeably improved the performance stability, which is evident by the significantly smaller standard deviation [CITE] than all other top-down or bottom-up works [CITE], [CITE], [CITE], [CITE], [CITE].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[Discussion &amp; Conclusion] Furthermore, using 2D views has the advantage that networks trained on much larger databases of natural images (e.g. ImageNet, BSDS500) can be used for fine-tuning to the medical domain. It has been shown that transfer learning is a viable approach when the medical imaging data set size is limited [CITE], [CITE]. 3D CNN approaches often adopt padded spatially-local sliding volumes to parse any CT scan, e.g., 96[FORMULA] 96[FORMULA] 48 [CITE], 160[FORMULA] 160[FORMULA] 72 [CITE] or 80[FORMULA] 80[FORMULA] 80 [CITE], which may cause the segmentation discontinuity or inconsistency at overlapped window boundaries. Ensemble of several neural networks trained with random configuration variations is found to be advantageous comparing a single CNN model in object recognition [CITE], [CITE], [CITE]. Our pancreas segmentation method can be indeed considered as ensembles of multiple correlated HNN models but good complementary information gain since they are trained from orthogonal axial, coronal or sagittal CT views.</a:t>
            </a:r>
            <a:endParaRPr/>
          </a:p>
          <a:p>
            <a:pPr indent="0" lvl="0" marL="0" rtl="0" algn="l">
              <a:spcBef>
                <a:spcPts val="0"/>
              </a:spcBef>
              <a:spcAft>
                <a:spcPts val="0"/>
              </a:spcAft>
              <a:buNone/>
            </a:pPr>
            <a:r>
              <a:rPr lang="en"/>
              <a:t>In conclusion, we present a holistic deep CNN approach for pancreas localization and segmentation in abdominal CT scans, exploiting multi-view spatial pooling and combining interior and boundary mid-level cues. The robust fusion of [FORMULA] aggregating on interior holistically-nested networks (HNN-I) alone already achieve good performance at DSC of 81.14%[FORMULA] 7.30% in 4-fold CV. The other method variant HNN-RF incorporates the organ boundary responses from the HNN-B model and significantly improves the worst case pancreas segmentation accuracy in Hausdorff distance (p[FORMULA] 0.001). The highest reported DSCs of 81.27%[FORMULA] 6.27% is achieved, at the computational cost of 2[FORMULA] 3 minutes, not hours as in [CITE], [CITE], [CITE]. Our deep learning based organ segmentation approach could be generalizable to other segmentation problems with large variations and pathologies, e.g., pathological organs and tumors.</a:t>
            </a:r>
            <a:endParaRPr/>
          </a:p>
          <a:p>
            <a:pPr indent="0" lvl="0" marL="0" rtl="0" algn="l">
              <a:spcBef>
                <a:spcPts val="0"/>
              </a:spcBef>
              <a:spcAft>
                <a:spcPts val="0"/>
              </a:spcAft>
              <a:buNone/>
            </a:pPr>
            <a:r>
              <a:rPr lang="en"/>
              <a:t>[FIGURE]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SLIDES_API503368914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SLIDES_API503368914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SLIDES_API503368914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SLIDES_API503368914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ResNet-18 [[TARGET]]: We modify the size of all convolutional kernels to [FORMULA] and experiment with different number of feature channels in each layer. We try light and heavy weight versions where the number of feature channels are [FORMULA] , [FORMULA] , same, or twice of the number of original channels. The input to our network is a 6-channel RGB+HHA [CITE] image. This network has been trained from scratch, similar to the baseline 3D convolution based approaches.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VGG-16 [CITE]: We particularly choose this model because it is conventionally used in previous work on the NYUv2 dataset [CITE], [CITE]. The input to this network is the standard RGB image. This model has been pre-trained on the Imagenet dataset.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[Object Detection Improvements] Multi-scale testing. In the above, all results are obtained by single-scale training/testing as in [CITE], where the image's shorter side is [FORMULA] pixels. Multi-scale training/testing has been developed in [CITE], [CITE] by selecting a scale from a feature pyramid, and in [CITE] by using maxout layers. In our current implementation, we have performed multi-scale testing following [CITE]; we have not performed multi-scale training because of limited time. In addition, we have performed multi-scale testing only for the Fast R-CNN step (but not yet for the RPN step).</a:t>
            </a:r>
            <a:endParaRPr/>
          </a:p>
          <a:p>
            <a:pPr indent="0" lvl="0" marL="0" rtl="0" algn="l">
              <a:spcBef>
                <a:spcPts val="0"/>
              </a:spcBef>
              <a:spcAft>
                <a:spcPts val="0"/>
              </a:spcAft>
              <a:buNone/>
            </a:pPr>
            <a:r>
              <a:rPr lang="en"/>
              <a:t>With a trained model, we compute conv feature maps on an image pyramid, where the image's shorter sides are [FORMULA] . We select two adjacent scales from the pyramid following [CITE]. RoI pooling and subsequent layers are performed on the feature maps of these two scales [CITE], which are merged by maxout as in [CITE].</a:t>
            </a:r>
            <a:endParaRPr/>
          </a:p>
          <a:p>
            <a:pPr indent="0" lvl="0" marL="0" rtl="0" algn="l">
              <a:spcBef>
                <a:spcPts val="0"/>
              </a:spcBef>
              <a:spcAft>
                <a:spcPts val="0"/>
              </a:spcAft>
              <a:buNone/>
            </a:pPr>
            <a:r>
              <a:rPr lang="en"/>
              <a:t>Multi-scale testing improves the mAP by over 2 points (Table REF ).</a:t>
            </a:r>
            <a:endParaRPr/>
          </a:p>
          <a:p>
            <a:pPr indent="0" lvl="0" marL="0" rtl="0" algn="l">
              <a:spcBef>
                <a:spcPts val="0"/>
              </a:spcBef>
              <a:spcAft>
                <a:spcPts val="0"/>
              </a:spcAft>
              <a:buNone/>
            </a:pPr>
            <a:r>
              <a:rPr lang="en"/>
              <a:t> Using validation data. Next we use the 80k+40k trainval set for training and the 20k test-dev set for evaluation. The test-dev set has no publicly available ground truth and the result is reported by the evaluation server. Under this setting, the results are an mAP@.5 of 55.7% and an mAP@[.5, .95] of 34.9% (Table REF ). This is our single-model result.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[ImageNet Localization] The above results are only based on the proposal network (RPN) in Faster R-CNN [CITE]. One may use the detection network (Fast R-CNN [CITE]) in Faster R-CNN to improve the results. But we notice that on this dataset, one image usually contains a single dominate object, and the proposal regions highly overlap with each other and thus have very similar RoI-pooled features. As a result, the image-centric training of Fast R-CNN [CITE] generates samples of small variations, which may not be desired for stochastic training. Motivated by this, in our current experiment we use the original R-CNN [CITE] that is RoI-centric, in place of Fast R-CNN.</a:t>
            </a:r>
            <a:endParaRPr/>
          </a:p>
          <a:p>
            <a:pPr indent="0" lvl="0" marL="0" rtl="0" algn="l">
              <a:spcBef>
                <a:spcPts val="0"/>
              </a:spcBef>
              <a:spcAft>
                <a:spcPts val="0"/>
              </a:spcAft>
              <a:buNone/>
            </a:pPr>
            <a:r>
              <a:rPr lang="en"/>
              <a:t> Our R-CNN implementation is as follows. We apply the per-class RPN trained as above on the training images to predict bounding boxes for the ground truth class. These predicted boxes play a role of class-dependent proposals.</a:t>
            </a:r>
            <a:endParaRPr/>
          </a:p>
          <a:p>
            <a:pPr indent="0" lvl="0" marL="0" rtl="0" algn="l">
              <a:spcBef>
                <a:spcPts val="0"/>
              </a:spcBef>
              <a:spcAft>
                <a:spcPts val="0"/>
              </a:spcAft>
              <a:buNone/>
            </a:pPr>
            <a:r>
              <a:rPr lang="en"/>
              <a:t>For each training image, the highest scored 200 proposals are extracted as training samples to train an R-CNN classifier. The image region is cropped from a proposal, warped to 224[FORMULA] 224 pixels, and fed into the classification network as in R-CNN [CITE]. The outputs of this network consist of two sibling fc layers for cls and reg, also in a per-class form.</a:t>
            </a:r>
            <a:endParaRPr/>
          </a:p>
          <a:p>
            <a:pPr indent="0" lvl="0" marL="0" rtl="0" algn="l">
              <a:spcBef>
                <a:spcPts val="0"/>
              </a:spcBef>
              <a:spcAft>
                <a:spcPts val="0"/>
              </a:spcAft>
              <a:buNone/>
            </a:pPr>
            <a:r>
              <a:rPr lang="en"/>
              <a:t>This R-CNN network is fine-tuned on the training set using a mini-batch size of 256 in the RoI-centric fashion. For testing, the RPN generates the highest scored 200 proposals for each predicted class, and the R-CNN network is used to update these proposals' scores and box positions.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[Object Detection Baselines] In this section we introduce our detection method based on the baseline Faster R-CNN [CITE] system.</a:t>
            </a:r>
            <a:endParaRPr/>
          </a:p>
          <a:p>
            <a:pPr indent="0" lvl="0" marL="0" rtl="0" algn="l">
              <a:spcBef>
                <a:spcPts val="0"/>
              </a:spcBef>
              <a:spcAft>
                <a:spcPts val="0"/>
              </a:spcAft>
              <a:buNone/>
            </a:pPr>
            <a:r>
              <a:rPr lang="en"/>
              <a:t>The models are initialized by the ImageNet classification models, and then fine-tuned on the object detection data. We have experimented with ResNet-50/101 at the time of the ILSVRC &amp; COCO 2015 detection competitions.</a:t>
            </a:r>
            <a:endParaRPr/>
          </a:p>
          <a:p>
            <a:pPr indent="0" lvl="0" marL="0" rtl="0" algn="l">
              <a:spcBef>
                <a:spcPts val="0"/>
              </a:spcBef>
              <a:spcAft>
                <a:spcPts val="0"/>
              </a:spcAft>
              <a:buNone/>
            </a:pPr>
            <a:r>
              <a:rPr lang="en"/>
              <a:t> Unlike VGG-16 used in [CITE], our ResNet has no hidden fc layers. We adopt the idea of “Networks on Conv feature maps” (NoC) [CITE] to address this issue.</a:t>
            </a:r>
            <a:endParaRPr/>
          </a:p>
          <a:p>
            <a:pPr indent="0" lvl="0" marL="0" rtl="0" algn="l">
              <a:spcBef>
                <a:spcPts val="0"/>
              </a:spcBef>
              <a:spcAft>
                <a:spcPts val="0"/>
              </a:spcAft>
              <a:buNone/>
            </a:pPr>
            <a:r>
              <a:rPr lang="en"/>
              <a:t>We compute the full-image shared conv feature maps using those layers whose strides on the image are no greater than 16 pixels (, conv1, conv2_ x, conv3_x, and conv4_x, totally 91 conv layers in ResNet-101; Table REF ). We consider these layers as analogous to the 13 conv layers in VGG-16, and by doing so, both ResNet and VGG-16 have conv feature maps of the same total stride (16 pixels).</a:t>
            </a:r>
            <a:endParaRPr/>
          </a:p>
          <a:p>
            <a:pPr indent="0" lvl="0" marL="0" rtl="0" algn="l">
              <a:spcBef>
                <a:spcPts val="0"/>
              </a:spcBef>
              <a:spcAft>
                <a:spcPts val="0"/>
              </a:spcAft>
              <a:buNone/>
            </a:pPr>
            <a:r>
              <a:rPr lang="en"/>
              <a:t>These layers are shared by a region proposal network (RPN, generating 300 proposals) [CITE] and a Fast R-CNN detection network [CITE].</a:t>
            </a:r>
            <a:endParaRPr/>
          </a:p>
          <a:p>
            <a:pPr indent="0" lvl="0" marL="0" rtl="0" algn="l">
              <a:spcBef>
                <a:spcPts val="0"/>
              </a:spcBef>
              <a:spcAft>
                <a:spcPts val="0"/>
              </a:spcAft>
              <a:buNone/>
            </a:pPr>
            <a:r>
              <a:rPr lang="en"/>
              <a:t>RoI pooling [CITE] is performed before conv5_1. On this RoI-pooled feature, all layers of conv5_x and up are adopted for each region, playing the roles of VGG-16's fc layers.</a:t>
            </a:r>
            <a:endParaRPr/>
          </a:p>
          <a:p>
            <a:pPr indent="0" lvl="0" marL="0" rtl="0" algn="l">
              <a:spcBef>
                <a:spcPts val="0"/>
              </a:spcBef>
              <a:spcAft>
                <a:spcPts val="0"/>
              </a:spcAft>
              <a:buNone/>
            </a:pPr>
            <a:r>
              <a:rPr lang="en"/>
              <a:t>The final classification layer is replaced by two sibling layers (classification and box regression [CITE]).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SLIDES_API503368914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SLIDES_API503368914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SLIDES_API503368914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SLIDES_API503368914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Image-based virtual try-on systems aim at fitting a target in-shop clothes into a reference person, which is a branch of the field of image synthesis. Driven by the rapid development of image synthesis [CITE], [CITE], [CITE], [CITE], the topic of image-based virtual try-on has attracted more interest and has vast potential applications in virtual reality and human-computer interaction. Despite significant progress in the previous works [CITE], [CITE], [CITE], [CITE], [CITE], [CITE], [CITE], [CITE], [CITE], [CITE], [CITE], [[TARGET]] for virtual try-on, the multi-pose virtual try-on has not been well studied. Concretely, for a given person image, the virtual fitting system could generate realistic images of this person in different poses while preserving the desired clothes' appearance. The multi-pose virtual fitting system is more in line with practical application scenarios. The existing works on multi-pose virtual fitting tasks are insufficient, and there are problems such as mismatch between the target clothes and the given pose, distortion of the clothes region in the try-on result, and loss of details that need to be further explored. To solve these problems, we propose a method to build a robust multi-pose virtual try-on system based on 2D images (as shown in Fig. REF ).</a:t>
            </a:r>
            <a:endParaRPr/>
          </a:p>
          <a:p>
            <a:pPr indent="0" lvl="0" marL="0" rtl="0" algn="l">
              <a:spcBef>
                <a:spcPts val="0"/>
              </a:spcBef>
              <a:spcAft>
                <a:spcPts val="0"/>
              </a:spcAft>
              <a:buNone/>
            </a:pPr>
            <a:r>
              <a:rPr lang="en"/>
              <a:t>[FIGURE]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[Introduction] Image-based virtual try-on aims to transfer the desired clothing onto a particular person and has been rapidly developed due to the great progress in generative models [CITE], [CITE], [CITE], [CITE] as well as its large practical value.</a:t>
            </a:r>
            <a:endParaRPr/>
          </a:p>
          <a:p>
            <a:pPr indent="0" lvl="0" marL="0" rtl="0" algn="l">
              <a:spcBef>
                <a:spcPts val="0"/>
              </a:spcBef>
              <a:spcAft>
                <a:spcPts val="0"/>
              </a:spcAft>
              <a:buNone/>
            </a:pPr>
            <a:r>
              <a:rPr lang="en"/>
              <a:t>The core challenge of virtual try-on is to find a proper warping strategy that can account for spatial misalignment between source and target clothing regions.</a:t>
            </a:r>
            <a:endParaRPr/>
          </a:p>
          <a:p>
            <a:pPr indent="0" lvl="0" marL="0" rtl="0" algn="l">
              <a:spcBef>
                <a:spcPts val="0"/>
              </a:spcBef>
              <a:spcAft>
                <a:spcPts val="0"/>
              </a:spcAft>
              <a:buNone/>
            </a:pPr>
            <a:r>
              <a:rPr lang="en"/>
              <a:t>Existing works [CITE], [CITE], [CITE], [CITE], [CITE], [CITE], [CITE] typically solve this challenge by mimicking nonrigid clothing deformations via TPS-based methods or flow-based methods.</a:t>
            </a:r>
            <a:endParaRPr/>
          </a:p>
          <a:p>
            <a:pPr indent="0" lvl="0" marL="0" rtl="0" algn="l">
              <a:spcBef>
                <a:spcPts val="0"/>
              </a:spcBef>
              <a:spcAft>
                <a:spcPts val="0"/>
              </a:spcAft>
              <a:buNone/>
            </a:pPr>
            <a:r>
              <a:rPr lang="en"/>
              <a:t>TPS-based methods estimate parameters of the Thin Plate Spline (TPS) [CITE] transformation to warp the in-shop clothing onto the human body. While results are overall good, the TPS transformation, due to its limited degrees of freedom (e.g., [FORMULA] as in [CITE], [CITE]), tends to fail when faced with large clothing deformations or severe occlusions (see the 1st row in Fig. REF ). To address these issues, flow-based methods [CITE] enlarge the deformation space by estimating a dense flow field (e.g., [FORMULA] in [CITE]) for higher flexibility when dealing with complex clothing deformation.</a:t>
            </a:r>
            <a:endParaRPr/>
          </a:p>
          <a:p>
            <a:pPr indent="0" lvl="0" marL="0" rtl="0" algn="l">
              <a:spcBef>
                <a:spcPts val="0"/>
              </a:spcBef>
              <a:spcAft>
                <a:spcPts val="0"/>
              </a:spcAft>
              <a:buNone/>
            </a:pPr>
            <a:r>
              <a:rPr lang="en"/>
              <a:t>Compared to the TPS transformation,</a:t>
            </a:r>
            <a:endParaRPr/>
          </a:p>
          <a:p>
            <a:pPr indent="0" lvl="0" marL="0" rtl="0" algn="l">
              <a:spcBef>
                <a:spcPts val="0"/>
              </a:spcBef>
              <a:spcAft>
                <a:spcPts val="0"/>
              </a:spcAft>
              <a:buNone/>
            </a:pPr>
            <a:r>
              <a:rPr lang="en"/>
              <a:t>flow-based approaches operate on the finest element in image space, i.e., the pixel-level transformation between source and target clothing regions. They, thereby, capture the spatial correspondence more accurately and consequently help realistically synthesizing the target image.</a:t>
            </a:r>
            <a:endParaRPr/>
          </a:p>
          <a:p>
            <a:pPr indent="0" lvl="0" marL="0" rtl="0" algn="l">
              <a:spcBef>
                <a:spcPts val="0"/>
              </a:spcBef>
              <a:spcAft>
                <a:spcPts val="0"/>
              </a:spcAft>
              <a:buNone/>
            </a:pPr>
            <a:r>
              <a:rPr lang="en"/>
              <a:t>[FIGURE]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[Qualitative Comparison with SOTAs] Fig. REF presents a visual comparison of WAS-VTON with VITON[CITE], CP-VTON[CITE], and ACGPN[CITE].</a:t>
            </a:r>
            <a:endParaRPr/>
          </a:p>
          <a:p>
            <a:pPr indent="0" lvl="0" marL="0" rtl="0" algn="l">
              <a:spcBef>
                <a:spcPts val="0"/>
              </a:spcBef>
              <a:spcAft>
                <a:spcPts val="0"/>
              </a:spcAft>
              <a:buNone/>
            </a:pPr>
            <a:r>
              <a:rPr lang="en"/>
              <a:t>As shown in Fig. REF , VITON usually results in unrealistic warping results including visual artifacts, distorted texture, and unreasonable clothes silhouette. Though CP-VTON can alleviate those issues to some extent, the texture details are usually blurred.</a:t>
            </a:r>
            <a:endParaRPr/>
          </a:p>
          <a:p>
            <a:pPr indent="0" lvl="0" marL="0" rtl="0" algn="l">
              <a:spcBef>
                <a:spcPts val="0"/>
              </a:spcBef>
              <a:spcAft>
                <a:spcPts val="0"/>
              </a:spcAft>
              <a:buNone/>
            </a:pPr>
            <a:r>
              <a:rPr lang="en"/>
              <a:t>Further, both VITON and CP-VTON tend to fail when the clothes are occluded by some body part.</a:t>
            </a:r>
            <a:endParaRPr/>
          </a:p>
          <a:p>
            <a:pPr indent="0" lvl="0" marL="0" rtl="0" algn="l">
              <a:spcBef>
                <a:spcPts val="0"/>
              </a:spcBef>
              <a:spcAft>
                <a:spcPts val="0"/>
              </a:spcAft>
              <a:buNone/>
            </a:pPr>
            <a:r>
              <a:rPr lang="en"/>
              <a:t>ACGPN does better in retaining cloth texture as well as the unchanged person appearance, and with the guidance of the human parsing, it can synthesize reasonable try-on results in the occlusion scenarios. However, the edge region of the clothes in ACGPN is still blurred and there are obvious artifacts at the collar region. Moreover, all the above three methods perform poorly for the lower-body try-on.</a:t>
            </a:r>
            <a:endParaRPr/>
          </a:p>
          <a:p>
            <a:pPr indent="0" lvl="0" marL="0" rtl="0" algn="l">
              <a:spcBef>
                <a:spcPts val="0"/>
              </a:spcBef>
              <a:spcAft>
                <a:spcPts val="0"/>
              </a:spcAft>
              <a:buNone/>
            </a:pPr>
            <a:r>
              <a:rPr lang="en"/>
              <a:t>WAS-VTON, instead, is able to preserve the clothing texture and other parts of the body well, resulting in high-quality full-body try-on results, especially in the collar and clothing silhouette regions. Thanks to the PPP module and the clothing category-specific warping network, WAS-VTON also performs well in the presence of occlusion and obtains more compelling warping results (see Fig. REF and Fig. REF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[Quantitative Comparison with SOTAs] We quantitatively compare our WAS-VTON with three existing virtual try-on methods, VITON [CITE], CP-VTON [CITE], and ACGPN [CITE]. The SSIM [CITE] and the Fr[FORMULA] chet Inception Distance (FID) [CITE] are used to evaluate the warping and the final try-on results.</a:t>
            </a:r>
            <a:endParaRPr/>
          </a:p>
          <a:p>
            <a:pPr indent="0" lvl="0" marL="0" rtl="0" algn="l">
              <a:spcBef>
                <a:spcPts val="0"/>
              </a:spcBef>
              <a:spcAft>
                <a:spcPts val="0"/>
              </a:spcAft>
              <a:buNone/>
            </a:pPr>
            <a:r>
              <a:rPr lang="en"/>
              <a:t>As shown in Table REF , our proposed WAS-VTON outperforms the other methods, evidencing that our WAS-VTON can warp clothes more accurately and synthesize more realistic try-on results.</a:t>
            </a:r>
            <a:endParaRPr/>
          </a:p>
          <a:p>
            <a:pPr indent="0" lvl="0" marL="0" rtl="0" algn="l">
              <a:spcBef>
                <a:spcPts val="0"/>
              </a:spcBef>
              <a:spcAft>
                <a:spcPts val="0"/>
              </a:spcAft>
              <a:buNone/>
            </a:pPr>
            <a:r>
              <a:rPr lang="en"/>
              <a:t>We also conduct a user evaluation study</a:t>
            </a:r>
            <a:endParaRPr/>
          </a:p>
          <a:p>
            <a:pPr indent="0" lvl="0" marL="0" rtl="0" algn="l">
              <a:spcBef>
                <a:spcPts val="0"/>
              </a:spcBef>
              <a:spcAft>
                <a:spcPts val="0"/>
              </a:spcAft>
              <a:buNone/>
            </a:pPr>
            <a:r>
              <a:rPr lang="en"/>
              <a:t>to assess the quality of the try-on results. 63.07% of the users consider the results from WAS-VTON more realistic, further demonstrating the superiority of the proposed WAS-VTON.</a:t>
            </a:r>
            <a:endParaRPr/>
          </a:p>
          <a:p>
            <a:pPr indent="0" lvl="0" marL="0" rtl="0" algn="l">
              <a:spcBef>
                <a:spcPts val="0"/>
              </a:spcBef>
              <a:spcAft>
                <a:spcPts val="0"/>
              </a:spcAft>
              <a:buNone/>
            </a:pPr>
            <a:r>
              <a:rPr lang="en"/>
              <a:t>To fairly compare with the existing methods, we further test our WAS-VTON on the original virtual try-on dataset [CITE] without expanded data. As shown in Table REF , our WAS-VTON is still the best-performing approach on the original dataset.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SLIDES_API503368914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SLIDES_API503368914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SLIDES_API503368914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SLIDES_API503368914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PSPNet [[TARGET]] was the first to employ a pyramid pooling module to extract useful context information for better performance. DeepLabv3+ [CITE] follows this idea and employs depth-wise separable convolution to both atrous SPP (ASPP) and the decoder module. DenseASPP [CITE] further connects a set of atrous convolutional layers in a dense way.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[Deep Supervision for ResNet-Based FCN] Deep pretrained networks lead to good performance</a:t>
            </a:r>
            <a:endParaRPr/>
          </a:p>
          <a:p>
            <a:pPr indent="0" lvl="0" marL="0" rtl="0" algn="l">
              <a:spcBef>
                <a:spcPts val="0"/>
              </a:spcBef>
              <a:spcAft>
                <a:spcPts val="0"/>
              </a:spcAft>
              <a:buNone/>
            </a:pPr>
            <a:r>
              <a:rPr lang="en"/>
              <a:t>[CITE], [CITE], [CITE]. However, increasing depth of</a:t>
            </a:r>
            <a:endParaRPr/>
          </a:p>
          <a:p>
            <a:pPr indent="0" lvl="0" marL="0" rtl="0" algn="l">
              <a:spcBef>
                <a:spcPts val="0"/>
              </a:spcBef>
              <a:spcAft>
                <a:spcPts val="0"/>
              </a:spcAft>
              <a:buNone/>
            </a:pPr>
            <a:r>
              <a:rPr lang="en"/>
              <a:t>the network may introduce additional optimization difficulty as shown</a:t>
            </a:r>
            <a:endParaRPr/>
          </a:p>
          <a:p>
            <a:pPr indent="0" lvl="0" marL="0" rtl="0" algn="l">
              <a:spcBef>
                <a:spcPts val="0"/>
              </a:spcBef>
              <a:spcAft>
                <a:spcPts val="0"/>
              </a:spcAft>
              <a:buNone/>
            </a:pPr>
            <a:r>
              <a:rPr lang="en"/>
              <a:t>in [CITE], [CITE] for image classification. ResNet solves this</a:t>
            </a:r>
            <a:endParaRPr/>
          </a:p>
          <a:p>
            <a:pPr indent="0" lvl="0" marL="0" rtl="0" algn="l">
              <a:spcBef>
                <a:spcPts val="0"/>
              </a:spcBef>
              <a:spcAft>
                <a:spcPts val="0"/>
              </a:spcAft>
              <a:buNone/>
            </a:pPr>
            <a:r>
              <a:rPr lang="en"/>
              <a:t>problem with skip connection in each block. Latter layers of deep ResNet mainly learn</a:t>
            </a:r>
            <a:endParaRPr/>
          </a:p>
          <a:p>
            <a:pPr indent="0" lvl="0" marL="0" rtl="0" algn="l">
              <a:spcBef>
                <a:spcPts val="0"/>
              </a:spcBef>
              <a:spcAft>
                <a:spcPts val="0"/>
              </a:spcAft>
              <a:buNone/>
            </a:pPr>
            <a:r>
              <a:rPr lang="en"/>
              <a:t>residues based on previous ones.</a:t>
            </a:r>
            <a:endParaRPr/>
          </a:p>
          <a:p>
            <a:pPr indent="0" lvl="0" marL="0" rtl="0" algn="l">
              <a:spcBef>
                <a:spcPts val="0"/>
              </a:spcBef>
              <a:spcAft>
                <a:spcPts val="0"/>
              </a:spcAft>
              <a:buNone/>
            </a:pPr>
            <a:r>
              <a:rPr lang="en"/>
              <a:t> We contrarily propose generating initial results by supervision with an additional loss,</a:t>
            </a:r>
            <a:endParaRPr/>
          </a:p>
          <a:p>
            <a:pPr indent="0" lvl="0" marL="0" rtl="0" algn="l">
              <a:spcBef>
                <a:spcPts val="0"/>
              </a:spcBef>
              <a:spcAft>
                <a:spcPts val="0"/>
              </a:spcAft>
              <a:buNone/>
            </a:pPr>
            <a:r>
              <a:rPr lang="en"/>
              <a:t>and learning the residue afterwards with the final loss. Thus, optimization of the deep</a:t>
            </a:r>
            <a:endParaRPr/>
          </a:p>
          <a:p>
            <a:pPr indent="0" lvl="0" marL="0" rtl="0" algn="l">
              <a:spcBef>
                <a:spcPts val="0"/>
              </a:spcBef>
              <a:spcAft>
                <a:spcPts val="0"/>
              </a:spcAft>
              <a:buNone/>
            </a:pPr>
            <a:r>
              <a:rPr lang="en"/>
              <a:t>network is decomposed into two, each is simpler to solve.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[Pyramid Scene Parsing Network] We start with our observation and analysis of representative failure cases when applying</a:t>
            </a:r>
            <a:endParaRPr/>
          </a:p>
          <a:p>
            <a:pPr indent="0" lvl="0" marL="0" rtl="0" algn="l">
              <a:spcBef>
                <a:spcPts val="0"/>
              </a:spcBef>
              <a:spcAft>
                <a:spcPts val="0"/>
              </a:spcAft>
              <a:buNone/>
            </a:pPr>
            <a:r>
              <a:rPr lang="en"/>
              <a:t>FCN methods to scene parsing. They motivate proposal of our pyramid pooling module as the</a:t>
            </a:r>
            <a:endParaRPr/>
          </a:p>
          <a:p>
            <a:pPr indent="0" lvl="0" marL="0" rtl="0" algn="l">
              <a:spcBef>
                <a:spcPts val="0"/>
              </a:spcBef>
              <a:spcAft>
                <a:spcPts val="0"/>
              </a:spcAft>
              <a:buNone/>
            </a:pPr>
            <a:r>
              <a:rPr lang="en"/>
              <a:t>effective global context prior. Our pyramid scene parsing network (PSPNet)</a:t>
            </a:r>
            <a:endParaRPr/>
          </a:p>
          <a:p>
            <a:pPr indent="0" lvl="0" marL="0" rtl="0" algn="l">
              <a:spcBef>
                <a:spcPts val="0"/>
              </a:spcBef>
              <a:spcAft>
                <a:spcPts val="0"/>
              </a:spcAft>
              <a:buNone/>
            </a:pPr>
            <a:r>
              <a:rPr lang="en"/>
              <a:t>illustrated in Fig. REF is then described to improve performance for</a:t>
            </a:r>
            <a:endParaRPr/>
          </a:p>
          <a:p>
            <a:pPr indent="0" lvl="0" marL="0" rtl="0" algn="l">
              <a:spcBef>
                <a:spcPts val="0"/>
              </a:spcBef>
              <a:spcAft>
                <a:spcPts val="0"/>
              </a:spcAft>
              <a:buNone/>
            </a:pPr>
            <a:r>
              <a:rPr lang="en"/>
              <a:t>open-vocabulary object and stuff identification in complex scene parsing.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[Introduction] We propose a pyramid scene parsing network to embed difficult scenery context features in</a:t>
            </a:r>
            <a:endParaRPr/>
          </a:p>
          <a:p>
            <a:pPr indent="0" lvl="0" marL="0" rtl="0" algn="l">
              <a:spcBef>
                <a:spcPts val="0"/>
              </a:spcBef>
              <a:spcAft>
                <a:spcPts val="0"/>
              </a:spcAft>
              <a:buNone/>
            </a:pPr>
            <a:r>
              <a:rPr lang="en"/>
              <a:t>an FCN based pixel prediction framework.</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develop an effective optimization strategy for deep ResNet [CITE] based on</a:t>
            </a:r>
            <a:endParaRPr/>
          </a:p>
          <a:p>
            <a:pPr indent="0" lvl="0" marL="0" rtl="0" algn="l">
              <a:spcBef>
                <a:spcPts val="0"/>
              </a:spcBef>
              <a:spcAft>
                <a:spcPts val="0"/>
              </a:spcAft>
              <a:buNone/>
            </a:pPr>
            <a:r>
              <a:rPr lang="en"/>
              <a:t>deeply supervised loss.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build a practical system for state-of-the-art scene parsing and semantic segmentation</a:t>
            </a:r>
            <a:endParaRPr/>
          </a:p>
          <a:p>
            <a:pPr indent="0" lvl="0" marL="0" rtl="0" algn="l">
              <a:spcBef>
                <a:spcPts val="0"/>
              </a:spcBef>
              <a:spcAft>
                <a:spcPts val="0"/>
              </a:spcAft>
              <a:buNone/>
            </a:pPr>
            <a:r>
              <a:rPr lang="en"/>
              <a:t>where all crucial implementation details are included.</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SLIDES_API503368914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SLIDES_API503368914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SLIDES_API503368914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SLIDES_API503368914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Since pose/viewpoint change are crucial issues for Re-ID, several approaches are based on separate horizontal-stripe images and compare people based on them, but such a method is not a complete solution. As pointed out by Kalayeh et al. [[TARGET]], semantic parsing is a natural improvement for horizontal stripes because it provides labels at the pixel level, so we decided to use this insight in our framework. In addition, we realized that not every part of people is equally informative; in some cases, a backpack with a bright color or other salient objects may be a clue to the Re-ID. Thus, we designed a unified framework that unities semantic parsing and saliency to improve performance. The idea of combining multiple clues is natural to this problem, because each subnet stream of the framework can learn to solve different scenarios.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[Introduction] In recent past, improving global (image-level) representation by leveraging local (part-level) features extracted from human body parts has been the main theme of person re-identification research. While an image-level representation is prone to background clutter and occlusion, part-level representations are supposed to be more robust. However, part detection in low resolution images has its very own challenges and any error in that stage can propagate to the entire person re-identification system. That is why some research works prefer to simply extract representations from multiple image patches, often horizontal strips, that are loosely associated to human body parts. On the other hand, almost all of the previous works which involve body parts begin with an often off-the-shelf pose estimation model and infer corresponding bounding boxes from predicted joint locations. The person re-identification systems then process the global and local representations in what can be coarsely seen as multi-branch deep convolutional neural network (CNN) architectures. These models while delivering very good results, usually consist of many sub-models that are trained in multiple stages, tailored specifically for person re-identification problem. By studying recent literature, we raise two major questions, in this paper. First, are such complex models necessary to improve the performance of person re-identification? Second, are the local features best captured using bounding boxes on human body parts?</a:t>
            </a:r>
            <a:endParaRPr/>
          </a:p>
          <a:p>
            <a:pPr indent="0" lvl="0" marL="0" rtl="0" algn="l">
              <a:spcBef>
                <a:spcPts val="0"/>
              </a:spcBef>
              <a:spcAft>
                <a:spcPts val="0"/>
              </a:spcAft>
              <a:buNone/>
            </a:pPr>
            <a:r>
              <a:rPr lang="en"/>
              <a:t> Addressing the first question, we show that a simple model based on Inception-V3 [CITE] with no bells and whistles, operating solely on full body images and optimized in a straightforward training procedure can outperform current state-of-the art. Unlike recent research works which commonly adopt, binary or triplet losses, we train our model using softmax cross-entropy at two different input resolutions. Using re-ranking as a post processing technique, the improvement margin further increases.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[Conclusion] In this paper, we began by raising two major questions. First, whether to achieve state-of-the-art performance, the person re-identification models need to be complex. Second, whether bounding boxes on human body parts is the best practice to harness local visual cues. Through this paper, we addressed both of these questions with extensive set of experiments. We showed that, indeed a simple deep convolutional architecture when trained properly on large number of high resolution images can outperform the current state-of-the-art. We also demonstrated that, by exploiting human semantic parsing in our proposed SPReID framework, the performance of an state-of-the-art baseline model can be further improved. SPReID applies minimal modifications to the person re-identification backbone and offers a more natural solution for utilizing human body parts. We hope that, this work encourages the research community to invest more in employing human semantic parsing for person re-identification task.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[Human Semantic Parsing Model] In order to exploit local cues for person re-identification, we propose to employ human semantic parsing. We argue that semantic segmentation due to its pixel-level accuracy and robustness to pose variation is naturally superior to bounding box part detection.</a:t>
            </a:r>
            <a:endParaRPr/>
          </a:p>
          <a:p>
            <a:pPr indent="0" lvl="0" marL="0" rtl="0" algn="l">
              <a:spcBef>
                <a:spcPts val="0"/>
              </a:spcBef>
              <a:spcAft>
                <a:spcPts val="0"/>
              </a:spcAft>
              <a:buNone/>
            </a:pPr>
            <a:r>
              <a:rPr lang="en"/>
              <a:t> We use Inception-V3 [CITE] as the backbone architecture of our human semantic parsing model. However, we make two modifications to adopt it for the semantic segmentation task. The quality of human semantic parsing heavily relies on the final activations to be of sufficient resolution. Hence, we change the stride of the last grid reduction module in the Inception-V3 [CITE] from 2 to 1 resulting in an output stride of 16 compared to 32 in the original architecture. To cope with the extra computation that consequently is added to the last Inception block, corresponding convolution filters are replaced with the dilated convolution [CITE]. We then remove the global average pooling and add an atrous spatial pyramid pooling (rates=3,6,9,12)[CITE] followed by a 1[FORMULA] 1 convolution layer as the classifier. This would allow us to perform multi-class classification in pixel-level and is a standard approach, commonly used in semantic segmentation architectures [CITE], [CITE].</a:t>
            </a:r>
            <a:endParaRPr/>
          </a:p>
          <a:p>
            <a:pPr indent="0" lvl="0" marL="0" rtl="0" algn="l">
              <a:spcBef>
                <a:spcPts val="0"/>
              </a:spcBef>
              <a:spcAft>
                <a:spcPts val="0"/>
              </a:spcAft>
              <a:buNone/>
            </a:pPr>
            <a:r>
              <a:rPr lang="en"/>
              <a:t>[FIGURE]</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SLIDES_API503368914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SLIDES_API503368914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SLIDES_API503368914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SLIDES_API503368914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Our empirical results demonstrate that Fast AdvProp can successfully improve recognition models for “free”. For instance, without incurring any extra training cost, Fast AdvProp helps ResNet-50 [[TARGET]] outperforms its vanilla counterpart by 0.3% on ImageNet, 2.1% on ImageNet-C, 1.9% on ImageNet-R and 0.5% on Stylized-ImageNet. Furthermore, such “free lunch” can consistently be observed when Fast AdvProp is applied to networks at different scales, combined with various data augmentation strategies, and adapted to other recognition tasks. By easing the computational barriers, we hope this work can encourage the community to further explore the potential of AdvProp (or adversarial learning in general) on developing better deep learning models.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[Introduction] We present comprehensive experiments on ImageNet [CITE] to show the degradation problem and evaluate our method.</a:t>
            </a:r>
            <a:endParaRPr/>
          </a:p>
          <a:p>
            <a:pPr indent="0" lvl="0" marL="0" rtl="0" algn="l">
              <a:spcBef>
                <a:spcPts val="0"/>
              </a:spcBef>
              <a:spcAft>
                <a:spcPts val="0"/>
              </a:spcAft>
              <a:buNone/>
            </a:pPr>
            <a:r>
              <a:rPr lang="en"/>
              <a:t>We show that: 1) Our extremely deep residual nets are easy to optimize, but the counterpart “plain” nets (that simply stack layers) exhibit higher training error when the depth increases; 2) Our deep residual nets can easily enjoy accuracy gains from greatly increased depth, producing results substantially better than previous networks.</a:t>
            </a:r>
            <a:endParaRPr/>
          </a:p>
          <a:p>
            <a:pPr indent="0" lvl="0" marL="0" rtl="0" algn="l">
              <a:spcBef>
                <a:spcPts val="0"/>
              </a:spcBef>
              <a:spcAft>
                <a:spcPts val="0"/>
              </a:spcAft>
              <a:buNone/>
            </a:pPr>
            <a:r>
              <a:rPr lang="en"/>
              <a:t> Similar phenomena are also shown on the CIFAR-10 set [CITE], suggesting that the optimization difficulties and the effects of our method are not just akin to a particular dataset. We present successfully trained models on this dataset with over 100 layers, and explore models with over 1000 layers.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[Introduction] On the ImageNet classification dataset [CITE], we obtain excellent results by extremely deep residual nets.</a:t>
            </a:r>
            <a:endParaRPr/>
          </a:p>
          <a:p>
            <a:pPr indent="0" lvl="0" marL="0" rtl="0" algn="l">
              <a:spcBef>
                <a:spcPts val="0"/>
              </a:spcBef>
              <a:spcAft>
                <a:spcPts val="0"/>
              </a:spcAft>
              <a:buNone/>
            </a:pPr>
            <a:r>
              <a:rPr lang="en"/>
              <a:t>Our 152-layer residual net is the deepest network ever presented on ImageNet, while still having lower complexity than VGG nets [CITE]. Our ensemble has 3.57% top-5 error on the ImageNet test set, and won the 1st place in the ILSVRC 2015 classification competition. The extremely deep representations also have excellent generalization performance on other recognition tasks, and lead us to further win the 1st places on: ImageNet detection, ImageNet localization, COCO detection, and COCO segmentation in ILSVRC &amp; COCO 2015 competitions. This strong evidence shows that the residual learning principle is generic, and we expect that it is applicable in other vision and non-vision problems.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[Object Detection Improvements] We revisit the PASCAL VOC dataset based on the above model. With the single model on the COCO dataset (55.7% mAP@.5 in Table REF ), we fine-tune this model on the PASCAL VOC sets. The improvements of box refinement, context, and multi-scale testing are also adopted. By doing so we achieve 85.6% mAP on PASCAL VOC 2007 (Table REF ) and 83.8% on PASCAL VOC 2012 (Table REF )http://host.robots.ox.ac.uk:8080/anonymous/3OJ4OJ.html, submitted on 2015-11-26.. The result on PASCAL VOC 2012 is 10 points higher than the previous state-of-the-art result [CITE].</a:t>
            </a:r>
            <a:endParaRPr/>
          </a:p>
          <a:p>
            <a:pPr indent="0" lvl="0" marL="0" rtl="0" algn="l">
              <a:spcBef>
                <a:spcPts val="0"/>
              </a:spcBef>
              <a:spcAft>
                <a:spcPts val="0"/>
              </a:spcAft>
              <a:buNone/>
            </a:pPr>
            <a:r>
              <a:rPr lang="en"/>
              <a:t> ImageNet Detection</a:t>
            </a:r>
            <a:endParaRPr/>
          </a:p>
          <a:p>
            <a:pPr indent="0" lvl="0" marL="0" rtl="0" algn="l">
              <a:spcBef>
                <a:spcPts val="0"/>
              </a:spcBef>
              <a:spcAft>
                <a:spcPts val="0"/>
              </a:spcAft>
              <a:buNone/>
            </a:pPr>
            <a:r>
              <a:rPr lang="en"/>
              <a:t>[TABLE]</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SLIDES_API503368914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SLIDES_API503368914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SLIDES_API503368914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SLIDES_API503368914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Our approach offers a new way to learn image representations without manual supervision by interacting with the environment. In pursuit of this high-level goal there is exciting—though limited—prior work that learns visual features by touching objects [CITE], [CITE], [CITE], [CITE] or moving in a space [CITE], [CITE], [CITE]. Unlike mainstream “self-supervised" feature learning work that crafts pretext tasks for large static repositories of human-taken images or video (e.g., colorization [[TARGET]], jigsaw puzzles [CITE], audio-visual correspondence [CITE], [CITE]), in interaction-based feature learning an embodied agentperson, robot, or simulated robot performs physical actions in the world that dynamically influence its own first-person observations and possibly the environment itself. Both paths have certain advantages: while conventional self-supervised learning can capitalize on massive static datasets of human-taken photos, interaction-based learning</a:t>
            </a:r>
            <a:endParaRPr/>
          </a:p>
          <a:p>
            <a:pPr indent="0" lvl="0" marL="0" rtl="0" algn="l">
              <a:spcBef>
                <a:spcPts val="0"/>
              </a:spcBef>
              <a:spcAft>
                <a:spcPts val="0"/>
              </a:spcAft>
              <a:buNone/>
            </a:pPr>
            <a:r>
              <a:rPr lang="en"/>
              <a:t>allows an agent to “learn by acting" with rich multi-modal sensing. This has the advantage of learning features adaptable to new environments. Unlike any prior work, we explore feature learning from echoes.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[Introduction] Evaluating synthesized images is notoriously difficult [CITE]. Since our ultimate goal is to make results that are compelling to a human observer, we introduce a novel way of evaluating colorization results, directly testing their perceptual realism. We set up a “colorization Turing test," in which we show participants real and synthesized colors for an image, and ask them to identify the fake. In this quite difficult paradigm, we are able to fool participants on [FORMULA] of the instances (ground truth colorizations would achieve 50% on this metric), significantly higher than prior work [CITE]. This test demonstrates that in many cases, our algorithm is producing nearly photorealistic results (see Figure REF for selected successful examples from our algorithm). We also show that our system's colorizations are realistic enough to be useful for downstream tasks, in particular object classification, using an off-the-shelf VGG network [CITE].</a:t>
            </a:r>
            <a:endParaRPr/>
          </a:p>
          <a:p>
            <a:pPr indent="0" lvl="0" marL="0" rtl="0" algn="l">
              <a:spcBef>
                <a:spcPts val="0"/>
              </a:spcBef>
              <a:spcAft>
                <a:spcPts val="0"/>
              </a:spcAft>
              <a:buNone/>
            </a:pPr>
            <a:r>
              <a:rPr lang="en"/>
              <a:t> We additionally explore colorization as a form of self-supervised representation learning, where raw data is used as its own source of supervision. The idea of learning feature representations in this way goes back at least to autoencoders [CITE]. More recent works have explored feature learning via data imputation, where a held-out subset of the complete data is predicted (e.g., [CITE], [CITE], [CITE], [CITE], [CITE], [CITE], [CITE]). Our method follows in this line, and can be termed a cross-channel encoder. We test how well our model performs in generalization tasks, compared to previous [CITE], [CITE], [CITE], [CITE] and concurrent [CITE] self-supervision algorithms, and find that our method performs surprisingly well, achieving state-of-the-art performance on several metrics.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[Introduction] Our contributions in this paper are in two areas. First, we make progress on the graphics problem of automatic image colorization by (a) designing an appropriate objective function that handles the multimodal uncertainty of the colorization problem and captures a wide diversity of colors, (b) introducing a novel framework for testing colorization algorithms, potentially applicable to other image synthesis tasks, and (c) setting a new high-water mark on the task by training on a million color photos. Secondly, we introduce the colorization task as a competitive and straightforward method for self-supervised representation learning, achieving state-of-the-art results on several benchmarks.</a:t>
            </a:r>
            <a:endParaRPr/>
          </a:p>
          <a:p>
            <a:pPr indent="0" lvl="0" marL="0" rtl="0" algn="l">
              <a:spcBef>
                <a:spcPts val="0"/>
              </a:spcBef>
              <a:spcAft>
                <a:spcPts val="0"/>
              </a:spcAft>
              <a:buNone/>
            </a:pPr>
            <a:r>
              <a:rPr lang="en"/>
              <a:t> Prior work on colorization Colorization algorithms mostly differ in the ways they obtain and treat the data for modeling the correspondence between grayscale and color. Non-parametric methods, given an input grayscale image, first define one or more color reference images (provided by a user or retrieved automatically) to be used as source data.</a:t>
            </a:r>
            <a:endParaRPr/>
          </a:p>
          <a:p>
            <a:pPr indent="0" lvl="0" marL="0" rtl="0" algn="l">
              <a:spcBef>
                <a:spcPts val="0"/>
              </a:spcBef>
              <a:spcAft>
                <a:spcPts val="0"/>
              </a:spcAft>
              <a:buNone/>
            </a:pPr>
            <a:r>
              <a:rPr lang="en"/>
              <a:t>Then, following the Image Analogies framework [CITE], color is transferred onto the input image from analogous regions of the reference image(s) [CITE], [CITE], [CITE], [CITE]. Parametric methods, on the other hand, learn prediction functions from large datasets of color images at training time, posing the problem as either regression onto continuous color space [CITE], [CITE], [CITE] or classification of quantized color values [CITE]. Our method also learns to classify colors, but does so with a larger model, trained on more data, and with several innovations in the loss function and mapping to a final continuous output.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[Introduction] Given the lightness channel [FORMULA] , our system predicts the corresponding [FORMULA] and [FORMULA] color channels of the image in the CIE [FORMULA] colorspace. To solve this problem, we leverage large-scale data. Predicting color has the nice property that training data is practically free: any color photo can be used as a training example, simply by taking the image's [FORMULA] channel as input and its [FORMULA] channels as the supervisory signal. Others have noted the easy availability of training data, and previous works have trained convolutional neural networks (CNNs) to predict color on large datasets [CITE], [CITE]. However, the results from these previous attempts tend to look desaturated. One explanation is that [CITE], [CITE] use loss functions that encourage conservative predictions. These losses are inherited from standard regression problems, where the goal is to minimize Euclidean error between an estimate and the ground truth.</a:t>
            </a:r>
            <a:endParaRPr/>
          </a:p>
          <a:p>
            <a:pPr indent="0" lvl="0" marL="0" rtl="0" algn="l">
              <a:spcBef>
                <a:spcPts val="0"/>
              </a:spcBef>
              <a:spcAft>
                <a:spcPts val="0"/>
              </a:spcAft>
              <a:buNone/>
            </a:pPr>
            <a:r>
              <a:rPr lang="en"/>
              <a:t> We instead utilize a loss tailored to the colorization problem. As pointed out by [CITE], color prediction is inherently multimodal – many objects can take on several plausible colorizations. For example, an apple is typically red, green, or yellow, but unlikely to be blue or orange. To appropriately model the multimodal nature of the problem, we predict a distribution of possible colors for each pixel. Furthermore, we re-weight the loss at training time to emphasize rare colors. This encourages our model to exploit the full diversity of the large-scale data on which it is trained. Lastly, we produce a final colorization by taking the annealed-mean of the distribution. The end result is colorizations that are more vibrant and perceptually realistic than those of previous approaches.</a:t>
            </a:r>
            <a:endParaRPr/>
          </a:p>
          <a:p>
            <a:pPr indent="0" lvl="0" marL="0" rtl="0" algn="l">
              <a:spcBef>
                <a:spcPts val="0"/>
              </a:spcBef>
              <a:spcAft>
                <a:spcPts val="0"/>
              </a:spcAft>
              <a:buNone/>
            </a:pPr>
            <a:r>
              <a:rPr lang="en"/>
              <a:t>[FIGURE]</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SLIDES_API503368914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SLIDES_API503368914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SLIDES_API503368914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SLIDES_API503368914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Another direction closely related to the current research is community detection. For an overview of this area, we refer the reader to several survey papers [CITE], [[TARGET]], [CITE], [CITE].</a:t>
            </a:r>
            <a:endParaRPr/>
          </a:p>
          <a:p>
            <a:pPr indent="0" lvl="0" marL="0" rtl="0" algn="l">
              <a:spcBef>
                <a:spcPts val="0"/>
              </a:spcBef>
              <a:spcAft>
                <a:spcPts val="0"/>
              </a:spcAft>
              <a:buNone/>
            </a:pPr>
            <a:r>
              <a:rPr lang="en"/>
              <a:t>Many community detection algorithms are based on optimizing modularity [CITE], which measures the goodness of a partition for a given graph.</a:t>
            </a:r>
            <a:endParaRPr/>
          </a:p>
          <a:p>
            <a:pPr indent="0" lvl="0" marL="0" rtl="0" algn="l">
              <a:spcBef>
                <a:spcPts val="0"/>
              </a:spcBef>
              <a:spcAft>
                <a:spcPts val="0"/>
              </a:spcAft>
              <a:buNone/>
            </a:pPr>
            <a:r>
              <a:rPr lang="en"/>
              <a:t>Probably the most well-known and widely used greedy modularity optimization algorithm is Louvain [CITE], which iteratively moves nodes or groups of nodes from one community to another while improving modularity.</a:t>
            </a:r>
            <a:endParaRPr/>
          </a:p>
          <a:p>
            <a:pPr indent="0" lvl="0" marL="0" rtl="0" algn="l">
              <a:spcBef>
                <a:spcPts val="0"/>
              </a:spcBef>
              <a:spcAft>
                <a:spcPts val="0"/>
              </a:spcAft>
              <a:buNone/>
            </a:pPr>
            <a:r>
              <a:rPr lang="en"/>
              <a:t>Some of the methods discussed in this paper are based on the Louvain algorithm.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[Internal Density] The second level of the modularity usage in the graph partitioning task is represented by community discovery algorithms that are based on modularity maximization. These algorithms suffer from the aforementioned problems of the usage of modularity as quality measures. However, modularity maximization is a very prolific field of research, and there are many algorithms relying on heuristics and strategies for finding the best network partition.</a:t>
            </a:r>
            <a:endParaRPr/>
          </a:p>
          <a:p>
            <a:pPr indent="0" lvl="0" marL="0" rtl="0" algn="l">
              <a:spcBef>
                <a:spcPts val="0"/>
              </a:spcBef>
              <a:spcAft>
                <a:spcPts val="0"/>
              </a:spcAft>
              <a:buNone/>
            </a:pPr>
            <a:r>
              <a:rPr lang="en"/>
              <a:t> We will present the main example of a modularity-based approach, providing references for minor modularity maximization algorithms. A good review of the eigenvector modularity based work is in [CITE]).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[Closeness] Algorithms in this category inherit the weakness in multidimensional networks from Bridge Detection algorithms, since also in this case paths are important in this community discovery category.</a:t>
            </a:r>
            <a:endParaRPr/>
          </a:p>
          <a:p>
            <a:pPr indent="0" lvl="0" marL="0" rtl="0" algn="l">
              <a:spcBef>
                <a:spcPts val="0"/>
              </a:spcBef>
              <a:spcAft>
                <a:spcPts val="0"/>
              </a:spcAft>
              <a:buNone/>
            </a:pPr>
            <a:r>
              <a:rPr lang="en"/>
              <a:t> To the best of our knowledge there are three main community discoverers that use random walks in order to find communities whose members are very close to each other: Walktrap [CITE], based on the assumption that when performing random walks the virtual surfer is trapped in the high density regions of the graph (i.e. the communities); DOCS [CITE], a more complex framework that also uses modularity as a fitness function; and Infomap [CITE], which applies an information-theoretic approach. An older approach in this category is the Markov Cluster Algorithm [CITE], which is still commonly used especially in bioinformatics. It simulates a controlled flow through random walks in a network using matrix multiplication and inflation.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[Evolutionary* {{cite:e1cc616b41c667bf7a4ae9bb4af34083e1e0aea5}}] This framework can be added to any clustering algorithm. The time complexity will be [FORMULA] , particularly on the agglomerative hierarchical clustering, used for the examples in the original paper, although some authors claim that a quasi-linear implementation [CITE] is possible. However, the framework is presented here because it is possible to apply its principles to all the other community discovery algorithms presented in this survey.</a:t>
            </a:r>
            <a:endParaRPr/>
          </a:p>
          <a:p>
            <a:pPr indent="0" lvl="0" marL="0" rtl="0" algn="l">
              <a:spcBef>
                <a:spcPts val="0"/>
              </a:spcBef>
              <a:spcAft>
                <a:spcPts val="0"/>
              </a:spcAft>
              <a:buNone/>
            </a:pPr>
            <a:r>
              <a:rPr lang="en"/>
              <a:t> There are two framework applications worth noting. The first is FacetNet [CITE], in which a framework to evaluate the evolution of the communities is developed. The second one is [CITE], in which the concepts of nano-communities and k-clique-by-clique are introduced. These concepts are useful for assessing the snapshots and historical quality of the communities identified in various snapshots with any given method.</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SLIDES_API503368914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SLIDES_API503368914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SLIDES_API503368914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SLIDES_API503368914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Convolutional neural networks (CNN) have been the state-of-the-art solution for a wide range of computer vision tasks, such as image classification, image segmentation and objective detection.</a:t>
            </a:r>
            <a:endParaRPr/>
          </a:p>
          <a:p>
            <a:pPr indent="0" lvl="0" marL="0" rtl="0" algn="l">
              <a:spcBef>
                <a:spcPts val="0"/>
              </a:spcBef>
              <a:spcAft>
                <a:spcPts val="0"/>
              </a:spcAft>
              <a:buNone/>
            </a:pPr>
            <a:r>
              <a:rPr lang="en"/>
              <a:t>Despite the remarkable success, deep learning models have shown to be vulnerable to small perturbations to the input image.</a:t>
            </a:r>
            <a:endParaRPr/>
          </a:p>
          <a:p>
            <a:pPr indent="0" lvl="0" marL="0" rtl="0" algn="l">
              <a:spcBef>
                <a:spcPts val="0"/>
              </a:spcBef>
              <a:spcAft>
                <a:spcPts val="0"/>
              </a:spcAft>
              <a:buNone/>
            </a:pPr>
            <a:r>
              <a:rPr lang="en"/>
              <a:t>Various attack techniques have been proposed, like model distillation [CITE], [CITE], transfer learning [CITE], [CITE], and gradient updating [CITE].</a:t>
            </a:r>
            <a:endParaRPr/>
          </a:p>
          <a:p>
            <a:pPr indent="0" lvl="0" marL="0" rtl="0" algn="l">
              <a:spcBef>
                <a:spcPts val="0"/>
              </a:spcBef>
              <a:spcAft>
                <a:spcPts val="0"/>
              </a:spcAft>
              <a:buNone/>
            </a:pPr>
            <a:r>
              <a:rPr lang="en"/>
              <a:t>In contrast to previous methods called image-specific perturbations having to perform computation every time to generate a particular perturbation for any given image,</a:t>
            </a:r>
            <a:endParaRPr/>
          </a:p>
          <a:p>
            <a:pPr indent="0" lvl="0" marL="0" rtl="0" algn="l">
              <a:spcBef>
                <a:spcPts val="0"/>
              </a:spcBef>
              <a:spcAft>
                <a:spcPts val="0"/>
              </a:spcAft>
              <a:buNone/>
            </a:pPr>
            <a:r>
              <a:rPr lang="en"/>
              <a:t>Moosavi-Dezfooli et al. [[TARGET]] proposed an image-agnostic perturbation termed universal adversarial perturbation (UAP), which can fool most images from a data distribution.</a:t>
            </a:r>
            <a:endParaRPr/>
          </a:p>
          <a:p>
            <a:pPr indent="0" lvl="0" marL="0" rtl="0" algn="l">
              <a:spcBef>
                <a:spcPts val="0"/>
              </a:spcBef>
              <a:spcAft>
                <a:spcPts val="0"/>
              </a:spcAft>
              <a:buNone/>
            </a:pPr>
            <a:r>
              <a:rPr lang="en"/>
              <a:t>Being universal, UAPs can be conveniently exploited to perturb unseen datapoints on-the-fly without extra computation.</a:t>
            </a:r>
            <a:endParaRPr/>
          </a:p>
          <a:p>
            <a:pPr indent="0" lvl="0" marL="0" rtl="0" algn="l">
              <a:spcBef>
                <a:spcPts val="0"/>
              </a:spcBef>
              <a:spcAft>
                <a:spcPts val="0"/>
              </a:spcAft>
              <a:buNone/>
            </a:pPr>
            <a:r>
              <a:rPr lang="en"/>
              <a:t>Therefore, UAPs are particularly useful in a wide range of applications.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[Introduction] The robustness of image classifiers to structured and unstructured perturbations have recently attracted a lot of attention [CITE], [CITE], [CITE], [CITE], [CITE], [CITE], [CITE], [CITE]. Despite the impressive performance of deep neural network architectures on challenging visual classification benchmarks [CITE], [CITE], [CITE], [CITE], these classifiers were shown to be highly vulnerable to perturbations. In [CITE], such networks are shown to be</a:t>
            </a:r>
            <a:endParaRPr/>
          </a:p>
          <a:p>
            <a:pPr indent="0" lvl="0" marL="0" rtl="0" algn="l">
              <a:spcBef>
                <a:spcPts val="0"/>
              </a:spcBef>
              <a:spcAft>
                <a:spcPts val="0"/>
              </a:spcAft>
              <a:buNone/>
            </a:pPr>
            <a:r>
              <a:rPr lang="en"/>
              <a:t>unstable to very small and often imperceptible additive adversarial perturbations. Such carefully crafted perturbations are either estimated by solving an optimization problem [CITE], [CITE], [CITE] or through one step of gradient ascent [CITE], and result in a perturbation that fools a specific data point. A fundamental property of these adversarial perturbations is their intrinsic dependence on datapoints: the perturbations are specifically crafted for each data point independently. As a result, the computation of an adversarial perturbation for a new data point requires solving a data-dependent optimization problem from scratch, which uses the full knowledge of the classification model. This is different from the universal perturbation considered in this paper, as we seek a single perturbation vector that fools the network on most natural images. Perturbing a new datapoint then only involves the mere addition of the universal perturbation to the image (and does not require solving an optimization problem/gradient computation). Finally, we emphasize that our notion of universal perturbation differs from the generalization of adversarial perturbations studied in [CITE], where perturbations computed on the MNIST task were shown to generalize well across different models. Instead, we examine the existence of universal perturbations that are common to most data points belonging to the data distribution.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[Introduction] We show the existence of universal image-agnostic perturbations for state-of-the-art deep neural networks.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propose an algorithm for finding such perturbations. The algorithm seeks a universal perturbation for a set of training points, and proceeds by aggregating atomic perturbation vectors that send successive datapoints to the decision boundary of the classifier.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show that universal perturbations have a remarkable generalization property, as perturbations computed for a rather small set of training points fool new images with high probability.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show that such perturbations are not only universal across images, but also generalize well across deep neural networks. Such perturbations are therefore doubly universal, both with respect to the data and the network architectures.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explain and analyze the high vulnerability of deep neural networks to universal perturbations by examining the geometric correlation between different parts of the decision boundary.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[Introduction] Can we find a single small image perturbation that fools a state-of-the-art deep neural network classifier on all natural images? We show in this paper the existence of such quasi-imperceptible universal perturbation vectors that lead to misclassify natural images with high probability. Specifically, by adding such a quasi-imperceptible perturbation to natural images, the label estimated by the deep neural network is changed with high probability (see Fig. REF ). Such perturbations are dubbed universal, as they are image-agnostic. The existence of these perturbations is problematic when the classifier is deployed in real-world (and possibly hostile) environments, as they can be exploited by adversaries to break the classifier. Indeed, the perturbation process involves the mere addition of one very small perturbation to all natural images, and can be relatively straightforward to implement by adversaries in real-world environments, while being relatively difficult to detect as such perturbations are very small and thus do not significantly affect data distributions. The surprising existence of universal perturbations further reveals new insights on the topology of the decision boundaries of deep neural networks. We summarize the main contributions of this paper as follows:</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SLIDES_API503368914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SLIDES_API503368914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SLIDES_API503368914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SLIDES_API503368914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For deeper insights into DIS dataset, we compare our DIS5K against</a:t>
            </a:r>
            <a:endParaRPr/>
          </a:p>
          <a:p>
            <a:pPr indent="0" lvl="0" marL="0" rtl="0" algn="l">
              <a:spcBef>
                <a:spcPts val="0"/>
              </a:spcBef>
              <a:spcAft>
                <a:spcPts val="0"/>
              </a:spcAft>
              <a:buNone/>
            </a:pPr>
            <a:r>
              <a:rPr lang="en"/>
              <a:t>19 other related datasets including:</a:t>
            </a:r>
            <a:endParaRPr/>
          </a:p>
          <a:p>
            <a:pPr indent="0" lvl="0" marL="0" rtl="0" algn="l">
              <a:spcBef>
                <a:spcPts val="0"/>
              </a:spcBef>
              <a:spcAft>
                <a:spcPts val="0"/>
              </a:spcAft>
              <a:buNone/>
            </a:pPr>
            <a:r>
              <a:rPr lang="en"/>
              <a:t>(1) nine salient object detection (SOD) datasets: SOD [CITE], PASCAL-S [CITE], ECSSD [CITE],</a:t>
            </a:r>
            <a:endParaRPr/>
          </a:p>
          <a:p>
            <a:pPr indent="0" lvl="0" marL="0" rtl="0" algn="l">
              <a:spcBef>
                <a:spcPts val="0"/>
              </a:spcBef>
              <a:spcAft>
                <a:spcPts val="0"/>
              </a:spcAft>
              <a:buNone/>
            </a:pPr>
            <a:r>
              <a:rPr lang="en"/>
              <a:t>HKU-IS [CITE], MSRA-B [CITE],</a:t>
            </a:r>
            <a:endParaRPr/>
          </a:p>
          <a:p>
            <a:pPr indent="0" lvl="0" marL="0" rtl="0" algn="l">
              <a:spcBef>
                <a:spcPts val="0"/>
              </a:spcBef>
              <a:spcAft>
                <a:spcPts val="0"/>
              </a:spcAft>
              <a:buNone/>
            </a:pPr>
            <a:r>
              <a:rPr lang="en"/>
              <a:t>DUT-OMRON [CITE], MSRA10K [CITE], DUTS [CITE], and SOC [[TARGET]];</a:t>
            </a:r>
            <a:endParaRPr/>
          </a:p>
          <a:p>
            <a:pPr indent="0" lvl="0" marL="0" rtl="0" algn="l">
              <a:spcBef>
                <a:spcPts val="0"/>
              </a:spcBef>
              <a:spcAft>
                <a:spcPts val="0"/>
              </a:spcAft>
              <a:buNone/>
            </a:pPr>
            <a:r>
              <a:rPr lang="en"/>
              <a:t>(2) two high-resolution salient object detection (HR-SOD) datasets: HR-SOD [CITE] and HR-DAVIS-S [CITE], [CITE];</a:t>
            </a:r>
            <a:endParaRPr/>
          </a:p>
          <a:p>
            <a:pPr indent="0" lvl="0" marL="0" rtl="0" algn="l">
              <a:spcBef>
                <a:spcPts val="0"/>
              </a:spcBef>
              <a:spcAft>
                <a:spcPts val="0"/>
              </a:spcAft>
              <a:buNone/>
            </a:pPr>
            <a:r>
              <a:rPr lang="en"/>
              <a:t>(3) four camouflaged object detection (COD) datasets: CAMO [CITE], CHAMELEON [CITE], COD10K [CITE], and NC4K [CITE];</a:t>
            </a:r>
            <a:endParaRPr/>
          </a:p>
          <a:p>
            <a:pPr indent="0" lvl="0" marL="0" rtl="0" algn="l">
              <a:spcBef>
                <a:spcPts val="0"/>
              </a:spcBef>
              <a:spcAft>
                <a:spcPts val="0"/>
              </a:spcAft>
              <a:buNone/>
            </a:pPr>
            <a:r>
              <a:rPr lang="en"/>
              <a:t>(4) two semantic segmentation (SMS)It is worth noting that only R-PASCAL and the BIG datasets are included here because they target highly accurate segmentation, and most of their images contain one or two objects, which is comparable to the listed tasks and datasets. datasets: R-PASCAL [CITE], [CITE] and BIG [CITE];</a:t>
            </a:r>
            <a:endParaRPr/>
          </a:p>
          <a:p>
            <a:pPr indent="0" lvl="0" marL="0" rtl="0" algn="l">
              <a:spcBef>
                <a:spcPts val="0"/>
              </a:spcBef>
              <a:spcAft>
                <a:spcPts val="0"/>
              </a:spcAft>
              <a:buNone/>
            </a:pPr>
            <a:r>
              <a:rPr lang="en"/>
              <a:t>(5) two thin object segmentation (TOS) datasets: COIFT [CITE] and ThinObject5K [CITE].</a:t>
            </a:r>
            <a:endParaRPr/>
          </a:p>
          <a:p>
            <a:pPr indent="0" lvl="0" marL="0" rtl="0" algn="l">
              <a:spcBef>
                <a:spcPts val="0"/>
              </a:spcBef>
              <a:spcAft>
                <a:spcPts val="0"/>
              </a:spcAft>
              <a:buNone/>
            </a:pPr>
            <a:r>
              <a:rPr lang="en"/>
              <a:t>The comparisons are conducted mainly from the following three perspectives: image number, image dimension, and object complexity as illustrated in Tab. REF</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[Metric Statistics] Single-task:</a:t>
            </a:r>
            <a:endParaRPr/>
          </a:p>
          <a:p>
            <a:pPr indent="0" lvl="0" marL="0" rtl="0" algn="l">
              <a:spcBef>
                <a:spcPts val="0"/>
              </a:spcBef>
              <a:spcAft>
                <a:spcPts val="0"/>
              </a:spcAft>
              <a:buNone/>
            </a:pPr>
            <a:r>
              <a:rPr lang="en"/>
              <a:t>For the single-task models, the best performing</a:t>
            </a:r>
            <a:endParaRPr/>
          </a:p>
          <a:p>
            <a:pPr indent="0" lvl="0" marL="0" rtl="0" algn="l">
              <a:spcBef>
                <a:spcPts val="0"/>
              </a:spcBef>
              <a:spcAft>
                <a:spcPts val="0"/>
              </a:spcAft>
              <a:buNone/>
            </a:pPr>
            <a:r>
              <a:rPr lang="en"/>
              <a:t>model on the entire SOC dataset ([FORMULA] in Table REF ) is NLDF [CITE] ([FORMULA] ),</a:t>
            </a:r>
            <a:endParaRPr/>
          </a:p>
          <a:p>
            <a:pPr indent="0" lvl="0" marL="0" rtl="0" algn="l">
              <a:spcBef>
                <a:spcPts val="0"/>
              </a:spcBef>
              <a:spcAft>
                <a:spcPts val="0"/>
              </a:spcAft>
              <a:buNone/>
            </a:pPr>
            <a:r>
              <a:rPr lang="en"/>
              <a:t>followed by RFCN [CITE] ([FORMULA] ).</a:t>
            </a:r>
            <a:endParaRPr/>
          </a:p>
          <a:p>
            <a:pPr indent="0" lvl="0" marL="0" rtl="0" algn="l">
              <a:spcBef>
                <a:spcPts val="0"/>
              </a:spcBef>
              <a:spcAft>
                <a:spcPts val="0"/>
              </a:spcAft>
              <a:buNone/>
            </a:pPr>
            <a:r>
              <a:rPr lang="en"/>
              <a:t>MDF [CITE] and AMU [CITE]</a:t>
            </a:r>
            <a:endParaRPr/>
          </a:p>
          <a:p>
            <a:pPr indent="0" lvl="0" marL="0" rtl="0" algn="l">
              <a:spcBef>
                <a:spcPts val="0"/>
              </a:spcBef>
              <a:spcAft>
                <a:spcPts val="0"/>
              </a:spcAft>
              <a:buNone/>
            </a:pPr>
            <a:r>
              <a:rPr lang="en"/>
              <a:t>use edge cues to promote the saliency map</a:t>
            </a:r>
            <a:endParaRPr/>
          </a:p>
          <a:p>
            <a:pPr indent="0" lvl="0" marL="0" rtl="0" algn="l">
              <a:spcBef>
                <a:spcPts val="0"/>
              </a:spcBef>
              <a:spcAft>
                <a:spcPts val="0"/>
              </a:spcAft>
              <a:buNone/>
            </a:pPr>
            <a:r>
              <a:rPr lang="en"/>
              <a:t>but fail to achieve the ideal goal.</a:t>
            </a:r>
            <a:endParaRPr/>
          </a:p>
          <a:p>
            <a:pPr indent="0" lvl="0" marL="0" rtl="0" algn="l">
              <a:spcBef>
                <a:spcPts val="0"/>
              </a:spcBef>
              <a:spcAft>
                <a:spcPts val="0"/>
              </a:spcAft>
              <a:buNone/>
            </a:pPr>
            <a:r>
              <a:rPr lang="en"/>
              <a:t>Aiming at using the local region information of</a:t>
            </a:r>
            <a:endParaRPr/>
          </a:p>
          <a:p>
            <a:pPr indent="0" lvl="0" marL="0" rtl="0" algn="l">
              <a:spcBef>
                <a:spcPts val="0"/>
              </a:spcBef>
              <a:spcAft>
                <a:spcPts val="0"/>
              </a:spcAft>
              <a:buNone/>
            </a:pPr>
            <a:r>
              <a:rPr lang="en"/>
              <a:t>images, MC [CITE], MDF [CITE],</a:t>
            </a:r>
            <a:endParaRPr/>
          </a:p>
          <a:p>
            <a:pPr indent="0" lvl="0" marL="0" rtl="0" algn="l">
              <a:spcBef>
                <a:spcPts val="0"/>
              </a:spcBef>
              <a:spcAft>
                <a:spcPts val="0"/>
              </a:spcAft>
              <a:buNone/>
            </a:pPr>
            <a:r>
              <a:rPr lang="en"/>
              <a:t>ELD [CITE], and DISC [CITE] try</a:t>
            </a:r>
            <a:endParaRPr/>
          </a:p>
          <a:p>
            <a:pPr indent="0" lvl="0" marL="0" rtl="0" algn="l">
              <a:spcBef>
                <a:spcPts val="0"/>
              </a:spcBef>
              <a:spcAft>
                <a:spcPts val="0"/>
              </a:spcAft>
              <a:buNone/>
            </a:pPr>
            <a:r>
              <a:rPr lang="en"/>
              <a:t>to use superpixel methods to segment images into regions</a:t>
            </a:r>
            <a:endParaRPr/>
          </a:p>
          <a:p>
            <a:pPr indent="0" lvl="0" marL="0" rtl="0" algn="l">
              <a:spcBef>
                <a:spcPts val="0"/>
              </a:spcBef>
              <a:spcAft>
                <a:spcPts val="0"/>
              </a:spcAft>
              <a:buNone/>
            </a:pPr>
            <a:r>
              <a:rPr lang="en"/>
              <a:t>and then extract features from these regions, which is complex and time-consuming.</a:t>
            </a:r>
            <a:endParaRPr/>
          </a:p>
          <a:p>
            <a:pPr indent="0" lvl="0" marL="0" rtl="0" algn="l">
              <a:spcBef>
                <a:spcPts val="0"/>
              </a:spcBef>
              <a:spcAft>
                <a:spcPts val="0"/>
              </a:spcAft>
              <a:buNone/>
            </a:pPr>
            <a:r>
              <a:rPr lang="en"/>
              <a:t>To further</a:t>
            </a:r>
            <a:endParaRPr/>
          </a:p>
          <a:p>
            <a:pPr indent="0" lvl="0" marL="0" rtl="0" algn="l">
              <a:spcBef>
                <a:spcPts val="0"/>
              </a:spcBef>
              <a:spcAft>
                <a:spcPts val="0"/>
              </a:spcAft>
              <a:buNone/>
            </a:pPr>
            <a:r>
              <a:rPr lang="en"/>
              <a:t>improve the performance, UCF [CITE],</a:t>
            </a:r>
            <a:endParaRPr/>
          </a:p>
          <a:p>
            <a:pPr indent="0" lvl="0" marL="0" rtl="0" algn="l">
              <a:spcBef>
                <a:spcPts val="0"/>
              </a:spcBef>
              <a:spcAft>
                <a:spcPts val="0"/>
              </a:spcAft>
              <a:buNone/>
            </a:pPr>
            <a:r>
              <a:rPr lang="en"/>
              <a:t>DSS [CITE], NLDF [CITE], and</a:t>
            </a:r>
            <a:endParaRPr/>
          </a:p>
          <a:p>
            <a:pPr indent="0" lvl="0" marL="0" rtl="0" algn="l">
              <a:spcBef>
                <a:spcPts val="0"/>
              </a:spcBef>
              <a:spcAft>
                <a:spcPts val="0"/>
              </a:spcAft>
              <a:buNone/>
            </a:pPr>
            <a:r>
              <a:rPr lang="en"/>
              <a:t>AMU [CITE] utilize the FCN to improve the performance of SOD ([FORMULA] in Table REF ).</a:t>
            </a:r>
            <a:endParaRPr/>
          </a:p>
          <a:p>
            <a:pPr indent="0" lvl="0" marL="0" rtl="0" algn="l">
              <a:spcBef>
                <a:spcPts val="0"/>
              </a:spcBef>
              <a:spcAft>
                <a:spcPts val="0"/>
              </a:spcAft>
              <a:buNone/>
            </a:pPr>
            <a:r>
              <a:rPr lang="en"/>
              <a:t>Some other methods such as DCL [CITE] and IMC [CITE] try to combine superpixels with FCN to build a powerful model.</a:t>
            </a:r>
            <a:endParaRPr/>
          </a:p>
          <a:p>
            <a:pPr indent="0" lvl="0" marL="0" rtl="0" algn="l">
              <a:spcBef>
                <a:spcPts val="0"/>
              </a:spcBef>
              <a:spcAft>
                <a:spcPts val="0"/>
              </a:spcAft>
              <a:buNone/>
            </a:pPr>
            <a:r>
              <a:rPr lang="en"/>
              <a:t>Furthermore, RFCN [CITE] combines two</a:t>
            </a:r>
            <a:endParaRPr/>
          </a:p>
          <a:p>
            <a:pPr indent="0" lvl="0" marL="0" rtl="0" algn="l">
              <a:spcBef>
                <a:spcPts val="0"/>
              </a:spcBef>
              <a:spcAft>
                <a:spcPts val="0"/>
              </a:spcAft>
              <a:buNone/>
            </a:pPr>
            <a:r>
              <a:rPr lang="en"/>
              <a:t>related cues including edges and superpixels into FCN to obtain the good performance ([FORMULA] , [FORMULA] ) over the overall dataset.</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Multi-task:</a:t>
            </a:r>
            <a:endParaRPr/>
          </a:p>
          <a:p>
            <a:pPr indent="0" lvl="0" marL="0" rtl="0" algn="l">
              <a:spcBef>
                <a:spcPts val="0"/>
              </a:spcBef>
              <a:spcAft>
                <a:spcPts val="0"/>
              </a:spcAft>
              <a:buNone/>
            </a:pPr>
            <a:r>
              <a:rPr lang="en"/>
              <a:t>Different from models mentioned above, MSR [CITE] detects</a:t>
            </a:r>
            <a:endParaRPr/>
          </a:p>
          <a:p>
            <a:pPr indent="0" lvl="0" marL="0" rtl="0" algn="l">
              <a:spcBef>
                <a:spcPts val="0"/>
              </a:spcBef>
              <a:spcAft>
                <a:spcPts val="0"/>
              </a:spcAft>
              <a:buNone/>
            </a:pPr>
            <a:r>
              <a:rPr lang="en"/>
              <a:t>the instance-level salient objects using three closely related steps:</a:t>
            </a:r>
            <a:endParaRPr/>
          </a:p>
          <a:p>
            <a:pPr indent="0" lvl="0" marL="0" rtl="0" algn="l">
              <a:spcBef>
                <a:spcPts val="0"/>
              </a:spcBef>
              <a:spcAft>
                <a:spcPts val="0"/>
              </a:spcAft>
              <a:buNone/>
            </a:pPr>
            <a:r>
              <a:rPr lang="en"/>
              <a:t>estimating saliency maps, detecting salient object contours, and</a:t>
            </a:r>
            <a:endParaRPr/>
          </a:p>
          <a:p>
            <a:pPr indent="0" lvl="0" marL="0" rtl="0" algn="l">
              <a:spcBef>
                <a:spcPts val="0"/>
              </a:spcBef>
              <a:spcAft>
                <a:spcPts val="0"/>
              </a:spcAft>
              <a:buNone/>
            </a:pPr>
            <a:r>
              <a:rPr lang="en"/>
              <a:t>identifying salient object instances.</a:t>
            </a:r>
            <a:endParaRPr/>
          </a:p>
          <a:p>
            <a:pPr indent="0" lvl="0" marL="0" rtl="0" algn="l">
              <a:spcBef>
                <a:spcPts val="0"/>
              </a:spcBef>
              <a:spcAft>
                <a:spcPts val="0"/>
              </a:spcAft>
              <a:buNone/>
            </a:pPr>
            <a:r>
              <a:rPr lang="en"/>
              <a:t>It creates a multi-scale saliency refinement network that</a:t>
            </a:r>
            <a:endParaRPr/>
          </a:p>
          <a:p>
            <a:pPr indent="0" lvl="0" marL="0" rtl="0" algn="l">
              <a:spcBef>
                <a:spcPts val="0"/>
              </a:spcBef>
              <a:spcAft>
                <a:spcPts val="0"/>
              </a:spcAft>
              <a:buNone/>
            </a:pPr>
            <a:r>
              <a:rPr lang="en"/>
              <a:t>results in the highest performance ([FORMULA] ).</a:t>
            </a:r>
            <a:endParaRPr/>
          </a:p>
          <a:p>
            <a:pPr indent="0" lvl="0" marL="0" rtl="0" algn="l">
              <a:spcBef>
                <a:spcPts val="0"/>
              </a:spcBef>
              <a:spcAft>
                <a:spcPts val="0"/>
              </a:spcAft>
              <a:buNone/>
            </a:pPr>
            <a:r>
              <a:rPr lang="en"/>
              <a:t>Other two multi-task models DS [CITE] and</a:t>
            </a:r>
            <a:endParaRPr/>
          </a:p>
          <a:p>
            <a:pPr indent="0" lvl="0" marL="0" rtl="0" algn="l">
              <a:spcBef>
                <a:spcPts val="0"/>
              </a:spcBef>
              <a:spcAft>
                <a:spcPts val="0"/>
              </a:spcAft>
              <a:buNone/>
            </a:pPr>
            <a:r>
              <a:rPr lang="en"/>
              <a:t>WSS [CITE] utilize the segmentation and</a:t>
            </a:r>
            <a:endParaRPr/>
          </a:p>
          <a:p>
            <a:pPr indent="0" lvl="0" marL="0" rtl="0" algn="l">
              <a:spcBef>
                <a:spcPts val="0"/>
              </a:spcBef>
              <a:spcAft>
                <a:spcPts val="0"/>
              </a:spcAft>
              <a:buNone/>
            </a:pPr>
            <a:r>
              <a:rPr lang="en"/>
              <a:t>classification results simultaneously to generate the saliency maps,</a:t>
            </a:r>
            <a:endParaRPr/>
          </a:p>
          <a:p>
            <a:pPr indent="0" lvl="0" marL="0" rtl="0" algn="l">
              <a:spcBef>
                <a:spcPts val="0"/>
              </a:spcBef>
              <a:spcAft>
                <a:spcPts val="0"/>
              </a:spcAft>
              <a:buNone/>
            </a:pPr>
            <a:r>
              <a:rPr lang="en"/>
              <a:t>obtaining a moderate performance. It is worth mentioning that although WSS is a weakly supervised multi-task model, it still achieves comparable performance to other</a:t>
            </a:r>
            <a:endParaRPr/>
          </a:p>
          <a:p>
            <a:pPr indent="0" lvl="0" marL="0" rtl="0" algn="l">
              <a:spcBef>
                <a:spcPts val="0"/>
              </a:spcBef>
              <a:spcAft>
                <a:spcPts val="0"/>
              </a:spcAft>
              <a:buNone/>
            </a:pPr>
            <a:r>
              <a:rPr lang="en"/>
              <a:t>single-task, fully supervised models. So, the weakly-supervised and</a:t>
            </a:r>
            <a:endParaRPr/>
          </a:p>
          <a:p>
            <a:pPr indent="0" lvl="0" marL="0" rtl="0" algn="l">
              <a:spcBef>
                <a:spcPts val="0"/>
              </a:spcBef>
              <a:spcAft>
                <a:spcPts val="0"/>
              </a:spcAft>
              <a:buNone/>
            </a:pPr>
            <a:r>
              <a:rPr lang="en"/>
              <a:t>multi-task based models can be promising future directions.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[The Proposed Dataset] 6) High-Quality Salient Object Labeling.</a:t>
            </a:r>
            <a:endParaRPr/>
          </a:p>
          <a:p>
            <a:pPr indent="0" lvl="0" marL="0" rtl="0" algn="l">
              <a:spcBef>
                <a:spcPts val="0"/>
              </a:spcBef>
              <a:spcAft>
                <a:spcPts val="0"/>
              </a:spcAft>
              <a:buNone/>
            </a:pPr>
            <a:r>
              <a:rPr lang="en"/>
              <a:t>As also noticed in [CITE], training on</a:t>
            </a:r>
            <a:endParaRPr/>
          </a:p>
          <a:p>
            <a:pPr indent="0" lvl="0" marL="0" rtl="0" algn="l">
              <a:spcBef>
                <a:spcPts val="0"/>
              </a:spcBef>
              <a:spcAft>
                <a:spcPts val="0"/>
              </a:spcAft>
              <a:buNone/>
            </a:pPr>
            <a:r>
              <a:rPr lang="en"/>
              <a:t>the ECSSD dataset (1,000) allows to achieve better results than</a:t>
            </a:r>
            <a:endParaRPr/>
          </a:p>
          <a:p>
            <a:pPr indent="0" lvl="0" marL="0" rtl="0" algn="l">
              <a:spcBef>
                <a:spcPts val="0"/>
              </a:spcBef>
              <a:spcAft>
                <a:spcPts val="0"/>
              </a:spcAft>
              <a:buNone/>
            </a:pPr>
            <a:r>
              <a:rPr lang="en"/>
              <a:t>other datasets (e.g., MSRA10K, with 10,000 images).</a:t>
            </a:r>
            <a:endParaRPr/>
          </a:p>
          <a:p>
            <a:pPr indent="0" lvl="0" marL="0" rtl="0" algn="l">
              <a:spcBef>
                <a:spcPts val="0"/>
              </a:spcBef>
              <a:spcAft>
                <a:spcPts val="0"/>
              </a:spcAft>
              <a:buNone/>
            </a:pPr>
            <a:r>
              <a:rPr lang="en"/>
              <a:t>Besides the scale, dataset quality is also an important factor.</a:t>
            </a:r>
            <a:endParaRPr/>
          </a:p>
          <a:p>
            <a:pPr indent="0" lvl="0" marL="0" rtl="0" algn="l">
              <a:spcBef>
                <a:spcPts val="0"/>
              </a:spcBef>
              <a:spcAft>
                <a:spcPts val="0"/>
              </a:spcAft>
              <a:buNone/>
            </a:pPr>
            <a:r>
              <a:rPr lang="en"/>
              <a:t>To obtain a large amount of high quality images,</a:t>
            </a:r>
            <a:endParaRPr/>
          </a:p>
          <a:p>
            <a:pPr indent="0" lvl="0" marL="0" rtl="0" algn="l">
              <a:spcBef>
                <a:spcPts val="0"/>
              </a:spcBef>
              <a:spcAft>
                <a:spcPts val="0"/>
              </a:spcAft>
              <a:buNone/>
            </a:pPr>
            <a:r>
              <a:rPr lang="en"/>
              <a:t>we randomly select images from the MSCOCO dataset [CITE],</a:t>
            </a:r>
            <a:endParaRPr/>
          </a:p>
          <a:p>
            <a:pPr indent="0" lvl="0" marL="0" rtl="0" algn="l">
              <a:spcBef>
                <a:spcPts val="0"/>
              </a:spcBef>
              <a:spcAft>
                <a:spcPts val="0"/>
              </a:spcAft>
              <a:buNone/>
            </a:pPr>
            <a:r>
              <a:rPr lang="en"/>
              <a:t>which is a large-scale real-world dataset</a:t>
            </a:r>
            <a:endParaRPr/>
          </a:p>
          <a:p>
            <a:pPr indent="0" lvl="0" marL="0" rtl="0" algn="l">
              <a:spcBef>
                <a:spcPts val="0"/>
              </a:spcBef>
              <a:spcAft>
                <a:spcPts val="0"/>
              </a:spcAft>
              <a:buNone/>
            </a:pPr>
            <a:r>
              <a:rPr lang="en"/>
              <a:t>whose objects are labeled with polygons (i.e., coarse labeling).</a:t>
            </a:r>
            <a:endParaRPr/>
          </a:p>
          <a:p>
            <a:pPr indent="0" lvl="0" marL="0" rtl="0" algn="l">
              <a:spcBef>
                <a:spcPts val="0"/>
              </a:spcBef>
              <a:spcAft>
                <a:spcPts val="0"/>
              </a:spcAft>
              <a:buNone/>
            </a:pPr>
            <a:r>
              <a:rPr lang="en"/>
              <a:t>High-quality labels also play a</a:t>
            </a:r>
            <a:endParaRPr/>
          </a:p>
          <a:p>
            <a:pPr indent="0" lvl="0" marL="0" rtl="0" algn="l">
              <a:spcBef>
                <a:spcPts val="0"/>
              </a:spcBef>
              <a:spcAft>
                <a:spcPts val="0"/>
              </a:spcAft>
              <a:buNone/>
            </a:pPr>
            <a:r>
              <a:rPr lang="en"/>
              <a:t>critical role in improving the accuracy of SOD models [CITE].</a:t>
            </a:r>
            <a:endParaRPr/>
          </a:p>
          <a:p>
            <a:pPr indent="0" lvl="0" marL="0" rtl="0" algn="l">
              <a:spcBef>
                <a:spcPts val="0"/>
              </a:spcBef>
              <a:spcAft>
                <a:spcPts val="0"/>
              </a:spcAft>
              <a:buNone/>
            </a:pPr>
            <a:r>
              <a:rPr lang="en"/>
              <a:t>Toward this end, we relabel the dataset with pixel-wise annotations.</a:t>
            </a:r>
            <a:endParaRPr/>
          </a:p>
          <a:p>
            <a:pPr indent="0" lvl="0" marL="0" rtl="0" algn="l">
              <a:spcBef>
                <a:spcPts val="0"/>
              </a:spcBef>
              <a:spcAft>
                <a:spcPts val="0"/>
              </a:spcAft>
              <a:buNone/>
            </a:pPr>
            <a:r>
              <a:rPr lang="en"/>
              <a:t>Similar to famous SOD task oriented benchmark datasets [CITE], [CITE], [CITE], [CITE], [CITE], [CITE], [CITE], [CITE], [CITE], [CITE], [CITE], we did not use the eye tracker device.</a:t>
            </a:r>
            <a:endParaRPr/>
          </a:p>
          <a:p>
            <a:pPr indent="0" lvl="0" marL="0" rtl="0" algn="l">
              <a:spcBef>
                <a:spcPts val="0"/>
              </a:spcBef>
              <a:spcAft>
                <a:spcPts val="0"/>
              </a:spcAft>
              <a:buNone/>
            </a:pPr>
            <a:r>
              <a:rPr lang="en"/>
              <a:t>We have taken a number of steps to provide</a:t>
            </a:r>
            <a:endParaRPr/>
          </a:p>
          <a:p>
            <a:pPr indent="0" lvl="0" marL="0" rtl="0" algn="l">
              <a:spcBef>
                <a:spcPts val="0"/>
              </a:spcBef>
              <a:spcAft>
                <a:spcPts val="0"/>
              </a:spcAft>
              <a:buNone/>
            </a:pPr>
            <a:r>
              <a:rPr lang="en"/>
              <a:t>the high-quality of the annotations.</a:t>
            </a:r>
            <a:endParaRPr/>
          </a:p>
          <a:p>
            <a:pPr indent="0" lvl="0" marL="0" rtl="0" algn="l">
              <a:spcBef>
                <a:spcPts val="0"/>
              </a:spcBef>
              <a:spcAft>
                <a:spcPts val="0"/>
              </a:spcAft>
              <a:buNone/>
            </a:pPr>
            <a:r>
              <a:rPr lang="en"/>
              <a:t>These steps include two stages: In the bounding boxes (bboxes) stage, (i)</a:t>
            </a:r>
            <a:endParaRPr/>
          </a:p>
          <a:p>
            <a:pPr indent="0" lvl="0" marL="0" rtl="0" algn="l">
              <a:spcBef>
                <a:spcPts val="0"/>
              </a:spcBef>
              <a:spcAft>
                <a:spcPts val="0"/>
              </a:spcAft>
              <a:buNone/>
            </a:pPr>
            <a:r>
              <a:rPr lang="en"/>
              <a:t>we ask 5 viewers to annotate objects with bboxes that they think are</a:t>
            </a:r>
            <a:endParaRPr/>
          </a:p>
          <a:p>
            <a:pPr indent="0" lvl="0" marL="0" rtl="0" algn="l">
              <a:spcBef>
                <a:spcPts val="0"/>
              </a:spcBef>
              <a:spcAft>
                <a:spcPts val="0"/>
              </a:spcAft>
              <a:buNone/>
            </a:pPr>
            <a:r>
              <a:rPr lang="en"/>
              <a:t>salient in each image.</a:t>
            </a:r>
            <a:endParaRPr/>
          </a:p>
          <a:p>
            <a:pPr indent="0" lvl="0" marL="0" rtl="0" algn="l">
              <a:spcBef>
                <a:spcPts val="0"/>
              </a:spcBef>
              <a:spcAft>
                <a:spcPts val="0"/>
              </a:spcAft>
              <a:buNone/>
            </a:pPr>
            <a:r>
              <a:rPr lang="en"/>
              <a:t>(ii) keep the images which majority ([FORMULA] ) viewers</a:t>
            </a:r>
            <a:endParaRPr/>
          </a:p>
          <a:p>
            <a:pPr indent="0" lvl="0" marL="0" rtl="0" algn="l">
              <a:spcBef>
                <a:spcPts val="0"/>
              </a:spcBef>
              <a:spcAft>
                <a:spcPts val="0"/>
              </a:spcAft>
              <a:buNone/>
            </a:pPr>
            <a:r>
              <a:rPr lang="en"/>
              <a:t>annotated the same (the IOU of the bbox [FORMULA] ) object.</a:t>
            </a:r>
            <a:endParaRPr/>
          </a:p>
          <a:p>
            <a:pPr indent="0" lvl="0" marL="0" rtl="0" algn="l">
              <a:spcBef>
                <a:spcPts val="0"/>
              </a:spcBef>
              <a:spcAft>
                <a:spcPts val="0"/>
              </a:spcAft>
              <a:buNone/>
            </a:pPr>
            <a:r>
              <a:rPr lang="en"/>
              <a:t>After the first stage, we have</a:t>
            </a:r>
            <a:endParaRPr/>
          </a:p>
          <a:p>
            <a:pPr indent="0" lvl="0" marL="0" rtl="0" algn="l">
              <a:spcBef>
                <a:spcPts val="0"/>
              </a:spcBef>
              <a:spcAft>
                <a:spcPts val="0"/>
              </a:spcAft>
              <a:buNone/>
            </a:pPr>
            <a:r>
              <a:rPr lang="en"/>
              <a:t>3,000 salient object images annotated with bboxes.</a:t>
            </a:r>
            <a:endParaRPr/>
          </a:p>
          <a:p>
            <a:pPr indent="0" lvl="0" marL="0" rtl="0" algn="l">
              <a:spcBef>
                <a:spcPts val="0"/>
              </a:spcBef>
              <a:spcAft>
                <a:spcPts val="0"/>
              </a:spcAft>
              <a:buNone/>
            </a:pPr>
            <a:r>
              <a:rPr lang="en"/>
              <a:t>In the second stage, we further manually label the accurate silhouettes</a:t>
            </a:r>
            <a:endParaRPr/>
          </a:p>
          <a:p>
            <a:pPr indent="0" lvl="0" marL="0" rtl="0" algn="l">
              <a:spcBef>
                <a:spcPts val="0"/>
              </a:spcBef>
              <a:spcAft>
                <a:spcPts val="0"/>
              </a:spcAft>
              <a:buNone/>
            </a:pPr>
            <a:r>
              <a:rPr lang="en"/>
              <a:t>of the salient objects according</a:t>
            </a:r>
            <a:endParaRPr/>
          </a:p>
          <a:p>
            <a:pPr indent="0" lvl="0" marL="0" rtl="0" algn="l">
              <a:spcBef>
                <a:spcPts val="0"/>
              </a:spcBef>
              <a:spcAft>
                <a:spcPts val="0"/>
              </a:spcAft>
              <a:buNone/>
            </a:pPr>
            <a:r>
              <a:rPr lang="en"/>
              <a:t>to the bboxes. Note that we have 10 volunteers involved in the whole steps for</a:t>
            </a:r>
            <a:endParaRPr/>
          </a:p>
          <a:p>
            <a:pPr indent="0" lvl="0" marL="0" rtl="0" algn="l">
              <a:spcBef>
                <a:spcPts val="0"/>
              </a:spcBef>
              <a:spcAft>
                <a:spcPts val="0"/>
              </a:spcAft>
              <a:buNone/>
            </a:pPr>
            <a:r>
              <a:rPr lang="en"/>
              <a:t>cross-check the quality of annotations.</a:t>
            </a:r>
            <a:endParaRPr/>
          </a:p>
          <a:p>
            <a:pPr indent="0" lvl="0" marL="0" rtl="0" algn="l">
              <a:spcBef>
                <a:spcPts val="0"/>
              </a:spcBef>
              <a:spcAft>
                <a:spcPts val="0"/>
              </a:spcAft>
              <a:buNone/>
            </a:pPr>
            <a:r>
              <a:rPr lang="en"/>
              <a:t>In the end, we keep 3,000 images with high-quality, instance-level labeled</a:t>
            </a:r>
            <a:endParaRPr/>
          </a:p>
          <a:p>
            <a:pPr indent="0" lvl="0" marL="0" rtl="0" algn="l">
              <a:spcBef>
                <a:spcPts val="0"/>
              </a:spcBef>
              <a:spcAft>
                <a:spcPts val="0"/>
              </a:spcAft>
              <a:buNone/>
            </a:pPr>
            <a:r>
              <a:rPr lang="en"/>
              <a:t>salient objects. As shown in Fig. REF (b,d),</a:t>
            </a:r>
            <a:endParaRPr/>
          </a:p>
          <a:p>
            <a:pPr indent="0" lvl="0" marL="0" rtl="0" algn="l">
              <a:spcBef>
                <a:spcPts val="0"/>
              </a:spcBef>
              <a:spcAft>
                <a:spcPts val="0"/>
              </a:spcAft>
              <a:buNone/>
            </a:pPr>
            <a:r>
              <a:rPr lang="en"/>
              <a:t>the boundaries of our object labels are precise, sharp and smooth. During the</a:t>
            </a:r>
            <a:endParaRPr/>
          </a:p>
          <a:p>
            <a:pPr indent="0" lvl="0" marL="0" rtl="0" algn="l">
              <a:spcBef>
                <a:spcPts val="0"/>
              </a:spcBef>
              <a:spcAft>
                <a:spcPts val="0"/>
              </a:spcAft>
              <a:buNone/>
            </a:pPr>
            <a:r>
              <a:rPr lang="en"/>
              <a:t>annotation process, we also add some new categories</a:t>
            </a:r>
            <a:endParaRPr/>
          </a:p>
          <a:p>
            <a:pPr indent="0" lvl="0" marL="0" rtl="0" algn="l">
              <a:spcBef>
                <a:spcPts val="0"/>
              </a:spcBef>
              <a:spcAft>
                <a:spcPts val="0"/>
              </a:spcAft>
              <a:buNone/>
            </a:pPr>
            <a:r>
              <a:rPr lang="en"/>
              <a:t>(e.g., computer monitor, hat, pillow) that are not labeled in</a:t>
            </a:r>
            <a:endParaRPr/>
          </a:p>
          <a:p>
            <a:pPr indent="0" lvl="0" marL="0" rtl="0" algn="l">
              <a:spcBef>
                <a:spcPts val="0"/>
              </a:spcBef>
              <a:spcAft>
                <a:spcPts val="0"/>
              </a:spcAft>
              <a:buNone/>
            </a:pPr>
            <a:r>
              <a:rPr lang="en"/>
              <a:t>the MSCOCO dataset [CITE].</a:t>
            </a:r>
            <a:endParaRPr/>
          </a:p>
          <a:p>
            <a:pPr indent="0" lvl="0" marL="0" rtl="0" algn="l">
              <a:spcBef>
                <a:spcPts val="0"/>
              </a:spcBef>
              <a:spcAft>
                <a:spcPts val="0"/>
              </a:spcAft>
              <a:buNone/>
            </a:pPr>
            <a:r>
              <a:rPr lang="en"/>
              <a:t>[TABLE][FIGURE]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[The Proposed Dataset] Based on the characteristics of non-salient objects, we collected 783 texture images from the DTD [CITE] dataset.</a:t>
            </a:r>
            <a:endParaRPr/>
          </a:p>
          <a:p>
            <a:pPr indent="0" lvl="0" marL="0" rtl="0" algn="l">
              <a:spcBef>
                <a:spcPts val="0"/>
              </a:spcBef>
              <a:spcAft>
                <a:spcPts val="0"/>
              </a:spcAft>
              <a:buNone/>
            </a:pPr>
            <a:r>
              <a:rPr lang="en"/>
              <a:t>To enrich the diversity, 2217 images including aurora, sky,</a:t>
            </a:r>
            <a:endParaRPr/>
          </a:p>
          <a:p>
            <a:pPr indent="0" lvl="0" marL="0" rtl="0" algn="l">
              <a:spcBef>
                <a:spcPts val="0"/>
              </a:spcBef>
              <a:spcAft>
                <a:spcPts val="0"/>
              </a:spcAft>
              <a:buNone/>
            </a:pPr>
            <a:r>
              <a:rPr lang="en"/>
              <a:t>crowds, store and many other kinds of realistic scenes were gathered from the Internet and other datasets [CITE], [CITE], [CITE], [CITE].</a:t>
            </a:r>
            <a:endParaRPr/>
          </a:p>
          <a:p>
            <a:pPr indent="0" lvl="0" marL="0" rtl="0" algn="l">
              <a:spcBef>
                <a:spcPts val="0"/>
              </a:spcBef>
              <a:spcAft>
                <a:spcPts val="0"/>
              </a:spcAft>
              <a:buNone/>
            </a:pPr>
            <a:r>
              <a:rPr lang="en"/>
              <a:t>We believe that incorporating enough non-salient objects would open up a promising direction for future works.</a:t>
            </a:r>
            <a:endParaRPr/>
          </a:p>
          <a:p>
            <a:pPr indent="0" lvl="0" marL="0" rtl="0" algn="l">
              <a:spcBef>
                <a:spcPts val="0"/>
              </a:spcBef>
              <a:spcAft>
                <a:spcPts val="0"/>
              </a:spcAft>
              <a:buNone/>
            </a:pPr>
            <a:r>
              <a:rPr lang="en"/>
              <a:t> 2) Number and Category of Images.</a:t>
            </a:r>
            <a:endParaRPr/>
          </a:p>
          <a:p>
            <a:pPr indent="0" lvl="0" marL="0" rtl="0" algn="l">
              <a:spcBef>
                <a:spcPts val="0"/>
              </a:spcBef>
              <a:spcAft>
                <a:spcPts val="0"/>
              </a:spcAft>
              <a:buNone/>
            </a:pPr>
            <a:r>
              <a:rPr lang="en"/>
              <a:t>A considerably large amount of images is essential to capture the diversity</a:t>
            </a:r>
            <a:endParaRPr/>
          </a:p>
          <a:p>
            <a:pPr indent="0" lvl="0" marL="0" rtl="0" algn="l">
              <a:spcBef>
                <a:spcPts val="0"/>
              </a:spcBef>
              <a:spcAft>
                <a:spcPts val="0"/>
              </a:spcAft>
              <a:buNone/>
            </a:pPr>
            <a:r>
              <a:rPr lang="en"/>
              <a:t>and abundance of real-world scenes.</a:t>
            </a:r>
            <a:endParaRPr/>
          </a:p>
          <a:p>
            <a:pPr indent="0" lvl="0" marL="0" rtl="0" algn="l">
              <a:spcBef>
                <a:spcPts val="0"/>
              </a:spcBef>
              <a:spcAft>
                <a:spcPts val="0"/>
              </a:spcAft>
              <a:buNone/>
            </a:pPr>
            <a:r>
              <a:rPr lang="en"/>
              <a:t>Moreover, with large amounts of data, SOD models can avoid over-fitting and enhance generalization.</a:t>
            </a:r>
            <a:endParaRPr/>
          </a:p>
          <a:p>
            <a:pPr indent="0" lvl="0" marL="0" rtl="0" algn="l">
              <a:spcBef>
                <a:spcPts val="0"/>
              </a:spcBef>
              <a:spcAft>
                <a:spcPts val="0"/>
              </a:spcAft>
              <a:buNone/>
            </a:pPr>
            <a:r>
              <a:rPr lang="en"/>
              <a:t>To this end, we gathered 6,000 images from more than 80 categories,</a:t>
            </a:r>
            <a:endParaRPr/>
          </a:p>
          <a:p>
            <a:pPr indent="0" lvl="0" marL="0" rtl="0" algn="l">
              <a:spcBef>
                <a:spcPts val="0"/>
              </a:spcBef>
              <a:spcAft>
                <a:spcPts val="0"/>
              </a:spcAft>
              <a:buNone/>
            </a:pPr>
            <a:r>
              <a:rPr lang="en"/>
              <a:t>containing 3,000 images with salient objects and 3,000 images without salient</a:t>
            </a:r>
            <a:endParaRPr/>
          </a:p>
          <a:p>
            <a:pPr indent="0" lvl="0" marL="0" rtl="0" algn="l">
              <a:spcBef>
                <a:spcPts val="0"/>
              </a:spcBef>
              <a:spcAft>
                <a:spcPts val="0"/>
              </a:spcAft>
              <a:buNone/>
            </a:pPr>
            <a:r>
              <a:rPr lang="en"/>
              <a:t>objects.</a:t>
            </a:r>
            <a:endParaRPr/>
          </a:p>
          <a:p>
            <a:pPr indent="0" lvl="0" marL="0" rtl="0" algn="l">
              <a:spcBef>
                <a:spcPts val="0"/>
              </a:spcBef>
              <a:spcAft>
                <a:spcPts val="0"/>
              </a:spcAft>
              <a:buNone/>
            </a:pPr>
            <a:r>
              <a:rPr lang="en"/>
              <a:t>We divide our dataset into training set,</a:t>
            </a:r>
            <a:endParaRPr/>
          </a:p>
          <a:p>
            <a:pPr indent="0" lvl="0" marL="0" rtl="0" algn="l">
              <a:spcBef>
                <a:spcPts val="0"/>
              </a:spcBef>
              <a:spcAft>
                <a:spcPts val="0"/>
              </a:spcAft>
              <a:buNone/>
            </a:pPr>
            <a:r>
              <a:rPr lang="en"/>
              <a:t>validation set and test set in the ratio of 6:2:2.</a:t>
            </a:r>
            <a:endParaRPr/>
          </a:p>
          <a:p>
            <a:pPr indent="0" lvl="0" marL="0" rtl="0" algn="l">
              <a:spcBef>
                <a:spcPts val="0"/>
              </a:spcBef>
              <a:spcAft>
                <a:spcPts val="0"/>
              </a:spcAft>
              <a:buNone/>
            </a:pPr>
            <a:r>
              <a:rPr lang="en"/>
              <a:t>To ensure fairness, the test set is not published,</a:t>
            </a:r>
            <a:endParaRPr/>
          </a:p>
          <a:p>
            <a:pPr indent="0" lvl="0" marL="0" rtl="0" algn="l">
              <a:spcBef>
                <a:spcPts val="0"/>
              </a:spcBef>
              <a:spcAft>
                <a:spcPts val="0"/>
              </a:spcAft>
              <a:buNone/>
            </a:pPr>
            <a:r>
              <a:rPr lang="en"/>
              <a:t>but with the on-line testing provided on our websitehttp://dpfan.net/SOCBenchmark/.</a:t>
            </a:r>
            <a:endParaRPr/>
          </a:p>
          <a:p>
            <a:pPr indent="0" lvl="0" marL="0" rtl="0" algn="l">
              <a:spcBef>
                <a:spcPts val="0"/>
              </a:spcBef>
              <a:spcAft>
                <a:spcPts val="0"/>
              </a:spcAft>
              <a:buNone/>
            </a:pPr>
            <a:r>
              <a:rPr lang="en"/>
              <a:t>Fig. REF (a) shows the number of salient objects for each category.</a:t>
            </a:r>
            <a:endParaRPr/>
          </a:p>
          <a:p>
            <a:pPr indent="0" lvl="0" marL="0" rtl="0" algn="l">
              <a:spcBef>
                <a:spcPts val="0"/>
              </a:spcBef>
              <a:spcAft>
                <a:spcPts val="0"/>
              </a:spcAft>
              <a:buNone/>
            </a:pPr>
            <a:r>
              <a:rPr lang="en"/>
              <a:t>It shows that the “person” category accounts for a large proportion,</a:t>
            </a:r>
            <a:endParaRPr/>
          </a:p>
          <a:p>
            <a:pPr indent="0" lvl="0" marL="0" rtl="0" algn="l">
              <a:spcBef>
                <a:spcPts val="0"/>
              </a:spcBef>
              <a:spcAft>
                <a:spcPts val="0"/>
              </a:spcAft>
              <a:buNone/>
            </a:pPr>
            <a:r>
              <a:rPr lang="en"/>
              <a:t>which is reasonable as people usually</a:t>
            </a:r>
            <a:endParaRPr/>
          </a:p>
          <a:p>
            <a:pPr indent="0" lvl="0" marL="0" rtl="0" algn="l">
              <a:spcBef>
                <a:spcPts val="0"/>
              </a:spcBef>
              <a:spcAft>
                <a:spcPts val="0"/>
              </a:spcAft>
              <a:buNone/>
            </a:pPr>
            <a:r>
              <a:rPr lang="en"/>
              <a:t>appear in daily scenes along with other objects.</a:t>
            </a:r>
            <a:endParaRPr/>
          </a:p>
          <a:p>
            <a:pPr indent="0" lvl="0" marL="0" rtl="0" algn="l">
              <a:spcBef>
                <a:spcPts val="0"/>
              </a:spcBef>
              <a:spcAft>
                <a:spcPts val="0"/>
              </a:spcAft>
              <a:buNone/>
            </a:pPr>
            <a:r>
              <a:rPr lang="en"/>
              <a:t>[FIGURE]</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SLIDES_API503368914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SLIDES_API503368914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SLIDES_API503368914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SLIDES_API503368914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We still use dominant interferer analysis to derive the coverage probability of mmWave D2D links. However, to account for interference, we introduce a multiplexing factor [FORMULA] such that uplink inteferers can be approximated by a homogeneous PPP with intensity [FORMULA]  [CITE].Note that uplink interferers do not necessarily form a homogeneous PPP if the BSs form a homogeneous PPP [CITE]. However, it has been shown that the dependencies between scheduled UEs in the uplink and their associated BSs are very weak [[TARGET]]. We have the following result. The proof is omitted because it is similar to that of Theorem REF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[Coverage probability ] The net interference at a randomly chosen base station is the sum of the powers from all the transmitting mobiles lying farther than [FORMULA] . Under the power control model described in the previous section, this power depends upon the distance of a mobile to its corresponding base station and the power control factor [FORMULA] . For a mobile [FORMULA] , we denote its distance to the corresponding base station as [FORMULA] . Although the random variables [FORMULA] are identically distributed, they are not independent in general. However, as shown later in this section, this dependence is weak and we will henceforth assume each [FORMULA] to be i.i.d. (Assumption 2).</a:t>
            </a:r>
            <a:endParaRPr/>
          </a:p>
          <a:p>
            <a:pPr indent="0" lvl="0" marL="0" rtl="0" algn="l">
              <a:spcBef>
                <a:spcPts val="0"/>
              </a:spcBef>
              <a:spcAft>
                <a:spcPts val="0"/>
              </a:spcAft>
              <a:buNone/>
            </a:pPr>
            <a:r>
              <a:rPr lang="en"/>
              <a:t>Under this independence assumption, we first derive the coverage probability for the general distribution of [FORMULA] and then use this general result to study two particular scenarios corresponding to non-uniform and regular coverage regions. The main uplink coverage probability result of this paper is stated in Theorem REF .</a:t>
            </a:r>
            <a:endParaRPr/>
          </a:p>
          <a:p>
            <a:pPr indent="0" lvl="0" marL="0" rtl="0" algn="l">
              <a:spcBef>
                <a:spcPts val="0"/>
              </a:spcBef>
              <a:spcAft>
                <a:spcPts val="0"/>
              </a:spcAft>
              <a:buNone/>
            </a:pPr>
            <a:r>
              <a:rPr lang="en"/>
              <a:t> Theorem 1 (Uplink coverage for i.i.d. [FORMULA] )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uplink coverage probability is given by:</a:t>
            </a:r>
            <a:endParaRPr/>
          </a:p>
          <a:p>
            <a:pPr indent="0" lvl="0" marL="0" rtl="0" algn="l">
              <a:spcBef>
                <a:spcPts val="0"/>
              </a:spcBef>
              <a:spcAft>
                <a:spcPts val="0"/>
              </a:spcAft>
              <a:buNone/>
            </a:pPr>
            <a:r>
              <a:rPr lang="en"/>
              <a:t>[FORMULA]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[Downlink vs. Uplink Coverage] In Fig. REF , we plot the [FORMULA] distribution for both these cases and observe that the two models are close enough to facilitate the direct comparison of the downlink analytical results derived in [CITE] and the uplink ones derived in this paper.</a:t>
            </a:r>
            <a:endParaRPr/>
          </a:p>
          <a:p>
            <a:pPr indent="0" lvl="0" marL="0" rtl="0" algn="l">
              <a:spcBef>
                <a:spcPts val="0"/>
              </a:spcBef>
              <a:spcAft>
                <a:spcPts val="0"/>
              </a:spcAft>
              <a:buNone/>
            </a:pPr>
            <a:r>
              <a:rPr lang="en"/>
              <a:t> The downlink coverage probability, which assumes constant power transmissions across the network, has two major terms. The first term is based on [FORMULA] and is not dependent on transmit power and represents the interference-limited contribution to the [FORMULA] , while the second term depends on the noise power [FORMULA] and transmit power [FORMULA] , representing the noise-limited part of the [FORMULA] . However, the use of fractional power control in the uplink significantly changes the shape of the distribution of the interference power. This can be seen in both the noise-limited term with [FORMULA] and the Laplace transform of the interference, which are dependent on [FORMULA] and the distribution of [FORMULA] since the transmit powers of the mobiles throughout the network are not constant, but highly variable unlike the downlink.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[System Setup and Modeling Assumptions] from which the probability density function (pdf) of [FORMULA] follows:</a:t>
            </a:r>
            <a:endParaRPr/>
          </a:p>
          <a:p>
            <a:pPr indent="0" lvl="0" marL="0" rtl="0" algn="l">
              <a:spcBef>
                <a:spcPts val="0"/>
              </a:spcBef>
              <a:spcAft>
                <a:spcPts val="0"/>
              </a:spcAft>
              <a:buNone/>
            </a:pPr>
            <a:r>
              <a:rPr lang="en"/>
              <a:t>[FORMULA] </a:t>
            </a:r>
            <a:endParaRPr/>
          </a:p>
          <a:p>
            <a:pPr indent="0" lvl="0" marL="0" rtl="0" algn="l">
              <a:spcBef>
                <a:spcPts val="0"/>
              </a:spcBef>
              <a:spcAft>
                <a:spcPts val="0"/>
              </a:spcAft>
              <a:buNone/>
            </a:pPr>
            <a:r>
              <a:rPr lang="en"/>
              <a:t> To model uplink interference, the randomly chosen base station is assumed to be located at the origin, which follows from the the translation invariance of the point process under Assumption 1. We denote the set of interfering mobiles by [FORMULA] , the distance of an interfering mobile [FORMULA] to the base station of interest by [FORMULA] , and the distance of the interfering mobile to its serving base station by [FORMULA] . It should be noted that the random variables [FORMULA] are identically distributed but not independent in general. The dependence is induced by the structure of Poisson-Voronoi tessellation and the restriction that only one base station can lie in each Voronoi cell. To visualize this dependence, recall a simple fact that the presence of a base station in a particular Voronoi cell forbids the presence of any other base station in that cell. However, as discussed in detail in the next section, this dependence is weak, which motivates the following independence assumption.</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SLIDES_API503368914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SLIDES_API503368914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SLIDES_API503368914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SLIDES_API503368914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We propose a lightweight and real-time baseline (FCL-GAN) for unsupervised BID. FCL-GAN drives the task by a frequency-domain contrastive loss constrained lightweight CycleGAN, as shown in Figure REF . Two new collaborative units, called lightweight domain conversion unit (LDCU) and parameter-free frequency-domain contrast unit (PFCU), are designed, which jointly makes sure “lightweight” and “real-time”, in addition to overcoming the limitations of current unsupervised methods. To the best of our knowledge, this is the first lightweight and real-time deep unsupervised BID method, which can be regarded as a guiding method for future research.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Although CycleGAN [[TARGET]] is a popular architecture trained without paired data by a cycle consistency loss, it still suffers from large chromatic aberration, severe artifacts and model redundancy when handling BID task (See Figure REF ). As such, we disassemble and analyze the model structure and basic constituent units, and present a novel lightweight domain conversion unit (LDCU), which can deblur the degraded images better in a lightweight and real-time manner.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further improve the deblur performance without extra parameters, we introduce a new concept of frequency-domain contrastive learning (FCL), and present a parameter-free frequency-domain contrastive unit (PFCU) to measure the similarity between latent representations in frequency domain as a contrastive constraint. FCL can also address the shortcomings of contrastive learning on deblur task.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Extensive simulations on several datasets demonstrated the SOTA unsupervised deblur performance of our FCL-GAN, with stonger generalization ability to handle real-world blurs. To be specific, FCL-GAN allows for a smaller model size (24.6MB vs. 606.8MB) and less inference time (0.011s vs. 0.062s), compared with current SOTA method.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[Full Objective] Notice that our model can be viewed as training two “autoencoders" [CITE]: we learn one autoencoder [FORMULA] jointly with another [FORMULA] . However, these autoencoders each have special internal structures: they map an image to itself via an intermediate representation that is a translation of the image into another domain. Such a setup can also be seen as a special case of “adversarial autoencoders" [CITE], which use an adversarial loss to train the bottleneck layer of an autoencoder to match an arbitrary target distribution. In our case, the target distribution for the [FORMULA] autoencoder is that of the domain [FORMULA] .</a:t>
            </a:r>
            <a:endParaRPr/>
          </a:p>
          <a:p>
            <a:pPr indent="0" lvl="0" marL="0" rtl="0" algn="l">
              <a:spcBef>
                <a:spcPts val="0"/>
              </a:spcBef>
              <a:spcAft>
                <a:spcPts val="0"/>
              </a:spcAft>
              <a:buNone/>
            </a:pPr>
            <a:r>
              <a:rPr lang="en"/>
              <a:t> In Section REF , we compare our method against ablations of the full objective, including the adversarial loss [FORMULA] alone and the cycle consistency loss [FORMULA] alone, and empirically show that both objectives play critical roles in arriving at high-quality results. We also evaluate our method with only cycle loss in one direction and show that a single cycle is not sufficient to regularize the training for this under-constrained problem.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[Introduction] These issues call for adding more structure to our objective. Therefore, we exploit the property that translation should be “cycle consistent", in the sense that if we translate, e.g., a sentence from English to French, and then translate it back from French to English, we should arrive back at the original sentence [CITE]. Mathematically, if we have a translator [FORMULA] and another translator [FORMULA] , then [FORMULA] and [FORMULA] should be inverses of each other, and both mappings should be bijections. We apply this structural assumption by training both the mapping [FORMULA] and [FORMULA] simultaneously, and adding a cycle consistency loss [CITE] that encourages [FORMULA] and [FORMULA] . Combining this loss with adversarial losses on domains [FORMULA] and [FORMULA] yields our full objective for unpaired image-to-image translation.</a:t>
            </a:r>
            <a:endParaRPr/>
          </a:p>
          <a:p>
            <a:pPr indent="0" lvl="0" marL="0" rtl="0" algn="l">
              <a:spcBef>
                <a:spcPts val="0"/>
              </a:spcBef>
              <a:spcAft>
                <a:spcPts val="0"/>
              </a:spcAft>
              <a:buNone/>
            </a:pPr>
            <a:r>
              <a:rPr lang="en"/>
              <a:t> We apply our method to a wide range of applications, including collection style transfer, object transfiguration, season transfer and photo enhancement. We also compare against previous approaches that rely either on hand-defined factorizations of style and content, or on shared embedding functions, and show that our method outperforms these baselines. We provide both PyTorch and Torch implementations. Check out more results at our website.</a:t>
            </a:r>
            <a:endParaRPr/>
          </a:p>
          <a:p>
            <a:pPr indent="0" lvl="0" marL="0" rtl="0" algn="l">
              <a:spcBef>
                <a:spcPts val="0"/>
              </a:spcBef>
              <a:spcAft>
                <a:spcPts val="0"/>
              </a:spcAft>
              <a:buNone/>
            </a:pPr>
            <a:r>
              <a:rPr lang="en"/>
              <a:t>[FIGURE]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[Applications] We demonstrate our method on several applications where paired training data does not exist. Please refer to the appendix (Section ) for more details about the datasets. We observe that translations on training data are often more appealing than those on test data, and full results of all applications on both training and test data can be viewed on our project website.</a:t>
            </a:r>
            <a:endParaRPr/>
          </a:p>
          <a:p>
            <a:pPr indent="0" lvl="0" marL="0" rtl="0" algn="l">
              <a:spcBef>
                <a:spcPts val="0"/>
              </a:spcBef>
              <a:spcAft>
                <a:spcPts val="0"/>
              </a:spcAft>
              <a:buNone/>
            </a:pPr>
            <a:r>
              <a:rPr lang="en"/>
              <a:t> Collection style transfer (Figure REF and  Figure REF ) We train the model on landscape photographs downloaded from Flickr and WikiArt. Unlike recent work on “neural style transfer" [CITE], our method learns to mimic the style of an entire collection of artworks, rather than transferring the style of a single selected piece of art. Therefore, we can learn to generate photos in the style of, e.g., Van Gogh, rather than just in the style of Starry Night. The size of the dataset for each artist/style was 526, 1073, 400, and 563 for Cezanne, Monet, Van Gogh, and Ukiyo-e.</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SLIDES_API503368914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SLIDES_API503368914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SLIDES_API503368914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SLIDES_API503368914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Since the kernel of our feature extraction network is trained and generated by the depth map, it is sample-specific and position-specific, as in [CITE], [CITE], and thus can capture meaningful local structures as the point-based operator in point clouds.</a:t>
            </a:r>
            <a:endParaRPr/>
          </a:p>
          <a:p>
            <a:pPr indent="0" lvl="0" marL="0" rtl="0" algn="l">
              <a:spcBef>
                <a:spcPts val="0"/>
              </a:spcBef>
              <a:spcAft>
                <a:spcPts val="0"/>
              </a:spcAft>
              <a:buNone/>
            </a:pPr>
            <a:r>
              <a:rPr lang="en"/>
              <a:t>We first introduce the idea of depth-wise convolution [CITE] to the network, termed depth-wise local convolution (DLCN).</a:t>
            </a:r>
            <a:endParaRPr/>
          </a:p>
          <a:p>
            <a:pPr indent="0" lvl="0" marL="0" rtl="0" algn="l">
              <a:spcBef>
                <a:spcPts val="0"/>
              </a:spcBef>
              <a:spcAft>
                <a:spcPts val="0"/>
              </a:spcAft>
              <a:buNone/>
            </a:pPr>
            <a:r>
              <a:rPr lang="en"/>
              <a:t>Generally, depth-wise convolution (DCN) involves a set of global filters, where each filter only operates at its corresponding channel, while DLCN requires a feature volume of local filters the same size as the input feature maps. As the generated filters are actually a feature volume, a naive way to perform DLCN requires to convert the feature volume into [FORMULA] location-specific filters and then apply depth-wise and local convolutions to the feature maps, where [FORMULA] and [FORMULA] are the height and width of the feature maps at layer [FORMULA] . This implementation would be time-consuming as it ignores the redundant computations in neighboring pixels.</a:t>
            </a:r>
            <a:endParaRPr/>
          </a:p>
          <a:p>
            <a:pPr indent="0" lvl="0" marL="0" rtl="0" algn="l">
              <a:spcBef>
                <a:spcPts val="0"/>
              </a:spcBef>
              <a:spcAft>
                <a:spcPts val="0"/>
              </a:spcAft>
              <a:buNone/>
            </a:pPr>
            <a:r>
              <a:rPr lang="en"/>
              <a:t>To reduce the time cost, we employ the shift and element-wise product operators, in which shift [[TARGET]] is a zero-flop zero-parameter operation, and element-wise product requires little calculation. Concretely, let [FORMULA] and [FORMULA] be the output of the feature extraction network and filter generation network, respectively, where [FORMULA] is the index of the block (note that block [FORMULA] corresponds to the layer [FORMULA] in ResNet). Let [FORMULA] denote the kernel size of the feature extraction network.</a:t>
            </a:r>
            <a:endParaRPr/>
          </a:p>
          <a:p>
            <a:pPr indent="0" lvl="0" marL="0" rtl="0" algn="l">
              <a:spcBef>
                <a:spcPts val="0"/>
              </a:spcBef>
              <a:spcAft>
                <a:spcPts val="0"/>
              </a:spcAft>
              <a:buNone/>
            </a:pPr>
            <a:r>
              <a:rPr lang="en"/>
              <a:t>By defining a shifting grid [FORMULA] that contains [FORMULA] elements, for every vector [FORMULA] , we shift the whole feature map [FORMULA] towards the direction and step size indicated by [FORMULA] and get the result [FORMULA] . For example, [FORMULA] when [FORMULA] , and the feature map is moved towards nine directions with a horizontal or vertical step size of 0 or 1.</a:t>
            </a:r>
            <a:endParaRPr/>
          </a:p>
          <a:p>
            <a:pPr indent="0" lvl="0" marL="0" rtl="0" algn="l">
              <a:spcBef>
                <a:spcPts val="0"/>
              </a:spcBef>
              <a:spcAft>
                <a:spcPts val="0"/>
              </a:spcAft>
              <a:buNone/>
            </a:pPr>
            <a:r>
              <a:rPr lang="en"/>
              <a:t>We then use the sum and element-wise product operations to compute our filtering result:</a:t>
            </a:r>
            <a:endParaRPr/>
          </a:p>
          <a:p>
            <a:pPr indent="0" lvl="0" marL="0" rtl="0" algn="l">
              <a:spcBef>
                <a:spcPts val="0"/>
              </a:spcBef>
              <a:spcAft>
                <a:spcPts val="0"/>
              </a:spcAft>
              <a:buNone/>
            </a:pPr>
            <a:r>
              <a:rPr lang="en"/>
              <a:t>[FORMULA]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[The Shift Module and Network Design] We first review the standard spatial and depth-wise convolutions illustrated in Figure REF . Consider the spatial convolution in Figure REF (a), which takes a tensor [FORMULA] as input. Let [FORMULA] denote the height and width and [FORMULA] denote the channel size. The kernel of a spatial convolution is a tensor [FORMULA] , where [FORMULA] denotes the kernel's spatial height and width, and [FORMULA] is the number of filters. For simplicity, we assume the stride is 1 and that the input/output have identical spatial dimensions. Then, the spatial convolution outputs a tensor [FORMULA] , which can be computed as</a:t>
            </a:r>
            <a:endParaRPr/>
          </a:p>
          <a:p>
            <a:pPr indent="0" lvl="0" marL="0" rtl="0" algn="l">
              <a:spcBef>
                <a:spcPts val="0"/>
              </a:spcBef>
              <a:spcAft>
                <a:spcPts val="0"/>
              </a:spcAft>
              <a:buNone/>
            </a:pPr>
            <a:r>
              <a:rPr lang="en"/>
              <a:t>[FORMULA] </a:t>
            </a:r>
            <a:endParaRPr/>
          </a:p>
          <a:p>
            <a:pPr indent="0" lvl="0" marL="0" rtl="0" algn="l">
              <a:spcBef>
                <a:spcPts val="0"/>
              </a:spcBef>
              <a:spcAft>
                <a:spcPts val="0"/>
              </a:spcAft>
              <a:buNone/>
            </a:pPr>
            <a:r>
              <a:rPr lang="en"/>
              <a:t> where [FORMULA] are the re-centered spatial indices; [FORMULA] and [FORMULA] index along spatial dimensions and [FORMULA] index into channels.</a:t>
            </a:r>
            <a:endParaRPr/>
          </a:p>
          <a:p>
            <a:pPr indent="0" lvl="0" marL="0" rtl="0" algn="l">
              <a:spcBef>
                <a:spcPts val="0"/>
              </a:spcBef>
              <a:spcAft>
                <a:spcPts val="0"/>
              </a:spcAft>
              <a:buNone/>
            </a:pPr>
            <a:r>
              <a:rPr lang="en"/>
              <a:t>The number of parameters required by a spatial convolution is [FORMULA] and the computational cost is [FORMULA] . As the kernel size [FORMULA] increases, we see the number of parameters and computational cost grow quadratically.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[The Shift Module and Network Design] A popular variant of the spatial convolution is a depth-wise convolution [CITE], [CITE], which is usually followed by a point-wise convolution (1x1 convolution). Altogether, the module is called the depth-wise separable convolution.</a:t>
            </a:r>
            <a:endParaRPr/>
          </a:p>
          <a:p>
            <a:pPr indent="0" lvl="0" marL="0" rtl="0" algn="l">
              <a:spcBef>
                <a:spcPts val="0"/>
              </a:spcBef>
              <a:spcAft>
                <a:spcPts val="0"/>
              </a:spcAft>
              <a:buNone/>
            </a:pPr>
            <a:r>
              <a:rPr lang="en"/>
              <a:t>A depth-wise convolution, as shown in Figure REF (b), aggregates spatial information from a [FORMULA] patch within each channel, and can be described as</a:t>
            </a:r>
            <a:endParaRPr/>
          </a:p>
          <a:p>
            <a:pPr indent="0" lvl="0" marL="0" rtl="0" algn="l">
              <a:spcBef>
                <a:spcPts val="0"/>
              </a:spcBef>
              <a:spcAft>
                <a:spcPts val="0"/>
              </a:spcAft>
              <a:buNone/>
            </a:pPr>
            <a:r>
              <a:rPr lang="en"/>
              <a:t>[FORMULA] </a:t>
            </a:r>
            <a:endParaRPr/>
          </a:p>
          <a:p>
            <a:pPr indent="0" lvl="0" marL="0" rtl="0" algn="l">
              <a:spcBef>
                <a:spcPts val="0"/>
              </a:spcBef>
              <a:spcAft>
                <a:spcPts val="0"/>
              </a:spcAft>
              <a:buNone/>
            </a:pPr>
            <a:r>
              <a:rPr lang="en"/>
              <a:t> where [FORMULA] is the depth-wise convolution kernel. This convolution comprises [FORMULA] parameters and [FORMULA] FLOPs. As in standard spatial convolutions, the number of parameters and computational cost grow quadratically with respect to the kernel size [FORMULA] . Finally, point-wise convolutions mix information across channels, giving us the following output tensor</a:t>
            </a:r>
            <a:endParaRPr/>
          </a:p>
          <a:p>
            <a:pPr indent="0" lvl="0" marL="0" rtl="0" algn="l">
              <a:spcBef>
                <a:spcPts val="0"/>
              </a:spcBef>
              <a:spcAft>
                <a:spcPts val="0"/>
              </a:spcAft>
              <a:buNone/>
            </a:pPr>
            <a:r>
              <a:rPr lang="en"/>
              <a:t>[FORMULA]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[Constructing Shift Kernels] However, finding the optimal permutation, i.e., how to map each channel-[FORMULA] to a shift group, requires searching a combinatorially large search space. To address this issue, we introduce a modification to the shift operation that makes input and output invariant to channel order: We denote a shift operation with channel permutation [FORMULA] as [FORMULA] , so we can express Eq. (REF ) as [FORMULA] . We permute the input and output of the shift operation as</a:t>
            </a:r>
            <a:endParaRPr/>
          </a:p>
          <a:p>
            <a:pPr indent="0" lvl="0" marL="0" rtl="0" algn="l">
              <a:spcBef>
                <a:spcPts val="0"/>
              </a:spcBef>
              <a:spcAft>
                <a:spcPts val="0"/>
              </a:spcAft>
              <a:buNone/>
            </a:pPr>
            <a:r>
              <a:rPr lang="en"/>
              <a:t>[FORMULA] </a:t>
            </a:r>
            <a:endParaRPr/>
          </a:p>
          <a:p>
            <a:pPr indent="0" lvl="0" marL="0" rtl="0" algn="l">
              <a:spcBef>
                <a:spcPts val="0"/>
              </a:spcBef>
              <a:spcAft>
                <a:spcPts val="0"/>
              </a:spcAft>
              <a:buNone/>
            </a:pPr>
            <a:r>
              <a:rPr lang="en"/>
              <a:t> where [FORMULA] are permutation operators and [FORMULA] denotes operator composition. However, permutation operators are discrete and therefore difficult to optimize. As a result, we process the input [FORMULA] to Eq. (REF ) by a point-wise convolution [FORMULA] . We repeat the process for the output [FORMULA] using [FORMULA] . The final expression can be written as</a:t>
            </a:r>
            <a:endParaRPr/>
          </a:p>
          <a:p>
            <a:pPr indent="0" lvl="0" marL="0" rtl="0" algn="l">
              <a:spcBef>
                <a:spcPts val="0"/>
              </a:spcBef>
              <a:spcAft>
                <a:spcPts val="0"/>
              </a:spcAft>
              <a:buNone/>
            </a:pPr>
            <a:r>
              <a:rPr lang="en"/>
              <a:t>[FORMULA]</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SLIDES_API503368914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SLIDES_API503368914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SLIDES_API503368914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SLIDES_API503368914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Stochastic DC-CNN  Inspired by [[TARGET]], we extend the DC-CNN framework into a stochastic DC-CNN (s-DC-CNN)—during the training, the [FORMULA] -th subnetwork is dropped with a probability of [FORMULA] , where [FORMULA] is the total number of the cascaded CNN. During the testing (inference), we can use all of the subnetworks to perform the reconstruction, which is expected to provide the best performance as the most depths are used. Alternatively, we could sample the network configurations [FORMULA] using the distribution [FORMULA] from the above strategy, and then reconstruct the image as an ensemble of the sampled model [FORMULA] . In so doing, the variance of the predicted value can be used as an uncertainty estimate given the ensemble. This alternative approach provides several benefits: (1) it accelerates the learning because the expected depth of the network is much shorter; (2) this simultaneously helps the error terms to be backpropagated better as the depth is shortened, allowing us to train deeper networks if desired; (3) due to the stochastic connection, each subnetwork can see different levels of residual noise that help the network learn better and become more robust.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[Introduction] In this paper, we propose deep networks with stochastic depth, a novel training algorithm that is based on the seemingly contradictory insight that ideally we would like to have a deep network during testing but a short network during training. We resolve this conflict by creating deep Residual Network [CITE] architectures (with hundreds or even thousands of layers) with sufficient modeling capacity; however, during training we shorten the network significantly by randomly removing a substantial fraction of layers independently for each sample or mini-batch.</a:t>
            </a:r>
            <a:endParaRPr/>
          </a:p>
          <a:p>
            <a:pPr indent="0" lvl="0" marL="0" rtl="0" algn="l">
              <a:spcBef>
                <a:spcPts val="0"/>
              </a:spcBef>
              <a:spcAft>
                <a:spcPts val="0"/>
              </a:spcAft>
              <a:buNone/>
            </a:pPr>
            <a:r>
              <a:rPr lang="en"/>
              <a:t>The effect is a network with a small expected depth during training, but a large depth during testing. Although seemingly simple, this approach is surprisingly effective in practice.</a:t>
            </a:r>
            <a:endParaRPr/>
          </a:p>
          <a:p>
            <a:pPr indent="0" lvl="0" marL="0" rtl="0" algn="l">
              <a:spcBef>
                <a:spcPts val="0"/>
              </a:spcBef>
              <a:spcAft>
                <a:spcPts val="0"/>
              </a:spcAft>
              <a:buNone/>
            </a:pPr>
            <a:r>
              <a:rPr lang="en"/>
              <a:t> In extensive experiments we observe that training with stochastic depth substantially reduces training time and test error (resulting in multiple new records to the best of our knowledge at the time of initial submission to ECCV).</a:t>
            </a:r>
            <a:endParaRPr/>
          </a:p>
          <a:p>
            <a:pPr indent="0" lvl="0" marL="0" rtl="0" algn="l">
              <a:spcBef>
                <a:spcPts val="0"/>
              </a:spcBef>
              <a:spcAft>
                <a:spcPts val="0"/>
              </a:spcAft>
              <a:buNone/>
            </a:pPr>
            <a:r>
              <a:rPr lang="en"/>
              <a:t>The reduction in training time can be attributed to the shorter forward and backward propagation, so the training time no longer scales with the full depth, but the shorter expected depth of the network. We attribute the reduction in test error to two factors: 1) shortening the (expected) depth during training reduces the chain of forward propagation steps and gradient computations, which strengthens the gradients especially in earlier layers during backward propagation; 2) networks trained with stochastic depth can be interpreted as an implicit ensemble of networks of different depths, mimicking the record breaking ensemble of depth varying ResNets trained by He et al. [CITE].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[unknown] During the forward-backward pass the transformation [FORMULA] is bypassed with probability [FORMULA] , leading to a network with reduced depth.</a:t>
            </a:r>
            <a:endParaRPr/>
          </a:p>
          <a:p>
            <a:pPr indent="0" lvl="0" marL="0" rtl="0" algn="l">
              <a:spcBef>
                <a:spcPts val="0"/>
              </a:spcBef>
              <a:spcAft>
                <a:spcPts val="0"/>
              </a:spcAft>
              <a:buNone/>
            </a:pPr>
            <a:r>
              <a:rPr lang="en"/>
              <a:t>With stochastic depth, the number of effective ResBlocks during training, denoted as [FORMULA] , becomes a random variable. Its expectation is given by:</a:t>
            </a:r>
            <a:endParaRPr/>
          </a:p>
          <a:p>
            <a:pPr indent="0" lvl="0" marL="0" rtl="0" algn="l">
              <a:spcBef>
                <a:spcPts val="0"/>
              </a:spcBef>
              <a:spcAft>
                <a:spcPts val="0"/>
              </a:spcAft>
              <a:buNone/>
            </a:pPr>
            <a:r>
              <a:rPr lang="en"/>
              <a:t>[FORMULA]</a:t>
            </a:r>
            <a:endParaRPr/>
          </a:p>
          <a:p>
            <a:pPr indent="0" lvl="0" marL="0" rtl="0" algn="l">
              <a:spcBef>
                <a:spcPts val="0"/>
              </a:spcBef>
              <a:spcAft>
                <a:spcPts val="0"/>
              </a:spcAft>
              <a:buNone/>
            </a:pPr>
            <a:r>
              <a:rPr lang="en"/>
              <a:t> Under the linear decay rule with [FORMULA] , the expected number of ResBlocks during training reduces to [FORMULA] , or [FORMULA] when [FORMULA] is large. For the 110-layer network with [FORMULA] commonly used in our experiments, we have [FORMULA] . In other words, with stochastic depth, we train ResNets with an average number of 40 ResBlocks, but recover a ResNet with 54 blocks at test time.</a:t>
            </a:r>
            <a:endParaRPr/>
          </a:p>
          <a:p>
            <a:pPr indent="0" lvl="0" marL="0" rtl="0" algn="l">
              <a:spcBef>
                <a:spcPts val="0"/>
              </a:spcBef>
              <a:spcAft>
                <a:spcPts val="0"/>
              </a:spcAft>
              <a:buNone/>
            </a:pPr>
            <a:r>
              <a:rPr lang="en"/>
              <a:t>This reduction in depth significantly alleviates the vanishing gradients and the information loss problem in deep ResNets. Note that because the connectivity is random, there will be updates with significantly shorter networks and more direct paths to individual layers. We provide an empirical demonstration of this effect in Section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[unknown] Stochastically dropping layers during training reduces the effective depth on which gradient back-propagation is performed, while keeping the test-time model depth unmodified. As a result we expect training with stochastic depth to reduce the vanishing gradient problem in the backward step.</a:t>
            </a:r>
            <a:endParaRPr/>
          </a:p>
          <a:p>
            <a:pPr indent="0" lvl="0" marL="0" rtl="0" algn="l">
              <a:spcBef>
                <a:spcPts val="0"/>
              </a:spcBef>
              <a:spcAft>
                <a:spcPts val="0"/>
              </a:spcAft>
              <a:buNone/>
            </a:pPr>
            <a:r>
              <a:rPr lang="en"/>
              <a:t>To empirically support this, we compare the magnitude of gradients to the first convolutional layer of the first ResBlock ([FORMULA] ) with and without stochastic depth on the CIFAR-10 data set.</a:t>
            </a:r>
            <a:endParaRPr/>
          </a:p>
          <a:p>
            <a:pPr indent="0" lvl="0" marL="0" rtl="0" algn="l">
              <a:spcBef>
                <a:spcPts val="0"/>
              </a:spcBef>
              <a:spcAft>
                <a:spcPts val="0"/>
              </a:spcAft>
              <a:buNone/>
            </a:pPr>
            <a:r>
              <a:rPr lang="en"/>
              <a:t> Fig. REF shows the mean absolute values of the gradients. The two large drops indicated by vertical dotted lines are due to scheduled learning rate division. It can be observed that the magnitude of gradients in the network trained with stochastic depth is always larger, especially after the learning rate drops. This seems to support out claim that stochastic depth indeed significantly reduces the vanishing gradient problem, and enables the network to be trained more effectively. Another indication of the effect is in the left panel of Fig. REF , where one can observe that the test error of the ResNets with constant depth approximately plateaus after the first drop of learning rate, while stochastic depth still improves the performance even after the learning rate drops for the second time. This further supports that stochastic depth combines the benefits of shortened network during training with those of deep models at test time.</a:t>
            </a:r>
            <a:endParaRPr/>
          </a:p>
          <a:p>
            <a:pPr indent="0" lvl="0" marL="0" rtl="0" algn="l">
              <a:spcBef>
                <a:spcPts val="0"/>
              </a:spcBef>
              <a:spcAft>
                <a:spcPts val="0"/>
              </a:spcAft>
              <a:buNone/>
            </a:pPr>
            <a:r>
              <a:rPr lang="en"/>
              <a:t>[FIGURE]</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SLIDES_API503368914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SLIDES_API503368914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SLIDES_API503368914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SLIDES_API503368914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The advances of deep neural networks (DNNs) raise an issue of enormous demand for data annotations. However, it is very costly and laborious to collect object-level bounding box annotations [CITE], [CITE] which are usually needed for training DNN-based object detection methods, especially for images containing thousands of objects. Current crowd counting datasets provide only point-level annotations, and usually human heads are labeled as the central points, e.g., the green dots shown in Fig. REF . Due to the lack of object sizes, state-of-the-art DNN-based object detectors [CITE] cannot be trivially applied to such point supervision. As pioneers, Liu et al. [[TARGET]] introduced a pseudo size updating scheme in a detection network to estimate object sizes. Sam et al. [CITE] proposed an LSC-CNN to achieve higher detection performance in crowd scenes. However, these works are still not on par with box-supervised methods (e.g., Faster R-CNN [CITE]) in the detection task. As for the counting task, these methods, denoted as counting-by-detection methods, can count objects by filtering out low-confidence objects with a threshold. However, they also suffer from highly crowded objects.</a:t>
            </a:r>
            <a:endParaRPr/>
          </a:p>
          <a:p>
            <a:pPr indent="0" lvl="0" marL="0" rtl="0" algn="l">
              <a:spcBef>
                <a:spcPts val="0"/>
              </a:spcBef>
              <a:spcAft>
                <a:spcPts val="0"/>
              </a:spcAft>
              <a:buNone/>
            </a:pPr>
            <a:r>
              <a:rPr lang="en"/>
              <a:t>[FIGURE]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[Introduction] Counting people in crowded scenes is a crucial component for a wide range of applications including video surveillance, safety monitoring, and behavior modeling. It is a highly challenging task in dense crowds due to heavy occlusions, perspective distortions, scale variations and varying density of people. Modern regression-based methods [CITE], [CITE], [CITE], [CITE], [CITE], [CITE], [CITE] cast the problem as regressing a density distribution map whose integral over the map gives the people count within that image (see Fig REF : Left).</a:t>
            </a:r>
            <a:endParaRPr/>
          </a:p>
          <a:p>
            <a:pPr indent="0" lvl="0" marL="0" rtl="0" algn="l">
              <a:spcBef>
                <a:spcPts val="0"/>
              </a:spcBef>
              <a:spcAft>
                <a:spcPts val="0"/>
              </a:spcAft>
              <a:buNone/>
            </a:pPr>
            <a:r>
              <a:rPr lang="en"/>
              <a:t>Owing to the advent of deep neural networks (DNN) [CITE], remarkable progress has been achieved in these methods.</a:t>
            </a:r>
            <a:endParaRPr/>
          </a:p>
          <a:p>
            <a:pPr indent="0" lvl="0" marL="0" rtl="0" algn="l">
              <a:spcBef>
                <a:spcPts val="0"/>
              </a:spcBef>
              <a:spcAft>
                <a:spcPts val="0"/>
              </a:spcAft>
              <a:buNone/>
            </a:pPr>
            <a:r>
              <a:rPr lang="en"/>
              <a:t>They do not require</a:t>
            </a:r>
            <a:endParaRPr/>
          </a:p>
          <a:p>
            <a:pPr indent="0" lvl="0" marL="0" rtl="0" algn="l">
              <a:spcBef>
                <a:spcPts val="0"/>
              </a:spcBef>
              <a:spcAft>
                <a:spcPts val="0"/>
              </a:spcAft>
              <a:buNone/>
            </a:pPr>
            <a:r>
              <a:rPr lang="en"/>
              <a:t>annotating the bounding boxes but only the points of person heads at training. Yet, as a consequence, they</a:t>
            </a:r>
            <a:endParaRPr/>
          </a:p>
          <a:p>
            <a:pPr indent="0" lvl="0" marL="0" rtl="0" algn="l">
              <a:spcBef>
                <a:spcPts val="0"/>
              </a:spcBef>
              <a:spcAft>
                <a:spcPts val="0"/>
              </a:spcAft>
              <a:buNone/>
            </a:pPr>
            <a:r>
              <a:rPr lang="en"/>
              <a:t>can not provide the detection of persons at testing, neither.</a:t>
            </a:r>
            <a:endParaRPr/>
          </a:p>
          <a:p>
            <a:pPr indent="0" lvl="0" marL="0" rtl="0" algn="l">
              <a:spcBef>
                <a:spcPts val="0"/>
              </a:spcBef>
              <a:spcAft>
                <a:spcPts val="0"/>
              </a:spcAft>
              <a:buNone/>
            </a:pPr>
            <a:r>
              <a:rPr lang="en"/>
              <a:t> The detection-based methods, which cast the problem as detecting each individual in the crowds (see Fig REF : Right), on the other hand, have not been largely explored in recent trends due to the lack of bounding box annotations. Liu et al.  [CITE] have tried to manually annotate on partial of the bounding boxes in ShanghaiTech PartB (SHB) dataset [CITE] and train a fully-supervised Faster R-CNN [CITE]. They combine the detection result with regression result for crowd counting. Notwithstanding their efforts and obtained improvements, they did not report</a:t>
            </a:r>
            <a:endParaRPr/>
          </a:p>
          <a:p>
            <a:pPr indent="0" lvl="0" marL="0" rtl="0" algn="l">
              <a:spcBef>
                <a:spcPts val="0"/>
              </a:spcBef>
              <a:spcAft>
                <a:spcPts val="0"/>
              </a:spcAft>
              <a:buNone/>
            </a:pPr>
            <a:r>
              <a:rPr lang="en"/>
              <a:t>results on datasets like SHA [CITE] and UCF_CC_50 [CITE], which have crowds on average five and ten times denser than that of SHB.</a:t>
            </a:r>
            <a:endParaRPr/>
          </a:p>
          <a:p>
            <a:pPr indent="0" lvl="0" marL="0" rtl="0" algn="l">
              <a:spcBef>
                <a:spcPts val="0"/>
              </a:spcBef>
              <a:spcAft>
                <a:spcPts val="0"/>
              </a:spcAft>
              <a:buNone/>
            </a:pPr>
            <a:r>
              <a:rPr lang="en"/>
              <a:t>[FIGURE]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[Introduction] Annotating the bounding boxes of persons for training images can be a great challenge in crowd counting datasets. Meanwhile, knowing the person size and locations in a crowd at test stage is also very important; for example, in video surveilance, it enables person recognition [CITE], tracking [CITE], and re-identification [CITE]. Recently, some researchers [CITE], [CITE] start to work on this issue with point supervision by employing segmentation frameworks [CITE] or regressing the localization maps [CITE] to simultaneously localize the persons and predict the crowd counts. Because they only use point-level annotations, they simply focus on localizing persons in the crowds, but do not consider predicting the proper size.</a:t>
            </a:r>
            <a:endParaRPr/>
          </a:p>
          <a:p>
            <a:pPr indent="0" lvl="0" marL="0" rtl="0" algn="l">
              <a:spcBef>
                <a:spcPts val="0"/>
              </a:spcBef>
              <a:spcAft>
                <a:spcPts val="0"/>
              </a:spcAft>
              <a:buNone/>
            </a:pPr>
            <a:r>
              <a:rPr lang="en"/>
              <a:t> To be able to predict the proper size and locations of persons and meanwhile bypass the need for expensive bounding box annotations,</a:t>
            </a:r>
            <a:endParaRPr/>
          </a:p>
          <a:p>
            <a:pPr indent="0" lvl="0" marL="0" rtl="0" algn="l">
              <a:spcBef>
                <a:spcPts val="0"/>
              </a:spcBef>
              <a:spcAft>
                <a:spcPts val="0"/>
              </a:spcAft>
              <a:buNone/>
            </a:pPr>
            <a:r>
              <a:rPr lang="en"/>
              <a:t>we introduce a new deep detection network using only point-level annotations on person heads (see Fig. REF : Middle).</a:t>
            </a:r>
            <a:endParaRPr/>
          </a:p>
          <a:p>
            <a:pPr indent="0" lvl="0" marL="0" rtl="0" algn="l">
              <a:spcBef>
                <a:spcPts val="0"/>
              </a:spcBef>
              <a:spcAft>
                <a:spcPts val="0"/>
              </a:spcAft>
              <a:buNone/>
            </a:pPr>
            <a:r>
              <a:rPr lang="en"/>
              <a:t>Although the real head size is not annotated, the intuition of our work is based on the observations that i) when two persons are close enough, their head distance indeed reflects their head size (similar to [CITE]); ii) due to the perspective distortion, person heads in the same horizontal line usually have similar size and gradually become smaller in the remote (top) area of the image. Both observations are common in crowd counting scenarios. They inspire us to mine useful person size information from head distances, and generalize a reliable point-supervised person detector with the help of head point annotations and size correlations in local areas.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[Counting] The notation “DetNet" for [CITE] denotes the counting-by-detection result in it, where they annotate on partial of the bounding boxes in SHB and train a fully-supervised Faster R-CNN detector. PSDDN clearly outperforms the DetNet results.</a:t>
            </a:r>
            <a:endParaRPr/>
          </a:p>
          <a:p>
            <a:pPr indent="0" lvl="0" marL="0" rtl="0" algn="l">
              <a:spcBef>
                <a:spcPts val="0"/>
              </a:spcBef>
              <a:spcAft>
                <a:spcPts val="0"/>
              </a:spcAft>
              <a:buNone/>
            </a:pPr>
            <a:r>
              <a:rPr lang="en"/>
              <a:t>But we do not claim that point (weakly)-supervised learning is normally better than fully-supervised learning. Specifically for DetNet, they did not employ any of the data augmentation tricks as in PSDDN. The main limitation for fully-supervised detection methods in crowd counting lies in the large amount of bounding box annotations required. It can be unrealistic in very dense crowds. Our PSDDN instead provides an alternative way to conduct counting-by-detection with only point supervision; it performs very well in the evaluation of both counting and detection.</a:t>
            </a:r>
            <a:endParaRPr/>
          </a:p>
          <a:p>
            <a:pPr indent="0" lvl="0" marL="0" rtl="0" algn="l">
              <a:spcBef>
                <a:spcPts val="0"/>
              </a:spcBef>
              <a:spcAft>
                <a:spcPts val="0"/>
              </a:spcAft>
              <a:buNone/>
            </a:pPr>
            <a:r>
              <a:rPr lang="en"/>
              <a:t> UCF_CC_50  It has the densest crowds so far in crowd counting task. We show in Table REF that our PSDDN can still produce competitive result: the MAE is 359.4 while the MSE is 514.8.</a:t>
            </a:r>
            <a:endParaRPr/>
          </a:p>
          <a:p>
            <a:pPr indent="0" lvl="0" marL="0" rtl="0" algn="l">
              <a:spcBef>
                <a:spcPts val="0"/>
              </a:spcBef>
              <a:spcAft>
                <a:spcPts val="0"/>
              </a:spcAft>
              <a:buNone/>
            </a:pPr>
            <a:r>
              <a:rPr lang="en"/>
              <a:t>In the detection session, we will show that despite the tiny heads in UCF, PSDDN is still able to produce reasonable bounding boxes on them (Fig. REF : third column).</a:t>
            </a:r>
            <a:endParaRPr/>
          </a:p>
          <a:p>
            <a:pPr indent="0" lvl="0" marL="0" rtl="0" algn="l">
              <a:spcBef>
                <a:spcPts val="0"/>
              </a:spcBef>
              <a:spcAft>
                <a:spcPts val="0"/>
              </a:spcAft>
              <a:buNone/>
            </a:pPr>
            <a:r>
              <a:rPr lang="en"/>
              <a:t>[TABLE]</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SLIDES_API503368914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SLIDES_API503368914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SLIDES_API503368914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SLIDES_API503368914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which discounts the contributions of the nodes [FORMULA] by their out-degrees (the number of followers) and each mutual follower [FORMULA] by her in-degree (number of friends). Please see [CITE], [[TARGET]] for more details on the degree-discounted bibliographic coupling.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[Modularity for Directed Networks] where [FORMULA] is the [FORMULA] -th element of PageRank vector and [FORMULA] </a:t>
            </a:r>
            <a:endParaRPr/>
          </a:p>
          <a:p>
            <a:pPr indent="0" lvl="0" marL="0" rtl="0" algn="l">
              <a:spcBef>
                <a:spcPts val="0"/>
              </a:spcBef>
              <a:spcAft>
                <a:spcPts val="0"/>
              </a:spcAft>
              <a:buNone/>
            </a:pPr>
            <a:r>
              <a:rPr lang="en"/>
              <a:t>is the element of Google matrix [FORMULA]Similar to the transition</a:t>
            </a:r>
            <a:endParaRPr/>
          </a:p>
          <a:p>
            <a:pPr indent="0" lvl="0" marL="0" rtl="0" algn="l">
              <a:spcBef>
                <a:spcPts val="0"/>
              </a:spcBef>
              <a:spcAft>
                <a:spcPts val="0"/>
              </a:spcAft>
              <a:buNone/>
            </a:pPr>
            <a:r>
              <a:rPr lang="en"/>
              <a:t>matrix [FORMULA] but guaranteeing the existence of a stationary vector</a:t>
            </a:r>
            <a:endParaRPr/>
          </a:p>
          <a:p>
            <a:pPr indent="0" lvl="0" marL="0" rtl="0" algn="l">
              <a:spcBef>
                <a:spcPts val="0"/>
              </a:spcBef>
              <a:spcAft>
                <a:spcPts val="0"/>
              </a:spcAft>
              <a:buNone/>
            </a:pPr>
            <a:r>
              <a:rPr lang="en"/>
              <a:t>[CITE]. [CITE]. Then, a generalized version of</a:t>
            </a:r>
            <a:endParaRPr/>
          </a:p>
          <a:p>
            <a:pPr indent="0" lvl="0" marL="0" rtl="0" algn="l">
              <a:spcBef>
                <a:spcPts val="0"/>
              </a:spcBef>
              <a:spcAft>
                <a:spcPts val="0"/>
              </a:spcAft>
              <a:buNone/>
            </a:pPr>
            <a:r>
              <a:rPr lang="en"/>
              <a:t>modularity can be defined using random walk concepts as follows:</a:t>
            </a:r>
            <a:endParaRPr/>
          </a:p>
          <a:p>
            <a:pPr indent="0" lvl="0" marL="0" rtl="0" algn="l">
              <a:spcBef>
                <a:spcPts val="0"/>
              </a:spcBef>
              <a:spcAft>
                <a:spcPts val="0"/>
              </a:spcAft>
              <a:buNone/>
            </a:pPr>
            <a:r>
              <a:rPr lang="en"/>
              <a:t>[FORMULA] </a:t>
            </a:r>
            <a:endParaRPr/>
          </a:p>
          <a:p>
            <a:pPr indent="0" lvl="0" marL="0" rtl="0" algn="l">
              <a:spcBef>
                <a:spcPts val="0"/>
              </a:spcBef>
              <a:spcAft>
                <a:spcPts val="0"/>
              </a:spcAft>
              <a:buNone/>
            </a:pPr>
            <a:r>
              <a:rPr lang="en"/>
              <a:t> According to this modularity definition (which holds for both directed</a:t>
            </a:r>
            <a:endParaRPr/>
          </a:p>
          <a:p>
            <a:pPr indent="0" lvl="0" marL="0" rtl="0" algn="l">
              <a:spcBef>
                <a:spcPts val="0"/>
              </a:spcBef>
              <a:spcAft>
                <a:spcPts val="0"/>
              </a:spcAft>
              <a:buNone/>
            </a:pPr>
            <a:r>
              <a:rPr lang="en"/>
              <a:t>and undirected networks), a community is not just a group of nodes with more</a:t>
            </a:r>
            <a:endParaRPr/>
          </a:p>
          <a:p>
            <a:pPr indent="0" lvl="0" marL="0" rtl="0" algn="l">
              <a:spcBef>
                <a:spcPts val="0"/>
              </a:spcBef>
              <a:spcAft>
                <a:spcPts val="0"/>
              </a:spcAft>
              <a:buNone/>
            </a:pPr>
            <a:r>
              <a:rPr lang="en"/>
              <a:t>than expected number of edges, but a group of nodes where a random surfer is</a:t>
            </a:r>
            <a:endParaRPr/>
          </a:p>
          <a:p>
            <a:pPr indent="0" lvl="0" marL="0" rtl="0" algn="l">
              <a:spcBef>
                <a:spcPts val="0"/>
              </a:spcBef>
              <a:spcAft>
                <a:spcPts val="0"/>
              </a:spcAft>
              <a:buNone/>
            </a:pPr>
            <a:r>
              <a:rPr lang="en"/>
              <a:t>more likely to stay. Therefore, the directed modularity can be expressed as</a:t>
            </a:r>
            <a:endParaRPr/>
          </a:p>
          <a:p>
            <a:pPr indent="0" lvl="0" marL="0" rtl="0" algn="l">
              <a:spcBef>
                <a:spcPts val="0"/>
              </a:spcBef>
              <a:spcAft>
                <a:spcPts val="0"/>
              </a:spcAft>
              <a:buNone/>
            </a:pPr>
            <a:r>
              <a:rPr lang="en"/>
              <a:t>[FORMULA]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[Transformation to Unipartite Weighted Network] Then, both the bibliographic coupling and</a:t>
            </a:r>
            <a:endParaRPr/>
          </a:p>
          <a:p>
            <a:pPr indent="0" lvl="0" marL="0" rtl="0" algn="l">
              <a:spcBef>
                <a:spcPts val="0"/>
              </a:spcBef>
              <a:spcAft>
                <a:spcPts val="0"/>
              </a:spcAft>
              <a:buNone/>
            </a:pPr>
            <a:r>
              <a:rPr lang="en"/>
              <a:t>co-citations matrices (matrices [FORMULA] and [FORMULA] respectively) are</a:t>
            </a:r>
            <a:endParaRPr/>
          </a:p>
          <a:p>
            <a:pPr indent="0" lvl="0" marL="0" rtl="0" algn="l">
              <a:spcBef>
                <a:spcPts val="0"/>
              </a:spcBef>
              <a:spcAft>
                <a:spcPts val="0"/>
              </a:spcAft>
              <a:buNone/>
            </a:pPr>
            <a:r>
              <a:rPr lang="en"/>
              <a:t>redefined according to the degree-discounted idea as follows:</a:t>
            </a:r>
            <a:endParaRPr/>
          </a:p>
          <a:p>
            <a:pPr indent="0" lvl="0" marL="0" rtl="0" algn="l">
              <a:spcBef>
                <a:spcPts val="0"/>
              </a:spcBef>
              <a:spcAft>
                <a:spcPts val="0"/>
              </a:spcAft>
              <a:buNone/>
            </a:pPr>
            <a:r>
              <a:rPr lang="en"/>
              <a:t>[FORMULA] </a:t>
            </a:r>
            <a:endParaRPr/>
          </a:p>
          <a:p>
            <a:pPr indent="0" lvl="0" marL="0" rtl="0" algn="l">
              <a:spcBef>
                <a:spcPts val="0"/>
              </a:spcBef>
              <a:spcAft>
                <a:spcPts val="0"/>
              </a:spcAft>
              <a:buNone/>
            </a:pPr>
            <a:r>
              <a:rPr lang="en"/>
              <a:t>where [FORMULA] are the discounting parameters. Finally,</a:t>
            </a:r>
            <a:endParaRPr/>
          </a:p>
          <a:p>
            <a:pPr indent="0" lvl="0" marL="0" rtl="0" algn="l">
              <a:spcBef>
                <a:spcPts val="0"/>
              </a:spcBef>
              <a:spcAft>
                <a:spcPts val="0"/>
              </a:spcAft>
              <a:buNone/>
            </a:pPr>
            <a:r>
              <a:rPr lang="en"/>
              <a:t>the produced similarity matrix (and thus the adjacency matrix of the</a:t>
            </a:r>
            <a:endParaRPr/>
          </a:p>
          <a:p>
            <a:pPr indent="0" lvl="0" marL="0" rtl="0" algn="l">
              <a:spcBef>
                <a:spcPts val="0"/>
              </a:spcBef>
              <a:spcAft>
                <a:spcPts val="0"/>
              </a:spcAft>
              <a:buNone/>
            </a:pPr>
            <a:r>
              <a:rPr lang="en"/>
              <a:t>symmetrized undirected network) will be the sum of these two matrices,</a:t>
            </a:r>
            <a:endParaRPr/>
          </a:p>
          <a:p>
            <a:pPr indent="0" lvl="0" marL="0" rtl="0" algn="l">
              <a:spcBef>
                <a:spcPts val="0"/>
              </a:spcBef>
              <a:spcAft>
                <a:spcPts val="0"/>
              </a:spcAft>
              <a:buNone/>
            </a:pPr>
            <a:r>
              <a:rPr lang="en"/>
              <a:t>[FORMULA] .</a:t>
            </a:r>
            <a:endParaRPr/>
          </a:p>
          <a:p>
            <a:pPr indent="0" lvl="0" marL="0" rtl="0" algn="l">
              <a:spcBef>
                <a:spcPts val="0"/>
              </a:spcBef>
              <a:spcAft>
                <a:spcPts val="0"/>
              </a:spcAft>
              <a:buNone/>
            </a:pPr>
            <a:r>
              <a:rPr lang="en"/>
              <a:t>The authors report that they have empirically observed that setting</a:t>
            </a:r>
            <a:endParaRPr/>
          </a:p>
          <a:p>
            <a:pPr indent="0" lvl="0" marL="0" rtl="0" algn="l">
              <a:spcBef>
                <a:spcPts val="0"/>
              </a:spcBef>
              <a:spcAft>
                <a:spcPts val="0"/>
              </a:spcAft>
              <a:buNone/>
            </a:pPr>
            <a:r>
              <a:rPr lang="en"/>
              <a:t>[FORMULA] results into intuitive and meaningful</a:t>
            </a:r>
            <a:endParaRPr/>
          </a:p>
          <a:p>
            <a:pPr indent="0" lvl="0" marL="0" rtl="0" algn="l">
              <a:spcBef>
                <a:spcPts val="0"/>
              </a:spcBef>
              <a:spcAft>
                <a:spcPts val="0"/>
              </a:spcAft>
              <a:buNone/>
            </a:pPr>
            <a:r>
              <a:rPr lang="en"/>
              <a:t>clusterings. Having now symmetrized the directed network, algorithms designed to</a:t>
            </a:r>
            <a:endParaRPr/>
          </a:p>
          <a:p>
            <a:pPr indent="0" lvl="0" marL="0" rtl="0" algn="l">
              <a:spcBef>
                <a:spcPts val="0"/>
              </a:spcBef>
              <a:spcAft>
                <a:spcPts val="0"/>
              </a:spcAft>
              <a:buNone/>
            </a:pPr>
            <a:r>
              <a:rPr lang="en"/>
              <a:t>work on undirected graphs can be applied to extract the underlying community</a:t>
            </a:r>
            <a:endParaRPr/>
          </a:p>
          <a:p>
            <a:pPr indent="0" lvl="0" marL="0" rtl="0" algn="l">
              <a:spcBef>
                <a:spcPts val="0"/>
              </a:spcBef>
              <a:spcAft>
                <a:spcPts val="0"/>
              </a:spcAft>
              <a:buNone/>
            </a:pPr>
            <a:r>
              <a:rPr lang="en"/>
              <a:t>structure.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[Probabilistic Models and Statistical Inference] Another extension of the mixture models method by Newman and Leicht</a:t>
            </a:r>
            <a:endParaRPr/>
          </a:p>
          <a:p>
            <a:pPr indent="0" lvl="0" marL="0" rtl="0" algn="l">
              <a:spcBef>
                <a:spcPts val="0"/>
              </a:spcBef>
              <a:spcAft>
                <a:spcPts val="0"/>
              </a:spcAft>
              <a:buNone/>
            </a:pPr>
            <a:r>
              <a:rPr lang="en"/>
              <a:t>[CITE] has been presented by Wang and Lai</a:t>
            </a:r>
            <a:endParaRPr/>
          </a:p>
          <a:p>
            <a:pPr indent="0" lvl="0" marL="0" rtl="0" algn="l">
              <a:spcBef>
                <a:spcPts val="0"/>
              </a:spcBef>
              <a:spcAft>
                <a:spcPts val="0"/>
              </a:spcAft>
              <a:buNone/>
            </a:pPr>
            <a:r>
              <a:rPr lang="en"/>
              <a:t>[CITE]. The authors modified a subset of the</a:t>
            </a:r>
            <a:endParaRPr/>
          </a:p>
          <a:p>
            <a:pPr indent="0" lvl="0" marL="0" rtl="0" algn="l">
              <a:spcBef>
                <a:spcPts val="0"/>
              </a:spcBef>
              <a:spcAft>
                <a:spcPts val="0"/>
              </a:spcAft>
              <a:buNone/>
            </a:pPr>
            <a:r>
              <a:rPr lang="en"/>
              <a:t>parameters of mixture models, adding some interesting features to the</a:t>
            </a:r>
            <a:endParaRPr/>
          </a:p>
          <a:p>
            <a:pPr indent="0" lvl="0" marL="0" rtl="0" algn="l">
              <a:spcBef>
                <a:spcPts val="0"/>
              </a:spcBef>
              <a:spcAft>
                <a:spcPts val="0"/>
              </a:spcAft>
              <a:buNone/>
            </a:pPr>
            <a:r>
              <a:rPr lang="en"/>
              <a:t>proposed APBEMA algorithm, such as independence from the degree distribution of</a:t>
            </a:r>
            <a:endParaRPr/>
          </a:p>
          <a:p>
            <a:pPr indent="0" lvl="0" marL="0" rtl="0" algn="l">
              <a:spcBef>
                <a:spcPts val="0"/>
              </a:spcBef>
              <a:spcAft>
                <a:spcPts val="0"/>
              </a:spcAft>
              <a:buNone/>
            </a:pPr>
            <a:r>
              <a:rPr lang="en"/>
              <a:t>the network (i.e., there is no restriction about the degree of each node that</a:t>
            </a:r>
            <a:endParaRPr/>
          </a:p>
          <a:p>
            <a:pPr indent="0" lvl="0" marL="0" rtl="0" algn="l">
              <a:spcBef>
                <a:spcPts val="0"/>
              </a:spcBef>
              <a:spcAft>
                <a:spcPts val="0"/>
              </a:spcAft>
              <a:buNone/>
            </a:pPr>
            <a:r>
              <a:rPr lang="en"/>
              <a:t>affects the produced communities) and applicability to both directed and</a:t>
            </a:r>
            <a:endParaRPr/>
          </a:p>
          <a:p>
            <a:pPr indent="0" lvl="0" marL="0" rtl="0" algn="l">
              <a:spcBef>
                <a:spcPts val="0"/>
              </a:spcBef>
              <a:spcAft>
                <a:spcPts val="0"/>
              </a:spcAft>
              <a:buNone/>
            </a:pPr>
            <a:r>
              <a:rPr lang="en"/>
              <a:t>undirected networks without any modifications.</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SLIDES_API503368914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SLIDES_API503368914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SLIDES_API503368914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SLIDES_API503368914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Convolutional Neural Networks (CNNs) have made their mark in</a:t>
            </a:r>
            <a:endParaRPr/>
          </a:p>
          <a:p>
            <a:pPr indent="0" lvl="0" marL="0" rtl="0" algn="l">
              <a:spcBef>
                <a:spcPts val="0"/>
              </a:spcBef>
              <a:spcAft>
                <a:spcPts val="0"/>
              </a:spcAft>
              <a:buNone/>
            </a:pPr>
            <a:r>
              <a:rPr lang="en"/>
              <a:t>various fields of computer vision and become the dominant pattern</a:t>
            </a:r>
            <a:endParaRPr/>
          </a:p>
          <a:p>
            <a:pPr indent="0" lvl="0" marL="0" rtl="0" algn="l">
              <a:spcBef>
                <a:spcPts val="0"/>
              </a:spcBef>
              <a:spcAft>
                <a:spcPts val="0"/>
              </a:spcAft>
              <a:buNone/>
            </a:pPr>
            <a:r>
              <a:rPr lang="en"/>
              <a:t>recognition approach for visual object recognition. Introduced</a:t>
            </a:r>
            <a:endParaRPr/>
          </a:p>
          <a:p>
            <a:pPr indent="0" lvl="0" marL="0" rtl="0" algn="l">
              <a:spcBef>
                <a:spcPts val="0"/>
              </a:spcBef>
              <a:spcAft>
                <a:spcPts val="0"/>
              </a:spcAft>
              <a:buNone/>
            </a:pPr>
            <a:r>
              <a:rPr lang="en"/>
              <a:t>over 20 years ago [CITE], cnn were able</a:t>
            </a:r>
            <a:endParaRPr/>
          </a:p>
          <a:p>
            <a:pPr indent="0" lvl="0" marL="0" rtl="0" algn="l">
              <a:spcBef>
                <a:spcPts val="0"/>
              </a:spcBef>
              <a:spcAft>
                <a:spcPts val="0"/>
              </a:spcAft>
              <a:buNone/>
            </a:pPr>
            <a:r>
              <a:rPr lang="en"/>
              <a:t>to achieve comparable results but quickly comes to their limits.</a:t>
            </a:r>
            <a:endParaRPr/>
          </a:p>
          <a:p>
            <a:pPr indent="0" lvl="0" marL="0" rtl="0" algn="l">
              <a:spcBef>
                <a:spcPts val="0"/>
              </a:spcBef>
              <a:spcAft>
                <a:spcPts val="0"/>
              </a:spcAft>
              <a:buNone/>
            </a:pPr>
            <a:r>
              <a:rPr lang="en"/>
              <a:t>Based on the usage of a sigmoidal activation function, cnn</a:t>
            </a:r>
            <a:endParaRPr/>
          </a:p>
          <a:p>
            <a:pPr indent="0" lvl="0" marL="0" rtl="0" algn="l">
              <a:spcBef>
                <a:spcPts val="0"/>
              </a:spcBef>
              <a:spcAft>
                <a:spcPts val="0"/>
              </a:spcAft>
              <a:buNone/>
            </a:pPr>
            <a:r>
              <a:rPr lang="en"/>
              <a:t>were limited to have deep architectures exploiting more convolutional</a:t>
            </a:r>
            <a:endParaRPr/>
          </a:p>
          <a:p>
            <a:pPr indent="0" lvl="0" marL="0" rtl="0" algn="l">
              <a:spcBef>
                <a:spcPts val="0"/>
              </a:spcBef>
              <a:spcAft>
                <a:spcPts val="0"/>
              </a:spcAft>
              <a:buNone/>
            </a:pPr>
            <a:r>
              <a:rPr lang="en"/>
              <a:t>layers. The key contribution was made by introducing the</a:t>
            </a:r>
            <a:endParaRPr/>
          </a:p>
          <a:p>
            <a:pPr indent="0" lvl="0" marL="0" rtl="0" algn="l">
              <a:spcBef>
                <a:spcPts val="0"/>
              </a:spcBef>
              <a:spcAft>
                <a:spcPts val="0"/>
              </a:spcAft>
              <a:buNone/>
            </a:pPr>
            <a:r>
              <a:rPr lang="en"/>
              <a:t>Rectified Linear Unit (ReLU) as activation function [CITE].</a:t>
            </a:r>
            <a:endParaRPr/>
          </a:p>
          <a:p>
            <a:pPr indent="0" lvl="0" marL="0" rtl="0" algn="l">
              <a:spcBef>
                <a:spcPts val="0"/>
              </a:spcBef>
              <a:spcAft>
                <a:spcPts val="0"/>
              </a:spcAft>
              <a:buNone/>
            </a:pPr>
            <a:r>
              <a:rPr lang="en"/>
              <a:t>Since that cnn were designed to have deeper architectures, starting</a:t>
            </a:r>
            <a:endParaRPr/>
          </a:p>
          <a:p>
            <a:pPr indent="0" lvl="0" marL="0" rtl="0" algn="l">
              <a:spcBef>
                <a:spcPts val="0"/>
              </a:spcBef>
              <a:spcAft>
                <a:spcPts val="0"/>
              </a:spcAft>
              <a:buNone/>
            </a:pPr>
            <a:r>
              <a:rPr lang="en"/>
              <a:t>with the AlexNet [CITE] using 5 convolutional layers.</a:t>
            </a:r>
            <a:endParaRPr/>
          </a:p>
          <a:p>
            <a:pPr indent="0" lvl="0" marL="0" rtl="0" algn="l">
              <a:spcBef>
                <a:spcPts val="0"/>
              </a:spcBef>
              <a:spcAft>
                <a:spcPts val="0"/>
              </a:spcAft>
              <a:buNone/>
            </a:pPr>
            <a:r>
              <a:rPr lang="en"/>
              <a:t>In 2015 the VGGNet [CITE] was proposed using 19</a:t>
            </a:r>
            <a:endParaRPr/>
          </a:p>
          <a:p>
            <a:pPr indent="0" lvl="0" marL="0" rtl="0" algn="l">
              <a:spcBef>
                <a:spcPts val="0"/>
              </a:spcBef>
              <a:spcAft>
                <a:spcPts val="0"/>
              </a:spcAft>
              <a:buNone/>
            </a:pPr>
            <a:r>
              <a:rPr lang="en"/>
              <a:t>convolutional layers. One year later the first two networks were</a:t>
            </a:r>
            <a:endParaRPr/>
          </a:p>
          <a:p>
            <a:pPr indent="0" lvl="0" marL="0" rtl="0" algn="l">
              <a:spcBef>
                <a:spcPts val="0"/>
              </a:spcBef>
              <a:spcAft>
                <a:spcPts val="0"/>
              </a:spcAft>
              <a:buNone/>
            </a:pPr>
            <a:r>
              <a:rPr lang="en"/>
              <a:t>capable of surpassing the 100-layer barrier, namely the Highway Networks [CITE]</a:t>
            </a:r>
            <a:endParaRPr/>
          </a:p>
          <a:p>
            <a:pPr indent="0" lvl="0" marL="0" rtl="0" algn="l">
              <a:spcBef>
                <a:spcPts val="0"/>
              </a:spcBef>
              <a:spcAft>
                <a:spcPts val="0"/>
              </a:spcAft>
              <a:buNone/>
            </a:pPr>
            <a:r>
              <a:rPr lang="en"/>
              <a:t>and the Residual Networks (ResNets) [CITE].</a:t>
            </a:r>
            <a:endParaRPr/>
          </a:p>
          <a:p>
            <a:pPr indent="0" lvl="0" marL="0" rtl="0" algn="l">
              <a:spcBef>
                <a:spcPts val="0"/>
              </a:spcBef>
              <a:spcAft>
                <a:spcPts val="0"/>
              </a:spcAft>
              <a:buNone/>
            </a:pPr>
            <a:r>
              <a:rPr lang="en"/>
              <a:t>A degradation problem has been exposed when deeper networks are able</a:t>
            </a:r>
            <a:endParaRPr/>
          </a:p>
          <a:p>
            <a:pPr indent="0" lvl="0" marL="0" rtl="0" algn="l">
              <a:spcBef>
                <a:spcPts val="0"/>
              </a:spcBef>
              <a:spcAft>
                <a:spcPts val="0"/>
              </a:spcAft>
              <a:buNone/>
            </a:pPr>
            <a:r>
              <a:rPr lang="en"/>
              <a:t>to start converging. The accuracy gets saturated with the increasing network depth</a:t>
            </a:r>
            <a:endParaRPr/>
          </a:p>
          <a:p>
            <a:pPr indent="0" lvl="0" marL="0" rtl="0" algn="l">
              <a:spcBef>
                <a:spcPts val="0"/>
              </a:spcBef>
              <a:spcAft>
                <a:spcPts val="0"/>
              </a:spcAft>
              <a:buNone/>
            </a:pPr>
            <a:r>
              <a:rPr lang="en"/>
              <a:t>and than rapidly degrades. Adding more layers to the network leads to higher</a:t>
            </a:r>
            <a:endParaRPr/>
          </a:p>
          <a:p>
            <a:pPr indent="0" lvl="0" marL="0" rtl="0" algn="l">
              <a:spcBef>
                <a:spcPts val="0"/>
              </a:spcBef>
              <a:spcAft>
                <a:spcPts val="0"/>
              </a:spcAft>
              <a:buNone/>
            </a:pPr>
            <a:r>
              <a:rPr lang="en"/>
              <a:t>training error. Against the first intuition this degradation is not caused</a:t>
            </a:r>
            <a:endParaRPr/>
          </a:p>
          <a:p>
            <a:pPr indent="0" lvl="0" marL="0" rtl="0" algn="l">
              <a:spcBef>
                <a:spcPts val="0"/>
              </a:spcBef>
              <a:spcAft>
                <a:spcPts val="0"/>
              </a:spcAft>
              <a:buNone/>
            </a:pPr>
            <a:r>
              <a:rPr lang="en"/>
              <a:t>by overfitting as reported in [[TARGET]] and [CITE].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[Introduction] From the controlled experiments, we draw the following empirical observations about the depth.</a:t>
            </a:r>
            <a:endParaRPr/>
          </a:p>
          <a:p>
            <a:pPr indent="0" lvl="0" marL="0" rtl="0" algn="l">
              <a:spcBef>
                <a:spcPts val="0"/>
              </a:spcBef>
              <a:spcAft>
                <a:spcPts val="0"/>
              </a:spcAft>
              <a:buNone/>
            </a:pPr>
            <a:r>
              <a:rPr lang="en"/>
              <a:t>(1) The network depth is clearly of high priority for improving accuracy, even if the width and/or filter sizes are reduced to compensate the time cost. This is not a straightforward observation even though the benefits of depth have been recently demonstrated [CITE], [CITE], because in previous comparisons [CITE] the extra layers are added without trading off other factors, and thus increase the complexity. (2) While the depth is important, the accuracy gets stagnant or even degraded if the depth is overly increased. This is observed even if width and/filter sizes are not traded off (so the time cost increases with depth).</a:t>
            </a:r>
            <a:endParaRPr/>
          </a:p>
          <a:p>
            <a:pPr indent="0" lvl="0" marL="0" rtl="0" algn="l">
              <a:spcBef>
                <a:spcPts val="0"/>
              </a:spcBef>
              <a:spcAft>
                <a:spcPts val="0"/>
              </a:spcAft>
              <a:buNone/>
            </a:pPr>
            <a:r>
              <a:rPr lang="en"/>
              <a:t> Through the investigations, we obtain a model that achieves 11.8% top-5 error (10-view test) on ImageNet [CITE] and only takes 3 to 4 days training on a single GPU.</a:t>
            </a:r>
            <a:endParaRPr/>
          </a:p>
          <a:p>
            <a:pPr indent="0" lvl="0" marL="0" rtl="0" algn="l">
              <a:spcBef>
                <a:spcPts val="0"/>
              </a:spcBef>
              <a:spcAft>
                <a:spcPts val="0"/>
              </a:spcAft>
              <a:buNone/>
            </a:pPr>
            <a:r>
              <a:rPr lang="en"/>
              <a:t>Our model is more accurate and also faster than several competitive models in recent papers [CITE], [CITE], [CITE].</a:t>
            </a:r>
            <a:endParaRPr/>
          </a:p>
          <a:p>
            <a:pPr indent="0" lvl="0" marL="0" rtl="0" algn="l">
              <a:spcBef>
                <a:spcPts val="0"/>
              </a:spcBef>
              <a:spcAft>
                <a:spcPts val="0"/>
              </a:spcAft>
              <a:buNone/>
            </a:pPr>
            <a:r>
              <a:rPr lang="en"/>
              <a:t>Our model has 40% less complexity than “AlexNet” [CITE] and 20% faster actual GPU speed, while has 4.2% lower top-5 error.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[Comparisons] Table REF shows that our model is more accurate than these fast models by substantial margins. Our model has a top-5 error rate 4.2% lower than AlexNet and a top-1 error rate 5.8% lower, but has 40% less complexity. The actual running time of our model is 20% faster than AlexNet. The difference between the (convolutional) complexity and the actual running time is mainly due to the overhead of the fc and pooling layers.</a:t>
            </a:r>
            <a:endParaRPr/>
          </a:p>
          <a:p>
            <a:pPr indent="0" lvl="0" marL="0" rtl="0" algn="l">
              <a:spcBef>
                <a:spcPts val="0"/>
              </a:spcBef>
              <a:spcAft>
                <a:spcPts val="0"/>
              </a:spcAft>
              <a:buNone/>
            </a:pPr>
            <a:r>
              <a:rPr lang="en"/>
              <a:t> Comparisons with Accurate Models.</a:t>
            </a:r>
            <a:endParaRPr/>
          </a:p>
          <a:p>
            <a:pPr indent="0" lvl="0" marL="0" rtl="0" algn="l">
              <a:spcBef>
                <a:spcPts val="0"/>
              </a:spcBef>
              <a:spcAft>
                <a:spcPts val="0"/>
              </a:spcAft>
              <a:buNone/>
            </a:pPr>
            <a:r>
              <a:rPr lang="en"/>
              <a:t>In Table REF (top) we compare with the state-of-the-art models in terms of accuracy. Here CNN-M [CITE] is a model similar to ZF (fast) but with more filters; CNN-S [CITE] is a model similar to the Overfeat structure [CITE]; SPPnet (O5/7) [CITE] are models similar to the Overfeat structure [CITE] but combined with the SPP layer.</a:t>
            </a:r>
            <a:endParaRPr/>
          </a:p>
          <a:p>
            <a:pPr indent="0" lvl="0" marL="0" rtl="0" algn="l">
              <a:spcBef>
                <a:spcPts val="0"/>
              </a:spcBef>
              <a:spcAft>
                <a:spcPts val="0"/>
              </a:spcAft>
              <a:buNone/>
            </a:pPr>
            <a:r>
              <a:rPr lang="en"/>
              <a:t>The reported results of these models are cited from the papers [CITE], [CITE] using the same augmentation as ours.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[Comparisons] Table REF (top) shows that our model is more accurate than CNN-M, CNN-S, and SPPnet (O5), and is also faster. SPPnet (O7) is 0.7% better than ours in top-5 error, but requires 4.5[FORMULA] running time.</a:t>
            </a:r>
            <a:endParaRPr/>
          </a:p>
          <a:p>
            <a:pPr indent="0" lvl="0" marL="0" rtl="0" algn="l">
              <a:spcBef>
                <a:spcPts val="0"/>
              </a:spcBef>
              <a:spcAft>
                <a:spcPts val="0"/>
              </a:spcAft>
              <a:buNone/>
            </a:pPr>
            <a:r>
              <a:rPr lang="en"/>
              <a:t> In Table REF (bottom) we further compare with the winners of ImageNet Large Scale Recognition Challenge (ILSVRC) 2014 [CITE]. We compare on the 10-view testing results of a single model. These competitors were trained using more sophisticated data-augmentation, including different implementations of scale augmentation [CITE], [CITE]. The extra data augmentation should partially contribute to the gaps.</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SLIDES_API503368914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SLIDES_API503368914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SLIDES_API503368914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SLIDES_API503368914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More related to our work is a method called deep image analogy [CITE] that searches semantic correspondences using deep PatchMatch [CITE] in a coarse-to-fine manner. However, PatchMatch inherently has a limited regularization power as shown in [[TARGET]], [CITE], [CITE]. In addition, the method still needs the greedy optimization for feature deconvolution that induces computational bottlenecks, and only considers the translational fields, thus having the limitation to handle more complicated deformations.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[Dense Semantic Flow] Several methods aim to alleviate geometric variations through extensions of SIFT Flow, including scale-less SIFT Flow (SLS) [CITE], scale-space SIFT Flow (SSF) [CITE], and generalized DSP (GDSP) [CITE].</a:t>
            </a:r>
            <a:endParaRPr/>
          </a:p>
          <a:p>
            <a:pPr indent="0" lvl="0" marL="0" rtl="0" algn="l">
              <a:spcBef>
                <a:spcPts val="0"/>
              </a:spcBef>
              <a:spcAft>
                <a:spcPts val="0"/>
              </a:spcAft>
              <a:buNone/>
            </a:pPr>
            <a:r>
              <a:rPr lang="en"/>
              <a:t>However, these techniques have a critical practical limitation that their computation increases linearly with the search space size.</a:t>
            </a:r>
            <a:endParaRPr/>
          </a:p>
          <a:p>
            <a:pPr indent="0" lvl="0" marL="0" rtl="0" algn="l">
              <a:spcBef>
                <a:spcPts val="0"/>
              </a:spcBef>
              <a:spcAft>
                <a:spcPts val="0"/>
              </a:spcAft>
              <a:buNone/>
            </a:pPr>
            <a:r>
              <a:rPr lang="en"/>
              <a:t>A generalized PatchMatch algorithm [CITE] was proposed for efficient matching that leverages a randomized search scheme. This was utilized by HaCohen et al. [CITE] in a non-rigid dense correspondence (NRDC) algorithm, but employs weak matching evidence that cannot guarantee reliable performance. Geometric invariance to scale and rotation is provided by DFF [CITE], but its implicit smoothing model which relies on randomized sampling and propagation of good estimates in the direct neighborhood often induces mismatches.</a:t>
            </a:r>
            <a:endParaRPr/>
          </a:p>
          <a:p>
            <a:pPr indent="0" lvl="0" marL="0" rtl="0" algn="l">
              <a:spcBef>
                <a:spcPts val="0"/>
              </a:spcBef>
              <a:spcAft>
                <a:spcPts val="0"/>
              </a:spcAft>
              <a:buNone/>
            </a:pPr>
            <a:r>
              <a:rPr lang="en"/>
              <a:t>A segmentation-aware approach [CITE] was proposed to provide geometric robustness for descriptors, e.g., SIFT [CITE], but can have a negative effect on the discriminative power of the descriptor. Recently, Ham et al. [CITE] presented the Proposal Flow (PF) algorithm to estimate correspondences using object proposals. While these aforementioned techniques provide some amount of geometric invariance, none of them can deal with</a:t>
            </a:r>
            <a:endParaRPr/>
          </a:p>
          <a:p>
            <a:pPr indent="0" lvl="0" marL="0" rtl="0" algn="l">
              <a:spcBef>
                <a:spcPts val="0"/>
              </a:spcBef>
              <a:spcAft>
                <a:spcPts val="0"/>
              </a:spcAft>
              <a:buNone/>
            </a:pPr>
            <a:r>
              <a:rPr lang="en"/>
              <a:t>affine transformations across images, which are a frequent occurrence in dense semantic correspondence.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[Taniai Benchmark {{cite:c738d425679de68446e74c03cd6aaabfc894b6fa}}] We first evaluated our DCTM method on the Taniai benchmark [CITE],</a:t>
            </a:r>
            <a:endParaRPr/>
          </a:p>
          <a:p>
            <a:pPr indent="0" lvl="0" marL="0" rtl="0" algn="l">
              <a:spcBef>
                <a:spcPts val="0"/>
              </a:spcBef>
              <a:spcAft>
                <a:spcPts val="0"/>
              </a:spcAft>
              <a:buNone/>
            </a:pPr>
            <a:r>
              <a:rPr lang="en"/>
              <a:t>which consists of 400 image pairs divided into three groups:</a:t>
            </a:r>
            <a:endParaRPr/>
          </a:p>
          <a:p>
            <a:pPr indent="0" lvl="0" marL="0" rtl="0" algn="l">
              <a:spcBef>
                <a:spcPts val="0"/>
              </a:spcBef>
              <a:spcAft>
                <a:spcPts val="0"/>
              </a:spcAft>
              <a:buNone/>
            </a:pPr>
            <a:r>
              <a:rPr lang="en"/>
              <a:t>FG3DCar [CITE], JODS [CITE], and PASCAL [CITE].</a:t>
            </a:r>
            <a:endParaRPr/>
          </a:p>
          <a:p>
            <a:pPr indent="0" lvl="0" marL="0" rtl="0" algn="l">
              <a:spcBef>
                <a:spcPts val="0"/>
              </a:spcBef>
              <a:spcAft>
                <a:spcPts val="0"/>
              </a:spcAft>
              <a:buNone/>
            </a:pPr>
            <a:r>
              <a:rPr lang="en"/>
              <a:t>As in [CITE], [CITE], flow accuracy was</a:t>
            </a:r>
            <a:endParaRPr/>
          </a:p>
          <a:p>
            <a:pPr indent="0" lvl="0" marL="0" rtl="0" algn="l">
              <a:spcBef>
                <a:spcPts val="0"/>
              </a:spcBef>
              <a:spcAft>
                <a:spcPts val="0"/>
              </a:spcAft>
              <a:buNone/>
            </a:pPr>
            <a:r>
              <a:rPr lang="en"/>
              <a:t>measured by computing the proportion of foreground pixels with an</a:t>
            </a:r>
            <a:endParaRPr/>
          </a:p>
          <a:p>
            <a:pPr indent="0" lvl="0" marL="0" rtl="0" algn="l">
              <a:spcBef>
                <a:spcPts val="0"/>
              </a:spcBef>
              <a:spcAft>
                <a:spcPts val="0"/>
              </a:spcAft>
              <a:buNone/>
            </a:pPr>
            <a:r>
              <a:rPr lang="en"/>
              <a:t>absolute flow endpoint error that is smaller than a certain threshold [FORMULA] , after resizing images so that its larger dimension is 100 pixels.</a:t>
            </a:r>
            <a:endParaRPr/>
          </a:p>
          <a:p>
            <a:pPr indent="0" lvl="0" marL="0" rtl="0" algn="l">
              <a:spcBef>
                <a:spcPts val="0"/>
              </a:spcBef>
              <a:spcAft>
                <a:spcPts val="0"/>
              </a:spcAft>
              <a:buNone/>
            </a:pPr>
            <a:r>
              <a:rPr lang="en"/>
              <a:t>Table REF summarizes the matching accuracy for state-of-the-art correspondence techniques ([FORMULA] pixels). Fig. REF displays qualitative results for dense flow estimation.</a:t>
            </a:r>
            <a:endParaRPr/>
          </a:p>
          <a:p>
            <a:pPr indent="0" lvl="0" marL="0" rtl="0" algn="l">
              <a:spcBef>
                <a:spcPts val="0"/>
              </a:spcBef>
              <a:spcAft>
                <a:spcPts val="0"/>
              </a:spcAft>
              <a:buNone/>
            </a:pPr>
            <a:r>
              <a:rPr lang="en"/>
              <a:t>Fig. REF plots the flow accuracy with respect to error threshold.</a:t>
            </a:r>
            <a:endParaRPr/>
          </a:p>
          <a:p>
            <a:pPr indent="0" lvl="0" marL="0" rtl="0" algn="l">
              <a:spcBef>
                <a:spcPts val="0"/>
              </a:spcBef>
              <a:spcAft>
                <a:spcPts val="0"/>
              </a:spcAft>
              <a:buNone/>
            </a:pPr>
            <a:r>
              <a:rPr lang="en"/>
              <a:t>Compared to methods based on handcrafted features [CITE], [CITE], [CITE], CNN based methods [CITE], [CITE] provide higher accuracy even though they do not consider geometric variations. The method of Lin et al. [CITE] cannot estimate reliable correspondences due to unstable sparse correspondences. Thanks to its discrete labeling optimization with continuous regularization and affine-FCSS, our DCTM method provides state-of-the-art performance.</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[FIGURE][FIGURE][TABLE]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[Introduction] Establishing dense correspondences across semantically similar images is essential for numerous tasks such as nonparametric scene parsing, scene recognition, image registration, semantic segmentation, and image editing [CITE], [CITE], [CITE].</a:t>
            </a:r>
            <a:endParaRPr/>
          </a:p>
          <a:p>
            <a:pPr indent="0" lvl="0" marL="0" rtl="0" algn="l">
              <a:spcBef>
                <a:spcPts val="0"/>
              </a:spcBef>
              <a:spcAft>
                <a:spcPts val="0"/>
              </a:spcAft>
              <a:buNone/>
            </a:pPr>
            <a:r>
              <a:rPr lang="en"/>
              <a:t> Unlike traditional dense correspondence for estimating depth [CITE] or optical flow [CITE], [CITE], semantic correspondence estimation poses additional challenges due to intra-class appearance and shape variations among object instances, which can degrade matching by conventional approaches [CITE], [CITE].</a:t>
            </a:r>
            <a:endParaRPr/>
          </a:p>
          <a:p>
            <a:pPr indent="0" lvl="0" marL="0" rtl="0" algn="l">
              <a:spcBef>
                <a:spcPts val="0"/>
              </a:spcBef>
              <a:spcAft>
                <a:spcPts val="0"/>
              </a:spcAft>
              <a:buNone/>
            </a:pPr>
            <a:r>
              <a:rPr lang="en"/>
              <a:t>Recently, several methods have attempted to deal with the appearance differences using convolutional neural network (CNN) based descriptors because of their high invariance to appearance variations [CITE], [CITE], [CITE], [CITE].</a:t>
            </a:r>
            <a:endParaRPr/>
          </a:p>
          <a:p>
            <a:pPr indent="0" lvl="0" marL="0" rtl="0" algn="l">
              <a:spcBef>
                <a:spcPts val="0"/>
              </a:spcBef>
              <a:spcAft>
                <a:spcPts val="0"/>
              </a:spcAft>
              <a:buNone/>
            </a:pPr>
            <a:r>
              <a:rPr lang="en"/>
              <a:t>However, geometric variations are considered in just a limited manner through constraint settings such as those used for depth or optical flow. Some methods solve for geometric variations such as scale or rotation [CITE], [CITE], [CITE], but they consider only a discrete set of scales or rotations as possible solutions, and do not capture the non-rigid geometric deformations that commonly exist between semantically similar images.</a:t>
            </a:r>
            <a:endParaRPr/>
          </a:p>
          <a:p>
            <a:pPr indent="0" lvl="0" marL="0" rtl="0" algn="l">
              <a:spcBef>
                <a:spcPts val="0"/>
              </a:spcBef>
              <a:spcAft>
                <a:spcPts val="0"/>
              </a:spcAft>
              <a:buNone/>
            </a:pPr>
            <a:r>
              <a:rPr lang="en"/>
              <a:t>[FIGURE]</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SLIDES_API503368914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SLIDES_API503368914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SLIDES_API503368914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SLIDES_API503368914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However, in practice the vertical resolution [FORMULA] , which is the angle between subsequent LiDAR beams is not constant. Thus, we adapt the representation from [[TARGET]] and utilize the beam id to assign each point to its row [FORMULA] in the image. The beam id can be easily retrieved from the LiDAR sensor. This allows for an unambiguous vertical discretization to obtain a dense native range representation, which we use as the laser range image. This range representation is even easier to obtain than the spherical one (i.e. no need for zenith projection) and reduces holes and coordinate conflicts in the data. If (due to the horizontal discretization) multiple 3D points fall onto to the same pixel in the range image, we choose the one with azimuth position nearest to the respective pixel center.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[Input Representation] The LiDAR produces a cylindrical range image as it sweeps over the environment with a set of lasers. The horizontal resolution of the image is determined by the rotation speed and laser pulse rate, and the vertical resolution is determined by the number of lasers. The Velodyne 64E LiDAR contains a set of 64 lasers with a non-uniform vertical spacing of approximately [FORMULA] and has a horizontal angular resolution of approximately [FORMULA] .</a:t>
            </a:r>
            <a:endParaRPr/>
          </a:p>
          <a:p>
            <a:pPr indent="0" lvl="0" marL="0" rtl="0" algn="l">
              <a:spcBef>
                <a:spcPts val="0"/>
              </a:spcBef>
              <a:spcAft>
                <a:spcPts val="0"/>
              </a:spcAft>
              <a:buNone/>
            </a:pPr>
            <a:r>
              <a:rPr lang="en"/>
              <a:t>For each point in the sweep, the sensor provides a range [FORMULA] , reflectance [FORMULA] , azimuth [FORMULA] , and laser id [FORMULA] , which corresponds to a known elevation angle. Using the range, azimuth, and elevation, we can compute the corresponding 3D point [FORMULA] in the sensor frame. We build an input image by directly mapping the laser id [FORMULA] to rows and discretizing azimuth [FORMULA] into columns. If more than one point occupies the same cell in the image, we keep the closest point.</a:t>
            </a:r>
            <a:endParaRPr/>
          </a:p>
          <a:p>
            <a:pPr indent="0" lvl="0" marL="0" rtl="0" algn="l">
              <a:spcBef>
                <a:spcPts val="0"/>
              </a:spcBef>
              <a:spcAft>
                <a:spcPts val="0"/>
              </a:spcAft>
              <a:buNone/>
            </a:pPr>
            <a:r>
              <a:rPr lang="en"/>
              <a:t> For each cell coordinate in the image, we collect a set of input channels from its corresponding point: range [FORMULA] , height [FORMULA] , azimuth angle [FORMULA] , intensity [FORMULA] , and a flag indicating whether the cell contains a point. The result is a five channel image that forms the input to our network (see Figure REF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[Introduction] 3D object detection is a key capability for autonomous driving. LiDAR range sensors are commonly used for this task because they generate accurate range measurements of the objects of interest independent of lighting conditions. To be used in a real-time autonomous system, it is important that these approaches run efficiently in addition to having high accuracy. Also, within the context of a full self-driving system, it is beneficial to have an understanding of the detector's uncertainty.</a:t>
            </a:r>
            <a:endParaRPr/>
          </a:p>
          <a:p>
            <a:pPr indent="0" lvl="0" marL="0" rtl="0" algn="l">
              <a:spcBef>
                <a:spcPts val="0"/>
              </a:spcBef>
              <a:spcAft>
                <a:spcPts val="0"/>
              </a:spcAft>
              <a:buNone/>
            </a:pPr>
            <a:r>
              <a:rPr lang="en"/>
              <a:t>[FIGURE] LiDAR range sensors used on autonomous vehicles employ a variety of physical approaches to point one or more range-measuring lasers in different directions (physically spinning, raster scanning, MEMS mirrors, etc), but the data from these sensors are all similar in that they contain range measurements from a single location spanning some vertical and horizontal angular field of view. Note that this data is quite different from full 3D point cloud data collected by scanning an object on a turntable or through other means to generate a consistent dense point cloud of all sides of the object. As shown in Figure REF , the LiDAR data is inherently dense from the sensor's point of view but sparse when the range measurements are projected into 3D space. The density of measurements is constant in angle, so nearby objects have significantly more measurements than far away objects. Also, only the sides of objects facing the sensor receive measurements.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[Ablation Study on ATG4D] Previous methods which utilize the range view [CITE], [CITE] uniformly discretize the elevation angle into rows.</a:t>
            </a:r>
            <a:endParaRPr/>
          </a:p>
          <a:p>
            <a:pPr indent="0" lvl="0" marL="0" rtl="0" algn="l">
              <a:spcBef>
                <a:spcPts val="0"/>
              </a:spcBef>
              <a:spcAft>
                <a:spcPts val="0"/>
              </a:spcAft>
              <a:buNone/>
            </a:pPr>
            <a:r>
              <a:rPr lang="en"/>
              <a:t>However, the lasers in the Velodyne 64E LiDAR are not uniformly spaced.</a:t>
            </a:r>
            <a:endParaRPr/>
          </a:p>
          <a:p>
            <a:pPr indent="0" lvl="0" marL="0" rtl="0" algn="l">
              <a:spcBef>
                <a:spcPts val="0"/>
              </a:spcBef>
              <a:spcAft>
                <a:spcPts val="0"/>
              </a:spcAft>
              <a:buNone/>
            </a:pPr>
            <a:r>
              <a:rPr lang="en"/>
              <a:t>A gain in performance can be obtained by mapping points to rows using the laser id and processing the data directly as the sensor captured it.</a:t>
            </a:r>
            <a:endParaRPr/>
          </a:p>
          <a:p>
            <a:pPr indent="0" lvl="0" marL="0" rtl="0" algn="l">
              <a:spcBef>
                <a:spcPts val="0"/>
              </a:spcBef>
              <a:spcAft>
                <a:spcPts val="0"/>
              </a:spcAft>
              <a:buNone/>
            </a:pPr>
            <a:r>
              <a:rPr lang="en"/>
              <a:t> Mean Shift Clustering</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SLIDES_API503368914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SLIDES_API503368914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SLIDES_API503368914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SLIDES_API503368914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Semantic image segmentation is a central and challenging task in autonomous driving, as it involves predicting a class label (e.g., road, sidewalk, pedestrian, vehicle, etc) per pixel in outdoor images. Therefore, non surprisingly, the development of deep models for semantic segmentation has received a great deal of interest since deep learning is the core for solving computer vision tasks [CITE], [CITE], [CITE], [CITE], [CITE], [CITE], [CITE]. In this paper, we do not aim at proposing a new deep model architecture for on-board semantic segmentation, but our focus is on the training process of semantic segmentation models. More specifically, we explore the setting where such models must perform in real-world images, while for training them we have access to automatically generated synthetic images with semantic ground truth together with unlabeled real-world images. In other words, there is a supervised source (synthetic) domain, and an unsupervised target (real-world) domain. Therefore, this setting falls in the realm of unsupervised domain adaptation (UDA) for semantic segmentation [CITE], [CITE], [CITE], [CITE], [CITE], [CITE], [CITE], [CITE], [[TARGET]], [CITE], [CITE], [CITE], which is in contrast to assuming access to ground truth from the target domain [CITE], [CITE]. Note that the great relevance of UDA in this context comes from the fact that, until now, pixel-level semantic image segmentation ground truth is obtained by cumbersome and error-prone manual labeling. In fact, this is the reason why the use of synthetic datasets [CITE], [CITE], [CITE] arouses great interest. However, it is well-known that training deep models on synthetic images for performing on real-world images requires domain adaptation [CITE], [CITE], which must be unsupervised if we have no labels from real-world images [CITE].</a:t>
            </a:r>
            <a:endParaRPr/>
          </a:p>
          <a:p>
            <a:pPr indent="0" lvl="0" marL="0" rtl="0" algn="l">
              <a:spcBef>
                <a:spcPts val="0"/>
              </a:spcBef>
              <a:spcAft>
                <a:spcPts val="0"/>
              </a:spcAft>
              <a:buNone/>
            </a:pPr>
            <a:r>
              <a:rPr lang="en"/>
              <a:t>[FIGURE]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[Introduction] As one of the fundamental tasks in computer vision, semantic segmentation can be used as a preliminary step for many multimedia applications [CITE], [CITE], [CITE], [CITE], including image/video captioning, image-to-image translation, video content analysis.</a:t>
            </a:r>
            <a:endParaRPr/>
          </a:p>
          <a:p>
            <a:pPr indent="0" lvl="0" marL="0" rtl="0" algn="l">
              <a:spcBef>
                <a:spcPts val="0"/>
              </a:spcBef>
              <a:spcAft>
                <a:spcPts val="0"/>
              </a:spcAft>
              <a:buNone/>
            </a:pPr>
            <a:r>
              <a:rPr lang="en"/>
              <a:t>Training a well-performed deep semantic segmentation model usually requires a large amount of pixel-level labeled data, which is indeed very laborious and expensive to manually annotate. Alternatively, since it is much easier to generate synthetic images with dense pixel labels, [FORMULA] , via a 3D game engine, there are a lot of works focusing on training the segmentation model using synthetic labeled images. However, due to the appearance discrepancy between synthetic images and real images, which is also known as the domain shift, the model trained on synthetic images usually generalizes poorly on real images.</a:t>
            </a:r>
            <a:endParaRPr/>
          </a:p>
          <a:p>
            <a:pPr indent="0" lvl="0" marL="0" rtl="0" algn="l">
              <a:spcBef>
                <a:spcPts val="0"/>
              </a:spcBef>
              <a:spcAft>
                <a:spcPts val="0"/>
              </a:spcAft>
              <a:buNone/>
            </a:pPr>
            <a:r>
              <a:rPr lang="en"/>
              <a:t> To address this issue, unsupervised domain adaptation (UDA) methods have been proposed to mitigate the domain shift between the source and target domains as shown in Figure REF (a). In the context of semantic segmentation, there are three categories of methods which perform domain adaptation at different levels, such as input level [CITE], [CITE], feature level [CITE], [CITE], [CITE], and output level [CITE], [CITE]. Input-level UDA methods aim to perform statistical matching at the input level to achieve uniformity in the visual appearance of the input images from different domains, [FORMULA] , style transfer [CITE]. Feature-level UDA methods aim to align the distribution of latent features (usually embedded by CNNs) in both domains to extract domain-invariant features, [FORMULA] , Maximum Mean Discrepancy (MMD) [CITE], adversarial learning [CITE]. Besides, since the predicted probability maps are in low-dimension and highly structured, it is effective to perform alignment of the probability maps from different domains, [FORMULA] , output-level UDA [CITE].</a:t>
            </a:r>
            <a:endParaRPr/>
          </a:p>
          <a:p>
            <a:pPr indent="0" lvl="0" marL="0" rtl="0" algn="l">
              <a:spcBef>
                <a:spcPts val="0"/>
              </a:spcBef>
              <a:spcAft>
                <a:spcPts val="0"/>
              </a:spcAft>
              <a:buNone/>
            </a:pPr>
            <a:r>
              <a:rPr lang="en"/>
              <a:t>[FIGURE]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[Datasets and Evaluation Metrics] We evaluate the performance of the proposed method for two challenging UDA tasks: GTA5 [CITE] to Cityscapes [CITE] and SYNTHIA [CITE] to Cityscapes. GTA5 is a synthetic dataset created using a photo-realistic open-world computer game engine. Dense pixel-level semantic annotations are provided for 24,966 urban landscape images with a resolution of [FORMULA] . 19 common classes in the Cityscapes dataset are chosen in our experiments. SYNTHIA is another synthetic collection of 9,400 diverse urban images with a resolution of [FORMULA] . We consider 16 common categories in the Cityscapes dataset for evaluation while the results on 13 common classes are also reported following a common practice. Cityscapes is a large-scale real-world urban scenes benchmark for semantic segmentation, which provides 5,000 densely annotated images with a resolution of [FORMULA] . We use 2,975 unlabeled training images during training and 500 validation images for testing. In all experiments, we use the mIoU metric for evaluation.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[Copy-and-Paste Strategies] There is a wide spectrum of work to improve the performance of deep models by using copy-and-paste methods for data augmentation in the supervised training setting. For example, CutMix [CITE] cut and pasted patches among training images where the labels are also mixed to the area of the patches. Remez et al. learned object masks by cutting-and-pasting with adversarial learning [CITE]. However, all these methods adopted the hard-paste strategy, which loses the original layout and semantic information of the original image when creating new images. MixUp [CITE] trained the network on convex combinations of image pairs and their labels with a mixing weight to address the aforementioned issue. Dwibedi et al. proposed to automatically cut object instances and paste them on random backgrounds to make detectors ignore these artifacts during training and generate data that gives competitive performance on real data [CITE]. FMix [CITE] proposed to use random binary masks obtained by applying a threshold to low frequency images sampled from fourier space. These random masks can take on a wide range of shapes and can be generated for use with one, two, and three dimensional data. In this paper, we also explore the soft-paste idea but specifically tailor it to the unsupervised domain adaptive semantic segmentation setting by handling the class imbalance issue and reducing the domain gap.</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SLIDES_API503368914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SLIDES_API503368914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SLIDES_API503368914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SLIDES_API503368914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paragraph:</a:t>
            </a:r>
            <a:endParaRPr/>
          </a:p>
          <a:p>
            <a:pPr indent="0" lvl="0" marL="0" rtl="0" algn="l">
              <a:spcBef>
                <a:spcPts val="0"/>
              </a:spcBef>
              <a:spcAft>
                <a:spcPts val="0"/>
              </a:spcAft>
              <a:buNone/>
            </a:pPr>
            <a:r>
              <a:rPr lang="en"/>
              <a:t>Unsupervised domain adaptation.</a:t>
            </a:r>
            <a:endParaRPr/>
          </a:p>
          <a:p>
            <a:pPr indent="0" lvl="0" marL="0" rtl="0" algn="l">
              <a:spcBef>
                <a:spcPts val="0"/>
              </a:spcBef>
              <a:spcAft>
                <a:spcPts val="0"/>
              </a:spcAft>
              <a:buNone/>
            </a:pPr>
            <a:r>
              <a:rPr lang="en"/>
              <a:t>Unsupervised domain adaptation (UDA) aims to transfer the knowledge from the label-rich source domain to the unlabelled target domain, which is called domain shift [CITE], [CITE], [CITE].</a:t>
            </a:r>
            <a:endParaRPr/>
          </a:p>
          <a:p>
            <a:pPr indent="0" lvl="0" marL="0" rtl="0" algn="l">
              <a:spcBef>
                <a:spcPts val="0"/>
              </a:spcBef>
              <a:spcAft>
                <a:spcPts val="0"/>
              </a:spcAft>
              <a:buNone/>
            </a:pPr>
            <a:r>
              <a:rPr lang="en"/>
              <a:t>This shift usually encounters some challenges: (i) the collected data are from diverse resources [CITE]; (ii) the training data in the target domain is limited [CITE]; (iii) the source and target domains have different modalities [CITE].</a:t>
            </a:r>
            <a:endParaRPr/>
          </a:p>
          <a:p>
            <a:pPr indent="0" lvl="0" marL="0" rtl="0" algn="l">
              <a:spcBef>
                <a:spcPts val="0"/>
              </a:spcBef>
              <a:spcAft>
                <a:spcPts val="0"/>
              </a:spcAft>
              <a:buNone/>
            </a:pPr>
            <a:r>
              <a:rPr lang="en"/>
              <a:t>A general solution is to align the feature distribution between the two domains. Many UDA methods align the feature distribution by minimizing the disagreement of data distribution in different domains [CITE], [CITE], or learning an adversarial domain-classifier to find domain-invariant features [CITE], [CITE].</a:t>
            </a:r>
            <a:endParaRPr/>
          </a:p>
          <a:p>
            <a:pPr indent="0" lvl="0" marL="0" rtl="0" algn="l">
              <a:spcBef>
                <a:spcPts val="0"/>
              </a:spcBef>
              <a:spcAft>
                <a:spcPts val="0"/>
              </a:spcAft>
              <a:buNone/>
            </a:pPr>
            <a:r>
              <a:rPr lang="en"/>
              <a:t>For example, for the activity recognition task, Song et al. [CITE] establish the cross-modal domain alignment via self-supervised contrastive framework to learn the joint clip-level and video-level representation alignment for video-based UDA. Considering that video data is usually associated with multi-modal information (RGB and optical flow), Kim et al. [CITE] propose a unified framework for video domain</a:t>
            </a:r>
            <a:endParaRPr/>
          </a:p>
          <a:p>
            <a:pPr indent="0" lvl="0" marL="0" rtl="0" algn="l">
              <a:spcBef>
                <a:spcPts val="0"/>
              </a:spcBef>
              <a:spcAft>
                <a:spcPts val="0"/>
              </a:spcAft>
              <a:buNone/>
            </a:pPr>
            <a:r>
              <a:rPr lang="en"/>
              <a:t>adaptation, which simultaneously regularizes cross-modal</a:t>
            </a:r>
            <a:endParaRPr/>
          </a:p>
          <a:p>
            <a:pPr indent="0" lvl="0" marL="0" rtl="0" algn="l">
              <a:spcBef>
                <a:spcPts val="0"/>
              </a:spcBef>
              <a:spcAft>
                <a:spcPts val="0"/>
              </a:spcAft>
              <a:buNone/>
            </a:pPr>
            <a:r>
              <a:rPr lang="en"/>
              <a:t>and cross-domain feature representations. As for the text-video retrieval task, Chen et al. [CITE] propose a new benchmark and investigate the UDA task for text-video retrieval in this setting.</a:t>
            </a:r>
            <a:endParaRPr/>
          </a:p>
          <a:p>
            <a:pPr indent="0" lvl="0" marL="0" rtl="0" algn="l">
              <a:spcBef>
                <a:spcPts val="0"/>
              </a:spcBef>
              <a:spcAft>
                <a:spcPts val="0"/>
              </a:spcAft>
              <a:buNone/>
            </a:pPr>
            <a:r>
              <a:rPr lang="en"/>
              <a:t>Based on standard backpropagation training,</a:t>
            </a:r>
            <a:endParaRPr/>
          </a:p>
          <a:p>
            <a:pPr indent="0" lvl="0" marL="0" rtl="0" algn="l">
              <a:spcBef>
                <a:spcPts val="0"/>
              </a:spcBef>
              <a:spcAft>
                <a:spcPts val="0"/>
              </a:spcAft>
              <a:buNone/>
            </a:pPr>
            <a:r>
              <a:rPr lang="en"/>
              <a:t>Ganin et al. [CITE] present a network that allows large-scale training by massive annotated data in the source domain and a large number of unannotated data in the target domain.</a:t>
            </a:r>
            <a:endParaRPr/>
          </a:p>
          <a:p>
            <a:pPr indent="0" lvl="0" marL="0" rtl="0" algn="l">
              <a:spcBef>
                <a:spcPts val="0"/>
              </a:spcBef>
              <a:spcAft>
                <a:spcPts val="0"/>
              </a:spcAft>
              <a:buNone/>
            </a:pPr>
            <a:r>
              <a:rPr lang="en"/>
              <a:t>By introducing adversarial learning to model domain shift between different domains, Long et al. [CITE] design a deep domain adaptation hashing network for binary representation generation. Long et al. [CITE] propose a conditional adversarial domain adaptation network, which conditions the adversarial adaptation methods on discriminative information conveyed when predicting classification results.</a:t>
            </a:r>
            <a:endParaRPr/>
          </a:p>
          <a:p>
            <a:pPr indent="0" lvl="0" marL="0" rtl="0" algn="l">
              <a:spcBef>
                <a:spcPts val="0"/>
              </a:spcBef>
              <a:spcAft>
                <a:spcPts val="0"/>
              </a:spcAft>
              <a:buNone/>
            </a:pPr>
            <a:r>
              <a:rPr lang="en"/>
              <a:t>However, these methods cannot apply to our cross-domain VMR task because (i) most UDA methods only align the unimodal features, while we need to align the multi-modal features (both queries and videos); (ii) many UDA methods aim to tackle classification-based tasks (e.g., activity recognition [CITE], [CITE], [CITE], object detection [[TARGET]] and text-video retrieval [CITE]) rather than our complicated retrieval task.</a:t>
            </a:r>
            <a:endParaRPr/>
          </a:p>
          <a:p>
            <a:pPr indent="0" lvl="0" marL="0" rtl="0" algn="l">
              <a:spcBef>
                <a:spcPts val="0"/>
              </a:spcBef>
              <a:spcAft>
                <a:spcPts val="0"/>
              </a:spcAft>
              <a:buNone/>
            </a:pPr>
            <a:r>
              <a:rPr lang="en"/>
              <a:t>Thus, cross-domain VMR is more challenging than general UDA tasks.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1: [Domain adaptive detection] Our work is closely related to the area of knowledge transfer [CITE], [CITE], [CITE] and domain adaptive object detection [CITE], [CITE], [CITE], [CITE], [CITE], [CITE], [CITE], [CITE], which aims to learn a well-performed detector on unlabeled target domain without accessing any annotations in target domain.</a:t>
            </a:r>
            <a:endParaRPr/>
          </a:p>
          <a:p>
            <a:pPr indent="0" lvl="0" marL="0" rtl="0" algn="l">
              <a:spcBef>
                <a:spcPts val="0"/>
              </a:spcBef>
              <a:spcAft>
                <a:spcPts val="0"/>
              </a:spcAft>
              <a:buNone/>
            </a:pPr>
            <a:r>
              <a:rPr lang="en"/>
              <a:t>Quite a number of domain adaptive detectors have been reported. For example, DA [CITE] presents a domain adaptive detector based on Faster R-CNN to minimize domain bias via adversarial learning at both image and instance levels. MTOR [CITE] minimizes domain discrepancy by integrating object relations into teacher-student consistency regularization. SWDA [CITE] presents a powerful cross-domain detection method via strongly aligning local similar features and weakly aligning global dissimilar features. IFAN [CITE] aligns feature distributions at both image and instance levels in a coarse-to-fine manner. ATF [CITE] presents a tri-stream Faster R-CNN to alleviate the collapse risk caused by parameter sharing between source and target domains. CTR [CITE] trains the region proposal network (RPN) and the object detection classifier via collaborative self-training. GPA [CITE] aligns graph-induced prototype representations in two stages to minimize domain discrepancy. CRDA [CITE] presents an effective categorical regularization module that improves DA [CITE] and SWDA [CITE] consistently.</a:t>
            </a:r>
            <a:endParaRPr/>
          </a:p>
          <a:p>
            <a:pPr indent="0" lvl="0" marL="0" rtl="0" algn="l">
              <a:spcBef>
                <a:spcPts val="0"/>
              </a:spcBef>
              <a:spcAft>
                <a:spcPts val="0"/>
              </a:spcAft>
              <a:buNone/>
            </a:pPr>
            <a:r>
              <a:rPr lang="en"/>
              <a:t> The aforementioned cross-domain detection methods mainly employ adversarial learning which merely considers alignment of global distributions and may pull well-aligned samples incorrectly. This work instead aims for protecting well-aligned samples by identifying well-aligned and poorly-aligned samples and aligning them separately in different manners.</a:t>
            </a:r>
            <a:endParaRPr/>
          </a:p>
          <a:p>
            <a:pPr indent="0" lvl="0" marL="0" rtl="0" algn="l">
              <a:spcBef>
                <a:spcPts val="0"/>
              </a:spcBef>
              <a:spcAft>
                <a:spcPts val="0"/>
              </a:spcAft>
              <a:buNone/>
            </a:pPr>
            <a:r>
              <a:rPr lang="en"/>
              <a:t>[FIGURE]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2: [Introduction] In this paper, we propose an uncertainty-aware domain adaptation network (UaDAN) that aligns well-aligned and poorly-aligned samples adaptively by considering their uncertainty. With supervised models trained using source samples, well-aligned target samples are often predicted with low uncertainty while poorly-aligned target samples predicted with high uncertainty. We exploit this uncertainty information and achieve uncertainty-aware cross-domain alignment with two innovative designs. The first design is uncertainty-aware adversarial learning (UaAL) as illustrated in Fig. REF  (b). Instead of assigning the same adversarial-loss weight to all target samples equally, UaAL introduces uncertainty to measure an alignment score for each sample and adjusts the adversarial-loss weights for well-aligned and poorly-aligned target samples adaptively. In implementation, we exploit entropy [CITE] to estimate the sample uncertainty and weight adversarial loss of different target samples adaptively (i.e., small weight for well-aligned samples and large weight for poorly-aligned samples).</a:t>
            </a:r>
            <a:endParaRPr/>
          </a:p>
          <a:p>
            <a:pPr indent="0" lvl="0" marL="0" rtl="0" algn="l">
              <a:spcBef>
                <a:spcPts val="0"/>
              </a:spcBef>
              <a:spcAft>
                <a:spcPts val="0"/>
              </a:spcAft>
              <a:buNone/>
            </a:pPr>
            <a:r>
              <a:rPr lang="en"/>
              <a:t> The second design is uncertainty-guided curriculum learning (UgCL) that aims to optimize the domain adaptation across the two-stage detection pipeline progressively. Specifically, UgCL first aligns target samples at an easier image level for region proposal generation. It exploits entropy to estimate the uncertainty of image-level predictions for uncertainty-aware alignment at the image level. After target samples are well-aligned at the image level (with low uncertainty), UgCL aligns at a harder instance level for final object detection. Here the uncertainty is exploited to guide the instance-level alignment in the similar manner. The two-stage progressive alignment strategy alleviates error accumulation effectively by reducing image-level misalignment and its effects over the later instance-level alignment.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Passage 3: [unknown] Domain variance exists widely among images of different resolutions and qualities that are captured by using different acquisition sensors. For the task of object detection, we're facing more dramatic variations of object appearance in scale, viewpoints, etc. In this experiment, we study the effectiveness of our uncertainty-aware domain adaptation method while handling domain shifts among different real-image datasets. Specifically, we use 8 common object classes between the source dataset Cityscapes [CITE] and the target dataset Mapillary Vistas [CITE]. The validation set of the Mapillary Vista is used in evaluations.</a:t>
            </a:r>
            <a:endParaRPr/>
          </a:p>
          <a:p>
            <a:pPr indent="0" lvl="0" marL="0" rtl="0" algn="l">
              <a:spcBef>
                <a:spcPts val="0"/>
              </a:spcBef>
              <a:spcAft>
                <a:spcPts val="0"/>
              </a:spcAft>
              <a:buNone/>
            </a:pPr>
            <a:r>
              <a:rPr lang="en"/>
              <a:t> Table REF shows comparisons of our UaDAN with state-of-the-art domain adaptive detection methods. We can see that UaDAN achieves the best detection with a mAP of 32.7%. For the classes (e.g., train) which can hardly be detected by `Source only' (with only 7.1% AP), UaDAN outperforms other methods by large margins (over 2.7% AP). A possible reason is that the 'train' features in target domain tend to be under-aligned due to large domain bias, and UaDAN can focus on aligning under-aligned features while keeping the well-aligned features less affected.</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SLIDES_API503368914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SLIDES_API503368914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3F3F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355600" y="1524000"/>
            <a:ext cx="84327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rgbClr val="16213A"/>
                </a:solidFill>
                <a:latin typeface="Georgia"/>
                <a:ea typeface="Georgia"/>
                <a:cs typeface="Georgia"/>
                <a:sym typeface="Georgia"/>
              </a:rPr>
              <a:t>A3 calibration: 30 citations</a:t>
            </a:r>
            <a:endParaRPr b="1" sz="3000">
              <a:solidFill>
                <a:srgbClr val="16213A"/>
              </a:solidFill>
              <a:latin typeface="Georgia"/>
              <a:ea typeface="Georgia"/>
              <a:cs typeface="Georgia"/>
              <a:sym typeface="Georgia"/>
            </a:endParaRPr>
          </a:p>
        </p:txBody>
      </p:sp>
      <p:sp>
        <p:nvSpPr>
          <p:cNvPr id="55" name="Google Shape;55;p13"/>
          <p:cNvSpPr txBox="1"/>
          <p:nvPr/>
        </p:nvSpPr>
        <p:spPr>
          <a:xfrm>
            <a:off x="355600" y="2286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For each citation: read it, vote in the Sheet (your column, the citation's row), then reveal.</a:t>
            </a:r>
            <a:endParaRPr>
              <a:solidFill>
                <a:srgbClr val="16213A"/>
              </a:solidFill>
            </a:endParaRPr>
          </a:p>
          <a:p>
            <a:pPr indent="0" lvl="0" marL="0" rtl="0" algn="l">
              <a:spcBef>
                <a:spcPts val="0"/>
              </a:spcBef>
              <a:spcAft>
                <a:spcPts val="0"/>
              </a:spcAft>
              <a:buNone/>
            </a:pPr>
            <a:r>
              <a:rPr lang="en">
                <a:solidFill>
                  <a:srgbClr val="16213A"/>
                </a:solidFill>
              </a:rPr>
              <a:t>Pick the PRIMARY function of </a:t>
            </a:r>
            <a:r>
              <a:rPr b="1" lang="en">
                <a:solidFill>
                  <a:srgbClr val="6B3A06"/>
                </a:solidFill>
                <a:highlight>
                  <a:srgbClr val="FCE7C8"/>
                </a:highlight>
              </a:rPr>
              <a:t>[[TARGET]]</a:t>
            </a:r>
            <a:r>
              <a:rPr lang="en">
                <a:solidFill>
                  <a:srgbClr val="16213A"/>
                </a:solidFill>
              </a:rPr>
              <a:t>. Rules rev1.1 on the next slide and in the Sheet's "Rules" tab.</a:t>
            </a:r>
            <a:endParaRPr>
              <a:solidFill>
                <a:srgbClr val="16213A"/>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355600" y="127000"/>
            <a:ext cx="8432700" cy="33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16213A"/>
                </a:solidFill>
                <a:latin typeface="Georgia"/>
                <a:ea typeface="Georgia"/>
                <a:cs typeface="Georgia"/>
                <a:sym typeface="Georgia"/>
              </a:rPr>
              <a:t>Rules rev1.1 (same rules as the judges)</a:t>
            </a:r>
            <a:endParaRPr b="1" sz="1600">
              <a:solidFill>
                <a:srgbClr val="16213A"/>
              </a:solidFill>
              <a:latin typeface="Georgia"/>
              <a:ea typeface="Georgia"/>
              <a:cs typeface="Georgia"/>
              <a:sym typeface="Georgia"/>
            </a:endParaRPr>
          </a:p>
        </p:txBody>
      </p:sp>
      <p:sp>
        <p:nvSpPr>
          <p:cNvPr id="61" name="Google Shape;61;p14"/>
          <p:cNvSpPr txBox="1"/>
          <p:nvPr/>
        </p:nvSpPr>
        <p:spPr>
          <a:xfrm>
            <a:off x="355600" y="508000"/>
            <a:ext cx="33783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586274"/>
                </a:solidFill>
              </a:rPr>
              <a:t>The categories</a:t>
            </a:r>
            <a:endParaRPr b="1" sz="1000">
              <a:solidFill>
                <a:srgbClr val="586274"/>
              </a:solidFill>
            </a:endParaRPr>
          </a:p>
        </p:txBody>
      </p:sp>
      <p:sp>
        <p:nvSpPr>
          <p:cNvPr id="62" name="Google Shape;62;p14"/>
          <p:cNvSpPr txBox="1"/>
          <p:nvPr/>
        </p:nvSpPr>
        <p:spPr>
          <a:xfrm>
            <a:off x="355600" y="736600"/>
            <a:ext cx="3378300" cy="419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rgbClr val="16213A"/>
                </a:solidFill>
              </a:rPr>
              <a:t>Background</a:t>
            </a:r>
            <a:r>
              <a:rPr lang="en" sz="900">
                <a:solidFill>
                  <a:srgbClr val="16213A"/>
                </a:solidFill>
              </a:rPr>
              <a:t>: context, history, or one example among related works.</a:t>
            </a:r>
            <a:endParaRPr sz="900">
              <a:solidFill>
                <a:srgbClr val="16213A"/>
              </a:solidFill>
            </a:endParaRPr>
          </a:p>
          <a:p>
            <a:pPr indent="0" lvl="0" marL="0" rtl="0" algn="l">
              <a:spcBef>
                <a:spcPts val="400"/>
              </a:spcBef>
              <a:spcAft>
                <a:spcPts val="0"/>
              </a:spcAft>
              <a:buNone/>
            </a:pPr>
            <a:r>
              <a:rPr b="1" lang="en" sz="900">
                <a:solidFill>
                  <a:srgbClr val="16213A"/>
                </a:solidFill>
              </a:rPr>
              <a:t>Gap</a:t>
            </a:r>
            <a:r>
              <a:rPr lang="en" sz="900">
                <a:solidFill>
                  <a:srgbClr val="16213A"/>
                </a:solidFill>
              </a:rPr>
              <a:t>: the citing text states a limitation of the target, or something it leaves unsolved.</a:t>
            </a:r>
            <a:endParaRPr sz="900">
              <a:solidFill>
                <a:srgbClr val="16213A"/>
              </a:solidFill>
            </a:endParaRPr>
          </a:p>
          <a:p>
            <a:pPr indent="0" lvl="0" marL="0" rtl="0" algn="l">
              <a:spcBef>
                <a:spcPts val="400"/>
              </a:spcBef>
              <a:spcAft>
                <a:spcPts val="0"/>
              </a:spcAft>
              <a:buNone/>
            </a:pPr>
            <a:r>
              <a:rPr b="1" lang="en" sz="900">
                <a:solidFill>
                  <a:srgbClr val="16213A"/>
                </a:solidFill>
              </a:rPr>
              <a:t>Basis</a:t>
            </a:r>
            <a:r>
              <a:rPr lang="en" sz="900">
                <a:solidFill>
                  <a:srgbClr val="16213A"/>
                </a:solidFill>
              </a:rPr>
              <a:t>: the current work builds on / follows / extends the target ("we", "our method" as subject).</a:t>
            </a:r>
            <a:endParaRPr sz="900">
              <a:solidFill>
                <a:srgbClr val="16213A"/>
              </a:solidFill>
            </a:endParaRPr>
          </a:p>
          <a:p>
            <a:pPr indent="0" lvl="0" marL="0" rtl="0" algn="l">
              <a:spcBef>
                <a:spcPts val="400"/>
              </a:spcBef>
              <a:spcAft>
                <a:spcPts val="0"/>
              </a:spcAft>
              <a:buNone/>
            </a:pPr>
            <a:r>
              <a:rPr b="1" lang="en" sz="900">
                <a:solidFill>
                  <a:srgbClr val="16213A"/>
                </a:solidFill>
              </a:rPr>
              <a:t>Comparison</a:t>
            </a:r>
            <a:r>
              <a:rPr lang="en" sz="900">
                <a:solidFill>
                  <a:srgbClr val="16213A"/>
                </a:solidFill>
              </a:rPr>
              <a:t>: likens or contrasts the current work with the target, or the target with other works.</a:t>
            </a:r>
            <a:endParaRPr sz="900">
              <a:solidFill>
                <a:srgbClr val="16213A"/>
              </a:solidFill>
            </a:endParaRPr>
          </a:p>
          <a:p>
            <a:pPr indent="0" lvl="0" marL="0" rtl="0" algn="l">
              <a:spcBef>
                <a:spcPts val="400"/>
              </a:spcBef>
              <a:spcAft>
                <a:spcPts val="0"/>
              </a:spcAft>
              <a:buNone/>
            </a:pPr>
            <a:r>
              <a:rPr b="1" lang="en" sz="900">
                <a:solidFill>
                  <a:srgbClr val="16213A"/>
                </a:solidFill>
              </a:rPr>
              <a:t>Application</a:t>
            </a:r>
            <a:r>
              <a:rPr lang="en" sz="900">
                <a:solidFill>
                  <a:srgbClr val="16213A"/>
                </a:solidFill>
              </a:rPr>
              <a:t>: the current work uses the target's method, tool or data as is.</a:t>
            </a:r>
            <a:endParaRPr sz="900">
              <a:solidFill>
                <a:srgbClr val="16213A"/>
              </a:solidFill>
            </a:endParaRPr>
          </a:p>
          <a:p>
            <a:pPr indent="0" lvl="0" marL="0" rtl="0" algn="l">
              <a:spcBef>
                <a:spcPts val="400"/>
              </a:spcBef>
              <a:spcAft>
                <a:spcPts val="0"/>
              </a:spcAft>
              <a:buNone/>
            </a:pPr>
            <a:r>
              <a:rPr b="1" lang="en" sz="900">
                <a:solidFill>
                  <a:srgbClr val="16213A"/>
                </a:solidFill>
              </a:rPr>
              <a:t>Improvement/Modification</a:t>
            </a:r>
            <a:r>
              <a:rPr lang="en" sz="900">
                <a:solidFill>
                  <a:srgbClr val="16213A"/>
                </a:solidFill>
              </a:rPr>
              <a:t>: the current work adapts, extends or modifies the target's method, tool or data.</a:t>
            </a:r>
            <a:endParaRPr sz="900">
              <a:solidFill>
                <a:srgbClr val="16213A"/>
              </a:solidFill>
            </a:endParaRPr>
          </a:p>
          <a:p>
            <a:pPr indent="0" lvl="0" marL="0" rtl="0" algn="l">
              <a:spcBef>
                <a:spcPts val="400"/>
              </a:spcBef>
              <a:spcAft>
                <a:spcPts val="0"/>
              </a:spcAft>
              <a:buNone/>
            </a:pPr>
            <a:r>
              <a:rPr b="1" lang="en" sz="900">
                <a:solidFill>
                  <a:srgbClr val="16213A"/>
                </a:solidFill>
              </a:rPr>
              <a:t>Evidence</a:t>
            </a:r>
            <a:r>
              <a:rPr lang="en" sz="900">
                <a:solidFill>
                  <a:srgbClr val="16213A"/>
                </a:solidFill>
              </a:rPr>
              <a:t>: the target backs a claim, choice or result of the citing authors.</a:t>
            </a:r>
            <a:endParaRPr sz="900">
              <a:solidFill>
                <a:srgbClr val="16213A"/>
              </a:solidFill>
            </a:endParaRPr>
          </a:p>
          <a:p>
            <a:pPr indent="0" lvl="0" marL="0" rtl="0" algn="l">
              <a:spcBef>
                <a:spcPts val="400"/>
              </a:spcBef>
              <a:spcAft>
                <a:spcPts val="0"/>
              </a:spcAft>
              <a:buNone/>
            </a:pPr>
            <a:r>
              <a:rPr b="1" lang="en" sz="900">
                <a:solidFill>
                  <a:srgbClr val="16213A"/>
                </a:solidFill>
              </a:rPr>
              <a:t>Identification of the Originator</a:t>
            </a:r>
            <a:r>
              <a:rPr lang="en" sz="900">
                <a:solidFill>
                  <a:srgbClr val="16213A"/>
                </a:solidFill>
              </a:rPr>
              <a:t>: credits the target as the first / original source of an idea.</a:t>
            </a:r>
            <a:endParaRPr sz="900">
              <a:solidFill>
                <a:srgbClr val="16213A"/>
              </a:solidFill>
            </a:endParaRPr>
          </a:p>
          <a:p>
            <a:pPr indent="0" lvl="0" marL="0" rtl="0" algn="l">
              <a:spcBef>
                <a:spcPts val="400"/>
              </a:spcBef>
              <a:spcAft>
                <a:spcPts val="0"/>
              </a:spcAft>
              <a:buNone/>
            </a:pPr>
            <a:r>
              <a:rPr b="1" lang="en" sz="900">
                <a:solidFill>
                  <a:srgbClr val="16213A"/>
                </a:solidFill>
              </a:rPr>
              <a:t>Further Reading</a:t>
            </a:r>
            <a:r>
              <a:rPr lang="en" sz="900">
                <a:solidFill>
                  <a:srgbClr val="16213A"/>
                </a:solidFill>
              </a:rPr>
              <a:t>: sends the reader to the target ("see [x]", "for a survey see [x]").</a:t>
            </a:r>
            <a:endParaRPr sz="900">
              <a:solidFill>
                <a:srgbClr val="16213A"/>
              </a:solidFill>
            </a:endParaRPr>
          </a:p>
          <a:p>
            <a:pPr indent="0" lvl="0" marL="0" rtl="0" algn="l">
              <a:spcBef>
                <a:spcPts val="400"/>
              </a:spcBef>
              <a:spcAft>
                <a:spcPts val="400"/>
              </a:spcAft>
              <a:buNone/>
            </a:pPr>
            <a:r>
              <a:rPr b="1" lang="en" sz="900">
                <a:solidFill>
                  <a:srgbClr val="16213A"/>
                </a:solidFill>
              </a:rPr>
              <a:t>Unclear</a:t>
            </a:r>
            <a:r>
              <a:rPr lang="en" sz="900">
                <a:solidFill>
                  <a:srgbClr val="16213A"/>
                </a:solidFill>
              </a:rPr>
              <a:t>: only praise or criticism, or no category clearly applies.</a:t>
            </a:r>
            <a:endParaRPr sz="900">
              <a:solidFill>
                <a:srgbClr val="16213A"/>
              </a:solidFill>
            </a:endParaRPr>
          </a:p>
        </p:txBody>
      </p:sp>
      <p:sp>
        <p:nvSpPr>
          <p:cNvPr id="63" name="Google Shape;63;p14"/>
          <p:cNvSpPr txBox="1"/>
          <p:nvPr/>
        </p:nvSpPr>
        <p:spPr>
          <a:xfrm>
            <a:off x="3911600" y="508000"/>
            <a:ext cx="48768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586274"/>
                </a:solidFill>
              </a:rPr>
              <a:t>The rules</a:t>
            </a:r>
            <a:endParaRPr b="1" sz="1000">
              <a:solidFill>
                <a:srgbClr val="586274"/>
              </a:solidFill>
            </a:endParaRPr>
          </a:p>
        </p:txBody>
      </p:sp>
      <p:sp>
        <p:nvSpPr>
          <p:cNvPr id="64" name="Google Shape;64;p14"/>
          <p:cNvSpPr txBox="1"/>
          <p:nvPr/>
        </p:nvSpPr>
        <p:spPr>
          <a:xfrm>
            <a:off x="3911600" y="736600"/>
            <a:ext cx="4876800" cy="419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50">
                <a:solidFill>
                  <a:srgbClr val="16213A"/>
                </a:solidFill>
              </a:rPr>
              <a:t>R0 Reading scope</a:t>
            </a:r>
            <a:r>
              <a:rPr lang="en" sz="850">
                <a:solidFill>
                  <a:srgbClr val="16213A"/>
                </a:solidFill>
              </a:rPr>
              <a:t>: Start from the target's sentence. Another sentence counts only if it refers back to the target ("they", "these methods", a list containing it). Never the section, the paragraph topic or other citations' claims.</a:t>
            </a:r>
            <a:endParaRPr sz="850">
              <a:solidFill>
                <a:srgbClr val="16213A"/>
              </a:solidFill>
            </a:endParaRPr>
          </a:p>
          <a:p>
            <a:pPr indent="0" lvl="0" marL="0" rtl="0" algn="l">
              <a:spcBef>
                <a:spcPts val="400"/>
              </a:spcBef>
              <a:spcAft>
                <a:spcPts val="0"/>
              </a:spcAft>
              <a:buNone/>
            </a:pPr>
            <a:r>
              <a:rPr b="1" lang="en" sz="850">
                <a:solidFill>
                  <a:srgbClr val="16213A"/>
                </a:solidFill>
              </a:rPr>
              <a:t>R-EV</a:t>
            </a:r>
            <a:r>
              <a:rPr lang="en" sz="850">
                <a:solidFill>
                  <a:srgbClr val="16213A"/>
                </a:solidFill>
              </a:rPr>
              <a:t>: Evidence = the target backs a claim of the citing authors, incl. the source that reports another method's limitation. Describing the target, or one example of a family = Background. Using it = Application.</a:t>
            </a:r>
            <a:endParaRPr sz="850">
              <a:solidFill>
                <a:srgbClr val="16213A"/>
              </a:solidFill>
            </a:endParaRPr>
          </a:p>
          <a:p>
            <a:pPr indent="0" lvl="0" marL="0" rtl="0" algn="l">
              <a:spcBef>
                <a:spcPts val="400"/>
              </a:spcBef>
              <a:spcAft>
                <a:spcPts val="0"/>
              </a:spcAft>
              <a:buNone/>
            </a:pPr>
            <a:r>
              <a:rPr b="1" lang="en" sz="850">
                <a:solidFill>
                  <a:srgbClr val="16213A"/>
                </a:solidFill>
              </a:rPr>
              <a:t>R-GAP</a:t>
            </a:r>
            <a:r>
              <a:rPr lang="en" sz="850">
                <a:solidFill>
                  <a:srgbClr val="16213A"/>
                </a:solidFill>
              </a:rPr>
              <a:t>: A limitation stated about a list makes each listed work Gap. Position test: citation right after the works, before the limitation = Gap; at the end of a statement about a limitation of something else = Evidence. A gap of the field with no limitation attributed to the works = Background.</a:t>
            </a:r>
            <a:endParaRPr sz="850">
              <a:solidFill>
                <a:srgbClr val="16213A"/>
              </a:solidFill>
            </a:endParaRPr>
          </a:p>
          <a:p>
            <a:pPr indent="0" lvl="0" marL="0" rtl="0" algn="l">
              <a:spcBef>
                <a:spcPts val="400"/>
              </a:spcBef>
              <a:spcAft>
                <a:spcPts val="0"/>
              </a:spcAft>
              <a:buNone/>
            </a:pPr>
            <a:r>
              <a:rPr b="1" lang="en" sz="850">
                <a:solidFill>
                  <a:srgbClr val="16213A"/>
                </a:solidFill>
              </a:rPr>
              <a:t>R-IM</a:t>
            </a:r>
            <a:r>
              <a:rPr lang="en" sz="850">
                <a:solidFill>
                  <a:srgbClr val="16213A"/>
                </a:solidFill>
              </a:rPr>
              <a:t>: "adapt / extend / modify [target's method]" = Improvement/Modification, even if the change is not described. "modify X as in [x]" = Application.</a:t>
            </a:r>
            <a:endParaRPr sz="850">
              <a:solidFill>
                <a:srgbClr val="16213A"/>
              </a:solidFill>
            </a:endParaRPr>
          </a:p>
          <a:p>
            <a:pPr indent="0" lvl="0" marL="0" rtl="0" algn="l">
              <a:spcBef>
                <a:spcPts val="400"/>
              </a:spcBef>
              <a:spcAft>
                <a:spcPts val="0"/>
              </a:spcAft>
              <a:buNone/>
            </a:pPr>
            <a:r>
              <a:rPr b="1" lang="en" sz="850">
                <a:solidFill>
                  <a:srgbClr val="16213A"/>
                </a:solidFill>
              </a:rPr>
              <a:t>R-CMP</a:t>
            </a:r>
            <a:r>
              <a:rPr lang="en" sz="850">
                <a:solidFill>
                  <a:srgbClr val="16213A"/>
                </a:solidFill>
              </a:rPr>
              <a:t>: Likening or contrasting the current work with the target = Comparison. A dataset detail of a compared work, or a family contrasted as a whole = Background.</a:t>
            </a:r>
            <a:endParaRPr sz="850">
              <a:solidFill>
                <a:srgbClr val="16213A"/>
              </a:solidFill>
            </a:endParaRPr>
          </a:p>
          <a:p>
            <a:pPr indent="0" lvl="0" marL="0" rtl="0" algn="l">
              <a:spcBef>
                <a:spcPts val="400"/>
              </a:spcBef>
              <a:spcAft>
                <a:spcPts val="0"/>
              </a:spcAft>
              <a:buNone/>
            </a:pPr>
            <a:r>
              <a:rPr b="1" lang="en" sz="850">
                <a:solidFill>
                  <a:srgbClr val="16213A"/>
                </a:solidFill>
              </a:rPr>
              <a:t>R-FR</a:t>
            </a:r>
            <a:r>
              <a:rPr lang="en" sz="850">
                <a:solidFill>
                  <a:srgbClr val="16213A"/>
                </a:solidFill>
              </a:rPr>
              <a:t>: A "see [x]" pointer = Further Reading, unless the sentence also compares or makes a claim the target supports (then that function; Further Reading secondary).</a:t>
            </a:r>
            <a:endParaRPr sz="850">
              <a:solidFill>
                <a:srgbClr val="16213A"/>
              </a:solidFill>
            </a:endParaRPr>
          </a:p>
          <a:p>
            <a:pPr indent="0" lvl="0" marL="0" rtl="0" algn="l">
              <a:spcBef>
                <a:spcPts val="400"/>
              </a:spcBef>
              <a:spcAft>
                <a:spcPts val="0"/>
              </a:spcAft>
              <a:buNone/>
            </a:pPr>
            <a:r>
              <a:rPr b="1" lang="en" sz="850">
                <a:solidFill>
                  <a:srgbClr val="16213A"/>
                </a:solidFill>
              </a:rPr>
              <a:t>Basis</a:t>
            </a:r>
            <a:r>
              <a:rPr lang="en" sz="850">
                <a:solidFill>
                  <a:srgbClr val="16213A"/>
                </a:solidFill>
              </a:rPr>
              <a:t>: Needs the current work as the subject of "build on / follow / extend". Other works based on [x] = Background.</a:t>
            </a:r>
            <a:endParaRPr sz="850">
              <a:solidFill>
                <a:srgbClr val="16213A"/>
              </a:solidFill>
            </a:endParaRPr>
          </a:p>
          <a:p>
            <a:pPr indent="0" lvl="0" marL="0" rtl="0" algn="l">
              <a:spcBef>
                <a:spcPts val="400"/>
              </a:spcBef>
              <a:spcAft>
                <a:spcPts val="400"/>
              </a:spcAft>
              <a:buNone/>
            </a:pPr>
            <a:r>
              <a:rPr b="1" lang="en" sz="850">
                <a:solidFill>
                  <a:srgbClr val="16213A"/>
                </a:solidFill>
              </a:rPr>
              <a:t>Pick one</a:t>
            </a:r>
            <a:r>
              <a:rPr lang="en" sz="850">
                <a:solidFill>
                  <a:srgbClr val="16213A"/>
                </a:solidFill>
              </a:rPr>
              <a:t>: The PRIMARY function: the one that applies most clearly to the target.</a:t>
            </a:r>
            <a:endParaRPr sz="850">
              <a:solidFill>
                <a:srgbClr val="16213A"/>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C01  ·  1 of 30  ·  vote in row C01</a:t>
            </a:r>
            <a:endParaRPr b="1" sz="1100">
              <a:solidFill>
                <a:srgbClr val="586274"/>
              </a:solidFill>
            </a:endParaRPr>
          </a:p>
        </p:txBody>
      </p:sp>
      <p:sp>
        <p:nvSpPr>
          <p:cNvPr id="70" name="Google Shape;70;p15"/>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16213A"/>
                </a:solidFill>
                <a:latin typeface="Georgia"/>
                <a:ea typeface="Georgia"/>
                <a:cs typeface="Georgia"/>
                <a:sym typeface="Georgia"/>
              </a:rPr>
              <a:t>We also added the input as Layer 0 which enables the tracker to benefit from NCC tracking, hence [FORMULA]input, conv1_1, conv2_1, conv3_1, conv4_1, conv5_1[FORMULA] .In our implementation, [FORMULA] , regularization weights [FORMULA] are determined with cross-validation on YouTubeBB </a:t>
            </a:r>
            <a:r>
              <a:rPr b="1" lang="en" sz="1500">
                <a:solidFill>
                  <a:srgbClr val="6B3A06"/>
                </a:solidFill>
                <a:highlight>
                  <a:srgbClr val="FCE7C8"/>
                </a:highlight>
                <a:latin typeface="Georgia"/>
                <a:ea typeface="Georgia"/>
                <a:cs typeface="Georgia"/>
                <a:sym typeface="Georgia"/>
              </a:rPr>
              <a:t>[[TARGET]]</a:t>
            </a:r>
            <a:r>
              <a:rPr lang="en" sz="1500">
                <a:solidFill>
                  <a:srgbClr val="16213A"/>
                </a:solidFill>
                <a:latin typeface="Georgia"/>
                <a:ea typeface="Georgia"/>
                <a:cs typeface="Georgia"/>
                <a:sym typeface="Georgia"/>
              </a:rPr>
              <a:t> and are fixed for all the experiments, others parameters are similar to [CITE].</a:t>
            </a:r>
            <a:endParaRPr sz="1500">
              <a:solidFill>
                <a:srgbClr val="16213A"/>
              </a:solidFill>
              <a:latin typeface="Georgia"/>
              <a:ea typeface="Georgia"/>
              <a:cs typeface="Georgia"/>
              <a:sym typeface="Georgia"/>
            </a:endParaRPr>
          </a:p>
        </p:txBody>
      </p:sp>
      <p:sp>
        <p:nvSpPr>
          <p:cNvPr id="71" name="Google Shape;71;p15"/>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33405A"/>
                </a:solidFill>
              </a:rPr>
              <a:t>We used VGG19 network consisting of 16 convolutional and 5 max-pooling layers, as implemented in MatConvNet[CITE] and pre-trained on the ImageNet dataset for the image classification.</a:t>
            </a:r>
            <a:endParaRPr sz="1000">
              <a:solidFill>
                <a:srgbClr val="33405A"/>
              </a:solidFill>
            </a:endParaRPr>
          </a:p>
          <a:p>
            <a:pPr indent="0" lvl="0" marL="0" rtl="0" algn="l">
              <a:spcBef>
                <a:spcPts val="0"/>
              </a:spcBef>
              <a:spcAft>
                <a:spcPts val="0"/>
              </a:spcAft>
              <a:buNone/>
            </a:pPr>
            <a:r>
              <a:rPr lang="en" sz="1000">
                <a:solidFill>
                  <a:srgbClr val="33405A"/>
                </a:solidFill>
              </a:rPr>
              <a:t>To be constistant with [CITE] and [CITE], we used the conv layers after the pooling</a:t>
            </a:r>
            <a:endParaRPr sz="1000">
              <a:solidFill>
                <a:srgbClr val="33405A"/>
              </a:solidFill>
            </a:endParaRPr>
          </a:p>
          <a:p>
            <a:pPr indent="0" lvl="0" marL="0" rtl="0" algn="l">
              <a:spcBef>
                <a:spcPts val="0"/>
              </a:spcBef>
              <a:spcAft>
                <a:spcPts val="0"/>
              </a:spcAft>
              <a:buNone/>
            </a:pPr>
            <a:r>
              <a:rPr lang="en" sz="1000">
                <a:solidFill>
                  <a:srgbClr val="33405A"/>
                </a:solidFill>
              </a:rPr>
              <a:t>. We also added the input as Layer 0 which enables the tracker to benefit from NCC tracking, hence [FORMULA]input, conv1_1, conv2_1, conv3_1, conv4_1, conv5_1[FORMULA] .In our implementation, [FORMULA] , regularization weights [FORMULA] are determined with cross-validation on YouTubeBB </a:t>
            </a:r>
            <a:r>
              <a:rPr b="1" lang="en" sz="1000">
                <a:solidFill>
                  <a:srgbClr val="6B3A06"/>
                </a:solidFill>
                <a:highlight>
                  <a:srgbClr val="FCE7C8"/>
                </a:highlight>
              </a:rPr>
              <a:t>[[TARGET]]</a:t>
            </a:r>
            <a:r>
              <a:rPr lang="en" sz="1000">
                <a:solidFill>
                  <a:srgbClr val="33405A"/>
                </a:solidFill>
              </a:rPr>
              <a:t> and are fixed for all the experiments, others parameters are similar to [CITE].</a:t>
            </a:r>
            <a:endParaRPr sz="1000">
              <a:solidFill>
                <a:srgbClr val="33405A"/>
              </a:solidFill>
            </a:endParaRPr>
          </a:p>
        </p:txBody>
      </p:sp>
      <p:sp>
        <p:nvSpPr>
          <p:cNvPr id="72" name="Google Shape;72;p15"/>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YouTube-BoundingBoxes: A Large High-Precision Human-Annotated Data Set  for Object Detection in Video</a:t>
            </a:r>
            <a:endParaRPr b="1" sz="1100">
              <a:solidFill>
                <a:srgbClr val="16213A"/>
              </a:solidFill>
            </a:endParaRPr>
          </a:p>
        </p:txBody>
      </p:sp>
      <p:sp>
        <p:nvSpPr>
          <p:cNvPr id="73" name="Google Shape;73;p15"/>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586274"/>
                </a:solidFill>
              </a:rPr>
              <a:t>We introduce a new large-scale data set of video URLs with densely-sampled</a:t>
            </a:r>
            <a:endParaRPr sz="1000">
              <a:solidFill>
                <a:srgbClr val="586274"/>
              </a:solidFill>
            </a:endParaRPr>
          </a:p>
          <a:p>
            <a:pPr indent="0" lvl="0" marL="0" rtl="0" algn="l">
              <a:spcBef>
                <a:spcPts val="0"/>
              </a:spcBef>
              <a:spcAft>
                <a:spcPts val="0"/>
              </a:spcAft>
              <a:buNone/>
            </a:pPr>
            <a:r>
              <a:rPr lang="en" sz="1000">
                <a:solidFill>
                  <a:srgbClr val="586274"/>
                </a:solidFill>
              </a:rPr>
              <a:t>object bounding box annotations called YouTube-BoundingBoxes (YT-BB). The data</a:t>
            </a:r>
            <a:endParaRPr sz="1000">
              <a:solidFill>
                <a:srgbClr val="586274"/>
              </a:solidFill>
            </a:endParaRPr>
          </a:p>
          <a:p>
            <a:pPr indent="0" lvl="0" marL="0" rtl="0" algn="l">
              <a:spcBef>
                <a:spcPts val="0"/>
              </a:spcBef>
              <a:spcAft>
                <a:spcPts val="0"/>
              </a:spcAft>
              <a:buNone/>
            </a:pPr>
            <a:r>
              <a:rPr lang="en" sz="1000">
                <a:solidFill>
                  <a:srgbClr val="586274"/>
                </a:solidFill>
              </a:rPr>
              <a:t>set consists of approximately 380,000 video segments about 19s long,</a:t>
            </a:r>
            <a:endParaRPr sz="1000">
              <a:solidFill>
                <a:srgbClr val="586274"/>
              </a:solidFill>
            </a:endParaRPr>
          </a:p>
          <a:p>
            <a:pPr indent="0" lvl="0" marL="0" rtl="0" algn="l">
              <a:spcBef>
                <a:spcPts val="0"/>
              </a:spcBef>
              <a:spcAft>
                <a:spcPts val="0"/>
              </a:spcAft>
              <a:buNone/>
            </a:pPr>
            <a:r>
              <a:rPr lang="en" sz="1000">
                <a:solidFill>
                  <a:srgbClr val="586274"/>
                </a:solidFill>
              </a:rPr>
              <a:t>automatically selected to feature objects in natural settings without editing</a:t>
            </a:r>
            <a:endParaRPr sz="1000">
              <a:solidFill>
                <a:srgbClr val="586274"/>
              </a:solidFill>
            </a:endParaRPr>
          </a:p>
          <a:p>
            <a:pPr indent="0" lvl="0" marL="0" rtl="0" algn="l">
              <a:spcBef>
                <a:spcPts val="0"/>
              </a:spcBef>
              <a:spcAft>
                <a:spcPts val="0"/>
              </a:spcAft>
              <a:buNone/>
            </a:pPr>
            <a:r>
              <a:rPr lang="en" sz="1000">
                <a:solidFill>
                  <a:srgbClr val="586274"/>
                </a:solidFill>
              </a:rPr>
              <a:t>or post-processing, with a recording quality often akin to that of a hand-held</a:t>
            </a:r>
            <a:endParaRPr sz="1000">
              <a:solidFill>
                <a:srgbClr val="586274"/>
              </a:solidFill>
            </a:endParaRPr>
          </a:p>
          <a:p>
            <a:pPr indent="0" lvl="0" marL="0" rtl="0" algn="l">
              <a:spcBef>
                <a:spcPts val="0"/>
              </a:spcBef>
              <a:spcAft>
                <a:spcPts val="0"/>
              </a:spcAft>
              <a:buNone/>
            </a:pPr>
            <a:r>
              <a:rPr lang="en" sz="1000">
                <a:solidFill>
                  <a:srgbClr val="586274"/>
                </a:solidFill>
              </a:rPr>
              <a:t>cell phone camera. The objects [...]</a:t>
            </a:r>
            <a:endParaRPr sz="1000">
              <a:solidFill>
                <a:srgbClr val="586274"/>
              </a:solidFill>
            </a:endParaRPr>
          </a:p>
        </p:txBody>
      </p:sp>
      <p:sp>
        <p:nvSpPr>
          <p:cNvPr id="74" name="Google Shape;74;p15"/>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C01  ·  answer</a:t>
            </a:r>
            <a:endParaRPr b="1" sz="1100">
              <a:solidFill>
                <a:srgbClr val="586274"/>
              </a:solidFill>
            </a:endParaRPr>
          </a:p>
        </p:txBody>
      </p:sp>
      <p:sp>
        <p:nvSpPr>
          <p:cNvPr id="80" name="Google Shape;80;p16"/>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We also added the input as Layer 0 which enables the tracker to benefit from NCC tracking, hence [FORMULA]input, conv1_1, conv2_1, conv3_1, conv4_1, conv5_1[FORMULA] .In our implementation, [FORMULA] , regularization weights [FORMULA] are determined with cross-validation on YouTubeBB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and are fixed for all the experiments, others parameters are similar to [CITE].</a:t>
            </a:r>
            <a:endParaRPr sz="1300">
              <a:solidFill>
                <a:srgbClr val="33405A"/>
              </a:solidFill>
              <a:latin typeface="Georgia"/>
              <a:ea typeface="Georgia"/>
              <a:cs typeface="Georgia"/>
              <a:sym typeface="Georgia"/>
            </a:endParaRPr>
          </a:p>
        </p:txBody>
      </p:sp>
      <p:sp>
        <p:nvSpPr>
          <p:cNvPr id="81" name="Google Shape;81;p16"/>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Application</a:t>
            </a:r>
            <a:endParaRPr b="1" sz="2800">
              <a:solidFill>
                <a:srgbClr val="1F7A4D"/>
              </a:solidFill>
              <a:latin typeface="Georgia"/>
              <a:ea typeface="Georgia"/>
              <a:cs typeface="Georgia"/>
              <a:sym typeface="Georgia"/>
            </a:endParaRPr>
          </a:p>
        </p:txBody>
      </p:sp>
      <p:sp>
        <p:nvSpPr>
          <p:cNvPr id="82" name="Google Shape;82;p16"/>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 </a:t>
            </a:r>
            <a:endParaRPr>
              <a:solidFill>
                <a:srgbClr val="586274"/>
              </a:solidFill>
            </a:endParaRPr>
          </a:p>
        </p:txBody>
      </p:sp>
      <p:sp>
        <p:nvSpPr>
          <p:cNvPr id="83" name="Google Shape;83;p16"/>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R-EV: The current work uses the target's dataset (YouTubeBB) in its own experiments: Application.</a:t>
            </a:r>
            <a:endParaRPr>
              <a:solidFill>
                <a:srgbClr val="16213A"/>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C02  ·  2 of 30  ·  vote in row C02</a:t>
            </a:r>
            <a:endParaRPr b="1" sz="1100">
              <a:solidFill>
                <a:srgbClr val="586274"/>
              </a:solidFill>
            </a:endParaRPr>
          </a:p>
        </p:txBody>
      </p:sp>
      <p:sp>
        <p:nvSpPr>
          <p:cNvPr id="89" name="Google Shape;89;p17"/>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The SINet-Caption is inspired by prior work using hierarchical LSTM for captioning task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[CITE], and we extend it with the proposed recurrent higher-order interaction module so that the model can leverage the detected higher-order object interactions, as shown in Figure REF .</a:t>
            </a:r>
            <a:endParaRPr sz="1600">
              <a:solidFill>
                <a:srgbClr val="16213A"/>
              </a:solidFill>
              <a:latin typeface="Georgia"/>
              <a:ea typeface="Georgia"/>
              <a:cs typeface="Georgia"/>
              <a:sym typeface="Georgia"/>
            </a:endParaRPr>
          </a:p>
        </p:txBody>
      </p:sp>
      <p:sp>
        <p:nvSpPr>
          <p:cNvPr id="90" name="Google Shape;90;p17"/>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The SINet-Caption is inspired by prior work using hierarchical LSTM for captioning task </a:t>
            </a:r>
            <a:r>
              <a:rPr b="1" lang="en" sz="900">
                <a:solidFill>
                  <a:srgbClr val="6B3A06"/>
                </a:solidFill>
                <a:highlight>
                  <a:srgbClr val="FCE7C8"/>
                </a:highlight>
              </a:rPr>
              <a:t>[[TARGET]]</a:t>
            </a:r>
            <a:r>
              <a:rPr lang="en" sz="900">
                <a:solidFill>
                  <a:srgbClr val="33405A"/>
                </a:solidFill>
              </a:rPr>
              <a:t>, [CITE], and we extend it with the proposed recurrent higher-order interaction module so that the model can leverage the detected higher-order object interactions, as shown in Figure REF .</a:t>
            </a:r>
            <a:endParaRPr sz="900">
              <a:solidFill>
                <a:srgbClr val="33405A"/>
              </a:solidFill>
            </a:endParaRPr>
          </a:p>
          <a:p>
            <a:pPr indent="0" lvl="0" marL="0" rtl="0" algn="l">
              <a:spcBef>
                <a:spcPts val="0"/>
              </a:spcBef>
              <a:spcAft>
                <a:spcPts val="0"/>
              </a:spcAft>
              <a:buNone/>
            </a:pPr>
            <a:r>
              <a:rPr lang="en" sz="900">
                <a:solidFill>
                  <a:srgbClr val="33405A"/>
                </a:solidFill>
              </a:rPr>
              <a:t>The model consist of two LSTM layers: Attention LSTM and Language LSTM.</a:t>
            </a:r>
            <a:endParaRPr sz="900">
              <a:solidFill>
                <a:srgbClr val="33405A"/>
              </a:solidFill>
            </a:endParaRPr>
          </a:p>
        </p:txBody>
      </p:sp>
      <p:sp>
        <p:nvSpPr>
          <p:cNvPr id="91" name="Google Shape;91;p17"/>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Bottom-Up and Top-Down Attention for Image Captioning and Visual  Question Answering</a:t>
            </a:r>
            <a:endParaRPr b="1" sz="1100">
              <a:solidFill>
                <a:srgbClr val="16213A"/>
              </a:solidFill>
            </a:endParaRPr>
          </a:p>
        </p:txBody>
      </p:sp>
      <p:sp>
        <p:nvSpPr>
          <p:cNvPr id="92" name="Google Shape;92;p17"/>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Top-down visual attention mechanisms have been used extensively in image</a:t>
            </a:r>
            <a:endParaRPr sz="900">
              <a:solidFill>
                <a:srgbClr val="586274"/>
              </a:solidFill>
            </a:endParaRPr>
          </a:p>
          <a:p>
            <a:pPr indent="0" lvl="0" marL="0" rtl="0" algn="l">
              <a:spcBef>
                <a:spcPts val="0"/>
              </a:spcBef>
              <a:spcAft>
                <a:spcPts val="0"/>
              </a:spcAft>
              <a:buNone/>
            </a:pPr>
            <a:r>
              <a:rPr lang="en" sz="900">
                <a:solidFill>
                  <a:srgbClr val="586274"/>
                </a:solidFill>
              </a:rPr>
              <a:t>captioning and visual question answering (VQA) to enable deeper image</a:t>
            </a:r>
            <a:endParaRPr sz="900">
              <a:solidFill>
                <a:srgbClr val="586274"/>
              </a:solidFill>
            </a:endParaRPr>
          </a:p>
          <a:p>
            <a:pPr indent="0" lvl="0" marL="0" rtl="0" algn="l">
              <a:spcBef>
                <a:spcPts val="0"/>
              </a:spcBef>
              <a:spcAft>
                <a:spcPts val="0"/>
              </a:spcAft>
              <a:buNone/>
            </a:pPr>
            <a:r>
              <a:rPr lang="en" sz="900">
                <a:solidFill>
                  <a:srgbClr val="586274"/>
                </a:solidFill>
              </a:rPr>
              <a:t>understanding through fine-grained analysis and even multiple steps of</a:t>
            </a:r>
            <a:endParaRPr sz="900">
              <a:solidFill>
                <a:srgbClr val="586274"/>
              </a:solidFill>
            </a:endParaRPr>
          </a:p>
          <a:p>
            <a:pPr indent="0" lvl="0" marL="0" rtl="0" algn="l">
              <a:spcBef>
                <a:spcPts val="0"/>
              </a:spcBef>
              <a:spcAft>
                <a:spcPts val="0"/>
              </a:spcAft>
              <a:buNone/>
            </a:pPr>
            <a:r>
              <a:rPr lang="en" sz="900">
                <a:solidFill>
                  <a:srgbClr val="586274"/>
                </a:solidFill>
              </a:rPr>
              <a:t>reasoning. In this work, we propose a combined bottom-up and top-down attention</a:t>
            </a:r>
            <a:endParaRPr sz="900">
              <a:solidFill>
                <a:srgbClr val="586274"/>
              </a:solidFill>
            </a:endParaRPr>
          </a:p>
          <a:p>
            <a:pPr indent="0" lvl="0" marL="0" rtl="0" algn="l">
              <a:spcBef>
                <a:spcPts val="0"/>
              </a:spcBef>
              <a:spcAft>
                <a:spcPts val="0"/>
              </a:spcAft>
              <a:buNone/>
            </a:pPr>
            <a:r>
              <a:rPr lang="en" sz="900">
                <a:solidFill>
                  <a:srgbClr val="586274"/>
                </a:solidFill>
              </a:rPr>
              <a:t>mechanism that enables attention to be calculated at the level of objects and</a:t>
            </a:r>
            <a:endParaRPr sz="900">
              <a:solidFill>
                <a:srgbClr val="586274"/>
              </a:solidFill>
            </a:endParaRPr>
          </a:p>
          <a:p>
            <a:pPr indent="0" lvl="0" marL="0" rtl="0" algn="l">
              <a:spcBef>
                <a:spcPts val="0"/>
              </a:spcBef>
              <a:spcAft>
                <a:spcPts val="0"/>
              </a:spcAft>
              <a:buNone/>
            </a:pPr>
            <a:r>
              <a:rPr lang="en" sz="900">
                <a:solidFill>
                  <a:srgbClr val="586274"/>
                </a:solidFill>
              </a:rPr>
              <a:t>other salient image regions. This is the [...]</a:t>
            </a:r>
            <a:endParaRPr sz="900">
              <a:solidFill>
                <a:srgbClr val="586274"/>
              </a:solidFill>
            </a:endParaRPr>
          </a:p>
        </p:txBody>
      </p:sp>
      <p:sp>
        <p:nvSpPr>
          <p:cNvPr id="93" name="Google Shape;93;p17"/>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C02  ·  answer</a:t>
            </a:r>
            <a:endParaRPr b="1" sz="1100">
              <a:solidFill>
                <a:srgbClr val="586274"/>
              </a:solidFill>
            </a:endParaRPr>
          </a:p>
        </p:txBody>
      </p:sp>
      <p:sp>
        <p:nvSpPr>
          <p:cNvPr id="99" name="Google Shape;99;p18"/>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The SINet-Caption is inspired by prior work using hierarchical LSTM for captioning task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[CITE], and we extend it with the proposed recurrent higher-order interaction module so that the model can leverage the detected higher-order object interactions, as shown in Figure REF .</a:t>
            </a:r>
            <a:endParaRPr sz="1300">
              <a:solidFill>
                <a:srgbClr val="33405A"/>
              </a:solidFill>
              <a:latin typeface="Georgia"/>
              <a:ea typeface="Georgia"/>
              <a:cs typeface="Georgia"/>
              <a:sym typeface="Georgia"/>
            </a:endParaRPr>
          </a:p>
        </p:txBody>
      </p:sp>
      <p:sp>
        <p:nvSpPr>
          <p:cNvPr id="100" name="Google Shape;100;p18"/>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Basis</a:t>
            </a:r>
            <a:endParaRPr b="1" sz="2800">
              <a:solidFill>
                <a:srgbClr val="1F7A4D"/>
              </a:solidFill>
              <a:latin typeface="Georgia"/>
              <a:ea typeface="Georgia"/>
              <a:cs typeface="Georgia"/>
              <a:sym typeface="Georgia"/>
            </a:endParaRPr>
          </a:p>
        </p:txBody>
      </p:sp>
      <p:sp>
        <p:nvSpPr>
          <p:cNvPr id="101" name="Google Shape;101;p18"/>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Also acceptable: Improvement/Modification</a:t>
            </a:r>
            <a:endParaRPr>
              <a:solidFill>
                <a:srgbClr val="586274"/>
              </a:solidFill>
            </a:endParaRPr>
          </a:p>
        </p:txBody>
      </p:sp>
      <p:sp>
        <p:nvSpPr>
          <p:cNvPr id="102" name="Google Shape;102;p18"/>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R-EV, R-IM: 'Inspired by [T] … and we extend it': the current work builds on the target's model as its starting point; 'extend it' can also be read as adapting the target's method.</a:t>
            </a:r>
            <a:endParaRPr>
              <a:solidFill>
                <a:srgbClr val="16213A"/>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C03  ·  3 of 30  ·  vote in row C03</a:t>
            </a:r>
            <a:endParaRPr b="1" sz="1100">
              <a:solidFill>
                <a:srgbClr val="586274"/>
              </a:solidFill>
            </a:endParaRPr>
          </a:p>
        </p:txBody>
      </p:sp>
      <p:sp>
        <p:nvSpPr>
          <p:cNvPr id="108" name="Google Shape;108;p19"/>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For a detailed survey we refer the reader to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[CITE], [CITE], while here we provide a brief literature review.</a:t>
            </a:r>
            <a:endParaRPr sz="1600">
              <a:solidFill>
                <a:srgbClr val="16213A"/>
              </a:solidFill>
              <a:latin typeface="Georgia"/>
              <a:ea typeface="Georgia"/>
              <a:cs typeface="Georgia"/>
              <a:sym typeface="Georgia"/>
            </a:endParaRPr>
          </a:p>
        </p:txBody>
      </p:sp>
      <p:sp>
        <p:nvSpPr>
          <p:cNvPr id="109" name="Google Shape;109;p19"/>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Skeleton-based action recognition has attracted growing attention in the realm of computer vision and a variety of methods have been proposed over the past decades.</a:t>
            </a:r>
            <a:endParaRPr sz="900">
              <a:solidFill>
                <a:srgbClr val="33405A"/>
              </a:solidFill>
            </a:endParaRPr>
          </a:p>
          <a:p>
            <a:pPr indent="0" lvl="0" marL="0" rtl="0" algn="l">
              <a:spcBef>
                <a:spcPts val="0"/>
              </a:spcBef>
              <a:spcAft>
                <a:spcPts val="0"/>
              </a:spcAft>
              <a:buNone/>
            </a:pPr>
            <a:r>
              <a:rPr lang="en" sz="900">
                <a:solidFill>
                  <a:srgbClr val="33405A"/>
                </a:solidFill>
              </a:rPr>
              <a:t>For a detailed survey we refer the reader to </a:t>
            </a:r>
            <a:r>
              <a:rPr b="1" lang="en" sz="900">
                <a:solidFill>
                  <a:srgbClr val="6B3A06"/>
                </a:solidFill>
                <a:highlight>
                  <a:srgbClr val="FCE7C8"/>
                </a:highlight>
              </a:rPr>
              <a:t>[[TARGET]]</a:t>
            </a:r>
            <a:r>
              <a:rPr lang="en" sz="900">
                <a:solidFill>
                  <a:srgbClr val="33405A"/>
                </a:solidFill>
              </a:rPr>
              <a:t>, [CITE], [CITE], while here we provide a brief literature review.</a:t>
            </a:r>
            <a:endParaRPr sz="900">
              <a:solidFill>
                <a:srgbClr val="33405A"/>
              </a:solidFill>
            </a:endParaRPr>
          </a:p>
          <a:p>
            <a:pPr indent="0" lvl="0" marL="0" rtl="0" algn="l">
              <a:spcBef>
                <a:spcPts val="0"/>
              </a:spcBef>
              <a:spcAft>
                <a:spcPts val="0"/>
              </a:spcAft>
              <a:buNone/>
            </a:pPr>
            <a:r>
              <a:rPr lang="en" sz="900">
                <a:solidFill>
                  <a:srgbClr val="33405A"/>
                </a:solidFill>
              </a:rPr>
              <a:t>The early works on skeleton-based action recognition are based on hand-crafted features [CITE], [CITE], [CITE], [CITE],</a:t>
            </a:r>
            <a:endParaRPr sz="900">
              <a:solidFill>
                <a:srgbClr val="33405A"/>
              </a:solidFill>
            </a:endParaRPr>
          </a:p>
          <a:p>
            <a:pPr indent="0" lvl="0" marL="0" rtl="0" algn="l">
              <a:spcBef>
                <a:spcPts val="0"/>
              </a:spcBef>
              <a:spcAft>
                <a:spcPts val="0"/>
              </a:spcAft>
              <a:buNone/>
            </a:pPr>
            <a:r>
              <a:rPr lang="en" sz="900">
                <a:solidFill>
                  <a:srgbClr val="33405A"/>
                </a:solidFill>
              </a:rPr>
              <a:t>while recent approaches are devised by designing deep neural networks (DNNs) like convolutional neural networks</a:t>
            </a:r>
            <a:endParaRPr sz="900">
              <a:solidFill>
                <a:srgbClr val="33405A"/>
              </a:solidFill>
            </a:endParaRPr>
          </a:p>
          <a:p>
            <a:pPr indent="0" lvl="0" marL="0" rtl="0" algn="l">
              <a:spcBef>
                <a:spcPts val="0"/>
              </a:spcBef>
              <a:spcAft>
                <a:spcPts val="0"/>
              </a:spcAft>
              <a:buNone/>
            </a:pPr>
            <a:r>
              <a:rPr lang="en" sz="900">
                <a:solidFill>
                  <a:srgbClr val="33405A"/>
                </a:solidFill>
              </a:rPr>
              <a:t>(CNNs) [CITE], [CITE], [CITE] and recurrent neural networks (RNNs) [CITE], [CITE], [CITE].</a:t>
            </a:r>
            <a:endParaRPr sz="900">
              <a:solidFill>
                <a:srgbClr val="33405A"/>
              </a:solidFill>
            </a:endParaRPr>
          </a:p>
          <a:p>
            <a:pPr indent="0" lvl="0" marL="0" rtl="0" algn="l">
              <a:spcBef>
                <a:spcPts val="0"/>
              </a:spcBef>
              <a:spcAft>
                <a:spcPts val="0"/>
              </a:spcAft>
              <a:buNone/>
            </a:pPr>
            <a:r>
              <a:rPr lang="en" sz="900">
                <a:solidFill>
                  <a:srgbClr val="33405A"/>
                </a:solidFill>
              </a:rPr>
              <a:t>In order to better capture the relationship of different joints in the spatial domain or dependency of different frames in the temporal domain,</a:t>
            </a:r>
            <a:endParaRPr sz="900">
              <a:solidFill>
                <a:srgbClr val="33405A"/>
              </a:solidFill>
            </a:endParaRPr>
          </a:p>
          <a:p>
            <a:pPr indent="0" lvl="0" marL="0" rtl="0" algn="l">
              <a:spcBef>
                <a:spcPts val="0"/>
              </a:spcBef>
              <a:spcAft>
                <a:spcPts val="0"/>
              </a:spcAft>
              <a:buNone/>
            </a:pPr>
            <a:r>
              <a:rPr lang="en" sz="900">
                <a:solidFill>
                  <a:srgbClr val="33405A"/>
                </a:solidFill>
              </a:rPr>
              <a:t>a number of works utilized the attention mechanisms [CITE], [CITE], [CITE] and</a:t>
            </a:r>
            <a:endParaRPr sz="900">
              <a:solidFill>
                <a:srgbClr val="33405A"/>
              </a:solidFill>
            </a:endParaRPr>
          </a:p>
          <a:p>
            <a:pPr indent="0" lvl="0" marL="0" rtl="0" algn="l">
              <a:spcBef>
                <a:spcPts val="0"/>
              </a:spcBef>
              <a:spcAft>
                <a:spcPts val="0"/>
              </a:spcAft>
              <a:buNone/>
            </a:pPr>
            <a:r>
              <a:rPr lang="en" sz="900">
                <a:solidFill>
                  <a:srgbClr val="33405A"/>
                </a:solidFill>
              </a:rPr>
              <a:t>graph neural networks (GNNs) [CITE], [CITE], [CITE], [CITE], [...]</a:t>
            </a:r>
            <a:endParaRPr sz="900">
              <a:solidFill>
                <a:srgbClr val="33405A"/>
              </a:solidFill>
            </a:endParaRPr>
          </a:p>
        </p:txBody>
      </p:sp>
      <p:sp>
        <p:nvSpPr>
          <p:cNvPr id="110" name="Google Shape;110;p19"/>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Space-Time Representation of People Based on 3D Skeletal Data: A Review</a:t>
            </a:r>
            <a:endParaRPr b="1" sz="1100">
              <a:solidFill>
                <a:srgbClr val="16213A"/>
              </a:solidFill>
            </a:endParaRPr>
          </a:p>
        </p:txBody>
      </p:sp>
      <p:sp>
        <p:nvSpPr>
          <p:cNvPr id="111" name="Google Shape;111;p19"/>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Spatiotemporal human representation based on 3D visual perception data is a</a:t>
            </a:r>
            <a:endParaRPr sz="900">
              <a:solidFill>
                <a:srgbClr val="586274"/>
              </a:solidFill>
            </a:endParaRPr>
          </a:p>
          <a:p>
            <a:pPr indent="0" lvl="0" marL="0" rtl="0" algn="l">
              <a:spcBef>
                <a:spcPts val="0"/>
              </a:spcBef>
              <a:spcAft>
                <a:spcPts val="0"/>
              </a:spcAft>
              <a:buNone/>
            </a:pPr>
            <a:r>
              <a:rPr lang="en" sz="900">
                <a:solidFill>
                  <a:srgbClr val="586274"/>
                </a:solidFill>
              </a:rPr>
              <a:t>rapidly growing research area. Based on the information sources, these</a:t>
            </a:r>
            <a:endParaRPr sz="900">
              <a:solidFill>
                <a:srgbClr val="586274"/>
              </a:solidFill>
            </a:endParaRPr>
          </a:p>
          <a:p>
            <a:pPr indent="0" lvl="0" marL="0" rtl="0" algn="l">
              <a:spcBef>
                <a:spcPts val="0"/>
              </a:spcBef>
              <a:spcAft>
                <a:spcPts val="0"/>
              </a:spcAft>
              <a:buNone/>
            </a:pPr>
            <a:r>
              <a:rPr lang="en" sz="900">
                <a:solidFill>
                  <a:srgbClr val="586274"/>
                </a:solidFill>
              </a:rPr>
              <a:t>representations can be broadly categorized into two groups based on RGB-D</a:t>
            </a:r>
            <a:endParaRPr sz="900">
              <a:solidFill>
                <a:srgbClr val="586274"/>
              </a:solidFill>
            </a:endParaRPr>
          </a:p>
          <a:p>
            <a:pPr indent="0" lvl="0" marL="0" rtl="0" algn="l">
              <a:spcBef>
                <a:spcPts val="0"/>
              </a:spcBef>
              <a:spcAft>
                <a:spcPts val="0"/>
              </a:spcAft>
              <a:buNone/>
            </a:pPr>
            <a:r>
              <a:rPr lang="en" sz="900">
                <a:solidFill>
                  <a:srgbClr val="586274"/>
                </a:solidFill>
              </a:rPr>
              <a:t>information or 3D skeleton data. Recently, skeleton-based human representations</a:t>
            </a:r>
            <a:endParaRPr sz="900">
              <a:solidFill>
                <a:srgbClr val="586274"/>
              </a:solidFill>
            </a:endParaRPr>
          </a:p>
          <a:p>
            <a:pPr indent="0" lvl="0" marL="0" rtl="0" algn="l">
              <a:spcBef>
                <a:spcPts val="0"/>
              </a:spcBef>
              <a:spcAft>
                <a:spcPts val="0"/>
              </a:spcAft>
              <a:buNone/>
            </a:pPr>
            <a:r>
              <a:rPr lang="en" sz="900">
                <a:solidFill>
                  <a:srgbClr val="586274"/>
                </a:solidFill>
              </a:rPr>
              <a:t>have been intensively studied and kept attracting an increasing attention, due</a:t>
            </a:r>
            <a:endParaRPr sz="900">
              <a:solidFill>
                <a:srgbClr val="586274"/>
              </a:solidFill>
            </a:endParaRPr>
          </a:p>
          <a:p>
            <a:pPr indent="0" lvl="0" marL="0" rtl="0" algn="l">
              <a:spcBef>
                <a:spcPts val="0"/>
              </a:spcBef>
              <a:spcAft>
                <a:spcPts val="0"/>
              </a:spcAft>
              <a:buNone/>
            </a:pPr>
            <a:r>
              <a:rPr lang="en" sz="900">
                <a:solidFill>
                  <a:srgbClr val="586274"/>
                </a:solidFill>
              </a:rPr>
              <a:t>to their robustness to variations of [...]</a:t>
            </a:r>
            <a:endParaRPr sz="900">
              <a:solidFill>
                <a:srgbClr val="586274"/>
              </a:solidFill>
            </a:endParaRPr>
          </a:p>
        </p:txBody>
      </p:sp>
      <p:sp>
        <p:nvSpPr>
          <p:cNvPr id="112" name="Google Shape;112;p19"/>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C03  ·  answer</a:t>
            </a:r>
            <a:endParaRPr b="1" sz="1100">
              <a:solidFill>
                <a:srgbClr val="586274"/>
              </a:solidFill>
            </a:endParaRPr>
          </a:p>
        </p:txBody>
      </p:sp>
      <p:sp>
        <p:nvSpPr>
          <p:cNvPr id="118" name="Google Shape;118;p20"/>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For a detailed survey we refer the reader to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[CITE], [CITE], while here we provide a brief literature review.</a:t>
            </a:r>
            <a:endParaRPr sz="1300">
              <a:solidFill>
                <a:srgbClr val="33405A"/>
              </a:solidFill>
              <a:latin typeface="Georgia"/>
              <a:ea typeface="Georgia"/>
              <a:cs typeface="Georgia"/>
              <a:sym typeface="Georgia"/>
            </a:endParaRPr>
          </a:p>
        </p:txBody>
      </p:sp>
      <p:sp>
        <p:nvSpPr>
          <p:cNvPr id="119" name="Google Shape;119;p20"/>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Further Reading</a:t>
            </a:r>
            <a:endParaRPr b="1" sz="2800">
              <a:solidFill>
                <a:srgbClr val="1F7A4D"/>
              </a:solidFill>
              <a:latin typeface="Georgia"/>
              <a:ea typeface="Georgia"/>
              <a:cs typeface="Georgia"/>
              <a:sym typeface="Georgia"/>
            </a:endParaRPr>
          </a:p>
        </p:txBody>
      </p:sp>
      <p:sp>
        <p:nvSpPr>
          <p:cNvPr id="120" name="Google Shape;120;p20"/>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 </a:t>
            </a:r>
            <a:endParaRPr>
              <a:solidFill>
                <a:srgbClr val="586274"/>
              </a:solidFill>
            </a:endParaRPr>
          </a:p>
        </p:txBody>
      </p:sp>
      <p:sp>
        <p:nvSpPr>
          <p:cNvPr id="121" name="Google Shape;121;p20"/>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R-FR: 'For a detailed survey we refer the reader to [T]': a pointer, no other function.</a:t>
            </a:r>
            <a:endParaRPr>
              <a:solidFill>
                <a:srgbClr val="16213A"/>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C04  ·  4 of 30  ·  vote in row C04</a:t>
            </a:r>
            <a:endParaRPr b="1" sz="1100">
              <a:solidFill>
                <a:srgbClr val="586274"/>
              </a:solidFill>
            </a:endParaRPr>
          </a:p>
        </p:txBody>
      </p:sp>
      <p:sp>
        <p:nvSpPr>
          <p:cNvPr id="127" name="Google Shape;127;p21"/>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The state-of-the-art facial alignment architectures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[CITE][CITE] have not been developed for the purpose of real-time inference on resource restricted devices.</a:t>
            </a:r>
            <a:endParaRPr sz="1600">
              <a:solidFill>
                <a:srgbClr val="16213A"/>
              </a:solidFill>
              <a:latin typeface="Georgia"/>
              <a:ea typeface="Georgia"/>
              <a:cs typeface="Georgia"/>
              <a:sym typeface="Georgia"/>
            </a:endParaRPr>
          </a:p>
        </p:txBody>
      </p:sp>
      <p:sp>
        <p:nvSpPr>
          <p:cNvPr id="128" name="Google Shape;128;p21"/>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The state-of-the-art facial alignment architectures </a:t>
            </a:r>
            <a:r>
              <a:rPr b="1" lang="en" sz="900">
                <a:solidFill>
                  <a:srgbClr val="6B3A06"/>
                </a:solidFill>
                <a:highlight>
                  <a:srgbClr val="FCE7C8"/>
                </a:highlight>
              </a:rPr>
              <a:t>[[TARGET]]</a:t>
            </a:r>
            <a:r>
              <a:rPr lang="en" sz="900">
                <a:solidFill>
                  <a:srgbClr val="33405A"/>
                </a:solidFill>
              </a:rPr>
              <a:t>[CITE][CITE] have not been developed for the purpose of real-time inference on resource restricted devices. However, our applications primarily target such devices. To strike a better balance for real-time applications on those platforms, the ideal architecture should minimize load and execution time while preserving alignment accuracy.</a:t>
            </a:r>
            <a:endParaRPr sz="900">
              <a:solidFill>
                <a:srgbClr val="33405A"/>
              </a:solidFill>
            </a:endParaRPr>
          </a:p>
        </p:txBody>
      </p:sp>
      <p:sp>
        <p:nvSpPr>
          <p:cNvPr id="129" name="Google Shape;129;p21"/>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Deep Alignment Network: A convolutional neural network for robust face  alignment</a:t>
            </a:r>
            <a:endParaRPr b="1" sz="1100">
              <a:solidFill>
                <a:srgbClr val="16213A"/>
              </a:solidFill>
            </a:endParaRPr>
          </a:p>
        </p:txBody>
      </p:sp>
      <p:sp>
        <p:nvSpPr>
          <p:cNvPr id="130" name="Google Shape;130;p21"/>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In this paper, we propose Deep Alignment Network (DAN), a robust face</a:t>
            </a:r>
            <a:endParaRPr sz="900">
              <a:solidFill>
                <a:srgbClr val="586274"/>
              </a:solidFill>
            </a:endParaRPr>
          </a:p>
          <a:p>
            <a:pPr indent="0" lvl="0" marL="0" rtl="0" algn="l">
              <a:spcBef>
                <a:spcPts val="0"/>
              </a:spcBef>
              <a:spcAft>
                <a:spcPts val="0"/>
              </a:spcAft>
              <a:buNone/>
            </a:pPr>
            <a:r>
              <a:rPr lang="en" sz="900">
                <a:solidFill>
                  <a:srgbClr val="586274"/>
                </a:solidFill>
              </a:rPr>
              <a:t>alignment method based on a deep neural network architecture. DAN consists of</a:t>
            </a:r>
            <a:endParaRPr sz="900">
              <a:solidFill>
                <a:srgbClr val="586274"/>
              </a:solidFill>
            </a:endParaRPr>
          </a:p>
          <a:p>
            <a:pPr indent="0" lvl="0" marL="0" rtl="0" algn="l">
              <a:spcBef>
                <a:spcPts val="0"/>
              </a:spcBef>
              <a:spcAft>
                <a:spcPts val="0"/>
              </a:spcAft>
              <a:buNone/>
            </a:pPr>
            <a:r>
              <a:rPr lang="en" sz="900">
                <a:solidFill>
                  <a:srgbClr val="586274"/>
                </a:solidFill>
              </a:rPr>
              <a:t>multiple stages, where each stage improves the locations of the facial</a:t>
            </a:r>
            <a:endParaRPr sz="900">
              <a:solidFill>
                <a:srgbClr val="586274"/>
              </a:solidFill>
            </a:endParaRPr>
          </a:p>
          <a:p>
            <a:pPr indent="0" lvl="0" marL="0" rtl="0" algn="l">
              <a:spcBef>
                <a:spcPts val="0"/>
              </a:spcBef>
              <a:spcAft>
                <a:spcPts val="0"/>
              </a:spcAft>
              <a:buNone/>
            </a:pPr>
            <a:r>
              <a:rPr lang="en" sz="900">
                <a:solidFill>
                  <a:srgbClr val="586274"/>
                </a:solidFill>
              </a:rPr>
              <a:t>landmarks estimated by the previous stage. Our method uses entire face images</a:t>
            </a:r>
            <a:endParaRPr sz="900">
              <a:solidFill>
                <a:srgbClr val="586274"/>
              </a:solidFill>
            </a:endParaRPr>
          </a:p>
          <a:p>
            <a:pPr indent="0" lvl="0" marL="0" rtl="0" algn="l">
              <a:spcBef>
                <a:spcPts val="0"/>
              </a:spcBef>
              <a:spcAft>
                <a:spcPts val="0"/>
              </a:spcAft>
              <a:buNone/>
            </a:pPr>
            <a:r>
              <a:rPr lang="en" sz="900">
                <a:solidFill>
                  <a:srgbClr val="586274"/>
                </a:solidFill>
              </a:rPr>
              <a:t>at all stages, contrary to the recently proposed face alignment methods that</a:t>
            </a:r>
            <a:endParaRPr sz="900">
              <a:solidFill>
                <a:srgbClr val="586274"/>
              </a:solidFill>
            </a:endParaRPr>
          </a:p>
          <a:p>
            <a:pPr indent="0" lvl="0" marL="0" rtl="0" algn="l">
              <a:spcBef>
                <a:spcPts val="0"/>
              </a:spcBef>
              <a:spcAft>
                <a:spcPts val="0"/>
              </a:spcAft>
              <a:buNone/>
            </a:pPr>
            <a:r>
              <a:rPr lang="en" sz="900">
                <a:solidFill>
                  <a:srgbClr val="586274"/>
                </a:solidFill>
              </a:rPr>
              <a:t>rely on local patches. This is possible [...]</a:t>
            </a:r>
            <a:endParaRPr sz="900">
              <a:solidFill>
                <a:srgbClr val="586274"/>
              </a:solidFill>
            </a:endParaRPr>
          </a:p>
        </p:txBody>
      </p:sp>
      <p:sp>
        <p:nvSpPr>
          <p:cNvPr id="131" name="Google Shape;131;p21"/>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C04  ·  answer</a:t>
            </a:r>
            <a:endParaRPr b="1" sz="1100">
              <a:solidFill>
                <a:srgbClr val="586274"/>
              </a:solidFill>
            </a:endParaRPr>
          </a:p>
        </p:txBody>
      </p:sp>
      <p:sp>
        <p:nvSpPr>
          <p:cNvPr id="137" name="Google Shape;137;p22"/>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The state-of-the-art facial alignment architectures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[CITE][CITE] have not been developed for the purpose of real-time inference on resource restricted devices.</a:t>
            </a:r>
            <a:endParaRPr sz="1300">
              <a:solidFill>
                <a:srgbClr val="33405A"/>
              </a:solidFill>
              <a:latin typeface="Georgia"/>
              <a:ea typeface="Georgia"/>
              <a:cs typeface="Georgia"/>
              <a:sym typeface="Georgia"/>
            </a:endParaRPr>
          </a:p>
        </p:txBody>
      </p:sp>
      <p:sp>
        <p:nvSpPr>
          <p:cNvPr id="138" name="Google Shape;138;p22"/>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Gap</a:t>
            </a:r>
            <a:endParaRPr b="1" sz="2800">
              <a:solidFill>
                <a:srgbClr val="1F7A4D"/>
              </a:solidFill>
              <a:latin typeface="Georgia"/>
              <a:ea typeface="Georgia"/>
              <a:cs typeface="Georgia"/>
              <a:sym typeface="Georgia"/>
            </a:endParaRPr>
          </a:p>
        </p:txBody>
      </p:sp>
      <p:sp>
        <p:nvSpPr>
          <p:cNvPr id="139" name="Google Shape;139;p22"/>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 </a:t>
            </a:r>
            <a:endParaRPr>
              <a:solidFill>
                <a:srgbClr val="586274"/>
              </a:solidFill>
            </a:endParaRPr>
          </a:p>
        </p:txBody>
      </p:sp>
      <p:sp>
        <p:nvSpPr>
          <p:cNvPr id="140" name="Google Shape;140;p22"/>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R-GAP: The limitation ('have not been developed for real-time inference') is stated about the cited architectures, citation right after them: Gap.</a:t>
            </a:r>
            <a:endParaRPr>
              <a:solidFill>
                <a:srgbClr val="16213A"/>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3"/>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C05  ·  5 of 30  ·  vote in row C05</a:t>
            </a:r>
            <a:endParaRPr b="1" sz="1100">
              <a:solidFill>
                <a:srgbClr val="586274"/>
              </a:solidFill>
            </a:endParaRPr>
          </a:p>
        </p:txBody>
      </p:sp>
      <p:sp>
        <p:nvSpPr>
          <p:cNvPr id="146" name="Google Shape;146;p23"/>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Different from existing approaches based on pre-scanned human models [CITE] or parametric body models [CITE], [CITE], [CITE], our approach implicitly reconstructs the human geometry and appearance via generalizing Neural Radiance Fields (NeRF)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which uses a neural network to encode color and density as a function of location and viewing angle, and generates photo-realistic images by volume rendering.</a:t>
            </a:r>
            <a:endParaRPr sz="1600">
              <a:solidFill>
                <a:srgbClr val="16213A"/>
              </a:solidFill>
              <a:latin typeface="Georgia"/>
              <a:ea typeface="Georgia"/>
              <a:cs typeface="Georgia"/>
              <a:sym typeface="Georgia"/>
            </a:endParaRPr>
          </a:p>
        </p:txBody>
      </p:sp>
      <p:sp>
        <p:nvSpPr>
          <p:cNvPr id="147" name="Google Shape;147;p23"/>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In this paper, we target to obtain photo-realistic 3D human avatars from monocular RGB videos. Different from existing approaches based on pre-scanned human models [CITE] or parametric body models [CITE], [CITE], [CITE], our approach implicitly reconstructs the human geometry and appearance via generalizing Neural Radiance Fields (NeRF) </a:t>
            </a:r>
            <a:r>
              <a:rPr b="1" lang="en" sz="900">
                <a:solidFill>
                  <a:srgbClr val="6B3A06"/>
                </a:solidFill>
                <a:highlight>
                  <a:srgbClr val="FCE7C8"/>
                </a:highlight>
              </a:rPr>
              <a:t>[[TARGET]]</a:t>
            </a:r>
            <a:r>
              <a:rPr lang="en" sz="900">
                <a:solidFill>
                  <a:srgbClr val="33405A"/>
                </a:solidFill>
              </a:rPr>
              <a:t>, which uses a neural network to encode color and density as a function of location and viewing angle, and generates photo-realistic images by volume rendering.</a:t>
            </a:r>
            <a:endParaRPr sz="900">
              <a:solidFill>
                <a:srgbClr val="33405A"/>
              </a:solidFill>
            </a:endParaRPr>
          </a:p>
          <a:p>
            <a:pPr indent="0" lvl="0" marL="0" rtl="0" algn="l">
              <a:spcBef>
                <a:spcPts val="0"/>
              </a:spcBef>
              <a:spcAft>
                <a:spcPts val="0"/>
              </a:spcAft>
              <a:buNone/>
            </a:pPr>
            <a:r>
              <a:rPr lang="en" sz="900">
                <a:solidFill>
                  <a:srgbClr val="33405A"/>
                </a:solidFill>
              </a:rPr>
              <a:t>NeRF [CITE] has shown impressive ability in reconstructing a static scene from multi-view images, and inspires many researchers in extending NeRF to scenes with severe lighting changes [CITE] and non-rigid deformations [CITE], [CITE]. However, these approaches are uncontrollable and limited to nearly static scenes with small movements, failing to deal with human subjects with large [...]</a:t>
            </a:r>
            <a:endParaRPr sz="900">
              <a:solidFill>
                <a:srgbClr val="33405A"/>
              </a:solidFill>
            </a:endParaRPr>
          </a:p>
        </p:txBody>
      </p:sp>
      <p:sp>
        <p:nvSpPr>
          <p:cNvPr id="148" name="Google Shape;148;p23"/>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NeRF: Representing Scenes as Neural Radiance Fields for View Synthesis</a:t>
            </a:r>
            <a:endParaRPr b="1" sz="1100">
              <a:solidFill>
                <a:srgbClr val="16213A"/>
              </a:solidFill>
            </a:endParaRPr>
          </a:p>
        </p:txBody>
      </p:sp>
      <p:sp>
        <p:nvSpPr>
          <p:cNvPr id="149" name="Google Shape;149;p23"/>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We present a method that achieves state-of-the-art results for synthesizing</a:t>
            </a:r>
            <a:endParaRPr sz="900">
              <a:solidFill>
                <a:srgbClr val="586274"/>
              </a:solidFill>
            </a:endParaRPr>
          </a:p>
          <a:p>
            <a:pPr indent="0" lvl="0" marL="0" rtl="0" algn="l">
              <a:spcBef>
                <a:spcPts val="0"/>
              </a:spcBef>
              <a:spcAft>
                <a:spcPts val="0"/>
              </a:spcAft>
              <a:buNone/>
            </a:pPr>
            <a:r>
              <a:rPr lang="en" sz="900">
                <a:solidFill>
                  <a:srgbClr val="586274"/>
                </a:solidFill>
              </a:rPr>
              <a:t>novel views of complex scenes by optimizing an underlying continuous volumetric</a:t>
            </a:r>
            <a:endParaRPr sz="900">
              <a:solidFill>
                <a:srgbClr val="586274"/>
              </a:solidFill>
            </a:endParaRPr>
          </a:p>
          <a:p>
            <a:pPr indent="0" lvl="0" marL="0" rtl="0" algn="l">
              <a:spcBef>
                <a:spcPts val="0"/>
              </a:spcBef>
              <a:spcAft>
                <a:spcPts val="0"/>
              </a:spcAft>
              <a:buNone/>
            </a:pPr>
            <a:r>
              <a:rPr lang="en" sz="900">
                <a:solidFill>
                  <a:srgbClr val="586274"/>
                </a:solidFill>
              </a:rPr>
              <a:t>scene function using a sparse set of input views. Our algorithm represents a</a:t>
            </a:r>
            <a:endParaRPr sz="900">
              <a:solidFill>
                <a:srgbClr val="586274"/>
              </a:solidFill>
            </a:endParaRPr>
          </a:p>
          <a:p>
            <a:pPr indent="0" lvl="0" marL="0" rtl="0" algn="l">
              <a:spcBef>
                <a:spcPts val="0"/>
              </a:spcBef>
              <a:spcAft>
                <a:spcPts val="0"/>
              </a:spcAft>
              <a:buNone/>
            </a:pPr>
            <a:r>
              <a:rPr lang="en" sz="900">
                <a:solidFill>
                  <a:srgbClr val="586274"/>
                </a:solidFill>
              </a:rPr>
              <a:t>scene using a fully-connected (non-convolutional) deep network, whose input is</a:t>
            </a:r>
            <a:endParaRPr sz="900">
              <a:solidFill>
                <a:srgbClr val="586274"/>
              </a:solidFill>
            </a:endParaRPr>
          </a:p>
          <a:p>
            <a:pPr indent="0" lvl="0" marL="0" rtl="0" algn="l">
              <a:spcBef>
                <a:spcPts val="0"/>
              </a:spcBef>
              <a:spcAft>
                <a:spcPts val="0"/>
              </a:spcAft>
              <a:buNone/>
            </a:pPr>
            <a:r>
              <a:rPr lang="en" sz="900">
                <a:solidFill>
                  <a:srgbClr val="586274"/>
                </a:solidFill>
              </a:rPr>
              <a:t>a single continuous 5D coordinate (spatial location $(x,y,z)$ and viewing</a:t>
            </a:r>
            <a:endParaRPr sz="900">
              <a:solidFill>
                <a:srgbClr val="586274"/>
              </a:solidFill>
            </a:endParaRPr>
          </a:p>
          <a:p>
            <a:pPr indent="0" lvl="0" marL="0" rtl="0" algn="l">
              <a:spcBef>
                <a:spcPts val="0"/>
              </a:spcBef>
              <a:spcAft>
                <a:spcPts val="0"/>
              </a:spcAft>
              <a:buNone/>
            </a:pPr>
            <a:r>
              <a:rPr lang="en" sz="900">
                <a:solidFill>
                  <a:srgbClr val="586274"/>
                </a:solidFill>
              </a:rPr>
              <a:t>direction $(\theta, \phi)$) and [...]</a:t>
            </a:r>
            <a:endParaRPr sz="900">
              <a:solidFill>
                <a:srgbClr val="586274"/>
              </a:solidFill>
            </a:endParaRPr>
          </a:p>
        </p:txBody>
      </p:sp>
      <p:sp>
        <p:nvSpPr>
          <p:cNvPr id="150" name="Google Shape;150;p23"/>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4"/>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C05  ·  answer</a:t>
            </a:r>
            <a:endParaRPr b="1" sz="1100">
              <a:solidFill>
                <a:srgbClr val="586274"/>
              </a:solidFill>
            </a:endParaRPr>
          </a:p>
        </p:txBody>
      </p:sp>
      <p:sp>
        <p:nvSpPr>
          <p:cNvPr id="156" name="Google Shape;156;p24"/>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Different from existing approaches based on pre-scanned human models [CITE] or parametric body models [CITE], [CITE], [CITE], our approach implicitly reconstructs the human geometry and appearance via generalizing Neural Radiance Fields (NeRF)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which uses a neural network to encode color and density as a function of location and viewing angle, and generates photo-realistic images by volume rendering.</a:t>
            </a:r>
            <a:endParaRPr sz="1300">
              <a:solidFill>
                <a:srgbClr val="33405A"/>
              </a:solidFill>
              <a:latin typeface="Georgia"/>
              <a:ea typeface="Georgia"/>
              <a:cs typeface="Georgia"/>
              <a:sym typeface="Georgia"/>
            </a:endParaRPr>
          </a:p>
        </p:txBody>
      </p:sp>
      <p:sp>
        <p:nvSpPr>
          <p:cNvPr id="157" name="Google Shape;157;p24"/>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Improvement/Modification</a:t>
            </a:r>
            <a:endParaRPr b="1" sz="2800">
              <a:solidFill>
                <a:srgbClr val="1F7A4D"/>
              </a:solidFill>
              <a:latin typeface="Georgia"/>
              <a:ea typeface="Georgia"/>
              <a:cs typeface="Georgia"/>
              <a:sym typeface="Georgia"/>
            </a:endParaRPr>
          </a:p>
        </p:txBody>
      </p:sp>
      <p:sp>
        <p:nvSpPr>
          <p:cNvPr id="158" name="Google Shape;158;p24"/>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Also acceptable: Basis</a:t>
            </a:r>
            <a:endParaRPr>
              <a:solidFill>
                <a:srgbClr val="586274"/>
              </a:solidFill>
            </a:endParaRPr>
          </a:p>
        </p:txBody>
      </p:sp>
      <p:sp>
        <p:nvSpPr>
          <p:cNvPr id="159" name="Google Shape;159;p24"/>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R-IM: 'Our approach … via generalizing NeRF [T]': the current work extends the target's method.</a:t>
            </a:r>
            <a:endParaRPr>
              <a:solidFill>
                <a:srgbClr val="16213A"/>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C06  ·  6 of 30  ·  vote in row C06</a:t>
            </a:r>
            <a:endParaRPr b="1" sz="1100">
              <a:solidFill>
                <a:srgbClr val="586274"/>
              </a:solidFill>
            </a:endParaRPr>
          </a:p>
        </p:txBody>
      </p:sp>
      <p:sp>
        <p:nvSpPr>
          <p:cNvPr id="165" name="Google Shape;165;p25"/>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[CITE] propose “SharpMask”, a feed-forward architecture in which a convolutional network first generates coarse-resolution object masks, and then upsampling modules refine these masks at the original image resolution (resulting in an overall architecture similar to U-Net as developed by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a:t>
            </a:r>
            <a:endParaRPr sz="1600">
              <a:solidFill>
                <a:srgbClr val="16213A"/>
              </a:solidFill>
              <a:latin typeface="Georgia"/>
              <a:ea typeface="Georgia"/>
              <a:cs typeface="Georgia"/>
              <a:sym typeface="Georgia"/>
            </a:endParaRPr>
          </a:p>
        </p:txBody>
      </p:sp>
      <p:sp>
        <p:nvSpPr>
          <p:cNvPr id="166" name="Google Shape;166;p25"/>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A variety of papers have recently introduced “instance” segmentation methods that utilize recurrent or feed-forward networks to directly produce segmentation masks from an image. For example, [CITE] propose a recurrent architecture that at each iteration of the network dynamics produces a complete segmentation mask for a single object in the image. [CITE] propose “SharpMask”, a feed-forward architecture in which a convolutional network first generates coarse-resolution object masks, and then upsampling modules refine these masks at the original image resolution (resulting in an overall architecture similar to U-Net as developed by </a:t>
            </a:r>
            <a:r>
              <a:rPr b="1" lang="en" sz="900">
                <a:solidFill>
                  <a:srgbClr val="6B3A06"/>
                </a:solidFill>
                <a:highlight>
                  <a:srgbClr val="FCE7C8"/>
                </a:highlight>
              </a:rPr>
              <a:t>[[TARGET]]</a:t>
            </a:r>
            <a:r>
              <a:rPr lang="en" sz="900">
                <a:solidFill>
                  <a:srgbClr val="33405A"/>
                </a:solidFill>
              </a:rPr>
              <a:t>). Our approach builds on this prior work, but is distinct in several respects:</a:t>
            </a:r>
            <a:endParaRPr sz="900">
              <a:solidFill>
                <a:srgbClr val="33405A"/>
              </a:solidFill>
            </a:endParaRPr>
          </a:p>
        </p:txBody>
      </p:sp>
      <p:sp>
        <p:nvSpPr>
          <p:cNvPr id="167" name="Google Shape;167;p25"/>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U-Net: Convolutional Networks for Biomedical Image Segmentation</a:t>
            </a:r>
            <a:endParaRPr b="1" sz="1100">
              <a:solidFill>
                <a:srgbClr val="16213A"/>
              </a:solidFill>
            </a:endParaRPr>
          </a:p>
        </p:txBody>
      </p:sp>
      <p:sp>
        <p:nvSpPr>
          <p:cNvPr id="168" name="Google Shape;168;p25"/>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There is large consent that successful training of deep networks requires</a:t>
            </a:r>
            <a:endParaRPr sz="900">
              <a:solidFill>
                <a:srgbClr val="586274"/>
              </a:solidFill>
            </a:endParaRPr>
          </a:p>
          <a:p>
            <a:pPr indent="0" lvl="0" marL="0" rtl="0" algn="l">
              <a:spcBef>
                <a:spcPts val="0"/>
              </a:spcBef>
              <a:spcAft>
                <a:spcPts val="0"/>
              </a:spcAft>
              <a:buNone/>
            </a:pPr>
            <a:r>
              <a:rPr lang="en" sz="900">
                <a:solidFill>
                  <a:srgbClr val="586274"/>
                </a:solidFill>
              </a:rPr>
              <a:t>many thousand annotated training samples. In this paper, we present a network</a:t>
            </a:r>
            <a:endParaRPr sz="900">
              <a:solidFill>
                <a:srgbClr val="586274"/>
              </a:solidFill>
            </a:endParaRPr>
          </a:p>
          <a:p>
            <a:pPr indent="0" lvl="0" marL="0" rtl="0" algn="l">
              <a:spcBef>
                <a:spcPts val="0"/>
              </a:spcBef>
              <a:spcAft>
                <a:spcPts val="0"/>
              </a:spcAft>
              <a:buNone/>
            </a:pPr>
            <a:r>
              <a:rPr lang="en" sz="900">
                <a:solidFill>
                  <a:srgbClr val="586274"/>
                </a:solidFill>
              </a:rPr>
              <a:t>and training strategy that relies on the strong use of data augmentation to use</a:t>
            </a:r>
            <a:endParaRPr sz="900">
              <a:solidFill>
                <a:srgbClr val="586274"/>
              </a:solidFill>
            </a:endParaRPr>
          </a:p>
          <a:p>
            <a:pPr indent="0" lvl="0" marL="0" rtl="0" algn="l">
              <a:spcBef>
                <a:spcPts val="0"/>
              </a:spcBef>
              <a:spcAft>
                <a:spcPts val="0"/>
              </a:spcAft>
              <a:buNone/>
            </a:pPr>
            <a:r>
              <a:rPr lang="en" sz="900">
                <a:solidFill>
                  <a:srgbClr val="586274"/>
                </a:solidFill>
              </a:rPr>
              <a:t>the available annotated samples more efficiently. The architecture consists of</a:t>
            </a:r>
            <a:endParaRPr sz="900">
              <a:solidFill>
                <a:srgbClr val="586274"/>
              </a:solidFill>
            </a:endParaRPr>
          </a:p>
          <a:p>
            <a:pPr indent="0" lvl="0" marL="0" rtl="0" algn="l">
              <a:spcBef>
                <a:spcPts val="0"/>
              </a:spcBef>
              <a:spcAft>
                <a:spcPts val="0"/>
              </a:spcAft>
              <a:buNone/>
            </a:pPr>
            <a:r>
              <a:rPr lang="en" sz="900">
                <a:solidFill>
                  <a:srgbClr val="586274"/>
                </a:solidFill>
              </a:rPr>
              <a:t>a contracting path to capture context and a symmetric expanding path that</a:t>
            </a:r>
            <a:endParaRPr sz="900">
              <a:solidFill>
                <a:srgbClr val="586274"/>
              </a:solidFill>
            </a:endParaRPr>
          </a:p>
          <a:p>
            <a:pPr indent="0" lvl="0" marL="0" rtl="0" algn="l">
              <a:spcBef>
                <a:spcPts val="0"/>
              </a:spcBef>
              <a:spcAft>
                <a:spcPts val="0"/>
              </a:spcAft>
              <a:buNone/>
            </a:pPr>
            <a:r>
              <a:rPr lang="en" sz="900">
                <a:solidFill>
                  <a:srgbClr val="586274"/>
                </a:solidFill>
              </a:rPr>
              <a:t>enables precise localization. We [...]</a:t>
            </a:r>
            <a:endParaRPr sz="900">
              <a:solidFill>
                <a:srgbClr val="586274"/>
              </a:solidFill>
            </a:endParaRPr>
          </a:p>
        </p:txBody>
      </p:sp>
      <p:sp>
        <p:nvSpPr>
          <p:cNvPr id="169" name="Google Shape;169;p25"/>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6"/>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C06  ·  answer</a:t>
            </a:r>
            <a:endParaRPr b="1" sz="1100">
              <a:solidFill>
                <a:srgbClr val="586274"/>
              </a:solidFill>
            </a:endParaRPr>
          </a:p>
        </p:txBody>
      </p:sp>
      <p:sp>
        <p:nvSpPr>
          <p:cNvPr id="175" name="Google Shape;175;p26"/>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[CITE] propose “SharpMask”, a feed-forward architecture in which a convolutional network first generates coarse-resolution object masks, and then upsampling modules refine these masks at the original image resolution (resulting in an overall architecture similar to U-Net as developed by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a:t>
            </a:r>
            <a:endParaRPr sz="1300">
              <a:solidFill>
                <a:srgbClr val="33405A"/>
              </a:solidFill>
              <a:latin typeface="Georgia"/>
              <a:ea typeface="Georgia"/>
              <a:cs typeface="Georgia"/>
              <a:sym typeface="Georgia"/>
            </a:endParaRPr>
          </a:p>
        </p:txBody>
      </p:sp>
      <p:sp>
        <p:nvSpPr>
          <p:cNvPr id="176" name="Google Shape;176;p26"/>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Comparison</a:t>
            </a:r>
            <a:endParaRPr b="1" sz="2800">
              <a:solidFill>
                <a:srgbClr val="1F7A4D"/>
              </a:solidFill>
              <a:latin typeface="Georgia"/>
              <a:ea typeface="Georgia"/>
              <a:cs typeface="Georgia"/>
              <a:sym typeface="Georgia"/>
            </a:endParaRPr>
          </a:p>
        </p:txBody>
      </p:sp>
      <p:sp>
        <p:nvSpPr>
          <p:cNvPr id="177" name="Google Shape;177;p26"/>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 </a:t>
            </a:r>
            <a:endParaRPr>
              <a:solidFill>
                <a:srgbClr val="586274"/>
              </a:solidFill>
            </a:endParaRPr>
          </a:p>
        </p:txBody>
      </p:sp>
      <p:sp>
        <p:nvSpPr>
          <p:cNvPr id="178" name="Google Shape;178;p26"/>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R-CMP: Another cited work (SharpMask) is likened to the target ('similar to U-Net as developed by [T]'): Comparison between cited works.</a:t>
            </a:r>
            <a:endParaRPr>
              <a:solidFill>
                <a:srgbClr val="16213A"/>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C07  ·  7 of 30  ·  vote in row C07</a:t>
            </a:r>
            <a:endParaRPr b="1" sz="1100">
              <a:solidFill>
                <a:srgbClr val="586274"/>
              </a:solidFill>
            </a:endParaRPr>
          </a:p>
        </p:txBody>
      </p:sp>
      <p:sp>
        <p:nvSpPr>
          <p:cNvPr id="184" name="Google Shape;184;p27"/>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This shortcoming is severe since certain adversarial perturbations created by the white-box attacks can fool other unrelated models owing to the adversarial transferability phenomenon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a:t>
            </a:r>
            <a:endParaRPr sz="1600">
              <a:solidFill>
                <a:srgbClr val="16213A"/>
              </a:solidFill>
              <a:latin typeface="Georgia"/>
              <a:ea typeface="Georgia"/>
              <a:cs typeface="Georgia"/>
              <a:sym typeface="Georgia"/>
            </a:endParaRPr>
          </a:p>
        </p:txBody>
      </p:sp>
      <p:sp>
        <p:nvSpPr>
          <p:cNvPr id="185" name="Google Shape;185;p27"/>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While face recognition is improved significantly over recent years thanks to the breakthroughs in deep learning, the face recognition models are prone to adversarial perturbations [CITE]. This shortcoming is severe since certain adversarial perturbations created by the white-box attacks can fool other unrelated models owing to the adversarial transferability phenomenon </a:t>
            </a:r>
            <a:r>
              <a:rPr b="1" lang="en" sz="900">
                <a:solidFill>
                  <a:srgbClr val="6B3A06"/>
                </a:solidFill>
                <a:highlight>
                  <a:srgbClr val="FCE7C8"/>
                </a:highlight>
              </a:rPr>
              <a:t>[[TARGET]]</a:t>
            </a:r>
            <a:r>
              <a:rPr lang="en" sz="900">
                <a:solidFill>
                  <a:srgbClr val="33405A"/>
                </a:solidFill>
              </a:rPr>
              <a:t>. One of the most thoroughly benchmarked defenses against adversarial attacks is adversarial training [CITE], [CITE], in which a CNN model is trained on adversarial examples generated by itself. Despite the considerable improvement in adversarial learning, recent works on biometrics mostly rest on developing robust face recognition [CITE], face identification [CITE], and face verification systems [CITE]. However, in the case of the morphed images, it has received far less attention to generate adversarial [...]</a:t>
            </a:r>
            <a:endParaRPr sz="900">
              <a:solidFill>
                <a:srgbClr val="33405A"/>
              </a:solidFill>
            </a:endParaRPr>
          </a:p>
        </p:txBody>
      </p:sp>
      <p:sp>
        <p:nvSpPr>
          <p:cNvPr id="186" name="Google Shape;186;p27"/>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Enhancing Adversarial Example Transferability with an Intermediate Level  Attack</a:t>
            </a:r>
            <a:endParaRPr b="1" sz="1100">
              <a:solidFill>
                <a:srgbClr val="16213A"/>
              </a:solidFill>
            </a:endParaRPr>
          </a:p>
        </p:txBody>
      </p:sp>
      <p:sp>
        <p:nvSpPr>
          <p:cNvPr id="187" name="Google Shape;187;p27"/>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Neural networks are vulnerable to adversarial examples, malicious inputs</a:t>
            </a:r>
            <a:endParaRPr sz="900">
              <a:solidFill>
                <a:srgbClr val="586274"/>
              </a:solidFill>
            </a:endParaRPr>
          </a:p>
          <a:p>
            <a:pPr indent="0" lvl="0" marL="0" rtl="0" algn="l">
              <a:spcBef>
                <a:spcPts val="0"/>
              </a:spcBef>
              <a:spcAft>
                <a:spcPts val="0"/>
              </a:spcAft>
              <a:buNone/>
            </a:pPr>
            <a:r>
              <a:rPr lang="en" sz="900">
                <a:solidFill>
                  <a:srgbClr val="586274"/>
                </a:solidFill>
              </a:rPr>
              <a:t>crafted to fool trained models. Adversarial examples often exhibit black-box</a:t>
            </a:r>
            <a:endParaRPr sz="900">
              <a:solidFill>
                <a:srgbClr val="586274"/>
              </a:solidFill>
            </a:endParaRPr>
          </a:p>
          <a:p>
            <a:pPr indent="0" lvl="0" marL="0" rtl="0" algn="l">
              <a:spcBef>
                <a:spcPts val="0"/>
              </a:spcBef>
              <a:spcAft>
                <a:spcPts val="0"/>
              </a:spcAft>
              <a:buNone/>
            </a:pPr>
            <a:r>
              <a:rPr lang="en" sz="900">
                <a:solidFill>
                  <a:srgbClr val="586274"/>
                </a:solidFill>
              </a:rPr>
              <a:t>transfer, meaning that adversarial examples for one model can fool another</a:t>
            </a:r>
            <a:endParaRPr sz="900">
              <a:solidFill>
                <a:srgbClr val="586274"/>
              </a:solidFill>
            </a:endParaRPr>
          </a:p>
          <a:p>
            <a:pPr indent="0" lvl="0" marL="0" rtl="0" algn="l">
              <a:spcBef>
                <a:spcPts val="0"/>
              </a:spcBef>
              <a:spcAft>
                <a:spcPts val="0"/>
              </a:spcAft>
              <a:buNone/>
            </a:pPr>
            <a:r>
              <a:rPr lang="en" sz="900">
                <a:solidFill>
                  <a:srgbClr val="586274"/>
                </a:solidFill>
              </a:rPr>
              <a:t>model. However, adversarial examples are typically overfit to exploit the</a:t>
            </a:r>
            <a:endParaRPr sz="900">
              <a:solidFill>
                <a:srgbClr val="586274"/>
              </a:solidFill>
            </a:endParaRPr>
          </a:p>
          <a:p>
            <a:pPr indent="0" lvl="0" marL="0" rtl="0" algn="l">
              <a:spcBef>
                <a:spcPts val="0"/>
              </a:spcBef>
              <a:spcAft>
                <a:spcPts val="0"/>
              </a:spcAft>
              <a:buNone/>
            </a:pPr>
            <a:r>
              <a:rPr lang="en" sz="900">
                <a:solidFill>
                  <a:srgbClr val="586274"/>
                </a:solidFill>
              </a:rPr>
              <a:t>particular architecture and feature representation of a source model, resulting</a:t>
            </a:r>
            <a:endParaRPr sz="900">
              <a:solidFill>
                <a:srgbClr val="586274"/>
              </a:solidFill>
            </a:endParaRPr>
          </a:p>
          <a:p>
            <a:pPr indent="0" lvl="0" marL="0" rtl="0" algn="l">
              <a:spcBef>
                <a:spcPts val="0"/>
              </a:spcBef>
              <a:spcAft>
                <a:spcPts val="0"/>
              </a:spcAft>
              <a:buNone/>
            </a:pPr>
            <a:r>
              <a:rPr lang="en" sz="900">
                <a:solidFill>
                  <a:srgbClr val="586274"/>
                </a:solidFill>
              </a:rPr>
              <a:t>in sub-optimal black-box transfer [...]</a:t>
            </a:r>
            <a:endParaRPr sz="900">
              <a:solidFill>
                <a:srgbClr val="586274"/>
              </a:solidFill>
            </a:endParaRPr>
          </a:p>
        </p:txBody>
      </p:sp>
      <p:sp>
        <p:nvSpPr>
          <p:cNvPr id="188" name="Google Shape;188;p27"/>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C07  ·  answer</a:t>
            </a:r>
            <a:endParaRPr b="1" sz="1100">
              <a:solidFill>
                <a:srgbClr val="586274"/>
              </a:solidFill>
            </a:endParaRPr>
          </a:p>
        </p:txBody>
      </p:sp>
      <p:sp>
        <p:nvSpPr>
          <p:cNvPr id="194" name="Google Shape;194;p28"/>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This shortcoming is severe since certain adversarial perturbations created by the white-box attacks can fool other unrelated models owing to the adversarial transferability phenomenon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a:t>
            </a:r>
            <a:endParaRPr sz="1300">
              <a:solidFill>
                <a:srgbClr val="33405A"/>
              </a:solidFill>
              <a:latin typeface="Georgia"/>
              <a:ea typeface="Georgia"/>
              <a:cs typeface="Georgia"/>
              <a:sym typeface="Georgia"/>
            </a:endParaRPr>
          </a:p>
        </p:txBody>
      </p:sp>
      <p:sp>
        <p:nvSpPr>
          <p:cNvPr id="195" name="Google Shape;195;p28"/>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Evidence</a:t>
            </a:r>
            <a:endParaRPr b="1" sz="2800">
              <a:solidFill>
                <a:srgbClr val="1F7A4D"/>
              </a:solidFill>
              <a:latin typeface="Georgia"/>
              <a:ea typeface="Georgia"/>
              <a:cs typeface="Georgia"/>
              <a:sym typeface="Georgia"/>
            </a:endParaRPr>
          </a:p>
        </p:txBody>
      </p:sp>
      <p:sp>
        <p:nvSpPr>
          <p:cNvPr id="196" name="Google Shape;196;p28"/>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 </a:t>
            </a:r>
            <a:endParaRPr>
              <a:solidFill>
                <a:srgbClr val="586274"/>
              </a:solidFill>
            </a:endParaRPr>
          </a:p>
        </p:txBody>
      </p:sp>
      <p:sp>
        <p:nvSpPr>
          <p:cNvPr id="197" name="Google Shape;197;p28"/>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R-EV: The target backs the authors' claim that perturbations transfer to other models (cited at the end of the claim): Evidence.</a:t>
            </a:r>
            <a:endParaRPr>
              <a:solidFill>
                <a:srgbClr val="16213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9"/>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C08  ·  8 of 30  ·  vote in row C08</a:t>
            </a:r>
            <a:endParaRPr b="1" sz="1100">
              <a:solidFill>
                <a:srgbClr val="586274"/>
              </a:solidFill>
            </a:endParaRPr>
          </a:p>
        </p:txBody>
      </p:sp>
      <p:sp>
        <p:nvSpPr>
          <p:cNvPr id="203" name="Google Shape;203;p29"/>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Flow-guided feature aggregation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on the other hand, tries to improve accuracy by aggregating features from nearby frames.</a:t>
            </a:r>
            <a:endParaRPr sz="1600">
              <a:solidFill>
                <a:srgbClr val="16213A"/>
              </a:solidFill>
              <a:latin typeface="Georgia"/>
              <a:ea typeface="Georgia"/>
              <a:cs typeface="Georgia"/>
              <a:sym typeface="Georgia"/>
            </a:endParaRPr>
          </a:p>
        </p:txBody>
      </p:sp>
      <p:sp>
        <p:nvSpPr>
          <p:cNvPr id="204" name="Google Shape;204;p29"/>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Object detection from video.</a:t>
            </a:r>
            <a:endParaRPr sz="900">
              <a:solidFill>
                <a:srgbClr val="33405A"/>
              </a:solidFill>
            </a:endParaRPr>
          </a:p>
          <a:p>
            <a:pPr indent="0" lvl="0" marL="0" rtl="0" algn="l">
              <a:spcBef>
                <a:spcPts val="0"/>
              </a:spcBef>
              <a:spcAft>
                <a:spcPts val="0"/>
              </a:spcAft>
              <a:buNone/>
            </a:pPr>
            <a:r>
              <a:rPr lang="en" sz="900">
                <a:solidFill>
                  <a:srgbClr val="33405A"/>
                </a:solidFill>
              </a:rPr>
              <a:t>Others have also exploited the temporal properties of video to improve object detection.</a:t>
            </a:r>
            <a:endParaRPr sz="900">
              <a:solidFill>
                <a:srgbClr val="33405A"/>
              </a:solidFill>
            </a:endParaRPr>
          </a:p>
          <a:p>
            <a:pPr indent="0" lvl="0" marL="0" rtl="0" algn="l">
              <a:spcBef>
                <a:spcPts val="0"/>
              </a:spcBef>
              <a:spcAft>
                <a:spcPts val="0"/>
              </a:spcAft>
              <a:buNone/>
            </a:pPr>
            <a:r>
              <a:rPr lang="en" sz="900">
                <a:solidFill>
                  <a:srgbClr val="33405A"/>
                </a:solidFill>
              </a:rPr>
              <a:t>T-CNN [CITE] regularizes detection results with tracking output.</a:t>
            </a:r>
            <a:endParaRPr sz="900">
              <a:solidFill>
                <a:srgbClr val="33405A"/>
              </a:solidFill>
            </a:endParaRPr>
          </a:p>
          <a:p>
            <a:pPr indent="0" lvl="0" marL="0" rtl="0" algn="l">
              <a:spcBef>
                <a:spcPts val="0"/>
              </a:spcBef>
              <a:spcAft>
                <a:spcPts val="0"/>
              </a:spcAft>
              <a:buNone/>
            </a:pPr>
            <a:r>
              <a:rPr lang="en" sz="900">
                <a:solidFill>
                  <a:srgbClr val="33405A"/>
                </a:solidFill>
              </a:rPr>
              <a:t>In Detect and Track [CITE], an end-to-end architecture is proposed which incorporates detection and tracking to improve accuracy. Both methods require future frames to predict current frame, therefore they are non-causal.</a:t>
            </a:r>
            <a:endParaRPr sz="900">
              <a:solidFill>
                <a:srgbClr val="33405A"/>
              </a:solidFill>
            </a:endParaRPr>
          </a:p>
          <a:p>
            <a:pPr indent="0" lvl="0" marL="0" rtl="0" algn="l">
              <a:spcBef>
                <a:spcPts val="0"/>
              </a:spcBef>
              <a:spcAft>
                <a:spcPts val="0"/>
              </a:spcAft>
              <a:buNone/>
            </a:pPr>
            <a:r>
              <a:rPr lang="en" sz="900">
                <a:solidFill>
                  <a:srgbClr val="33405A"/>
                </a:solidFill>
              </a:rPr>
              <a:t>Deep feature flow [CITE] exploits temporal redundancy between neighboring frames by estimating optical flow with FlowNet [CITE].</a:t>
            </a:r>
            <a:endParaRPr sz="900">
              <a:solidFill>
                <a:srgbClr val="33405A"/>
              </a:solidFill>
            </a:endParaRPr>
          </a:p>
          <a:p>
            <a:pPr indent="0" lvl="0" marL="0" rtl="0" algn="l">
              <a:spcBef>
                <a:spcPts val="0"/>
              </a:spcBef>
              <a:spcAft>
                <a:spcPts val="0"/>
              </a:spcAft>
              <a:buNone/>
            </a:pPr>
            <a:r>
              <a:rPr lang="en" sz="900">
                <a:solidFill>
                  <a:srgbClr val="33405A"/>
                </a:solidFill>
              </a:rPr>
              <a:t>It achieves high speed-ups by skipping feature extraction for non-key frames.</a:t>
            </a:r>
            <a:endParaRPr sz="900">
              <a:solidFill>
                <a:srgbClr val="33405A"/>
              </a:solidFill>
            </a:endParaRPr>
          </a:p>
          <a:p>
            <a:pPr indent="0" lvl="0" marL="0" rtl="0" algn="l">
              <a:spcBef>
                <a:spcPts val="0"/>
              </a:spcBef>
              <a:spcAft>
                <a:spcPts val="0"/>
              </a:spcAft>
              <a:buNone/>
            </a:pPr>
            <a:r>
              <a:rPr lang="en" sz="900">
                <a:solidFill>
                  <a:srgbClr val="33405A"/>
                </a:solidFill>
              </a:rPr>
              <a:t>Flow-guided feature aggregation </a:t>
            </a:r>
            <a:r>
              <a:rPr b="1" lang="en" sz="900">
                <a:solidFill>
                  <a:srgbClr val="6B3A06"/>
                </a:solidFill>
                <a:highlight>
                  <a:srgbClr val="FCE7C8"/>
                </a:highlight>
              </a:rPr>
              <a:t>[[TARGET]]</a:t>
            </a:r>
            <a:r>
              <a:rPr lang="en" sz="900">
                <a:solidFill>
                  <a:srgbClr val="33405A"/>
                </a:solidFill>
              </a:rPr>
              <a:t>, on the other hand, tries to improve accuracy by aggregating features from nearby frames.</a:t>
            </a:r>
            <a:endParaRPr sz="900">
              <a:solidFill>
                <a:srgbClr val="33405A"/>
              </a:solidFill>
            </a:endParaRPr>
          </a:p>
          <a:p>
            <a:pPr indent="0" lvl="0" marL="0" rtl="0" algn="l">
              <a:spcBef>
                <a:spcPts val="0"/>
              </a:spcBef>
              <a:spcAft>
                <a:spcPts val="0"/>
              </a:spcAft>
              <a:buNone/>
            </a:pPr>
            <a:r>
              <a:rPr lang="en" sz="900">
                <a:solidFill>
                  <a:srgbClr val="33405A"/>
                </a:solidFill>
              </a:rPr>
              <a:t>In  [CITE], a unified approach of exploiting feature flow is presented, which improves both the detection accuracy and the speed. A similar flow based [...]</a:t>
            </a:r>
            <a:endParaRPr sz="900">
              <a:solidFill>
                <a:srgbClr val="33405A"/>
              </a:solidFill>
            </a:endParaRPr>
          </a:p>
        </p:txBody>
      </p:sp>
      <p:sp>
        <p:nvSpPr>
          <p:cNvPr id="205" name="Google Shape;205;p29"/>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Flow-Guided Feature Aggregation for Video Object Detection</a:t>
            </a:r>
            <a:endParaRPr b="1" sz="1100">
              <a:solidFill>
                <a:srgbClr val="16213A"/>
              </a:solidFill>
            </a:endParaRPr>
          </a:p>
        </p:txBody>
      </p:sp>
      <p:sp>
        <p:nvSpPr>
          <p:cNvPr id="206" name="Google Shape;206;p29"/>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Extending state-of-the-art object detectors from image to video is</a:t>
            </a:r>
            <a:endParaRPr sz="900">
              <a:solidFill>
                <a:srgbClr val="586274"/>
              </a:solidFill>
            </a:endParaRPr>
          </a:p>
          <a:p>
            <a:pPr indent="0" lvl="0" marL="0" rtl="0" algn="l">
              <a:spcBef>
                <a:spcPts val="0"/>
              </a:spcBef>
              <a:spcAft>
                <a:spcPts val="0"/>
              </a:spcAft>
              <a:buNone/>
            </a:pPr>
            <a:r>
              <a:rPr lang="en" sz="900">
                <a:solidFill>
                  <a:srgbClr val="586274"/>
                </a:solidFill>
              </a:rPr>
              <a:t>challenging. The accuracy of detection suffers from degenerated object</a:t>
            </a:r>
            <a:endParaRPr sz="900">
              <a:solidFill>
                <a:srgbClr val="586274"/>
              </a:solidFill>
            </a:endParaRPr>
          </a:p>
          <a:p>
            <a:pPr indent="0" lvl="0" marL="0" rtl="0" algn="l">
              <a:spcBef>
                <a:spcPts val="0"/>
              </a:spcBef>
              <a:spcAft>
                <a:spcPts val="0"/>
              </a:spcAft>
              <a:buNone/>
            </a:pPr>
            <a:r>
              <a:rPr lang="en" sz="900">
                <a:solidFill>
                  <a:srgbClr val="586274"/>
                </a:solidFill>
              </a:rPr>
              <a:t>appearances in videos, e.g., motion blur, video defocus, rare poses, etc.</a:t>
            </a:r>
            <a:endParaRPr sz="900">
              <a:solidFill>
                <a:srgbClr val="586274"/>
              </a:solidFill>
            </a:endParaRPr>
          </a:p>
          <a:p>
            <a:pPr indent="0" lvl="0" marL="0" rtl="0" algn="l">
              <a:spcBef>
                <a:spcPts val="0"/>
              </a:spcBef>
              <a:spcAft>
                <a:spcPts val="0"/>
              </a:spcAft>
              <a:buNone/>
            </a:pPr>
            <a:r>
              <a:rPr lang="en" sz="900">
                <a:solidFill>
                  <a:srgbClr val="586274"/>
                </a:solidFill>
              </a:rPr>
              <a:t>Existing work attempts to exploit temporal information on box level, but such</a:t>
            </a:r>
            <a:endParaRPr sz="900">
              <a:solidFill>
                <a:srgbClr val="586274"/>
              </a:solidFill>
            </a:endParaRPr>
          </a:p>
          <a:p>
            <a:pPr indent="0" lvl="0" marL="0" rtl="0" algn="l">
              <a:spcBef>
                <a:spcPts val="0"/>
              </a:spcBef>
              <a:spcAft>
                <a:spcPts val="0"/>
              </a:spcAft>
              <a:buNone/>
            </a:pPr>
            <a:r>
              <a:rPr lang="en" sz="900">
                <a:solidFill>
                  <a:srgbClr val="586274"/>
                </a:solidFill>
              </a:rPr>
              <a:t>methods are not trained end-to-end. We present flow-guided feature aggregation,</a:t>
            </a:r>
            <a:endParaRPr sz="900">
              <a:solidFill>
                <a:srgbClr val="586274"/>
              </a:solidFill>
            </a:endParaRPr>
          </a:p>
          <a:p>
            <a:pPr indent="0" lvl="0" marL="0" rtl="0" algn="l">
              <a:spcBef>
                <a:spcPts val="0"/>
              </a:spcBef>
              <a:spcAft>
                <a:spcPts val="0"/>
              </a:spcAft>
              <a:buNone/>
            </a:pPr>
            <a:r>
              <a:rPr lang="en" sz="900">
                <a:solidFill>
                  <a:srgbClr val="586274"/>
                </a:solidFill>
              </a:rPr>
              <a:t>an accurate and end-to-end learning framework for [...]</a:t>
            </a:r>
            <a:endParaRPr sz="900">
              <a:solidFill>
                <a:srgbClr val="586274"/>
              </a:solidFill>
            </a:endParaRPr>
          </a:p>
        </p:txBody>
      </p:sp>
      <p:sp>
        <p:nvSpPr>
          <p:cNvPr id="207" name="Google Shape;207;p29"/>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0"/>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C08  ·  answer</a:t>
            </a:r>
            <a:endParaRPr b="1" sz="1100">
              <a:solidFill>
                <a:srgbClr val="586274"/>
              </a:solidFill>
            </a:endParaRPr>
          </a:p>
        </p:txBody>
      </p:sp>
      <p:sp>
        <p:nvSpPr>
          <p:cNvPr id="213" name="Google Shape;213;p30"/>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Flow-guided feature aggregation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on the other hand, tries to improve accuracy by aggregating features from nearby frames.</a:t>
            </a:r>
            <a:endParaRPr sz="1300">
              <a:solidFill>
                <a:srgbClr val="33405A"/>
              </a:solidFill>
              <a:latin typeface="Georgia"/>
              <a:ea typeface="Georgia"/>
              <a:cs typeface="Georgia"/>
              <a:sym typeface="Georgia"/>
            </a:endParaRPr>
          </a:p>
        </p:txBody>
      </p:sp>
      <p:sp>
        <p:nvSpPr>
          <p:cNvPr id="214" name="Google Shape;214;p30"/>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Comparison</a:t>
            </a:r>
            <a:endParaRPr b="1" sz="2800">
              <a:solidFill>
                <a:srgbClr val="1F7A4D"/>
              </a:solidFill>
              <a:latin typeface="Georgia"/>
              <a:ea typeface="Georgia"/>
              <a:cs typeface="Georgia"/>
              <a:sym typeface="Georgia"/>
            </a:endParaRPr>
          </a:p>
        </p:txBody>
      </p:sp>
      <p:sp>
        <p:nvSpPr>
          <p:cNvPr id="215" name="Google Shape;215;p30"/>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Also acceptable: Background</a:t>
            </a:r>
            <a:endParaRPr>
              <a:solidFill>
                <a:srgbClr val="586274"/>
              </a:solidFill>
            </a:endParaRPr>
          </a:p>
        </p:txBody>
      </p:sp>
      <p:sp>
        <p:nvSpPr>
          <p:cNvPr id="216" name="Google Shape;216;p30"/>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R-CMP: 'On the other hand' contrasts the target's goal (accuracy) with the previous cited work's (speed); read as a plain description it is Background.</a:t>
            </a:r>
            <a:endParaRPr>
              <a:solidFill>
                <a:srgbClr val="16213A"/>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1"/>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C09  ·  9 of 30  ·  vote in row C09</a:t>
            </a:r>
            <a:endParaRPr b="1" sz="1100">
              <a:solidFill>
                <a:srgbClr val="586274"/>
              </a:solidFill>
            </a:endParaRPr>
          </a:p>
        </p:txBody>
      </p:sp>
      <p:sp>
        <p:nvSpPr>
          <p:cNvPr id="222" name="Google Shape;222;p31"/>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Each layer will take the output of the previous layer and the original input of the dense block as inputs, following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a:t>
            </a:r>
            <a:endParaRPr sz="1600">
              <a:solidFill>
                <a:srgbClr val="16213A"/>
              </a:solidFill>
              <a:latin typeface="Georgia"/>
              <a:ea typeface="Georgia"/>
              <a:cs typeface="Georgia"/>
              <a:sym typeface="Georgia"/>
            </a:endParaRPr>
          </a:p>
        </p:txBody>
      </p:sp>
      <p:sp>
        <p:nvSpPr>
          <p:cNvPr id="223" name="Google Shape;223;p31"/>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We implement our model based on U-Net [CITE], which is also applied in the Traffic4cast 2019 competition and achieved the best results. As shown in Figure REF , it consists of 8 dense blocks and 7 transpose convolutional layers. The output of the [FORMULA] -th dense block will be input to the [FORMULA] -th transpose convolutional layer, which is a shortcut to retrieval more information from the original image. We also use these shortcuts inside the dense blocks. Each dense block has 4 convolutional layers. Each layer will take the output of the previous layer and the original input of the dense block as inputs, following </a:t>
            </a:r>
            <a:r>
              <a:rPr b="1" lang="en" sz="900">
                <a:solidFill>
                  <a:srgbClr val="6B3A06"/>
                </a:solidFill>
                <a:highlight>
                  <a:srgbClr val="FCE7C8"/>
                </a:highlight>
              </a:rPr>
              <a:t>[[TARGET]]</a:t>
            </a:r>
            <a:r>
              <a:rPr lang="en" sz="900">
                <a:solidFill>
                  <a:srgbClr val="33405A"/>
                </a:solidFill>
              </a:rPr>
              <a:t>. Dense blocks are followed by average pooling to half the size of the feature maps. The last dense block is followed by a single convolutional layer.</a:t>
            </a:r>
            <a:endParaRPr sz="900">
              <a:solidFill>
                <a:srgbClr val="33405A"/>
              </a:solidFill>
            </a:endParaRPr>
          </a:p>
          <a:p>
            <a:pPr indent="0" lvl="0" marL="0" rtl="0" algn="l">
              <a:spcBef>
                <a:spcPts val="0"/>
              </a:spcBef>
              <a:spcAft>
                <a:spcPts val="0"/>
              </a:spcAft>
              <a:buNone/>
            </a:pPr>
            <a:r>
              <a:rPr lang="en" sz="900">
                <a:solidFill>
                  <a:srgbClr val="33405A"/>
                </a:solidFill>
              </a:rPr>
              <a:t>[FIGURE]</a:t>
            </a:r>
            <a:endParaRPr sz="900">
              <a:solidFill>
                <a:srgbClr val="33405A"/>
              </a:solidFill>
            </a:endParaRPr>
          </a:p>
        </p:txBody>
      </p:sp>
      <p:sp>
        <p:nvSpPr>
          <p:cNvPr id="224" name="Google Shape;224;p31"/>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Densely Connected Convolutional Networks</a:t>
            </a:r>
            <a:endParaRPr b="1" sz="1100">
              <a:solidFill>
                <a:srgbClr val="16213A"/>
              </a:solidFill>
            </a:endParaRPr>
          </a:p>
        </p:txBody>
      </p:sp>
      <p:sp>
        <p:nvSpPr>
          <p:cNvPr id="225" name="Google Shape;225;p31"/>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Recent work has shown that convolutional networks can be substantially</a:t>
            </a:r>
            <a:endParaRPr sz="900">
              <a:solidFill>
                <a:srgbClr val="586274"/>
              </a:solidFill>
            </a:endParaRPr>
          </a:p>
          <a:p>
            <a:pPr indent="0" lvl="0" marL="0" rtl="0" algn="l">
              <a:spcBef>
                <a:spcPts val="0"/>
              </a:spcBef>
              <a:spcAft>
                <a:spcPts val="0"/>
              </a:spcAft>
              <a:buNone/>
            </a:pPr>
            <a:r>
              <a:rPr lang="en" sz="900">
                <a:solidFill>
                  <a:srgbClr val="586274"/>
                </a:solidFill>
              </a:rPr>
              <a:t>deeper, more accurate, and efficient to train if they contain shorter</a:t>
            </a:r>
            <a:endParaRPr sz="900">
              <a:solidFill>
                <a:srgbClr val="586274"/>
              </a:solidFill>
            </a:endParaRPr>
          </a:p>
          <a:p>
            <a:pPr indent="0" lvl="0" marL="0" rtl="0" algn="l">
              <a:spcBef>
                <a:spcPts val="0"/>
              </a:spcBef>
              <a:spcAft>
                <a:spcPts val="0"/>
              </a:spcAft>
              <a:buNone/>
            </a:pPr>
            <a:r>
              <a:rPr lang="en" sz="900">
                <a:solidFill>
                  <a:srgbClr val="586274"/>
                </a:solidFill>
              </a:rPr>
              <a:t>connections between layers close to the input and those close to the output. In</a:t>
            </a:r>
            <a:endParaRPr sz="900">
              <a:solidFill>
                <a:srgbClr val="586274"/>
              </a:solidFill>
            </a:endParaRPr>
          </a:p>
          <a:p>
            <a:pPr indent="0" lvl="0" marL="0" rtl="0" algn="l">
              <a:spcBef>
                <a:spcPts val="0"/>
              </a:spcBef>
              <a:spcAft>
                <a:spcPts val="0"/>
              </a:spcAft>
              <a:buNone/>
            </a:pPr>
            <a:r>
              <a:rPr lang="en" sz="900">
                <a:solidFill>
                  <a:srgbClr val="586274"/>
                </a:solidFill>
              </a:rPr>
              <a:t>this paper, we embrace this observation and introduce the Dense Convolutional</a:t>
            </a:r>
            <a:endParaRPr sz="900">
              <a:solidFill>
                <a:srgbClr val="586274"/>
              </a:solidFill>
            </a:endParaRPr>
          </a:p>
          <a:p>
            <a:pPr indent="0" lvl="0" marL="0" rtl="0" algn="l">
              <a:spcBef>
                <a:spcPts val="0"/>
              </a:spcBef>
              <a:spcAft>
                <a:spcPts val="0"/>
              </a:spcAft>
              <a:buNone/>
            </a:pPr>
            <a:r>
              <a:rPr lang="en" sz="900">
                <a:solidFill>
                  <a:srgbClr val="586274"/>
                </a:solidFill>
              </a:rPr>
              <a:t>Network (DenseNet), which connects each layer to every other layer in a</a:t>
            </a:r>
            <a:endParaRPr sz="900">
              <a:solidFill>
                <a:srgbClr val="586274"/>
              </a:solidFill>
            </a:endParaRPr>
          </a:p>
          <a:p>
            <a:pPr indent="0" lvl="0" marL="0" rtl="0" algn="l">
              <a:spcBef>
                <a:spcPts val="0"/>
              </a:spcBef>
              <a:spcAft>
                <a:spcPts val="0"/>
              </a:spcAft>
              <a:buNone/>
            </a:pPr>
            <a:r>
              <a:rPr lang="en" sz="900">
                <a:solidFill>
                  <a:srgbClr val="586274"/>
                </a:solidFill>
              </a:rPr>
              <a:t>feed-forward fashion. Whereas traditional [...]</a:t>
            </a:r>
            <a:endParaRPr sz="900">
              <a:solidFill>
                <a:srgbClr val="586274"/>
              </a:solidFill>
            </a:endParaRPr>
          </a:p>
        </p:txBody>
      </p:sp>
      <p:sp>
        <p:nvSpPr>
          <p:cNvPr id="226" name="Google Shape;226;p31"/>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2"/>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C09  ·  answer</a:t>
            </a:r>
            <a:endParaRPr b="1" sz="1100">
              <a:solidFill>
                <a:srgbClr val="586274"/>
              </a:solidFill>
            </a:endParaRPr>
          </a:p>
        </p:txBody>
      </p:sp>
      <p:sp>
        <p:nvSpPr>
          <p:cNvPr id="232" name="Google Shape;232;p32"/>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Each layer will take the output of the previous layer and the original input of the dense block as inputs, following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a:t>
            </a:r>
            <a:endParaRPr sz="1300">
              <a:solidFill>
                <a:srgbClr val="33405A"/>
              </a:solidFill>
              <a:latin typeface="Georgia"/>
              <a:ea typeface="Georgia"/>
              <a:cs typeface="Georgia"/>
              <a:sym typeface="Georgia"/>
            </a:endParaRPr>
          </a:p>
        </p:txBody>
      </p:sp>
      <p:sp>
        <p:nvSpPr>
          <p:cNvPr id="233" name="Google Shape;233;p32"/>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Application</a:t>
            </a:r>
            <a:endParaRPr b="1" sz="2800">
              <a:solidFill>
                <a:srgbClr val="1F7A4D"/>
              </a:solidFill>
              <a:latin typeface="Georgia"/>
              <a:ea typeface="Georgia"/>
              <a:cs typeface="Georgia"/>
              <a:sym typeface="Georgia"/>
            </a:endParaRPr>
          </a:p>
        </p:txBody>
      </p:sp>
      <p:sp>
        <p:nvSpPr>
          <p:cNvPr id="234" name="Google Shape;234;p32"/>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Also acceptable: Basis</a:t>
            </a:r>
            <a:endParaRPr>
              <a:solidFill>
                <a:srgbClr val="586274"/>
              </a:solidFill>
            </a:endParaRPr>
          </a:p>
        </p:txBody>
      </p:sp>
      <p:sp>
        <p:nvSpPr>
          <p:cNvPr id="235" name="Google Shape;235;p32"/>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R-EV: The dense connectivity of the target is used as is in the current model ('following [T]'): Application.</a:t>
            </a:r>
            <a:endParaRPr>
              <a:solidFill>
                <a:srgbClr val="16213A"/>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3"/>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C10  ·  10 of 30  ·  vote in row C10</a:t>
            </a:r>
            <a:endParaRPr b="1" sz="1100">
              <a:solidFill>
                <a:srgbClr val="586274"/>
              </a:solidFill>
            </a:endParaRPr>
          </a:p>
        </p:txBody>
      </p:sp>
      <p:sp>
        <p:nvSpPr>
          <p:cNvPr id="241" name="Google Shape;241;p33"/>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For the pancreas, however, while the segmentation result has been improved</a:t>
            </a:r>
            <a:endParaRPr sz="1600">
              <a:solidFill>
                <a:srgbClr val="16213A"/>
              </a:solidFill>
              <a:latin typeface="Georgia"/>
              <a:ea typeface="Georgia"/>
              <a:cs typeface="Georgia"/>
              <a:sym typeface="Georgia"/>
            </a:endParaRPr>
          </a:p>
          <a:p>
            <a:pPr indent="0" lvl="0" marL="0" rtl="0" algn="l">
              <a:spcBef>
                <a:spcPts val="0"/>
              </a:spcBef>
              <a:spcAft>
                <a:spcPts val="0"/>
              </a:spcAft>
              <a:buNone/>
            </a:pPr>
            <a:r>
              <a:rPr lang="en" sz="1600">
                <a:solidFill>
                  <a:srgbClr val="16213A"/>
                </a:solidFill>
                <a:latin typeface="Georgia"/>
                <a:ea typeface="Georgia"/>
                <a:cs typeface="Georgia"/>
                <a:sym typeface="Georgia"/>
              </a:rPr>
              <a:t>substantially from the pre-deep learning era, the accuracy is still</a:t>
            </a:r>
            <a:endParaRPr sz="1600">
              <a:solidFill>
                <a:srgbClr val="16213A"/>
              </a:solidFill>
              <a:latin typeface="Georgia"/>
              <a:ea typeface="Georgia"/>
              <a:cs typeface="Georgia"/>
              <a:sym typeface="Georgia"/>
            </a:endParaRPr>
          </a:p>
          <a:p>
            <a:pPr indent="0" lvl="0" marL="0" rtl="0" algn="l">
              <a:spcBef>
                <a:spcPts val="0"/>
              </a:spcBef>
              <a:spcAft>
                <a:spcPts val="0"/>
              </a:spcAft>
              <a:buNone/>
            </a:pPr>
            <a:r>
              <a:rPr lang="en" sz="1600">
                <a:solidFill>
                  <a:srgbClr val="16213A"/>
                </a:solidFill>
                <a:latin typeface="Georgia"/>
                <a:ea typeface="Georgia"/>
                <a:cs typeface="Georgia"/>
                <a:sym typeface="Georgia"/>
              </a:rPr>
              <a:t>relatively low compared with other organs [CITE], [CITE], [CITE], [CITE], [CITE],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a:t>
            </a:r>
            <a:endParaRPr sz="1600">
              <a:solidFill>
                <a:srgbClr val="16213A"/>
              </a:solidFill>
              <a:latin typeface="Georgia"/>
              <a:ea typeface="Georgia"/>
              <a:cs typeface="Georgia"/>
              <a:sym typeface="Georgia"/>
            </a:endParaRPr>
          </a:p>
        </p:txBody>
      </p:sp>
      <p:sp>
        <p:nvSpPr>
          <p:cNvPr id="242" name="Google Shape;242;p33"/>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Accurate organ segmentation is the prerequisite of many subsequent</a:t>
            </a:r>
            <a:endParaRPr sz="900">
              <a:solidFill>
                <a:srgbClr val="33405A"/>
              </a:solidFill>
            </a:endParaRPr>
          </a:p>
          <a:p>
            <a:pPr indent="0" lvl="0" marL="0" rtl="0" algn="l">
              <a:spcBef>
                <a:spcPts val="0"/>
              </a:spcBef>
              <a:spcAft>
                <a:spcPts val="0"/>
              </a:spcAft>
              <a:buNone/>
            </a:pPr>
            <a:r>
              <a:rPr lang="en" sz="900">
                <a:solidFill>
                  <a:srgbClr val="33405A"/>
                </a:solidFill>
              </a:rPr>
              <a:t>computer based analysis. In recent years, with the rapid development</a:t>
            </a:r>
            <a:endParaRPr sz="900">
              <a:solidFill>
                <a:srgbClr val="33405A"/>
              </a:solidFill>
            </a:endParaRPr>
          </a:p>
          <a:p>
            <a:pPr indent="0" lvl="0" marL="0" rtl="0" algn="l">
              <a:spcBef>
                <a:spcPts val="0"/>
              </a:spcBef>
              <a:spcAft>
                <a:spcPts val="0"/>
              </a:spcAft>
              <a:buNone/>
            </a:pPr>
            <a:r>
              <a:rPr lang="en" sz="900">
                <a:solidFill>
                  <a:srgbClr val="33405A"/>
                </a:solidFill>
              </a:rPr>
              <a:t>of deep neural network, automatic segmentation of many organs and</a:t>
            </a:r>
            <a:endParaRPr sz="900">
              <a:solidFill>
                <a:srgbClr val="33405A"/>
              </a:solidFill>
            </a:endParaRPr>
          </a:p>
          <a:p>
            <a:pPr indent="0" lvl="0" marL="0" rtl="0" algn="l">
              <a:spcBef>
                <a:spcPts val="0"/>
              </a:spcBef>
              <a:spcAft>
                <a:spcPts val="0"/>
              </a:spcAft>
              <a:buNone/>
            </a:pPr>
            <a:r>
              <a:rPr lang="en" sz="900">
                <a:solidFill>
                  <a:srgbClr val="33405A"/>
                </a:solidFill>
              </a:rPr>
              <a:t>tissues have achieved good results, such as segmentation of the</a:t>
            </a:r>
            <a:endParaRPr sz="900">
              <a:solidFill>
                <a:srgbClr val="33405A"/>
              </a:solidFill>
            </a:endParaRPr>
          </a:p>
          <a:p>
            <a:pPr indent="0" lvl="0" marL="0" rtl="0" algn="l">
              <a:spcBef>
                <a:spcPts val="0"/>
              </a:spcBef>
              <a:spcAft>
                <a:spcPts val="0"/>
              </a:spcAft>
              <a:buNone/>
            </a:pPr>
            <a:r>
              <a:rPr lang="en" sz="900">
                <a:solidFill>
                  <a:srgbClr val="33405A"/>
                </a:solidFill>
              </a:rPr>
              <a:t>cortical and sub-cortical structures, lung, liver, heart,</a:t>
            </a:r>
            <a:endParaRPr sz="900">
              <a:solidFill>
                <a:srgbClr val="33405A"/>
              </a:solidFill>
            </a:endParaRPr>
          </a:p>
          <a:p>
            <a:pPr indent="0" lvl="0" marL="0" rtl="0" algn="l">
              <a:spcBef>
                <a:spcPts val="0"/>
              </a:spcBef>
              <a:spcAft>
                <a:spcPts val="0"/>
              </a:spcAft>
              <a:buNone/>
            </a:pPr>
            <a:r>
              <a:rPr lang="en" sz="900">
                <a:solidFill>
                  <a:srgbClr val="33405A"/>
                </a:solidFill>
              </a:rPr>
              <a:t>etc.. [CITE], [CITE], [CITE], [CITE], [CITE], [CITE].</a:t>
            </a:r>
            <a:endParaRPr sz="900">
              <a:solidFill>
                <a:srgbClr val="33405A"/>
              </a:solidFill>
            </a:endParaRPr>
          </a:p>
          <a:p>
            <a:pPr indent="0" lvl="0" marL="0" rtl="0" algn="l">
              <a:spcBef>
                <a:spcPts val="0"/>
              </a:spcBef>
              <a:spcAft>
                <a:spcPts val="0"/>
              </a:spcAft>
              <a:buNone/>
            </a:pPr>
            <a:r>
              <a:rPr lang="en" sz="900">
                <a:solidFill>
                  <a:srgbClr val="33405A"/>
                </a:solidFill>
              </a:rPr>
              <a:t>For the pancreas, however, while the segmentation result has been improved</a:t>
            </a:r>
            <a:endParaRPr sz="900">
              <a:solidFill>
                <a:srgbClr val="33405A"/>
              </a:solidFill>
            </a:endParaRPr>
          </a:p>
          <a:p>
            <a:pPr indent="0" lvl="0" marL="0" rtl="0" algn="l">
              <a:spcBef>
                <a:spcPts val="0"/>
              </a:spcBef>
              <a:spcAft>
                <a:spcPts val="0"/>
              </a:spcAft>
              <a:buNone/>
            </a:pPr>
            <a:r>
              <a:rPr lang="en" sz="900">
                <a:solidFill>
                  <a:srgbClr val="33405A"/>
                </a:solidFill>
              </a:rPr>
              <a:t>substantially from the pre-deep learning era, the accuracy is still</a:t>
            </a:r>
            <a:endParaRPr sz="900">
              <a:solidFill>
                <a:srgbClr val="33405A"/>
              </a:solidFill>
            </a:endParaRPr>
          </a:p>
          <a:p>
            <a:pPr indent="0" lvl="0" marL="0" rtl="0" algn="l">
              <a:spcBef>
                <a:spcPts val="0"/>
              </a:spcBef>
              <a:spcAft>
                <a:spcPts val="0"/>
              </a:spcAft>
              <a:buNone/>
            </a:pPr>
            <a:r>
              <a:rPr lang="en" sz="900">
                <a:solidFill>
                  <a:srgbClr val="33405A"/>
                </a:solidFill>
              </a:rPr>
              <a:t>relatively low compared with other organs [CITE], [CITE], [CITE], [CITE], [CITE], </a:t>
            </a:r>
            <a:r>
              <a:rPr b="1" lang="en" sz="900">
                <a:solidFill>
                  <a:srgbClr val="6B3A06"/>
                </a:solidFill>
                <a:highlight>
                  <a:srgbClr val="FCE7C8"/>
                </a:highlight>
              </a:rPr>
              <a:t>[[TARGET]]</a:t>
            </a:r>
            <a:r>
              <a:rPr lang="en" sz="900">
                <a:solidFill>
                  <a:srgbClr val="33405A"/>
                </a:solidFill>
              </a:rPr>
              <a:t>.</a:t>
            </a:r>
            <a:endParaRPr sz="900">
              <a:solidFill>
                <a:srgbClr val="33405A"/>
              </a:solidFill>
            </a:endParaRPr>
          </a:p>
          <a:p>
            <a:pPr indent="0" lvl="0" marL="0" rtl="0" algn="l">
              <a:spcBef>
                <a:spcPts val="0"/>
              </a:spcBef>
              <a:spcAft>
                <a:spcPts val="0"/>
              </a:spcAft>
              <a:buNone/>
            </a:pPr>
            <a:r>
              <a:rPr lang="en" sz="900">
                <a:solidFill>
                  <a:srgbClr val="33405A"/>
                </a:solidFill>
              </a:rPr>
              <a:t>This is mainly caused by several aspects: 1) the shape, size and</a:t>
            </a:r>
            <a:endParaRPr sz="900">
              <a:solidFill>
                <a:srgbClr val="33405A"/>
              </a:solidFill>
            </a:endParaRPr>
          </a:p>
          <a:p>
            <a:pPr indent="0" lvl="0" marL="0" rtl="0" algn="l">
              <a:spcBef>
                <a:spcPts val="0"/>
              </a:spcBef>
              <a:spcAft>
                <a:spcPts val="0"/>
              </a:spcAft>
              <a:buNone/>
            </a:pPr>
            <a:r>
              <a:rPr lang="en" sz="900">
                <a:solidFill>
                  <a:srgbClr val="33405A"/>
                </a:solidFill>
              </a:rPr>
              <a:t>position of the pancreas vary greatly among different patients in</a:t>
            </a:r>
            <a:endParaRPr sz="900">
              <a:solidFill>
                <a:srgbClr val="33405A"/>
              </a:solidFill>
            </a:endParaRPr>
          </a:p>
          <a:p>
            <a:pPr indent="0" lvl="0" marL="0" rtl="0" algn="l">
              <a:spcBef>
                <a:spcPts val="0"/>
              </a:spcBef>
              <a:spcAft>
                <a:spcPts val="0"/>
              </a:spcAft>
              <a:buNone/>
            </a:pPr>
            <a:r>
              <a:rPr lang="en" sz="900">
                <a:solidFill>
                  <a:srgbClr val="33405A"/>
                </a:solidFill>
              </a:rPr>
              <a:t>abdomen; 2) the contrast between the pancreas and surrounding</a:t>
            </a:r>
            <a:endParaRPr sz="900">
              <a:solidFill>
                <a:srgbClr val="33405A"/>
              </a:solidFill>
            </a:endParaRPr>
          </a:p>
          <a:p>
            <a:pPr indent="0" lvl="0" marL="0" rtl="0" algn="l">
              <a:spcBef>
                <a:spcPts val="0"/>
              </a:spcBef>
              <a:spcAft>
                <a:spcPts val="0"/>
              </a:spcAft>
              <a:buNone/>
            </a:pPr>
            <a:r>
              <a:rPr lang="en" sz="900">
                <a:solidFill>
                  <a:srgbClr val="33405A"/>
                </a:solidFill>
              </a:rPr>
              <a:t>tissue is weak; 3) pancreas is relatively soft and easy to be</a:t>
            </a:r>
            <a:endParaRPr sz="900">
              <a:solidFill>
                <a:srgbClr val="33405A"/>
              </a:solidFill>
            </a:endParaRPr>
          </a:p>
          <a:p>
            <a:pPr indent="0" lvl="0" marL="0" rtl="0" algn="l">
              <a:spcBef>
                <a:spcPts val="0"/>
              </a:spcBef>
              <a:spcAft>
                <a:spcPts val="0"/>
              </a:spcAft>
              <a:buNone/>
            </a:pPr>
            <a:r>
              <a:rPr lang="en" sz="900">
                <a:solidFill>
                  <a:srgbClr val="33405A"/>
                </a:solidFill>
              </a:rPr>
              <a:t>pushed by surrounding organs, [...]</a:t>
            </a:r>
            <a:endParaRPr sz="900">
              <a:solidFill>
                <a:srgbClr val="33405A"/>
              </a:solidFill>
            </a:endParaRPr>
          </a:p>
        </p:txBody>
      </p:sp>
      <p:sp>
        <p:nvSpPr>
          <p:cNvPr id="243" name="Google Shape;243;p33"/>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Spatial Aggregation of Holistically-Nested Convolutional Neural Networks  for Automated Pancreas Localization and Segmentation</a:t>
            </a:r>
            <a:endParaRPr b="1" sz="1100">
              <a:solidFill>
                <a:srgbClr val="16213A"/>
              </a:solidFill>
            </a:endParaRPr>
          </a:p>
        </p:txBody>
      </p:sp>
      <p:sp>
        <p:nvSpPr>
          <p:cNvPr id="244" name="Google Shape;244;p33"/>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Accurate and automatic organ segmentation from 3D radiological scans is an</a:t>
            </a:r>
            <a:endParaRPr sz="900">
              <a:solidFill>
                <a:srgbClr val="586274"/>
              </a:solidFill>
            </a:endParaRPr>
          </a:p>
          <a:p>
            <a:pPr indent="0" lvl="0" marL="0" rtl="0" algn="l">
              <a:spcBef>
                <a:spcPts val="0"/>
              </a:spcBef>
              <a:spcAft>
                <a:spcPts val="0"/>
              </a:spcAft>
              <a:buNone/>
            </a:pPr>
            <a:r>
              <a:rPr lang="en" sz="900">
                <a:solidFill>
                  <a:srgbClr val="586274"/>
                </a:solidFill>
              </a:rPr>
              <a:t>important yet challenging problem for medical image analysis. Specifically, the</a:t>
            </a:r>
            <a:endParaRPr sz="900">
              <a:solidFill>
                <a:srgbClr val="586274"/>
              </a:solidFill>
            </a:endParaRPr>
          </a:p>
          <a:p>
            <a:pPr indent="0" lvl="0" marL="0" rtl="0" algn="l">
              <a:spcBef>
                <a:spcPts val="0"/>
              </a:spcBef>
              <a:spcAft>
                <a:spcPts val="0"/>
              </a:spcAft>
              <a:buNone/>
            </a:pPr>
            <a:r>
              <a:rPr lang="en" sz="900">
                <a:solidFill>
                  <a:srgbClr val="586274"/>
                </a:solidFill>
              </a:rPr>
              <a:t>pancreas demonstrates very high inter-patient anatomical variability in both</a:t>
            </a:r>
            <a:endParaRPr sz="900">
              <a:solidFill>
                <a:srgbClr val="586274"/>
              </a:solidFill>
            </a:endParaRPr>
          </a:p>
          <a:p>
            <a:pPr indent="0" lvl="0" marL="0" rtl="0" algn="l">
              <a:spcBef>
                <a:spcPts val="0"/>
              </a:spcBef>
              <a:spcAft>
                <a:spcPts val="0"/>
              </a:spcAft>
              <a:buNone/>
            </a:pPr>
            <a:r>
              <a:rPr lang="en" sz="900">
                <a:solidFill>
                  <a:srgbClr val="586274"/>
                </a:solidFill>
              </a:rPr>
              <a:t>its shape and volume. In this paper, we present an automated system using 3D</a:t>
            </a:r>
            <a:endParaRPr sz="900">
              <a:solidFill>
                <a:srgbClr val="586274"/>
              </a:solidFill>
            </a:endParaRPr>
          </a:p>
          <a:p>
            <a:pPr indent="0" lvl="0" marL="0" rtl="0" algn="l">
              <a:spcBef>
                <a:spcPts val="0"/>
              </a:spcBef>
              <a:spcAft>
                <a:spcPts val="0"/>
              </a:spcAft>
              <a:buNone/>
            </a:pPr>
            <a:r>
              <a:rPr lang="en" sz="900">
                <a:solidFill>
                  <a:srgbClr val="586274"/>
                </a:solidFill>
              </a:rPr>
              <a:t>computed tomography (CT) volumes via a two-stage cascaded approach: pancreas</a:t>
            </a:r>
            <a:endParaRPr sz="900">
              <a:solidFill>
                <a:srgbClr val="586274"/>
              </a:solidFill>
            </a:endParaRPr>
          </a:p>
          <a:p>
            <a:pPr indent="0" lvl="0" marL="0" rtl="0" algn="l">
              <a:spcBef>
                <a:spcPts val="0"/>
              </a:spcBef>
              <a:spcAft>
                <a:spcPts val="0"/>
              </a:spcAft>
              <a:buNone/>
            </a:pPr>
            <a:r>
              <a:rPr lang="en" sz="900">
                <a:solidFill>
                  <a:srgbClr val="586274"/>
                </a:solidFill>
              </a:rPr>
              <a:t>localization and segmentation. [...]</a:t>
            </a:r>
            <a:endParaRPr sz="900">
              <a:solidFill>
                <a:srgbClr val="586274"/>
              </a:solidFill>
            </a:endParaRPr>
          </a:p>
        </p:txBody>
      </p:sp>
      <p:sp>
        <p:nvSpPr>
          <p:cNvPr id="245" name="Google Shape;245;p33"/>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4"/>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C10  ·  answer</a:t>
            </a:r>
            <a:endParaRPr b="1" sz="1100">
              <a:solidFill>
                <a:srgbClr val="586274"/>
              </a:solidFill>
            </a:endParaRPr>
          </a:p>
        </p:txBody>
      </p:sp>
      <p:sp>
        <p:nvSpPr>
          <p:cNvPr id="251" name="Google Shape;251;p34"/>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For the pancreas, however, while the segmentation result has been improved</a:t>
            </a:r>
            <a:endParaRPr sz="1300">
              <a:solidFill>
                <a:srgbClr val="33405A"/>
              </a:solidFill>
              <a:latin typeface="Georgia"/>
              <a:ea typeface="Georgia"/>
              <a:cs typeface="Georgia"/>
              <a:sym typeface="Georgia"/>
            </a:endParaRPr>
          </a:p>
          <a:p>
            <a:pPr indent="0" lvl="0" marL="0" rtl="0" algn="l">
              <a:spcBef>
                <a:spcPts val="0"/>
              </a:spcBef>
              <a:spcAft>
                <a:spcPts val="0"/>
              </a:spcAft>
              <a:buNone/>
            </a:pPr>
            <a:r>
              <a:rPr lang="en" sz="1300">
                <a:solidFill>
                  <a:srgbClr val="33405A"/>
                </a:solidFill>
                <a:latin typeface="Georgia"/>
                <a:ea typeface="Georgia"/>
                <a:cs typeface="Georgia"/>
                <a:sym typeface="Georgia"/>
              </a:rPr>
              <a:t>substantially from the pre-deep learning era, the accuracy is still</a:t>
            </a:r>
            <a:endParaRPr sz="1300">
              <a:solidFill>
                <a:srgbClr val="33405A"/>
              </a:solidFill>
              <a:latin typeface="Georgia"/>
              <a:ea typeface="Georgia"/>
              <a:cs typeface="Georgia"/>
              <a:sym typeface="Georgia"/>
            </a:endParaRPr>
          </a:p>
          <a:p>
            <a:pPr indent="0" lvl="0" marL="0" rtl="0" algn="l">
              <a:spcBef>
                <a:spcPts val="0"/>
              </a:spcBef>
              <a:spcAft>
                <a:spcPts val="0"/>
              </a:spcAft>
              <a:buNone/>
            </a:pPr>
            <a:r>
              <a:rPr lang="en" sz="1300">
                <a:solidFill>
                  <a:srgbClr val="33405A"/>
                </a:solidFill>
                <a:latin typeface="Georgia"/>
                <a:ea typeface="Georgia"/>
                <a:cs typeface="Georgia"/>
                <a:sym typeface="Georgia"/>
              </a:rPr>
              <a:t>relatively low compared with other organs [CITE], [CITE], [CITE], [CITE], [CITE],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a:t>
            </a:r>
            <a:endParaRPr sz="1300">
              <a:solidFill>
                <a:srgbClr val="33405A"/>
              </a:solidFill>
              <a:latin typeface="Georgia"/>
              <a:ea typeface="Georgia"/>
              <a:cs typeface="Georgia"/>
              <a:sym typeface="Georgia"/>
            </a:endParaRPr>
          </a:p>
        </p:txBody>
      </p:sp>
      <p:sp>
        <p:nvSpPr>
          <p:cNvPr id="252" name="Google Shape;252;p34"/>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Evidence</a:t>
            </a:r>
            <a:endParaRPr b="1" sz="2800">
              <a:solidFill>
                <a:srgbClr val="1F7A4D"/>
              </a:solidFill>
              <a:latin typeface="Georgia"/>
              <a:ea typeface="Georgia"/>
              <a:cs typeface="Georgia"/>
              <a:sym typeface="Georgia"/>
            </a:endParaRPr>
          </a:p>
        </p:txBody>
      </p:sp>
      <p:sp>
        <p:nvSpPr>
          <p:cNvPr id="253" name="Google Shape;253;p34"/>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Also acceptable: Gap</a:t>
            </a:r>
            <a:endParaRPr>
              <a:solidFill>
                <a:srgbClr val="586274"/>
              </a:solidFill>
            </a:endParaRPr>
          </a:p>
        </p:txBody>
      </p:sp>
      <p:sp>
        <p:nvSpPr>
          <p:cNvPr id="254" name="Google Shape;254;p34"/>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R-GAP: The list closes the claim about pancreas segmentation accuracy, so by the position test the cited works are cited as the source of that statement: Evidence. Read as the works that have the low accuracy, Gap is also acceptable.</a:t>
            </a:r>
            <a:endParaRPr>
              <a:solidFill>
                <a:srgbClr val="16213A"/>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5"/>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C11  ·  11 of 30  ·  vote in row C11</a:t>
            </a:r>
            <a:endParaRPr b="1" sz="1100">
              <a:solidFill>
                <a:srgbClr val="586274"/>
              </a:solidFill>
            </a:endParaRPr>
          </a:p>
        </p:txBody>
      </p:sp>
      <p:sp>
        <p:nvSpPr>
          <p:cNvPr id="260" name="Google Shape;260;p35"/>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ResNet-18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We modify the size of all convolutional kernels to [FORMULA] and experiment with different number of feature channels in each layer.</a:t>
            </a:r>
            <a:endParaRPr sz="1600">
              <a:solidFill>
                <a:srgbClr val="16213A"/>
              </a:solidFill>
              <a:latin typeface="Georgia"/>
              <a:ea typeface="Georgia"/>
              <a:cs typeface="Georgia"/>
              <a:sym typeface="Georgia"/>
            </a:endParaRPr>
          </a:p>
        </p:txBody>
      </p:sp>
      <p:sp>
        <p:nvSpPr>
          <p:cNvPr id="261" name="Google Shape;261;p35"/>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ResNet-18 </a:t>
            </a:r>
            <a:r>
              <a:rPr b="1" lang="en" sz="900">
                <a:solidFill>
                  <a:srgbClr val="6B3A06"/>
                </a:solidFill>
                <a:highlight>
                  <a:srgbClr val="FCE7C8"/>
                </a:highlight>
              </a:rPr>
              <a:t>[[TARGET]]</a:t>
            </a:r>
            <a:r>
              <a:rPr lang="en" sz="900">
                <a:solidFill>
                  <a:srgbClr val="33405A"/>
                </a:solidFill>
              </a:rPr>
              <a:t>: We modify the size of all convolutional kernels to [FORMULA] and experiment with different number of feature channels in each layer. We try light and heavy weight versions where the number of feature channels are [FORMULA] , [FORMULA] , same, or twice of the number of original channels. The input to our network is a 6-channel RGB+HHA [CITE] image. This network has been trained from scratch, similar to the baseline 3D convolution based approaches.</a:t>
            </a:r>
            <a:endParaRPr sz="900">
              <a:solidFill>
                <a:srgbClr val="33405A"/>
              </a:solidFill>
            </a:endParaRPr>
          </a:p>
          <a:p>
            <a:pPr indent="0" lvl="0" marL="0" rtl="0" algn="l">
              <a:spcBef>
                <a:spcPts val="0"/>
              </a:spcBef>
              <a:spcAft>
                <a:spcPts val="0"/>
              </a:spcAft>
              <a:buNone/>
            </a:pPr>
            <a:r>
              <a:t/>
            </a:r>
            <a:endParaRPr sz="900">
              <a:solidFill>
                <a:srgbClr val="33405A"/>
              </a:solidFill>
            </a:endParaRPr>
          </a:p>
          <a:p>
            <a:pPr indent="0" lvl="0" marL="0" rtl="0" algn="l">
              <a:spcBef>
                <a:spcPts val="0"/>
              </a:spcBef>
              <a:spcAft>
                <a:spcPts val="0"/>
              </a:spcAft>
              <a:buNone/>
            </a:pPr>
            <a:r>
              <a:rPr lang="en" sz="900">
                <a:solidFill>
                  <a:srgbClr val="33405A"/>
                </a:solidFill>
              </a:rPr>
              <a:t>VGG-16 [CITE]: We particularly choose this model because it is conventionally used in previous work on the NYUv2 dataset [CITE], [CITE]. The input to this network is the standard RGB image. This model has been pre-trained on the Imagenet dataset.</a:t>
            </a:r>
            <a:endParaRPr sz="900">
              <a:solidFill>
                <a:srgbClr val="33405A"/>
              </a:solidFill>
            </a:endParaRPr>
          </a:p>
        </p:txBody>
      </p:sp>
      <p:sp>
        <p:nvSpPr>
          <p:cNvPr id="262" name="Google Shape;262;p35"/>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Deep Residual Learning for Image Recognition</a:t>
            </a:r>
            <a:endParaRPr b="1" sz="1100">
              <a:solidFill>
                <a:srgbClr val="16213A"/>
              </a:solidFill>
            </a:endParaRPr>
          </a:p>
        </p:txBody>
      </p:sp>
      <p:sp>
        <p:nvSpPr>
          <p:cNvPr id="263" name="Google Shape;263;p35"/>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Deeper neural networks are more difficult to train. We present a residual</a:t>
            </a:r>
            <a:endParaRPr sz="900">
              <a:solidFill>
                <a:srgbClr val="586274"/>
              </a:solidFill>
            </a:endParaRPr>
          </a:p>
          <a:p>
            <a:pPr indent="0" lvl="0" marL="0" rtl="0" algn="l">
              <a:spcBef>
                <a:spcPts val="0"/>
              </a:spcBef>
              <a:spcAft>
                <a:spcPts val="0"/>
              </a:spcAft>
              <a:buNone/>
            </a:pPr>
            <a:r>
              <a:rPr lang="en" sz="900">
                <a:solidFill>
                  <a:srgbClr val="586274"/>
                </a:solidFill>
              </a:rPr>
              <a:t>learning framework to ease the training of networks that are substantially</a:t>
            </a:r>
            <a:endParaRPr sz="900">
              <a:solidFill>
                <a:srgbClr val="586274"/>
              </a:solidFill>
            </a:endParaRPr>
          </a:p>
          <a:p>
            <a:pPr indent="0" lvl="0" marL="0" rtl="0" algn="l">
              <a:spcBef>
                <a:spcPts val="0"/>
              </a:spcBef>
              <a:spcAft>
                <a:spcPts val="0"/>
              </a:spcAft>
              <a:buNone/>
            </a:pPr>
            <a:r>
              <a:rPr lang="en" sz="900">
                <a:solidFill>
                  <a:srgbClr val="586274"/>
                </a:solidFill>
              </a:rPr>
              <a:t>deeper than those used previously. We explicitly reformulate the layers as</a:t>
            </a:r>
            <a:endParaRPr sz="900">
              <a:solidFill>
                <a:srgbClr val="586274"/>
              </a:solidFill>
            </a:endParaRPr>
          </a:p>
          <a:p>
            <a:pPr indent="0" lvl="0" marL="0" rtl="0" algn="l">
              <a:spcBef>
                <a:spcPts val="0"/>
              </a:spcBef>
              <a:spcAft>
                <a:spcPts val="0"/>
              </a:spcAft>
              <a:buNone/>
            </a:pPr>
            <a:r>
              <a:rPr lang="en" sz="900">
                <a:solidFill>
                  <a:srgbClr val="586274"/>
                </a:solidFill>
              </a:rPr>
              <a:t>learning residual functions with reference to the layer inputs, instead of</a:t>
            </a:r>
            <a:endParaRPr sz="900">
              <a:solidFill>
                <a:srgbClr val="586274"/>
              </a:solidFill>
            </a:endParaRPr>
          </a:p>
          <a:p>
            <a:pPr indent="0" lvl="0" marL="0" rtl="0" algn="l">
              <a:spcBef>
                <a:spcPts val="0"/>
              </a:spcBef>
              <a:spcAft>
                <a:spcPts val="0"/>
              </a:spcAft>
              <a:buNone/>
            </a:pPr>
            <a:r>
              <a:rPr lang="en" sz="900">
                <a:solidFill>
                  <a:srgbClr val="586274"/>
                </a:solidFill>
              </a:rPr>
              <a:t>learning unreferenced functions. We provide comprehensive empirical evidence</a:t>
            </a:r>
            <a:endParaRPr sz="900">
              <a:solidFill>
                <a:srgbClr val="586274"/>
              </a:solidFill>
            </a:endParaRPr>
          </a:p>
          <a:p>
            <a:pPr indent="0" lvl="0" marL="0" rtl="0" algn="l">
              <a:spcBef>
                <a:spcPts val="0"/>
              </a:spcBef>
              <a:spcAft>
                <a:spcPts val="0"/>
              </a:spcAft>
              <a:buNone/>
            </a:pPr>
            <a:r>
              <a:rPr lang="en" sz="900">
                <a:solidFill>
                  <a:srgbClr val="586274"/>
                </a:solidFill>
              </a:rPr>
              <a:t>showing that these residual networks are [...]</a:t>
            </a:r>
            <a:endParaRPr sz="900">
              <a:solidFill>
                <a:srgbClr val="586274"/>
              </a:solidFill>
            </a:endParaRPr>
          </a:p>
        </p:txBody>
      </p:sp>
      <p:sp>
        <p:nvSpPr>
          <p:cNvPr id="264" name="Google Shape;264;p35"/>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6"/>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C11  ·  answer</a:t>
            </a:r>
            <a:endParaRPr b="1" sz="1100">
              <a:solidFill>
                <a:srgbClr val="586274"/>
              </a:solidFill>
            </a:endParaRPr>
          </a:p>
        </p:txBody>
      </p:sp>
      <p:sp>
        <p:nvSpPr>
          <p:cNvPr id="270" name="Google Shape;270;p36"/>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ResNet-18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We modify the size of all convolutional kernels to [FORMULA] and experiment with different number of feature channels in each layer.</a:t>
            </a:r>
            <a:endParaRPr sz="1300">
              <a:solidFill>
                <a:srgbClr val="33405A"/>
              </a:solidFill>
              <a:latin typeface="Georgia"/>
              <a:ea typeface="Georgia"/>
              <a:cs typeface="Georgia"/>
              <a:sym typeface="Georgia"/>
            </a:endParaRPr>
          </a:p>
        </p:txBody>
      </p:sp>
      <p:sp>
        <p:nvSpPr>
          <p:cNvPr id="271" name="Google Shape;271;p36"/>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Improvement/Modification</a:t>
            </a:r>
            <a:endParaRPr b="1" sz="2800">
              <a:solidFill>
                <a:srgbClr val="1F7A4D"/>
              </a:solidFill>
              <a:latin typeface="Georgia"/>
              <a:ea typeface="Georgia"/>
              <a:cs typeface="Georgia"/>
              <a:sym typeface="Georgia"/>
            </a:endParaRPr>
          </a:p>
        </p:txBody>
      </p:sp>
      <p:sp>
        <p:nvSpPr>
          <p:cNvPr id="272" name="Google Shape;272;p36"/>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 </a:t>
            </a:r>
            <a:endParaRPr>
              <a:solidFill>
                <a:srgbClr val="586274"/>
              </a:solidFill>
            </a:endParaRPr>
          </a:p>
        </p:txBody>
      </p:sp>
      <p:sp>
        <p:nvSpPr>
          <p:cNvPr id="273" name="Google Shape;273;p36"/>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R-IM: 'ResNet-18 [T]: We modify the size of all convolutional kernels…': a described change to the target's network.</a:t>
            </a:r>
            <a:endParaRPr>
              <a:solidFill>
                <a:srgbClr val="16213A"/>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7"/>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C12  ·  12 of 30  ·  vote in row C12</a:t>
            </a:r>
            <a:endParaRPr b="1" sz="1100">
              <a:solidFill>
                <a:srgbClr val="586274"/>
              </a:solidFill>
            </a:endParaRPr>
          </a:p>
        </p:txBody>
      </p:sp>
      <p:sp>
        <p:nvSpPr>
          <p:cNvPr id="279" name="Google Shape;279;p37"/>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Despite significant progress in the previous works [CITE], [CITE], [CITE], [CITE], [CITE], [CITE], [CITE], [CITE], [CITE], [CITE], [CITE],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for virtual try-on, the multi-pose virtual try-on has not been well studied.</a:t>
            </a:r>
            <a:endParaRPr sz="1600">
              <a:solidFill>
                <a:srgbClr val="16213A"/>
              </a:solidFill>
              <a:latin typeface="Georgia"/>
              <a:ea typeface="Georgia"/>
              <a:cs typeface="Georgia"/>
              <a:sym typeface="Georgia"/>
            </a:endParaRPr>
          </a:p>
        </p:txBody>
      </p:sp>
      <p:sp>
        <p:nvSpPr>
          <p:cNvPr id="280" name="Google Shape;280;p37"/>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Image-based virtual try-on systems aim at fitting a target in-shop clothes into a reference person, which is a branch of the field of image synthesis. Driven by the rapid development of image synthesis [CITE], [CITE], [CITE], [CITE], the topic of image-based virtual try-on has attracted more interest and has vast potential applications in virtual reality and human-computer interaction. Despite significant progress in the previous works [CITE], [CITE], [CITE], [CITE], [CITE], [CITE], [CITE], [CITE], [CITE], [CITE], [CITE], </a:t>
            </a:r>
            <a:r>
              <a:rPr b="1" lang="en" sz="900">
                <a:solidFill>
                  <a:srgbClr val="6B3A06"/>
                </a:solidFill>
                <a:highlight>
                  <a:srgbClr val="FCE7C8"/>
                </a:highlight>
              </a:rPr>
              <a:t>[[TARGET]]</a:t>
            </a:r>
            <a:r>
              <a:rPr lang="en" sz="900">
                <a:solidFill>
                  <a:srgbClr val="33405A"/>
                </a:solidFill>
              </a:rPr>
              <a:t> for virtual try-on, the multi-pose virtual try-on has not been well studied. Concretely, for a given person image, the virtual fitting system could generate realistic images of this person in different poses while preserving the desired clothes' appearance. The multi-pose virtual fitting system is more in line with practical application scenarios. The [...]</a:t>
            </a:r>
            <a:endParaRPr sz="900">
              <a:solidFill>
                <a:srgbClr val="33405A"/>
              </a:solidFill>
            </a:endParaRPr>
          </a:p>
        </p:txBody>
      </p:sp>
      <p:sp>
        <p:nvSpPr>
          <p:cNvPr id="281" name="Google Shape;281;p37"/>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WAS-VTON: Warping Architecture Search for Virtual Try-on Network</a:t>
            </a:r>
            <a:endParaRPr b="1" sz="1100">
              <a:solidFill>
                <a:srgbClr val="16213A"/>
              </a:solidFill>
            </a:endParaRPr>
          </a:p>
        </p:txBody>
      </p:sp>
      <p:sp>
        <p:nvSpPr>
          <p:cNvPr id="282" name="Google Shape;282;p37"/>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Despite recent progress on image-based virtual try-on, current methods are</a:t>
            </a:r>
            <a:endParaRPr sz="900">
              <a:solidFill>
                <a:srgbClr val="586274"/>
              </a:solidFill>
            </a:endParaRPr>
          </a:p>
          <a:p>
            <a:pPr indent="0" lvl="0" marL="0" rtl="0" algn="l">
              <a:spcBef>
                <a:spcPts val="0"/>
              </a:spcBef>
              <a:spcAft>
                <a:spcPts val="0"/>
              </a:spcAft>
              <a:buNone/>
            </a:pPr>
            <a:r>
              <a:rPr lang="en" sz="900">
                <a:solidFill>
                  <a:srgbClr val="586274"/>
                </a:solidFill>
              </a:rPr>
              <a:t>constraint by shared warping networks and thus fail to synthesize natural</a:t>
            </a:r>
            <a:endParaRPr sz="900">
              <a:solidFill>
                <a:srgbClr val="586274"/>
              </a:solidFill>
            </a:endParaRPr>
          </a:p>
          <a:p>
            <a:pPr indent="0" lvl="0" marL="0" rtl="0" algn="l">
              <a:spcBef>
                <a:spcPts val="0"/>
              </a:spcBef>
              <a:spcAft>
                <a:spcPts val="0"/>
              </a:spcAft>
              <a:buNone/>
            </a:pPr>
            <a:r>
              <a:rPr lang="en" sz="900">
                <a:solidFill>
                  <a:srgbClr val="586274"/>
                </a:solidFill>
              </a:rPr>
              <a:t>try-on results when faced with clothing categories that require different</a:t>
            </a:r>
            <a:endParaRPr sz="900">
              <a:solidFill>
                <a:srgbClr val="586274"/>
              </a:solidFill>
            </a:endParaRPr>
          </a:p>
          <a:p>
            <a:pPr indent="0" lvl="0" marL="0" rtl="0" algn="l">
              <a:spcBef>
                <a:spcPts val="0"/>
              </a:spcBef>
              <a:spcAft>
                <a:spcPts val="0"/>
              </a:spcAft>
              <a:buNone/>
            </a:pPr>
            <a:r>
              <a:rPr lang="en" sz="900">
                <a:solidFill>
                  <a:srgbClr val="586274"/>
                </a:solidFill>
              </a:rPr>
              <a:t>warping operations. In this paper, we address this problem by finding clothing</a:t>
            </a:r>
            <a:endParaRPr sz="900">
              <a:solidFill>
                <a:srgbClr val="586274"/>
              </a:solidFill>
            </a:endParaRPr>
          </a:p>
          <a:p>
            <a:pPr indent="0" lvl="0" marL="0" rtl="0" algn="l">
              <a:spcBef>
                <a:spcPts val="0"/>
              </a:spcBef>
              <a:spcAft>
                <a:spcPts val="0"/>
              </a:spcAft>
              <a:buNone/>
            </a:pPr>
            <a:r>
              <a:rPr lang="en" sz="900">
                <a:solidFill>
                  <a:srgbClr val="586274"/>
                </a:solidFill>
              </a:rPr>
              <a:t>category-specific warping networks for the virtual try-on task via Neural</a:t>
            </a:r>
            <a:endParaRPr sz="900">
              <a:solidFill>
                <a:srgbClr val="586274"/>
              </a:solidFill>
            </a:endParaRPr>
          </a:p>
          <a:p>
            <a:pPr indent="0" lvl="0" marL="0" rtl="0" algn="l">
              <a:spcBef>
                <a:spcPts val="0"/>
              </a:spcBef>
              <a:spcAft>
                <a:spcPts val="0"/>
              </a:spcAft>
              <a:buNone/>
            </a:pPr>
            <a:r>
              <a:rPr lang="en" sz="900">
                <a:solidFill>
                  <a:srgbClr val="586274"/>
                </a:solidFill>
              </a:rPr>
              <a:t>Architecture Search (NAS). We introduce a [...]</a:t>
            </a:r>
            <a:endParaRPr sz="900">
              <a:solidFill>
                <a:srgbClr val="586274"/>
              </a:solidFill>
            </a:endParaRPr>
          </a:p>
        </p:txBody>
      </p:sp>
      <p:sp>
        <p:nvSpPr>
          <p:cNvPr id="283" name="Google Shape;283;p37"/>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8"/>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C12  ·  answer</a:t>
            </a:r>
            <a:endParaRPr b="1" sz="1100">
              <a:solidFill>
                <a:srgbClr val="586274"/>
              </a:solidFill>
            </a:endParaRPr>
          </a:p>
        </p:txBody>
      </p:sp>
      <p:sp>
        <p:nvSpPr>
          <p:cNvPr id="289" name="Google Shape;289;p38"/>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Despite significant progress in the previous works [CITE], [CITE], [CITE], [CITE], [CITE], [CITE], [CITE], [CITE], [CITE], [CITE], [CITE],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for virtual try-on, the multi-pose virtual try-on has not been well studied.</a:t>
            </a:r>
            <a:endParaRPr sz="1300">
              <a:solidFill>
                <a:srgbClr val="33405A"/>
              </a:solidFill>
              <a:latin typeface="Georgia"/>
              <a:ea typeface="Georgia"/>
              <a:cs typeface="Georgia"/>
              <a:sym typeface="Georgia"/>
            </a:endParaRPr>
          </a:p>
        </p:txBody>
      </p:sp>
      <p:sp>
        <p:nvSpPr>
          <p:cNvPr id="290" name="Google Shape;290;p38"/>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Background</a:t>
            </a:r>
            <a:endParaRPr b="1" sz="2800">
              <a:solidFill>
                <a:srgbClr val="1F7A4D"/>
              </a:solidFill>
              <a:latin typeface="Georgia"/>
              <a:ea typeface="Georgia"/>
              <a:cs typeface="Georgia"/>
              <a:sym typeface="Georgia"/>
            </a:endParaRPr>
          </a:p>
        </p:txBody>
      </p:sp>
      <p:sp>
        <p:nvSpPr>
          <p:cNvPr id="291" name="Google Shape;291;p38"/>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Also acceptable: Gap</a:t>
            </a:r>
            <a:endParaRPr>
              <a:solidFill>
                <a:srgbClr val="586274"/>
              </a:solidFill>
            </a:endParaRPr>
          </a:p>
        </p:txBody>
      </p:sp>
      <p:sp>
        <p:nvSpPr>
          <p:cNvPr id="292" name="Google Shape;292;p38"/>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R-GAP: The gap is in the field ('multi-pose try-on has not been well studied'); no limitation is attributed to the listed works, so they are Background.</a:t>
            </a:r>
            <a:endParaRPr>
              <a:solidFill>
                <a:srgbClr val="16213A"/>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9"/>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C13  ·  13 of 30  ·  vote in row C13</a:t>
            </a:r>
            <a:endParaRPr b="1" sz="1100">
              <a:solidFill>
                <a:srgbClr val="586274"/>
              </a:solidFill>
            </a:endParaRPr>
          </a:p>
        </p:txBody>
      </p:sp>
      <p:sp>
        <p:nvSpPr>
          <p:cNvPr id="298" name="Google Shape;298;p39"/>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PSPNet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was the first to employ a pyramid pooling module to extract useful context information for better performance.</a:t>
            </a:r>
            <a:endParaRPr sz="1600">
              <a:solidFill>
                <a:srgbClr val="16213A"/>
              </a:solidFill>
              <a:latin typeface="Georgia"/>
              <a:ea typeface="Georgia"/>
              <a:cs typeface="Georgia"/>
              <a:sym typeface="Georgia"/>
            </a:endParaRPr>
          </a:p>
        </p:txBody>
      </p:sp>
      <p:sp>
        <p:nvSpPr>
          <p:cNvPr id="299" name="Google Shape;299;p39"/>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PSPNet </a:t>
            </a:r>
            <a:r>
              <a:rPr b="1" lang="en" sz="900">
                <a:solidFill>
                  <a:srgbClr val="6B3A06"/>
                </a:solidFill>
                <a:highlight>
                  <a:srgbClr val="FCE7C8"/>
                </a:highlight>
              </a:rPr>
              <a:t>[[TARGET]]</a:t>
            </a:r>
            <a:r>
              <a:rPr lang="en" sz="900">
                <a:solidFill>
                  <a:srgbClr val="33405A"/>
                </a:solidFill>
              </a:rPr>
              <a:t> was the first to employ a pyramid pooling module to extract useful context information for better performance. DeepLabv3+ [CITE] follows this idea and employs depth-wise separable convolution to both atrous SPP (ASPP) and the decoder module. DenseASPP [CITE] further connects a set of atrous convolutional layers in a dense way.</a:t>
            </a:r>
            <a:endParaRPr sz="900">
              <a:solidFill>
                <a:srgbClr val="33405A"/>
              </a:solidFill>
            </a:endParaRPr>
          </a:p>
        </p:txBody>
      </p:sp>
      <p:sp>
        <p:nvSpPr>
          <p:cNvPr id="300" name="Google Shape;300;p39"/>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Pyramid Scene Parsing Network</a:t>
            </a:r>
            <a:endParaRPr b="1" sz="1100">
              <a:solidFill>
                <a:srgbClr val="16213A"/>
              </a:solidFill>
            </a:endParaRPr>
          </a:p>
        </p:txBody>
      </p:sp>
      <p:sp>
        <p:nvSpPr>
          <p:cNvPr id="301" name="Google Shape;301;p39"/>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Scene parsing is challenging for unrestricted open vocabulary and diverse</a:t>
            </a:r>
            <a:endParaRPr sz="900">
              <a:solidFill>
                <a:srgbClr val="586274"/>
              </a:solidFill>
            </a:endParaRPr>
          </a:p>
          <a:p>
            <a:pPr indent="0" lvl="0" marL="0" rtl="0" algn="l">
              <a:spcBef>
                <a:spcPts val="0"/>
              </a:spcBef>
              <a:spcAft>
                <a:spcPts val="0"/>
              </a:spcAft>
              <a:buNone/>
            </a:pPr>
            <a:r>
              <a:rPr lang="en" sz="900">
                <a:solidFill>
                  <a:srgbClr val="586274"/>
                </a:solidFill>
              </a:rPr>
              <a:t>scenes. In this paper, we exploit the capability of global context information</a:t>
            </a:r>
            <a:endParaRPr sz="900">
              <a:solidFill>
                <a:srgbClr val="586274"/>
              </a:solidFill>
            </a:endParaRPr>
          </a:p>
          <a:p>
            <a:pPr indent="0" lvl="0" marL="0" rtl="0" algn="l">
              <a:spcBef>
                <a:spcPts val="0"/>
              </a:spcBef>
              <a:spcAft>
                <a:spcPts val="0"/>
              </a:spcAft>
              <a:buNone/>
            </a:pPr>
            <a:r>
              <a:rPr lang="en" sz="900">
                <a:solidFill>
                  <a:srgbClr val="586274"/>
                </a:solidFill>
              </a:rPr>
              <a:t>by different-region-based context aggregation through our pyramid pooling</a:t>
            </a:r>
            <a:endParaRPr sz="900">
              <a:solidFill>
                <a:srgbClr val="586274"/>
              </a:solidFill>
            </a:endParaRPr>
          </a:p>
          <a:p>
            <a:pPr indent="0" lvl="0" marL="0" rtl="0" algn="l">
              <a:spcBef>
                <a:spcPts val="0"/>
              </a:spcBef>
              <a:spcAft>
                <a:spcPts val="0"/>
              </a:spcAft>
              <a:buNone/>
            </a:pPr>
            <a:r>
              <a:rPr lang="en" sz="900">
                <a:solidFill>
                  <a:srgbClr val="586274"/>
                </a:solidFill>
              </a:rPr>
              <a:t>module together with the proposed pyramid scene parsing network (PSPNet). Our</a:t>
            </a:r>
            <a:endParaRPr sz="900">
              <a:solidFill>
                <a:srgbClr val="586274"/>
              </a:solidFill>
            </a:endParaRPr>
          </a:p>
          <a:p>
            <a:pPr indent="0" lvl="0" marL="0" rtl="0" algn="l">
              <a:spcBef>
                <a:spcPts val="0"/>
              </a:spcBef>
              <a:spcAft>
                <a:spcPts val="0"/>
              </a:spcAft>
              <a:buNone/>
            </a:pPr>
            <a:r>
              <a:rPr lang="en" sz="900">
                <a:solidFill>
                  <a:srgbClr val="586274"/>
                </a:solidFill>
              </a:rPr>
              <a:t>global prior representation is effective to produce good quality results on the</a:t>
            </a:r>
            <a:endParaRPr sz="900">
              <a:solidFill>
                <a:srgbClr val="586274"/>
              </a:solidFill>
            </a:endParaRPr>
          </a:p>
          <a:p>
            <a:pPr indent="0" lvl="0" marL="0" rtl="0" algn="l">
              <a:spcBef>
                <a:spcPts val="0"/>
              </a:spcBef>
              <a:spcAft>
                <a:spcPts val="0"/>
              </a:spcAft>
              <a:buNone/>
            </a:pPr>
            <a:r>
              <a:rPr lang="en" sz="900">
                <a:solidFill>
                  <a:srgbClr val="586274"/>
                </a:solidFill>
              </a:rPr>
              <a:t>scene parsing task, while PSPNet [...]</a:t>
            </a:r>
            <a:endParaRPr sz="900">
              <a:solidFill>
                <a:srgbClr val="586274"/>
              </a:solidFill>
            </a:endParaRPr>
          </a:p>
        </p:txBody>
      </p:sp>
      <p:sp>
        <p:nvSpPr>
          <p:cNvPr id="302" name="Google Shape;302;p39"/>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0"/>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C13  ·  answer</a:t>
            </a:r>
            <a:endParaRPr b="1" sz="1100">
              <a:solidFill>
                <a:srgbClr val="586274"/>
              </a:solidFill>
            </a:endParaRPr>
          </a:p>
        </p:txBody>
      </p:sp>
      <p:sp>
        <p:nvSpPr>
          <p:cNvPr id="308" name="Google Shape;308;p40"/>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PSPNet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was the first to employ a pyramid pooling module to extract useful context information for better performance.</a:t>
            </a:r>
            <a:endParaRPr sz="1300">
              <a:solidFill>
                <a:srgbClr val="33405A"/>
              </a:solidFill>
              <a:latin typeface="Georgia"/>
              <a:ea typeface="Georgia"/>
              <a:cs typeface="Georgia"/>
              <a:sym typeface="Georgia"/>
            </a:endParaRPr>
          </a:p>
        </p:txBody>
      </p:sp>
      <p:sp>
        <p:nvSpPr>
          <p:cNvPr id="309" name="Google Shape;309;p40"/>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Identification of the Originator</a:t>
            </a:r>
            <a:endParaRPr b="1" sz="2800">
              <a:solidFill>
                <a:srgbClr val="1F7A4D"/>
              </a:solidFill>
              <a:latin typeface="Georgia"/>
              <a:ea typeface="Georgia"/>
              <a:cs typeface="Georgia"/>
              <a:sym typeface="Georgia"/>
            </a:endParaRPr>
          </a:p>
        </p:txBody>
      </p:sp>
      <p:sp>
        <p:nvSpPr>
          <p:cNvPr id="310" name="Google Shape;310;p40"/>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 </a:t>
            </a:r>
            <a:endParaRPr>
              <a:solidFill>
                <a:srgbClr val="586274"/>
              </a:solidFill>
            </a:endParaRPr>
          </a:p>
        </p:txBody>
      </p:sp>
      <p:sp>
        <p:nvSpPr>
          <p:cNvPr id="311" name="Google Shape;311;p40"/>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Originator: 'PSPNet [T] was the first to employ a pyramid pooling module': credited as first.</a:t>
            </a:r>
            <a:endParaRPr>
              <a:solidFill>
                <a:srgbClr val="16213A"/>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1"/>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C14  ·  14 of 30  ·  vote in row C14</a:t>
            </a:r>
            <a:endParaRPr b="1" sz="1100">
              <a:solidFill>
                <a:srgbClr val="586274"/>
              </a:solidFill>
            </a:endParaRPr>
          </a:p>
        </p:txBody>
      </p:sp>
      <p:sp>
        <p:nvSpPr>
          <p:cNvPr id="317" name="Google Shape;317;p41"/>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As pointed out by Kalayeh et al.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semantic parsing is a natural improvement for horizontal stripes because it provides labels at the pixel level, so we decided to use this insight in our framework.</a:t>
            </a:r>
            <a:endParaRPr sz="1600">
              <a:solidFill>
                <a:srgbClr val="16213A"/>
              </a:solidFill>
              <a:latin typeface="Georgia"/>
              <a:ea typeface="Georgia"/>
              <a:cs typeface="Georgia"/>
              <a:sym typeface="Georgia"/>
            </a:endParaRPr>
          </a:p>
        </p:txBody>
      </p:sp>
      <p:sp>
        <p:nvSpPr>
          <p:cNvPr id="318" name="Google Shape;318;p41"/>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Since pose/viewpoint change are crucial issues for Re-ID, several approaches are based on separate horizontal-stripe images and compare people based on them, but such a method is not a complete solution. As pointed out by Kalayeh et al. </a:t>
            </a:r>
            <a:r>
              <a:rPr b="1" lang="en" sz="900">
                <a:solidFill>
                  <a:srgbClr val="6B3A06"/>
                </a:solidFill>
                <a:highlight>
                  <a:srgbClr val="FCE7C8"/>
                </a:highlight>
              </a:rPr>
              <a:t>[[TARGET]]</a:t>
            </a:r>
            <a:r>
              <a:rPr lang="en" sz="900">
                <a:solidFill>
                  <a:srgbClr val="33405A"/>
                </a:solidFill>
              </a:rPr>
              <a:t>, semantic parsing is a natural improvement for horizontal stripes because it provides labels at the pixel level, so we decided to use this insight in our framework. In addition, we realized that not every part of people is equally informative; in some cases, a backpack with a bright color or other salient objects may be a clue to the Re-ID. Thus, we designed a unified framework that unities semantic parsing and saliency to improve performance. The idea of combining multiple clues is natural to this problem, because each subnet stream of the framework can learn to solve different scenarios.</a:t>
            </a:r>
            <a:endParaRPr sz="900">
              <a:solidFill>
                <a:srgbClr val="33405A"/>
              </a:solidFill>
            </a:endParaRPr>
          </a:p>
        </p:txBody>
      </p:sp>
      <p:sp>
        <p:nvSpPr>
          <p:cNvPr id="319" name="Google Shape;319;p41"/>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Human Semantic Parsing for Person Re-identification</a:t>
            </a:r>
            <a:endParaRPr b="1" sz="1100">
              <a:solidFill>
                <a:srgbClr val="16213A"/>
              </a:solidFill>
            </a:endParaRPr>
          </a:p>
        </p:txBody>
      </p:sp>
      <p:sp>
        <p:nvSpPr>
          <p:cNvPr id="320" name="Google Shape;320;p41"/>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Person re-identification is a challenging task mainly due to factors such as</a:t>
            </a:r>
            <a:endParaRPr sz="900">
              <a:solidFill>
                <a:srgbClr val="586274"/>
              </a:solidFill>
            </a:endParaRPr>
          </a:p>
          <a:p>
            <a:pPr indent="0" lvl="0" marL="0" rtl="0" algn="l">
              <a:spcBef>
                <a:spcPts val="0"/>
              </a:spcBef>
              <a:spcAft>
                <a:spcPts val="0"/>
              </a:spcAft>
              <a:buNone/>
            </a:pPr>
            <a:r>
              <a:rPr lang="en" sz="900">
                <a:solidFill>
                  <a:srgbClr val="586274"/>
                </a:solidFill>
              </a:rPr>
              <a:t>background clutter, pose, illumination and camera point of view variations.</a:t>
            </a:r>
            <a:endParaRPr sz="900">
              <a:solidFill>
                <a:srgbClr val="586274"/>
              </a:solidFill>
            </a:endParaRPr>
          </a:p>
          <a:p>
            <a:pPr indent="0" lvl="0" marL="0" rtl="0" algn="l">
              <a:spcBef>
                <a:spcPts val="0"/>
              </a:spcBef>
              <a:spcAft>
                <a:spcPts val="0"/>
              </a:spcAft>
              <a:buNone/>
            </a:pPr>
            <a:r>
              <a:rPr lang="en" sz="900">
                <a:solidFill>
                  <a:srgbClr val="586274"/>
                </a:solidFill>
              </a:rPr>
              <a:t>These elements hinder the process of extracting robust and discriminative</a:t>
            </a:r>
            <a:endParaRPr sz="900">
              <a:solidFill>
                <a:srgbClr val="586274"/>
              </a:solidFill>
            </a:endParaRPr>
          </a:p>
          <a:p>
            <a:pPr indent="0" lvl="0" marL="0" rtl="0" algn="l">
              <a:spcBef>
                <a:spcPts val="0"/>
              </a:spcBef>
              <a:spcAft>
                <a:spcPts val="0"/>
              </a:spcAft>
              <a:buNone/>
            </a:pPr>
            <a:r>
              <a:rPr lang="en" sz="900">
                <a:solidFill>
                  <a:srgbClr val="586274"/>
                </a:solidFill>
              </a:rPr>
              <a:t>representations, hence preventing different identities from being successfully</a:t>
            </a:r>
            <a:endParaRPr sz="900">
              <a:solidFill>
                <a:srgbClr val="586274"/>
              </a:solidFill>
            </a:endParaRPr>
          </a:p>
          <a:p>
            <a:pPr indent="0" lvl="0" marL="0" rtl="0" algn="l">
              <a:spcBef>
                <a:spcPts val="0"/>
              </a:spcBef>
              <a:spcAft>
                <a:spcPts val="0"/>
              </a:spcAft>
              <a:buNone/>
            </a:pPr>
            <a:r>
              <a:rPr lang="en" sz="900">
                <a:solidFill>
                  <a:srgbClr val="586274"/>
                </a:solidFill>
              </a:rPr>
              <a:t>distinguished. To improve the representation learning, usually, local features</a:t>
            </a:r>
            <a:endParaRPr sz="900">
              <a:solidFill>
                <a:srgbClr val="586274"/>
              </a:solidFill>
            </a:endParaRPr>
          </a:p>
          <a:p>
            <a:pPr indent="0" lvl="0" marL="0" rtl="0" algn="l">
              <a:spcBef>
                <a:spcPts val="0"/>
              </a:spcBef>
              <a:spcAft>
                <a:spcPts val="0"/>
              </a:spcAft>
              <a:buNone/>
            </a:pPr>
            <a:r>
              <a:rPr lang="en" sz="900">
                <a:solidFill>
                  <a:srgbClr val="586274"/>
                </a:solidFill>
              </a:rPr>
              <a:t>from human body parts are [...]</a:t>
            </a:r>
            <a:endParaRPr sz="900">
              <a:solidFill>
                <a:srgbClr val="586274"/>
              </a:solidFill>
            </a:endParaRPr>
          </a:p>
        </p:txBody>
      </p:sp>
      <p:sp>
        <p:nvSpPr>
          <p:cNvPr id="321" name="Google Shape;321;p41"/>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2"/>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C14  ·  answer</a:t>
            </a:r>
            <a:endParaRPr b="1" sz="1100">
              <a:solidFill>
                <a:srgbClr val="586274"/>
              </a:solidFill>
            </a:endParaRPr>
          </a:p>
        </p:txBody>
      </p:sp>
      <p:sp>
        <p:nvSpPr>
          <p:cNvPr id="327" name="Google Shape;327;p42"/>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As pointed out by Kalayeh et al.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semantic parsing is a natural improvement for horizontal stripes because it provides labels at the pixel level, so we decided to use this insight in our framework.</a:t>
            </a:r>
            <a:endParaRPr sz="1300">
              <a:solidFill>
                <a:srgbClr val="33405A"/>
              </a:solidFill>
              <a:latin typeface="Georgia"/>
              <a:ea typeface="Georgia"/>
              <a:cs typeface="Georgia"/>
              <a:sym typeface="Georgia"/>
            </a:endParaRPr>
          </a:p>
        </p:txBody>
      </p:sp>
      <p:sp>
        <p:nvSpPr>
          <p:cNvPr id="328" name="Google Shape;328;p42"/>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Basis</a:t>
            </a:r>
            <a:endParaRPr b="1" sz="2800">
              <a:solidFill>
                <a:srgbClr val="1F7A4D"/>
              </a:solidFill>
              <a:latin typeface="Georgia"/>
              <a:ea typeface="Georgia"/>
              <a:cs typeface="Georgia"/>
              <a:sym typeface="Georgia"/>
            </a:endParaRPr>
          </a:p>
        </p:txBody>
      </p:sp>
      <p:sp>
        <p:nvSpPr>
          <p:cNvPr id="329" name="Google Shape;329;p42"/>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Also acceptable: Evidence</a:t>
            </a:r>
            <a:endParaRPr>
              <a:solidFill>
                <a:srgbClr val="586274"/>
              </a:solidFill>
            </a:endParaRPr>
          </a:p>
        </p:txBody>
      </p:sp>
      <p:sp>
        <p:nvSpPr>
          <p:cNvPr id="330" name="Google Shape;330;p42"/>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R-EV: The target's insight is taken as a foundation of the current design ('so we decided to use this insight in our framework'); as a justification of that choice it is Evidence.</a:t>
            </a:r>
            <a:endParaRPr>
              <a:solidFill>
                <a:srgbClr val="16213A"/>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3"/>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C15  ·  15 of 30  ·  vote in row C15</a:t>
            </a:r>
            <a:endParaRPr b="1" sz="1100">
              <a:solidFill>
                <a:srgbClr val="586274"/>
              </a:solidFill>
            </a:endParaRPr>
          </a:p>
        </p:txBody>
      </p:sp>
      <p:sp>
        <p:nvSpPr>
          <p:cNvPr id="336" name="Google Shape;336;p43"/>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For instance, without incurring any extra training cost, Fast AdvProp helps ResNet-50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outperforms its vanilla counterpart by 0.3% on ImageNet, 2.1% on ImageNet-C, 1.9% on ImageNet-R and 0.5% on Stylized-ImageNet.</a:t>
            </a:r>
            <a:endParaRPr sz="1600">
              <a:solidFill>
                <a:srgbClr val="16213A"/>
              </a:solidFill>
              <a:latin typeface="Georgia"/>
              <a:ea typeface="Georgia"/>
              <a:cs typeface="Georgia"/>
              <a:sym typeface="Georgia"/>
            </a:endParaRPr>
          </a:p>
        </p:txBody>
      </p:sp>
      <p:sp>
        <p:nvSpPr>
          <p:cNvPr id="337" name="Google Shape;337;p43"/>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Our empirical results demonstrate that Fast AdvProp can successfully improve recognition models for “free”. For instance, without incurring any extra training cost, Fast AdvProp helps ResNet-50 </a:t>
            </a:r>
            <a:r>
              <a:rPr b="1" lang="en" sz="900">
                <a:solidFill>
                  <a:srgbClr val="6B3A06"/>
                </a:solidFill>
                <a:highlight>
                  <a:srgbClr val="FCE7C8"/>
                </a:highlight>
              </a:rPr>
              <a:t>[[TARGET]]</a:t>
            </a:r>
            <a:r>
              <a:rPr lang="en" sz="900">
                <a:solidFill>
                  <a:srgbClr val="33405A"/>
                </a:solidFill>
              </a:rPr>
              <a:t> outperforms its vanilla counterpart by 0.3% on ImageNet, 2.1% on ImageNet-C, 1.9% on ImageNet-R and 0.5% on Stylized-ImageNet. Furthermore, such “free lunch” can consistently be observed when Fast AdvProp is applied to networks at different scales, combined with various data augmentation strategies, and adapted to other recognition tasks. By easing the computational barriers, we hope this work can encourage the community to further explore the potential of AdvProp (or adversarial learning in general) on developing better deep learning models.</a:t>
            </a:r>
            <a:endParaRPr sz="900">
              <a:solidFill>
                <a:srgbClr val="33405A"/>
              </a:solidFill>
            </a:endParaRPr>
          </a:p>
        </p:txBody>
      </p:sp>
      <p:sp>
        <p:nvSpPr>
          <p:cNvPr id="338" name="Google Shape;338;p43"/>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Deep Residual Learning for Image Recognition</a:t>
            </a:r>
            <a:endParaRPr b="1" sz="1100">
              <a:solidFill>
                <a:srgbClr val="16213A"/>
              </a:solidFill>
            </a:endParaRPr>
          </a:p>
        </p:txBody>
      </p:sp>
      <p:sp>
        <p:nvSpPr>
          <p:cNvPr id="339" name="Google Shape;339;p43"/>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Deeper neural networks are more difficult to train. We present a residual</a:t>
            </a:r>
            <a:endParaRPr sz="900">
              <a:solidFill>
                <a:srgbClr val="586274"/>
              </a:solidFill>
            </a:endParaRPr>
          </a:p>
          <a:p>
            <a:pPr indent="0" lvl="0" marL="0" rtl="0" algn="l">
              <a:spcBef>
                <a:spcPts val="0"/>
              </a:spcBef>
              <a:spcAft>
                <a:spcPts val="0"/>
              </a:spcAft>
              <a:buNone/>
            </a:pPr>
            <a:r>
              <a:rPr lang="en" sz="900">
                <a:solidFill>
                  <a:srgbClr val="586274"/>
                </a:solidFill>
              </a:rPr>
              <a:t>learning framework to ease the training of networks that are substantially</a:t>
            </a:r>
            <a:endParaRPr sz="900">
              <a:solidFill>
                <a:srgbClr val="586274"/>
              </a:solidFill>
            </a:endParaRPr>
          </a:p>
          <a:p>
            <a:pPr indent="0" lvl="0" marL="0" rtl="0" algn="l">
              <a:spcBef>
                <a:spcPts val="0"/>
              </a:spcBef>
              <a:spcAft>
                <a:spcPts val="0"/>
              </a:spcAft>
              <a:buNone/>
            </a:pPr>
            <a:r>
              <a:rPr lang="en" sz="900">
                <a:solidFill>
                  <a:srgbClr val="586274"/>
                </a:solidFill>
              </a:rPr>
              <a:t>deeper than those used previously. We explicitly reformulate the layers as</a:t>
            </a:r>
            <a:endParaRPr sz="900">
              <a:solidFill>
                <a:srgbClr val="586274"/>
              </a:solidFill>
            </a:endParaRPr>
          </a:p>
          <a:p>
            <a:pPr indent="0" lvl="0" marL="0" rtl="0" algn="l">
              <a:spcBef>
                <a:spcPts val="0"/>
              </a:spcBef>
              <a:spcAft>
                <a:spcPts val="0"/>
              </a:spcAft>
              <a:buNone/>
            </a:pPr>
            <a:r>
              <a:rPr lang="en" sz="900">
                <a:solidFill>
                  <a:srgbClr val="586274"/>
                </a:solidFill>
              </a:rPr>
              <a:t>learning residual functions with reference to the layer inputs, instead of</a:t>
            </a:r>
            <a:endParaRPr sz="900">
              <a:solidFill>
                <a:srgbClr val="586274"/>
              </a:solidFill>
            </a:endParaRPr>
          </a:p>
          <a:p>
            <a:pPr indent="0" lvl="0" marL="0" rtl="0" algn="l">
              <a:spcBef>
                <a:spcPts val="0"/>
              </a:spcBef>
              <a:spcAft>
                <a:spcPts val="0"/>
              </a:spcAft>
              <a:buNone/>
            </a:pPr>
            <a:r>
              <a:rPr lang="en" sz="900">
                <a:solidFill>
                  <a:srgbClr val="586274"/>
                </a:solidFill>
              </a:rPr>
              <a:t>learning unreferenced functions. We provide comprehensive empirical evidence</a:t>
            </a:r>
            <a:endParaRPr sz="900">
              <a:solidFill>
                <a:srgbClr val="586274"/>
              </a:solidFill>
            </a:endParaRPr>
          </a:p>
          <a:p>
            <a:pPr indent="0" lvl="0" marL="0" rtl="0" algn="l">
              <a:spcBef>
                <a:spcPts val="0"/>
              </a:spcBef>
              <a:spcAft>
                <a:spcPts val="0"/>
              </a:spcAft>
              <a:buNone/>
            </a:pPr>
            <a:r>
              <a:rPr lang="en" sz="900">
                <a:solidFill>
                  <a:srgbClr val="586274"/>
                </a:solidFill>
              </a:rPr>
              <a:t>showing that these residual networks are [...]</a:t>
            </a:r>
            <a:endParaRPr sz="900">
              <a:solidFill>
                <a:srgbClr val="586274"/>
              </a:solidFill>
            </a:endParaRPr>
          </a:p>
        </p:txBody>
      </p:sp>
      <p:sp>
        <p:nvSpPr>
          <p:cNvPr id="340" name="Google Shape;340;p43"/>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4"/>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C15  ·  answer</a:t>
            </a:r>
            <a:endParaRPr b="1" sz="1100">
              <a:solidFill>
                <a:srgbClr val="586274"/>
              </a:solidFill>
            </a:endParaRPr>
          </a:p>
        </p:txBody>
      </p:sp>
      <p:sp>
        <p:nvSpPr>
          <p:cNvPr id="346" name="Google Shape;346;p44"/>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For instance, without incurring any extra training cost, Fast AdvProp helps ResNet-50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outperforms its vanilla counterpart by 0.3% on ImageNet, 2.1% on ImageNet-C, 1.9% on ImageNet-R and 0.5% on Stylized-ImageNet.</a:t>
            </a:r>
            <a:endParaRPr sz="1300">
              <a:solidFill>
                <a:srgbClr val="33405A"/>
              </a:solidFill>
              <a:latin typeface="Georgia"/>
              <a:ea typeface="Georgia"/>
              <a:cs typeface="Georgia"/>
              <a:sym typeface="Georgia"/>
            </a:endParaRPr>
          </a:p>
        </p:txBody>
      </p:sp>
      <p:sp>
        <p:nvSpPr>
          <p:cNvPr id="347" name="Google Shape;347;p44"/>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Application</a:t>
            </a:r>
            <a:endParaRPr b="1" sz="2800">
              <a:solidFill>
                <a:srgbClr val="1F7A4D"/>
              </a:solidFill>
              <a:latin typeface="Georgia"/>
              <a:ea typeface="Georgia"/>
              <a:cs typeface="Georgia"/>
              <a:sym typeface="Georgia"/>
            </a:endParaRPr>
          </a:p>
        </p:txBody>
      </p:sp>
      <p:sp>
        <p:nvSpPr>
          <p:cNvPr id="348" name="Google Shape;348;p44"/>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Also acceptable: Comparison</a:t>
            </a:r>
            <a:endParaRPr>
              <a:solidFill>
                <a:srgbClr val="586274"/>
              </a:solidFill>
            </a:endParaRPr>
          </a:p>
        </p:txBody>
      </p:sp>
      <p:sp>
        <p:nvSpPr>
          <p:cNvPr id="349" name="Google Shape;349;p44"/>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R-EV: ResNet-50 is the model the current work uses in its own experiments; 'outperforms its vanilla counterpart' compares two versions of it, not the current work with the target.</a:t>
            </a:r>
            <a:endParaRPr>
              <a:solidFill>
                <a:srgbClr val="16213A"/>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5"/>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C16  ·  16 of 30  ·  vote in row C16</a:t>
            </a:r>
            <a:endParaRPr b="1" sz="1100">
              <a:solidFill>
                <a:srgbClr val="586274"/>
              </a:solidFill>
            </a:endParaRPr>
          </a:p>
        </p:txBody>
      </p:sp>
      <p:sp>
        <p:nvSpPr>
          <p:cNvPr id="355" name="Google Shape;355;p45"/>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Unlike mainstream “self-supervised" feature learning work that crafts pretext tasks for large static repositories of human-taken images or video (e.g., colorization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jigsaw puzzles [CITE], audio-visual correspondence [CITE], [CITE]), in interaction-based feature learning an embodied agentperson, robot, or simulated robot performs physical actions in the world that dynamically influence its own first-person observations and possibly the environment itself.</a:t>
            </a:r>
            <a:endParaRPr sz="1600">
              <a:solidFill>
                <a:srgbClr val="16213A"/>
              </a:solidFill>
              <a:latin typeface="Georgia"/>
              <a:ea typeface="Georgia"/>
              <a:cs typeface="Georgia"/>
              <a:sym typeface="Georgia"/>
            </a:endParaRPr>
          </a:p>
        </p:txBody>
      </p:sp>
      <p:sp>
        <p:nvSpPr>
          <p:cNvPr id="356" name="Google Shape;356;p45"/>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Our approach offers a new way to learn image representations without manual supervision by interacting with the environment. In pursuit of this high-level goal there is exciting—though limited—prior work that learns visual features by touching objects [CITE], [CITE], [CITE], [CITE] or moving in a space [CITE], [CITE], [CITE]. Unlike mainstream “self-supervised" feature learning work that crafts pretext tasks for large static repositories of human-taken images or video (e.g., colorization </a:t>
            </a:r>
            <a:r>
              <a:rPr b="1" lang="en" sz="900">
                <a:solidFill>
                  <a:srgbClr val="6B3A06"/>
                </a:solidFill>
                <a:highlight>
                  <a:srgbClr val="FCE7C8"/>
                </a:highlight>
              </a:rPr>
              <a:t>[[TARGET]]</a:t>
            </a:r>
            <a:r>
              <a:rPr lang="en" sz="900">
                <a:solidFill>
                  <a:srgbClr val="33405A"/>
                </a:solidFill>
              </a:rPr>
              <a:t>, jigsaw puzzles [CITE], audio-visual correspondence [CITE], [CITE]), in interaction-based feature learning an embodied agentperson, robot, or simulated robot performs physical actions in the world that dynamically influence its own first-person observations and possibly the environment itself. Both paths have certain advantages: while conventional self-supervised learning can capitalize on [...]</a:t>
            </a:r>
            <a:endParaRPr sz="900">
              <a:solidFill>
                <a:srgbClr val="33405A"/>
              </a:solidFill>
            </a:endParaRPr>
          </a:p>
        </p:txBody>
      </p:sp>
      <p:sp>
        <p:nvSpPr>
          <p:cNvPr id="357" name="Google Shape;357;p45"/>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Colorful Image Colorization</a:t>
            </a:r>
            <a:endParaRPr b="1" sz="1100">
              <a:solidFill>
                <a:srgbClr val="16213A"/>
              </a:solidFill>
            </a:endParaRPr>
          </a:p>
        </p:txBody>
      </p:sp>
      <p:sp>
        <p:nvSpPr>
          <p:cNvPr id="358" name="Google Shape;358;p45"/>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Given a grayscale photograph as input, this paper attacks the problem of</a:t>
            </a:r>
            <a:endParaRPr sz="900">
              <a:solidFill>
                <a:srgbClr val="586274"/>
              </a:solidFill>
            </a:endParaRPr>
          </a:p>
          <a:p>
            <a:pPr indent="0" lvl="0" marL="0" rtl="0" algn="l">
              <a:spcBef>
                <a:spcPts val="0"/>
              </a:spcBef>
              <a:spcAft>
                <a:spcPts val="0"/>
              </a:spcAft>
              <a:buNone/>
            </a:pPr>
            <a:r>
              <a:rPr lang="en" sz="900">
                <a:solidFill>
                  <a:srgbClr val="586274"/>
                </a:solidFill>
              </a:rPr>
              <a:t>hallucinating a plausible color version of the photograph. This problem is</a:t>
            </a:r>
            <a:endParaRPr sz="900">
              <a:solidFill>
                <a:srgbClr val="586274"/>
              </a:solidFill>
            </a:endParaRPr>
          </a:p>
          <a:p>
            <a:pPr indent="0" lvl="0" marL="0" rtl="0" algn="l">
              <a:spcBef>
                <a:spcPts val="0"/>
              </a:spcBef>
              <a:spcAft>
                <a:spcPts val="0"/>
              </a:spcAft>
              <a:buNone/>
            </a:pPr>
            <a:r>
              <a:rPr lang="en" sz="900">
                <a:solidFill>
                  <a:srgbClr val="586274"/>
                </a:solidFill>
              </a:rPr>
              <a:t>clearly underconstrained, so previous approaches have either relied on</a:t>
            </a:r>
            <a:endParaRPr sz="900">
              <a:solidFill>
                <a:srgbClr val="586274"/>
              </a:solidFill>
            </a:endParaRPr>
          </a:p>
          <a:p>
            <a:pPr indent="0" lvl="0" marL="0" rtl="0" algn="l">
              <a:spcBef>
                <a:spcPts val="0"/>
              </a:spcBef>
              <a:spcAft>
                <a:spcPts val="0"/>
              </a:spcAft>
              <a:buNone/>
            </a:pPr>
            <a:r>
              <a:rPr lang="en" sz="900">
                <a:solidFill>
                  <a:srgbClr val="586274"/>
                </a:solidFill>
              </a:rPr>
              <a:t>significant user interaction or resulted in desaturated colorizations. We</a:t>
            </a:r>
            <a:endParaRPr sz="900">
              <a:solidFill>
                <a:srgbClr val="586274"/>
              </a:solidFill>
            </a:endParaRPr>
          </a:p>
          <a:p>
            <a:pPr indent="0" lvl="0" marL="0" rtl="0" algn="l">
              <a:spcBef>
                <a:spcPts val="0"/>
              </a:spcBef>
              <a:spcAft>
                <a:spcPts val="0"/>
              </a:spcAft>
              <a:buNone/>
            </a:pPr>
            <a:r>
              <a:rPr lang="en" sz="900">
                <a:solidFill>
                  <a:srgbClr val="586274"/>
                </a:solidFill>
              </a:rPr>
              <a:t>propose a fully automatic approach that produces vibrant and realistic</a:t>
            </a:r>
            <a:endParaRPr sz="900">
              <a:solidFill>
                <a:srgbClr val="586274"/>
              </a:solidFill>
            </a:endParaRPr>
          </a:p>
          <a:p>
            <a:pPr indent="0" lvl="0" marL="0" rtl="0" algn="l">
              <a:spcBef>
                <a:spcPts val="0"/>
              </a:spcBef>
              <a:spcAft>
                <a:spcPts val="0"/>
              </a:spcAft>
              <a:buNone/>
            </a:pPr>
            <a:r>
              <a:rPr lang="en" sz="900">
                <a:solidFill>
                  <a:srgbClr val="586274"/>
                </a:solidFill>
              </a:rPr>
              <a:t>colorizations. We embrace the underlying uncertainty of [...]</a:t>
            </a:r>
            <a:endParaRPr sz="900">
              <a:solidFill>
                <a:srgbClr val="586274"/>
              </a:solidFill>
            </a:endParaRPr>
          </a:p>
        </p:txBody>
      </p:sp>
      <p:sp>
        <p:nvSpPr>
          <p:cNvPr id="359" name="Google Shape;359;p45"/>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6"/>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C16  ·  answer</a:t>
            </a:r>
            <a:endParaRPr b="1" sz="1100">
              <a:solidFill>
                <a:srgbClr val="586274"/>
              </a:solidFill>
            </a:endParaRPr>
          </a:p>
        </p:txBody>
      </p:sp>
      <p:sp>
        <p:nvSpPr>
          <p:cNvPr id="365" name="Google Shape;365;p46"/>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Unlike mainstream “self-supervised" feature learning work that crafts pretext tasks for large static repositories of human-taken images or video (e.g., colorization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jigsaw puzzles [CITE], audio-visual correspondence [CITE], [CITE]), in interaction-based feature learning an embodied agentperson, robot, or simulated robot performs physical actions in the world that dynamically influence its own first-person observations and possibly the environment itself.</a:t>
            </a:r>
            <a:endParaRPr sz="1300">
              <a:solidFill>
                <a:srgbClr val="33405A"/>
              </a:solidFill>
              <a:latin typeface="Georgia"/>
              <a:ea typeface="Georgia"/>
              <a:cs typeface="Georgia"/>
              <a:sym typeface="Georgia"/>
            </a:endParaRPr>
          </a:p>
        </p:txBody>
      </p:sp>
      <p:sp>
        <p:nvSpPr>
          <p:cNvPr id="366" name="Google Shape;366;p46"/>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Background</a:t>
            </a:r>
            <a:endParaRPr b="1" sz="2800">
              <a:solidFill>
                <a:srgbClr val="1F7A4D"/>
              </a:solidFill>
              <a:latin typeface="Georgia"/>
              <a:ea typeface="Georgia"/>
              <a:cs typeface="Georgia"/>
              <a:sym typeface="Georgia"/>
            </a:endParaRPr>
          </a:p>
        </p:txBody>
      </p:sp>
      <p:sp>
        <p:nvSpPr>
          <p:cNvPr id="367" name="Google Shape;367;p46"/>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 </a:t>
            </a:r>
            <a:endParaRPr>
              <a:solidFill>
                <a:srgbClr val="586274"/>
              </a:solidFill>
            </a:endParaRPr>
          </a:p>
        </p:txBody>
      </p:sp>
      <p:sp>
        <p:nvSpPr>
          <p:cNvPr id="368" name="Google Shape;368;p46"/>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R-CMP: The target is one example (colorization) of a family of approaches contrasted as a whole: Background.</a:t>
            </a:r>
            <a:endParaRPr>
              <a:solidFill>
                <a:srgbClr val="16213A"/>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7"/>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C17  ·  17 of 30  ·  vote in row C17</a:t>
            </a:r>
            <a:endParaRPr b="1" sz="1100">
              <a:solidFill>
                <a:srgbClr val="586274"/>
              </a:solidFill>
            </a:endParaRPr>
          </a:p>
        </p:txBody>
      </p:sp>
      <p:sp>
        <p:nvSpPr>
          <p:cNvPr id="374" name="Google Shape;374;p47"/>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For an overview of this area, we refer the reader to several survey papers [CITE],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[CITE], [CITE].</a:t>
            </a:r>
            <a:endParaRPr sz="1600">
              <a:solidFill>
                <a:srgbClr val="16213A"/>
              </a:solidFill>
              <a:latin typeface="Georgia"/>
              <a:ea typeface="Georgia"/>
              <a:cs typeface="Georgia"/>
              <a:sym typeface="Georgia"/>
            </a:endParaRPr>
          </a:p>
        </p:txBody>
      </p:sp>
      <p:sp>
        <p:nvSpPr>
          <p:cNvPr id="375" name="Google Shape;375;p47"/>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Another direction closely related to the current research is community detection. For an overview of this area, we refer the reader to several survey papers [CITE], </a:t>
            </a:r>
            <a:r>
              <a:rPr b="1" lang="en" sz="900">
                <a:solidFill>
                  <a:srgbClr val="6B3A06"/>
                </a:solidFill>
                <a:highlight>
                  <a:srgbClr val="FCE7C8"/>
                </a:highlight>
              </a:rPr>
              <a:t>[[TARGET]]</a:t>
            </a:r>
            <a:r>
              <a:rPr lang="en" sz="900">
                <a:solidFill>
                  <a:srgbClr val="33405A"/>
                </a:solidFill>
              </a:rPr>
              <a:t>, [CITE], [CITE].</a:t>
            </a:r>
            <a:endParaRPr sz="900">
              <a:solidFill>
                <a:srgbClr val="33405A"/>
              </a:solidFill>
            </a:endParaRPr>
          </a:p>
          <a:p>
            <a:pPr indent="0" lvl="0" marL="0" rtl="0" algn="l">
              <a:spcBef>
                <a:spcPts val="0"/>
              </a:spcBef>
              <a:spcAft>
                <a:spcPts val="0"/>
              </a:spcAft>
              <a:buNone/>
            </a:pPr>
            <a:r>
              <a:rPr lang="en" sz="900">
                <a:solidFill>
                  <a:srgbClr val="33405A"/>
                </a:solidFill>
              </a:rPr>
              <a:t>Many community detection algorithms are based on optimizing modularity [CITE], which measures the goodness of a partition for a given graph.</a:t>
            </a:r>
            <a:endParaRPr sz="900">
              <a:solidFill>
                <a:srgbClr val="33405A"/>
              </a:solidFill>
            </a:endParaRPr>
          </a:p>
          <a:p>
            <a:pPr indent="0" lvl="0" marL="0" rtl="0" algn="l">
              <a:spcBef>
                <a:spcPts val="0"/>
              </a:spcBef>
              <a:spcAft>
                <a:spcPts val="0"/>
              </a:spcAft>
              <a:buNone/>
            </a:pPr>
            <a:r>
              <a:rPr lang="en" sz="900">
                <a:solidFill>
                  <a:srgbClr val="33405A"/>
                </a:solidFill>
              </a:rPr>
              <a:t>Probably the most well-known and widely used greedy modularity optimization algorithm is Louvain [CITE], which iteratively moves nodes or groups of nodes from one community to another while improving modularity.</a:t>
            </a:r>
            <a:endParaRPr sz="900">
              <a:solidFill>
                <a:srgbClr val="33405A"/>
              </a:solidFill>
            </a:endParaRPr>
          </a:p>
          <a:p>
            <a:pPr indent="0" lvl="0" marL="0" rtl="0" algn="l">
              <a:spcBef>
                <a:spcPts val="0"/>
              </a:spcBef>
              <a:spcAft>
                <a:spcPts val="0"/>
              </a:spcAft>
              <a:buNone/>
            </a:pPr>
            <a:r>
              <a:rPr lang="en" sz="900">
                <a:solidFill>
                  <a:srgbClr val="33405A"/>
                </a:solidFill>
              </a:rPr>
              <a:t>Some of the methods discussed in this paper are based on the Louvain algorithm.</a:t>
            </a:r>
            <a:endParaRPr sz="900">
              <a:solidFill>
                <a:srgbClr val="33405A"/>
              </a:solidFill>
            </a:endParaRPr>
          </a:p>
        </p:txBody>
      </p:sp>
      <p:sp>
        <p:nvSpPr>
          <p:cNvPr id="376" name="Google Shape;376;p47"/>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A Classification for Community Discovery Methods in Complex Networks</a:t>
            </a:r>
            <a:endParaRPr b="1" sz="1100">
              <a:solidFill>
                <a:srgbClr val="16213A"/>
              </a:solidFill>
            </a:endParaRPr>
          </a:p>
        </p:txBody>
      </p:sp>
      <p:sp>
        <p:nvSpPr>
          <p:cNvPr id="377" name="Google Shape;377;p47"/>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In the last few years many real-world networks have been found to show a</a:t>
            </a:r>
            <a:endParaRPr sz="900">
              <a:solidFill>
                <a:srgbClr val="586274"/>
              </a:solidFill>
            </a:endParaRPr>
          </a:p>
          <a:p>
            <a:pPr indent="0" lvl="0" marL="0" rtl="0" algn="l">
              <a:spcBef>
                <a:spcPts val="0"/>
              </a:spcBef>
              <a:spcAft>
                <a:spcPts val="0"/>
              </a:spcAft>
              <a:buNone/>
            </a:pPr>
            <a:r>
              <a:rPr lang="en" sz="900">
                <a:solidFill>
                  <a:srgbClr val="586274"/>
                </a:solidFill>
              </a:rPr>
              <a:t>so-called community structure organization. Much effort has been devoted in the</a:t>
            </a:r>
            <a:endParaRPr sz="900">
              <a:solidFill>
                <a:srgbClr val="586274"/>
              </a:solidFill>
            </a:endParaRPr>
          </a:p>
          <a:p>
            <a:pPr indent="0" lvl="0" marL="0" rtl="0" algn="l">
              <a:spcBef>
                <a:spcPts val="0"/>
              </a:spcBef>
              <a:spcAft>
                <a:spcPts val="0"/>
              </a:spcAft>
              <a:buNone/>
            </a:pPr>
            <a:r>
              <a:rPr lang="en" sz="900">
                <a:solidFill>
                  <a:srgbClr val="586274"/>
                </a:solidFill>
              </a:rPr>
              <a:t>literature to develop methods and algorithms that can efficiently highlight</a:t>
            </a:r>
            <a:endParaRPr sz="900">
              <a:solidFill>
                <a:srgbClr val="586274"/>
              </a:solidFill>
            </a:endParaRPr>
          </a:p>
          <a:p>
            <a:pPr indent="0" lvl="0" marL="0" rtl="0" algn="l">
              <a:spcBef>
                <a:spcPts val="0"/>
              </a:spcBef>
              <a:spcAft>
                <a:spcPts val="0"/>
              </a:spcAft>
              <a:buNone/>
            </a:pPr>
            <a:r>
              <a:rPr lang="en" sz="900">
                <a:solidFill>
                  <a:srgbClr val="586274"/>
                </a:solidFill>
              </a:rPr>
              <a:t>this hidden structure of the network, traditionally by partitioning the graph.</a:t>
            </a:r>
            <a:endParaRPr sz="900">
              <a:solidFill>
                <a:srgbClr val="586274"/>
              </a:solidFill>
            </a:endParaRPr>
          </a:p>
          <a:p>
            <a:pPr indent="0" lvl="0" marL="0" rtl="0" algn="l">
              <a:spcBef>
                <a:spcPts val="0"/>
              </a:spcBef>
              <a:spcAft>
                <a:spcPts val="0"/>
              </a:spcAft>
              <a:buNone/>
            </a:pPr>
            <a:r>
              <a:rPr lang="en" sz="900">
                <a:solidFill>
                  <a:srgbClr val="586274"/>
                </a:solidFill>
              </a:rPr>
              <a:t>Since network representation can be very complex and can contain different</a:t>
            </a:r>
            <a:endParaRPr sz="900">
              <a:solidFill>
                <a:srgbClr val="586274"/>
              </a:solidFill>
            </a:endParaRPr>
          </a:p>
          <a:p>
            <a:pPr indent="0" lvl="0" marL="0" rtl="0" algn="l">
              <a:spcBef>
                <a:spcPts val="0"/>
              </a:spcBef>
              <a:spcAft>
                <a:spcPts val="0"/>
              </a:spcAft>
              <a:buNone/>
            </a:pPr>
            <a:r>
              <a:rPr lang="en" sz="900">
                <a:solidFill>
                  <a:srgbClr val="586274"/>
                </a:solidFill>
              </a:rPr>
              <a:t>variants in the traditional graph [...]</a:t>
            </a:r>
            <a:endParaRPr sz="900">
              <a:solidFill>
                <a:srgbClr val="586274"/>
              </a:solidFill>
            </a:endParaRPr>
          </a:p>
        </p:txBody>
      </p:sp>
      <p:sp>
        <p:nvSpPr>
          <p:cNvPr id="378" name="Google Shape;378;p47"/>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8"/>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C17  ·  answer</a:t>
            </a:r>
            <a:endParaRPr b="1" sz="1100">
              <a:solidFill>
                <a:srgbClr val="586274"/>
              </a:solidFill>
            </a:endParaRPr>
          </a:p>
        </p:txBody>
      </p:sp>
      <p:sp>
        <p:nvSpPr>
          <p:cNvPr id="384" name="Google Shape;384;p48"/>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For an overview of this area, we refer the reader to several survey papers [CITE],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[CITE], [CITE].</a:t>
            </a:r>
            <a:endParaRPr sz="1300">
              <a:solidFill>
                <a:srgbClr val="33405A"/>
              </a:solidFill>
              <a:latin typeface="Georgia"/>
              <a:ea typeface="Georgia"/>
              <a:cs typeface="Georgia"/>
              <a:sym typeface="Georgia"/>
            </a:endParaRPr>
          </a:p>
        </p:txBody>
      </p:sp>
      <p:sp>
        <p:nvSpPr>
          <p:cNvPr id="385" name="Google Shape;385;p48"/>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Further Reading</a:t>
            </a:r>
            <a:endParaRPr b="1" sz="2800">
              <a:solidFill>
                <a:srgbClr val="1F7A4D"/>
              </a:solidFill>
              <a:latin typeface="Georgia"/>
              <a:ea typeface="Georgia"/>
              <a:cs typeface="Georgia"/>
              <a:sym typeface="Georgia"/>
            </a:endParaRPr>
          </a:p>
        </p:txBody>
      </p:sp>
      <p:sp>
        <p:nvSpPr>
          <p:cNvPr id="386" name="Google Shape;386;p48"/>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 </a:t>
            </a:r>
            <a:endParaRPr>
              <a:solidFill>
                <a:srgbClr val="586274"/>
              </a:solidFill>
            </a:endParaRPr>
          </a:p>
        </p:txBody>
      </p:sp>
      <p:sp>
        <p:nvSpPr>
          <p:cNvPr id="387" name="Google Shape;387;p48"/>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R-FR: 'We refer the reader to several survey papers [..T..]': a pointer.</a:t>
            </a:r>
            <a:endParaRPr>
              <a:solidFill>
                <a:srgbClr val="16213A"/>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9"/>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C18  ·  18 of 30  ·  vote in row C18</a:t>
            </a:r>
            <a:endParaRPr b="1" sz="1100">
              <a:solidFill>
                <a:srgbClr val="586274"/>
              </a:solidFill>
            </a:endParaRPr>
          </a:p>
        </p:txBody>
      </p:sp>
      <p:sp>
        <p:nvSpPr>
          <p:cNvPr id="393" name="Google Shape;393;p49"/>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In contrast to previous methods called image-specific perturbations having to perform computation every time to generate a particular perturbation for any given image,</a:t>
            </a:r>
            <a:endParaRPr sz="1600">
              <a:solidFill>
                <a:srgbClr val="16213A"/>
              </a:solidFill>
              <a:latin typeface="Georgia"/>
              <a:ea typeface="Georgia"/>
              <a:cs typeface="Georgia"/>
              <a:sym typeface="Georgia"/>
            </a:endParaRPr>
          </a:p>
          <a:p>
            <a:pPr indent="0" lvl="0" marL="0" rtl="0" algn="l">
              <a:spcBef>
                <a:spcPts val="0"/>
              </a:spcBef>
              <a:spcAft>
                <a:spcPts val="0"/>
              </a:spcAft>
              <a:buNone/>
            </a:pPr>
            <a:r>
              <a:rPr lang="en" sz="1600">
                <a:solidFill>
                  <a:srgbClr val="16213A"/>
                </a:solidFill>
                <a:latin typeface="Georgia"/>
                <a:ea typeface="Georgia"/>
                <a:cs typeface="Georgia"/>
                <a:sym typeface="Georgia"/>
              </a:rPr>
              <a:t>Moosavi-Dezfooli et al.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proposed an image-agnostic perturbation termed universal adversarial perturbation (UAP), which can fool most images from a data distribution.</a:t>
            </a:r>
            <a:endParaRPr sz="1600">
              <a:solidFill>
                <a:srgbClr val="16213A"/>
              </a:solidFill>
              <a:latin typeface="Georgia"/>
              <a:ea typeface="Georgia"/>
              <a:cs typeface="Georgia"/>
              <a:sym typeface="Georgia"/>
            </a:endParaRPr>
          </a:p>
        </p:txBody>
      </p:sp>
      <p:sp>
        <p:nvSpPr>
          <p:cNvPr id="394" name="Google Shape;394;p49"/>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Convolutional neural networks (CNN) have been the state-of-the-art solution for a wide range of computer vision tasks, such as image classification, image segmentation and objective detection.</a:t>
            </a:r>
            <a:endParaRPr sz="900">
              <a:solidFill>
                <a:srgbClr val="33405A"/>
              </a:solidFill>
            </a:endParaRPr>
          </a:p>
          <a:p>
            <a:pPr indent="0" lvl="0" marL="0" rtl="0" algn="l">
              <a:spcBef>
                <a:spcPts val="0"/>
              </a:spcBef>
              <a:spcAft>
                <a:spcPts val="0"/>
              </a:spcAft>
              <a:buNone/>
            </a:pPr>
            <a:r>
              <a:rPr lang="en" sz="900">
                <a:solidFill>
                  <a:srgbClr val="33405A"/>
                </a:solidFill>
              </a:rPr>
              <a:t>Despite the remarkable success, deep learning models have shown to be vulnerable to small perturbations to the input image.</a:t>
            </a:r>
            <a:endParaRPr sz="900">
              <a:solidFill>
                <a:srgbClr val="33405A"/>
              </a:solidFill>
            </a:endParaRPr>
          </a:p>
          <a:p>
            <a:pPr indent="0" lvl="0" marL="0" rtl="0" algn="l">
              <a:spcBef>
                <a:spcPts val="0"/>
              </a:spcBef>
              <a:spcAft>
                <a:spcPts val="0"/>
              </a:spcAft>
              <a:buNone/>
            </a:pPr>
            <a:r>
              <a:rPr lang="en" sz="900">
                <a:solidFill>
                  <a:srgbClr val="33405A"/>
                </a:solidFill>
              </a:rPr>
              <a:t>Various attack techniques have been proposed, like model distillation [CITE], [CITE], transfer learning [CITE], [CITE], and gradient updating [CITE].</a:t>
            </a:r>
            <a:endParaRPr sz="900">
              <a:solidFill>
                <a:srgbClr val="33405A"/>
              </a:solidFill>
            </a:endParaRPr>
          </a:p>
          <a:p>
            <a:pPr indent="0" lvl="0" marL="0" rtl="0" algn="l">
              <a:spcBef>
                <a:spcPts val="0"/>
              </a:spcBef>
              <a:spcAft>
                <a:spcPts val="0"/>
              </a:spcAft>
              <a:buNone/>
            </a:pPr>
            <a:r>
              <a:rPr lang="en" sz="900">
                <a:solidFill>
                  <a:srgbClr val="33405A"/>
                </a:solidFill>
              </a:rPr>
              <a:t>In contrast to previous methods called image-specific perturbations having to perform computation every time to generate a particular perturbation for any given image,</a:t>
            </a:r>
            <a:endParaRPr sz="900">
              <a:solidFill>
                <a:srgbClr val="33405A"/>
              </a:solidFill>
            </a:endParaRPr>
          </a:p>
          <a:p>
            <a:pPr indent="0" lvl="0" marL="0" rtl="0" algn="l">
              <a:spcBef>
                <a:spcPts val="0"/>
              </a:spcBef>
              <a:spcAft>
                <a:spcPts val="0"/>
              </a:spcAft>
              <a:buNone/>
            </a:pPr>
            <a:r>
              <a:rPr lang="en" sz="900">
                <a:solidFill>
                  <a:srgbClr val="33405A"/>
                </a:solidFill>
              </a:rPr>
              <a:t>Moosavi-Dezfooli et al. </a:t>
            </a:r>
            <a:r>
              <a:rPr b="1" lang="en" sz="900">
                <a:solidFill>
                  <a:srgbClr val="6B3A06"/>
                </a:solidFill>
                <a:highlight>
                  <a:srgbClr val="FCE7C8"/>
                </a:highlight>
              </a:rPr>
              <a:t>[[TARGET]]</a:t>
            </a:r>
            <a:r>
              <a:rPr lang="en" sz="900">
                <a:solidFill>
                  <a:srgbClr val="33405A"/>
                </a:solidFill>
              </a:rPr>
              <a:t> proposed an image-agnostic perturbation termed universal adversarial perturbation (UAP), which can fool most images from a data distribution.</a:t>
            </a:r>
            <a:endParaRPr sz="900">
              <a:solidFill>
                <a:srgbClr val="33405A"/>
              </a:solidFill>
            </a:endParaRPr>
          </a:p>
          <a:p>
            <a:pPr indent="0" lvl="0" marL="0" rtl="0" algn="l">
              <a:spcBef>
                <a:spcPts val="0"/>
              </a:spcBef>
              <a:spcAft>
                <a:spcPts val="0"/>
              </a:spcAft>
              <a:buNone/>
            </a:pPr>
            <a:r>
              <a:rPr lang="en" sz="900">
                <a:solidFill>
                  <a:srgbClr val="33405A"/>
                </a:solidFill>
              </a:rPr>
              <a:t>Being universal, UAPs can be conveniently exploited to perturb unseen datapoints [...]</a:t>
            </a:r>
            <a:endParaRPr sz="900">
              <a:solidFill>
                <a:srgbClr val="33405A"/>
              </a:solidFill>
            </a:endParaRPr>
          </a:p>
        </p:txBody>
      </p:sp>
      <p:sp>
        <p:nvSpPr>
          <p:cNvPr id="395" name="Google Shape;395;p49"/>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Universal adversarial perturbations</a:t>
            </a:r>
            <a:endParaRPr b="1" sz="1100">
              <a:solidFill>
                <a:srgbClr val="16213A"/>
              </a:solidFill>
            </a:endParaRPr>
          </a:p>
        </p:txBody>
      </p:sp>
      <p:sp>
        <p:nvSpPr>
          <p:cNvPr id="396" name="Google Shape;396;p49"/>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Given a state-of-the-art deep neural network classifier, we show the</a:t>
            </a:r>
            <a:endParaRPr sz="900">
              <a:solidFill>
                <a:srgbClr val="586274"/>
              </a:solidFill>
            </a:endParaRPr>
          </a:p>
          <a:p>
            <a:pPr indent="0" lvl="0" marL="0" rtl="0" algn="l">
              <a:spcBef>
                <a:spcPts val="0"/>
              </a:spcBef>
              <a:spcAft>
                <a:spcPts val="0"/>
              </a:spcAft>
              <a:buNone/>
            </a:pPr>
            <a:r>
              <a:rPr lang="en" sz="900">
                <a:solidFill>
                  <a:srgbClr val="586274"/>
                </a:solidFill>
              </a:rPr>
              <a:t>existence of a universal (image-agnostic) and very small perturbation vector</a:t>
            </a:r>
            <a:endParaRPr sz="900">
              <a:solidFill>
                <a:srgbClr val="586274"/>
              </a:solidFill>
            </a:endParaRPr>
          </a:p>
          <a:p>
            <a:pPr indent="0" lvl="0" marL="0" rtl="0" algn="l">
              <a:spcBef>
                <a:spcPts val="0"/>
              </a:spcBef>
              <a:spcAft>
                <a:spcPts val="0"/>
              </a:spcAft>
              <a:buNone/>
            </a:pPr>
            <a:r>
              <a:rPr lang="en" sz="900">
                <a:solidFill>
                  <a:srgbClr val="586274"/>
                </a:solidFill>
              </a:rPr>
              <a:t>that causes natural images to be misclassified with high probability. We</a:t>
            </a:r>
            <a:endParaRPr sz="900">
              <a:solidFill>
                <a:srgbClr val="586274"/>
              </a:solidFill>
            </a:endParaRPr>
          </a:p>
          <a:p>
            <a:pPr indent="0" lvl="0" marL="0" rtl="0" algn="l">
              <a:spcBef>
                <a:spcPts val="0"/>
              </a:spcBef>
              <a:spcAft>
                <a:spcPts val="0"/>
              </a:spcAft>
              <a:buNone/>
            </a:pPr>
            <a:r>
              <a:rPr lang="en" sz="900">
                <a:solidFill>
                  <a:srgbClr val="586274"/>
                </a:solidFill>
              </a:rPr>
              <a:t>propose a systematic algorithm for computing universal perturbations, and show</a:t>
            </a:r>
            <a:endParaRPr sz="900">
              <a:solidFill>
                <a:srgbClr val="586274"/>
              </a:solidFill>
            </a:endParaRPr>
          </a:p>
          <a:p>
            <a:pPr indent="0" lvl="0" marL="0" rtl="0" algn="l">
              <a:spcBef>
                <a:spcPts val="0"/>
              </a:spcBef>
              <a:spcAft>
                <a:spcPts val="0"/>
              </a:spcAft>
              <a:buNone/>
            </a:pPr>
            <a:r>
              <a:rPr lang="en" sz="900">
                <a:solidFill>
                  <a:srgbClr val="586274"/>
                </a:solidFill>
              </a:rPr>
              <a:t>that state-of-the-art deep neural networks are highly vulnerable to such</a:t>
            </a:r>
            <a:endParaRPr sz="900">
              <a:solidFill>
                <a:srgbClr val="586274"/>
              </a:solidFill>
            </a:endParaRPr>
          </a:p>
          <a:p>
            <a:pPr indent="0" lvl="0" marL="0" rtl="0" algn="l">
              <a:spcBef>
                <a:spcPts val="0"/>
              </a:spcBef>
              <a:spcAft>
                <a:spcPts val="0"/>
              </a:spcAft>
              <a:buNone/>
            </a:pPr>
            <a:r>
              <a:rPr lang="en" sz="900">
                <a:solidFill>
                  <a:srgbClr val="586274"/>
                </a:solidFill>
              </a:rPr>
              <a:t>perturbations, albeit being quasi-imperceptible [...]</a:t>
            </a:r>
            <a:endParaRPr sz="900">
              <a:solidFill>
                <a:srgbClr val="586274"/>
              </a:solidFill>
            </a:endParaRPr>
          </a:p>
        </p:txBody>
      </p:sp>
      <p:sp>
        <p:nvSpPr>
          <p:cNvPr id="397" name="Google Shape;397;p49"/>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0"/>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C18  ·  answer</a:t>
            </a:r>
            <a:endParaRPr b="1" sz="1100">
              <a:solidFill>
                <a:srgbClr val="586274"/>
              </a:solidFill>
            </a:endParaRPr>
          </a:p>
        </p:txBody>
      </p:sp>
      <p:sp>
        <p:nvSpPr>
          <p:cNvPr id="403" name="Google Shape;403;p50"/>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In contrast to previous methods called image-specific perturbations having to perform computation every time to generate a particular perturbation for any given image,</a:t>
            </a:r>
            <a:endParaRPr sz="1300">
              <a:solidFill>
                <a:srgbClr val="33405A"/>
              </a:solidFill>
              <a:latin typeface="Georgia"/>
              <a:ea typeface="Georgia"/>
              <a:cs typeface="Georgia"/>
              <a:sym typeface="Georgia"/>
            </a:endParaRPr>
          </a:p>
          <a:p>
            <a:pPr indent="0" lvl="0" marL="0" rtl="0" algn="l">
              <a:spcBef>
                <a:spcPts val="0"/>
              </a:spcBef>
              <a:spcAft>
                <a:spcPts val="0"/>
              </a:spcAft>
              <a:buNone/>
            </a:pPr>
            <a:r>
              <a:rPr lang="en" sz="1300">
                <a:solidFill>
                  <a:srgbClr val="33405A"/>
                </a:solidFill>
                <a:latin typeface="Georgia"/>
                <a:ea typeface="Georgia"/>
                <a:cs typeface="Georgia"/>
                <a:sym typeface="Georgia"/>
              </a:rPr>
              <a:t>Moosavi-Dezfooli et al.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proposed an image-agnostic perturbation termed universal adversarial perturbation (UAP), which can fool most images from a data distribution.</a:t>
            </a:r>
            <a:endParaRPr sz="1300">
              <a:solidFill>
                <a:srgbClr val="33405A"/>
              </a:solidFill>
              <a:latin typeface="Georgia"/>
              <a:ea typeface="Georgia"/>
              <a:cs typeface="Georgia"/>
              <a:sym typeface="Georgia"/>
            </a:endParaRPr>
          </a:p>
        </p:txBody>
      </p:sp>
      <p:sp>
        <p:nvSpPr>
          <p:cNvPr id="404" name="Google Shape;404;p50"/>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Identification of the Originator</a:t>
            </a:r>
            <a:endParaRPr b="1" sz="2800">
              <a:solidFill>
                <a:srgbClr val="1F7A4D"/>
              </a:solidFill>
              <a:latin typeface="Georgia"/>
              <a:ea typeface="Georgia"/>
              <a:cs typeface="Georgia"/>
              <a:sym typeface="Georgia"/>
            </a:endParaRPr>
          </a:p>
        </p:txBody>
      </p:sp>
      <p:sp>
        <p:nvSpPr>
          <p:cNvPr id="405" name="Google Shape;405;p50"/>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Also acceptable: Comparison</a:t>
            </a:r>
            <a:endParaRPr>
              <a:solidFill>
                <a:srgbClr val="586274"/>
              </a:solidFill>
            </a:endParaRPr>
          </a:p>
        </p:txBody>
      </p:sp>
      <p:sp>
        <p:nvSpPr>
          <p:cNvPr id="406" name="Google Shape;406;p50"/>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Originator: The target is credited with proposing a new kind of perturbation and its term (UAP); the contrast with previous methods is secondary.</a:t>
            </a:r>
            <a:endParaRPr>
              <a:solidFill>
                <a:srgbClr val="16213A"/>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1"/>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C19  ·  19 of 30  ·  vote in row C19</a:t>
            </a:r>
            <a:endParaRPr b="1" sz="1100">
              <a:solidFill>
                <a:srgbClr val="586274"/>
              </a:solidFill>
            </a:endParaRPr>
          </a:p>
        </p:txBody>
      </p:sp>
      <p:sp>
        <p:nvSpPr>
          <p:cNvPr id="412" name="Google Shape;412;p51"/>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For deeper insights into DIS dataset, we compare our DIS5K against 19 other related datasets including: (1) nine salient object detection (SOD) datasets: SOD [CITE], PASCAL-S [CITE], ECSSD [CITE], HKU-IS [CITE], MSRA-B [CITE], DUT-OMRON [CITE], MSRA10K [CITE], DUTS [CITE], and SOC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(2) two high-resolution salient object detection (HR-SOD) datasets: HR-SOD [CITE] and HR-DAVIS-S [CITE], [CITE]; (3) four camouflaged object detection (COD) datasets: CAMO [CITE], CHAMELEON [CITE], COD10K [CITE], and NC4K [CITE]; (4) two semantic segmentation (SMS)It is worth noting that only R-PASCAL and the BIG datasets are included here because they target highly accurate segmentation, and most of their images contain one or two objects, which is comparable to the listed tasks and datasets. datasets: R-PASCAL [CITE], [CITE] and [...]</a:t>
            </a:r>
            <a:endParaRPr sz="1600">
              <a:solidFill>
                <a:srgbClr val="16213A"/>
              </a:solidFill>
              <a:latin typeface="Georgia"/>
              <a:ea typeface="Georgia"/>
              <a:cs typeface="Georgia"/>
              <a:sym typeface="Georgia"/>
            </a:endParaRPr>
          </a:p>
        </p:txBody>
      </p:sp>
      <p:sp>
        <p:nvSpPr>
          <p:cNvPr id="413" name="Google Shape;413;p51"/>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For deeper insights into DIS dataset, we compare our DIS5K against</a:t>
            </a:r>
            <a:endParaRPr sz="900">
              <a:solidFill>
                <a:srgbClr val="33405A"/>
              </a:solidFill>
            </a:endParaRPr>
          </a:p>
          <a:p>
            <a:pPr indent="0" lvl="0" marL="0" rtl="0" algn="l">
              <a:spcBef>
                <a:spcPts val="0"/>
              </a:spcBef>
              <a:spcAft>
                <a:spcPts val="0"/>
              </a:spcAft>
              <a:buNone/>
            </a:pPr>
            <a:r>
              <a:rPr lang="en" sz="900">
                <a:solidFill>
                  <a:srgbClr val="33405A"/>
                </a:solidFill>
              </a:rPr>
              <a:t>19 other related datasets including:</a:t>
            </a:r>
            <a:endParaRPr sz="900">
              <a:solidFill>
                <a:srgbClr val="33405A"/>
              </a:solidFill>
            </a:endParaRPr>
          </a:p>
          <a:p>
            <a:pPr indent="0" lvl="0" marL="0" rtl="0" algn="l">
              <a:spcBef>
                <a:spcPts val="0"/>
              </a:spcBef>
              <a:spcAft>
                <a:spcPts val="0"/>
              </a:spcAft>
              <a:buNone/>
            </a:pPr>
            <a:r>
              <a:rPr lang="en" sz="900">
                <a:solidFill>
                  <a:srgbClr val="33405A"/>
                </a:solidFill>
              </a:rPr>
              <a:t>(1) nine salient object detection (SOD) datasets: SOD [CITE], PASCAL-S [CITE], ECSSD [CITE],</a:t>
            </a:r>
            <a:endParaRPr sz="900">
              <a:solidFill>
                <a:srgbClr val="33405A"/>
              </a:solidFill>
            </a:endParaRPr>
          </a:p>
          <a:p>
            <a:pPr indent="0" lvl="0" marL="0" rtl="0" algn="l">
              <a:spcBef>
                <a:spcPts val="0"/>
              </a:spcBef>
              <a:spcAft>
                <a:spcPts val="0"/>
              </a:spcAft>
              <a:buNone/>
            </a:pPr>
            <a:r>
              <a:rPr lang="en" sz="900">
                <a:solidFill>
                  <a:srgbClr val="33405A"/>
                </a:solidFill>
              </a:rPr>
              <a:t>HKU-IS [CITE], MSRA-B [CITE],</a:t>
            </a:r>
            <a:endParaRPr sz="900">
              <a:solidFill>
                <a:srgbClr val="33405A"/>
              </a:solidFill>
            </a:endParaRPr>
          </a:p>
          <a:p>
            <a:pPr indent="0" lvl="0" marL="0" rtl="0" algn="l">
              <a:spcBef>
                <a:spcPts val="0"/>
              </a:spcBef>
              <a:spcAft>
                <a:spcPts val="0"/>
              </a:spcAft>
              <a:buNone/>
            </a:pPr>
            <a:r>
              <a:rPr lang="en" sz="900">
                <a:solidFill>
                  <a:srgbClr val="33405A"/>
                </a:solidFill>
              </a:rPr>
              <a:t>DUT-OMRON [CITE], MSRA10K [CITE], DUTS [CITE], and SOC </a:t>
            </a:r>
            <a:r>
              <a:rPr b="1" lang="en" sz="900">
                <a:solidFill>
                  <a:srgbClr val="6B3A06"/>
                </a:solidFill>
                <a:highlight>
                  <a:srgbClr val="FCE7C8"/>
                </a:highlight>
              </a:rPr>
              <a:t>[[TARGET]]</a:t>
            </a:r>
            <a:r>
              <a:rPr lang="en" sz="900">
                <a:solidFill>
                  <a:srgbClr val="33405A"/>
                </a:solidFill>
              </a:rPr>
              <a:t>;</a:t>
            </a:r>
            <a:endParaRPr sz="900">
              <a:solidFill>
                <a:srgbClr val="33405A"/>
              </a:solidFill>
            </a:endParaRPr>
          </a:p>
          <a:p>
            <a:pPr indent="0" lvl="0" marL="0" rtl="0" algn="l">
              <a:spcBef>
                <a:spcPts val="0"/>
              </a:spcBef>
              <a:spcAft>
                <a:spcPts val="0"/>
              </a:spcAft>
              <a:buNone/>
            </a:pPr>
            <a:r>
              <a:rPr lang="en" sz="900">
                <a:solidFill>
                  <a:srgbClr val="33405A"/>
                </a:solidFill>
              </a:rPr>
              <a:t>(2) two high-resolution salient object detection (HR-SOD) datasets: HR-SOD [CITE] and HR-DAVIS-S [CITE], [CITE];</a:t>
            </a:r>
            <a:endParaRPr sz="900">
              <a:solidFill>
                <a:srgbClr val="33405A"/>
              </a:solidFill>
            </a:endParaRPr>
          </a:p>
          <a:p>
            <a:pPr indent="0" lvl="0" marL="0" rtl="0" algn="l">
              <a:spcBef>
                <a:spcPts val="0"/>
              </a:spcBef>
              <a:spcAft>
                <a:spcPts val="0"/>
              </a:spcAft>
              <a:buNone/>
            </a:pPr>
            <a:r>
              <a:rPr lang="en" sz="900">
                <a:solidFill>
                  <a:srgbClr val="33405A"/>
                </a:solidFill>
              </a:rPr>
              <a:t>(3) four camouflaged object detection (COD) datasets: CAMO [CITE], CHAMELEON [CITE], COD10K [CITE], and NC4K [CITE];</a:t>
            </a:r>
            <a:endParaRPr sz="900">
              <a:solidFill>
                <a:srgbClr val="33405A"/>
              </a:solidFill>
            </a:endParaRPr>
          </a:p>
          <a:p>
            <a:pPr indent="0" lvl="0" marL="0" rtl="0" algn="l">
              <a:spcBef>
                <a:spcPts val="0"/>
              </a:spcBef>
              <a:spcAft>
                <a:spcPts val="0"/>
              </a:spcAft>
              <a:buNone/>
            </a:pPr>
            <a:r>
              <a:rPr lang="en" sz="900">
                <a:solidFill>
                  <a:srgbClr val="33405A"/>
                </a:solidFill>
              </a:rPr>
              <a:t>(4) two semantic segmentation (SMS)It is worth noting that only R-PASCAL and the BIG datasets are included here because they target highly accurate segmentation, and most of their images contain one or two objects, which is comparable to the listed tasks and datasets. datasets: R-PASCAL [CITE], [CITE] and BIG [CITE];</a:t>
            </a:r>
            <a:endParaRPr sz="900">
              <a:solidFill>
                <a:srgbClr val="33405A"/>
              </a:solidFill>
            </a:endParaRPr>
          </a:p>
          <a:p>
            <a:pPr indent="0" lvl="0" marL="0" rtl="0" algn="l">
              <a:spcBef>
                <a:spcPts val="0"/>
              </a:spcBef>
              <a:spcAft>
                <a:spcPts val="0"/>
              </a:spcAft>
              <a:buNone/>
            </a:pPr>
            <a:r>
              <a:rPr lang="en" sz="900">
                <a:solidFill>
                  <a:srgbClr val="33405A"/>
                </a:solidFill>
              </a:rPr>
              <a:t>(5) two thin object segmentation (TOS) datasets: COIFT [...]</a:t>
            </a:r>
            <a:endParaRPr sz="900">
              <a:solidFill>
                <a:srgbClr val="33405A"/>
              </a:solidFill>
            </a:endParaRPr>
          </a:p>
        </p:txBody>
      </p:sp>
      <p:sp>
        <p:nvSpPr>
          <p:cNvPr id="414" name="Google Shape;414;p51"/>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Salient Objects in Clutter: Bringing Salient Object Detection to the  Foreground</a:t>
            </a:r>
            <a:endParaRPr b="1" sz="1100">
              <a:solidFill>
                <a:srgbClr val="16213A"/>
              </a:solidFill>
            </a:endParaRPr>
          </a:p>
        </p:txBody>
      </p:sp>
      <p:sp>
        <p:nvSpPr>
          <p:cNvPr id="415" name="Google Shape;415;p51"/>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We provide a comprehensive evaluation of salient object detection (SOD)</a:t>
            </a:r>
            <a:endParaRPr sz="900">
              <a:solidFill>
                <a:srgbClr val="586274"/>
              </a:solidFill>
            </a:endParaRPr>
          </a:p>
          <a:p>
            <a:pPr indent="0" lvl="0" marL="0" rtl="0" algn="l">
              <a:spcBef>
                <a:spcPts val="0"/>
              </a:spcBef>
              <a:spcAft>
                <a:spcPts val="0"/>
              </a:spcAft>
              <a:buNone/>
            </a:pPr>
            <a:r>
              <a:rPr lang="en" sz="900">
                <a:solidFill>
                  <a:srgbClr val="586274"/>
                </a:solidFill>
              </a:rPr>
              <a:t>models. Our analysis identifies a serious design bias of existing SOD datasets</a:t>
            </a:r>
            <a:endParaRPr sz="900">
              <a:solidFill>
                <a:srgbClr val="586274"/>
              </a:solidFill>
            </a:endParaRPr>
          </a:p>
          <a:p>
            <a:pPr indent="0" lvl="0" marL="0" rtl="0" algn="l">
              <a:spcBef>
                <a:spcPts val="0"/>
              </a:spcBef>
              <a:spcAft>
                <a:spcPts val="0"/>
              </a:spcAft>
              <a:buNone/>
            </a:pPr>
            <a:r>
              <a:rPr lang="en" sz="900">
                <a:solidFill>
                  <a:srgbClr val="586274"/>
                </a:solidFill>
              </a:rPr>
              <a:t>which assumes that each image contains at least one clearly outstanding salient</a:t>
            </a:r>
            <a:endParaRPr sz="900">
              <a:solidFill>
                <a:srgbClr val="586274"/>
              </a:solidFill>
            </a:endParaRPr>
          </a:p>
          <a:p>
            <a:pPr indent="0" lvl="0" marL="0" rtl="0" algn="l">
              <a:spcBef>
                <a:spcPts val="0"/>
              </a:spcBef>
              <a:spcAft>
                <a:spcPts val="0"/>
              </a:spcAft>
              <a:buNone/>
            </a:pPr>
            <a:r>
              <a:rPr lang="en" sz="900">
                <a:solidFill>
                  <a:srgbClr val="586274"/>
                </a:solidFill>
              </a:rPr>
              <a:t>object in low clutter. The design bias has led to a saturated high performance</a:t>
            </a:r>
            <a:endParaRPr sz="900">
              <a:solidFill>
                <a:srgbClr val="586274"/>
              </a:solidFill>
            </a:endParaRPr>
          </a:p>
          <a:p>
            <a:pPr indent="0" lvl="0" marL="0" rtl="0" algn="l">
              <a:spcBef>
                <a:spcPts val="0"/>
              </a:spcBef>
              <a:spcAft>
                <a:spcPts val="0"/>
              </a:spcAft>
              <a:buNone/>
            </a:pPr>
            <a:r>
              <a:rPr lang="en" sz="900">
                <a:solidFill>
                  <a:srgbClr val="586274"/>
                </a:solidFill>
              </a:rPr>
              <a:t>for state-of-the-art SOD models when evaluated on existing datasets. The</a:t>
            </a:r>
            <a:endParaRPr sz="900">
              <a:solidFill>
                <a:srgbClr val="586274"/>
              </a:solidFill>
            </a:endParaRPr>
          </a:p>
          <a:p>
            <a:pPr indent="0" lvl="0" marL="0" rtl="0" algn="l">
              <a:spcBef>
                <a:spcPts val="0"/>
              </a:spcBef>
              <a:spcAft>
                <a:spcPts val="0"/>
              </a:spcAft>
              <a:buNone/>
            </a:pPr>
            <a:r>
              <a:rPr lang="en" sz="900">
                <a:solidFill>
                  <a:srgbClr val="586274"/>
                </a:solidFill>
              </a:rPr>
              <a:t>models, however, still perform far [...]</a:t>
            </a:r>
            <a:endParaRPr sz="900">
              <a:solidFill>
                <a:srgbClr val="586274"/>
              </a:solidFill>
            </a:endParaRPr>
          </a:p>
        </p:txBody>
      </p:sp>
      <p:sp>
        <p:nvSpPr>
          <p:cNvPr id="416" name="Google Shape;416;p51"/>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2"/>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C19  ·  answer</a:t>
            </a:r>
            <a:endParaRPr b="1" sz="1100">
              <a:solidFill>
                <a:srgbClr val="586274"/>
              </a:solidFill>
            </a:endParaRPr>
          </a:p>
        </p:txBody>
      </p:sp>
      <p:sp>
        <p:nvSpPr>
          <p:cNvPr id="422" name="Google Shape;422;p52"/>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For deeper insights into DIS dataset, we compare our DIS5K against 19 other related datasets including: (1) nine salient object detection (SOD) datasets: SOD [CITE], PASCAL-S [CITE], ECSSD [CITE], HKU-IS [CITE], MSRA-B [CITE], DUT-OMRON [CITE], MSRA10K [CITE], DUTS [CITE], and SOC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(2) two high-resolution salient object detection (HR-SOD) datasets: HR-SOD [CITE] and HR-DAVIS-S [CITE], [CITE]; (3) four camouflaged object detection (COD) datasets: CAMO [CITE], CHAMELEON [CITE], COD10K [CITE], and NC4K [CITE]; (4) two semantic segmentation (SMS)It is worth noting that only R-PASCAL and the BIG datasets are included here because they target highly accurate segmentation, and most of their images contain one or two objects, which is comparable to the listed tasks and datasets. datasets: R-PASCAL [CITE], [CITE] and [...]</a:t>
            </a:r>
            <a:endParaRPr sz="1300">
              <a:solidFill>
                <a:srgbClr val="33405A"/>
              </a:solidFill>
              <a:latin typeface="Georgia"/>
              <a:ea typeface="Georgia"/>
              <a:cs typeface="Georgia"/>
              <a:sym typeface="Georgia"/>
            </a:endParaRPr>
          </a:p>
        </p:txBody>
      </p:sp>
      <p:sp>
        <p:nvSpPr>
          <p:cNvPr id="423" name="Google Shape;423;p52"/>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Comparison</a:t>
            </a:r>
            <a:endParaRPr b="1" sz="2800">
              <a:solidFill>
                <a:srgbClr val="1F7A4D"/>
              </a:solidFill>
              <a:latin typeface="Georgia"/>
              <a:ea typeface="Georgia"/>
              <a:cs typeface="Georgia"/>
              <a:sym typeface="Georgia"/>
            </a:endParaRPr>
          </a:p>
        </p:txBody>
      </p:sp>
      <p:sp>
        <p:nvSpPr>
          <p:cNvPr id="424" name="Google Shape;424;p52"/>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 </a:t>
            </a:r>
            <a:endParaRPr>
              <a:solidFill>
                <a:srgbClr val="586274"/>
              </a:solidFill>
            </a:endParaRPr>
          </a:p>
        </p:txBody>
      </p:sp>
      <p:sp>
        <p:nvSpPr>
          <p:cNvPr id="425" name="Google Shape;425;p52"/>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R-CMP: 'We compare our DIS5K against 19 other related datasets including … SOC [T]': current work vs target.</a:t>
            </a:r>
            <a:endParaRPr>
              <a:solidFill>
                <a:srgbClr val="16213A"/>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3"/>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C20  ·  20 of 30  ·  vote in row C20</a:t>
            </a:r>
            <a:endParaRPr b="1" sz="1100">
              <a:solidFill>
                <a:srgbClr val="586274"/>
              </a:solidFill>
            </a:endParaRPr>
          </a:p>
        </p:txBody>
      </p:sp>
      <p:sp>
        <p:nvSpPr>
          <p:cNvPr id="431" name="Google Shape;431;p53"/>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However, it has been shown that the dependencies between scheduled UEs in the uplink and their associated BSs are very weak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a:t>
            </a:r>
            <a:endParaRPr sz="1600">
              <a:solidFill>
                <a:srgbClr val="16213A"/>
              </a:solidFill>
              <a:latin typeface="Georgia"/>
              <a:ea typeface="Georgia"/>
              <a:cs typeface="Georgia"/>
              <a:sym typeface="Georgia"/>
            </a:endParaRPr>
          </a:p>
        </p:txBody>
      </p:sp>
      <p:sp>
        <p:nvSpPr>
          <p:cNvPr id="432" name="Google Shape;432;p53"/>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We still use dominant interferer analysis to derive the coverage probability of mmWave D2D links. However, to account for interference, we introduce a multiplexing factor [FORMULA] such that uplink inteferers can be approximated by a homogeneous PPP with intensity [FORMULA]  [CITE].Note that uplink interferers do not necessarily form a homogeneous PPP if the BSs form a homogeneous PPP [CITE]. However, it has been shown that the dependencies between scheduled UEs in the uplink and their associated BSs are very weak </a:t>
            </a:r>
            <a:r>
              <a:rPr b="1" lang="en" sz="900">
                <a:solidFill>
                  <a:srgbClr val="6B3A06"/>
                </a:solidFill>
                <a:highlight>
                  <a:srgbClr val="FCE7C8"/>
                </a:highlight>
              </a:rPr>
              <a:t>[[TARGET]]</a:t>
            </a:r>
            <a:r>
              <a:rPr lang="en" sz="900">
                <a:solidFill>
                  <a:srgbClr val="33405A"/>
                </a:solidFill>
              </a:rPr>
              <a:t>. We have the following result. The proof is omitted because it is similar to that of Theorem REF .</a:t>
            </a:r>
            <a:endParaRPr sz="900">
              <a:solidFill>
                <a:srgbClr val="33405A"/>
              </a:solidFill>
            </a:endParaRPr>
          </a:p>
        </p:txBody>
      </p:sp>
      <p:sp>
        <p:nvSpPr>
          <p:cNvPr id="433" name="Google Shape;433;p53"/>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Analytical Modeling of Uplink Cellular Networks</a:t>
            </a:r>
            <a:endParaRPr b="1" sz="1100">
              <a:solidFill>
                <a:srgbClr val="16213A"/>
              </a:solidFill>
            </a:endParaRPr>
          </a:p>
        </p:txBody>
      </p:sp>
      <p:sp>
        <p:nvSpPr>
          <p:cNvPr id="434" name="Google Shape;434;p53"/>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Cellular uplink analysis has typically been undertaken by either a simple</a:t>
            </a:r>
            <a:endParaRPr sz="900">
              <a:solidFill>
                <a:srgbClr val="586274"/>
              </a:solidFill>
            </a:endParaRPr>
          </a:p>
          <a:p>
            <a:pPr indent="0" lvl="0" marL="0" rtl="0" algn="l">
              <a:spcBef>
                <a:spcPts val="0"/>
              </a:spcBef>
              <a:spcAft>
                <a:spcPts val="0"/>
              </a:spcAft>
              <a:buNone/>
            </a:pPr>
            <a:r>
              <a:rPr lang="en" sz="900">
                <a:solidFill>
                  <a:srgbClr val="586274"/>
                </a:solidFill>
              </a:rPr>
              <a:t>approach that lumps all interference into a single deterministic or random</a:t>
            </a:r>
            <a:endParaRPr sz="900">
              <a:solidFill>
                <a:srgbClr val="586274"/>
              </a:solidFill>
            </a:endParaRPr>
          </a:p>
          <a:p>
            <a:pPr indent="0" lvl="0" marL="0" rtl="0" algn="l">
              <a:spcBef>
                <a:spcPts val="0"/>
              </a:spcBef>
              <a:spcAft>
                <a:spcPts val="0"/>
              </a:spcAft>
              <a:buNone/>
            </a:pPr>
            <a:r>
              <a:rPr lang="en" sz="900">
                <a:solidFill>
                  <a:srgbClr val="586274"/>
                </a:solidFill>
              </a:rPr>
              <a:t>parameter in a Wyner-type model, or via complex system level simulations that</a:t>
            </a:r>
            <a:endParaRPr sz="900">
              <a:solidFill>
                <a:srgbClr val="586274"/>
              </a:solidFill>
            </a:endParaRPr>
          </a:p>
          <a:p>
            <a:pPr indent="0" lvl="0" marL="0" rtl="0" algn="l">
              <a:spcBef>
                <a:spcPts val="0"/>
              </a:spcBef>
              <a:spcAft>
                <a:spcPts val="0"/>
              </a:spcAft>
              <a:buNone/>
            </a:pPr>
            <a:r>
              <a:rPr lang="en" sz="900">
                <a:solidFill>
                  <a:srgbClr val="586274"/>
                </a:solidFill>
              </a:rPr>
              <a:t>often do not provide insight into why various trends are observed. This paper</a:t>
            </a:r>
            <a:endParaRPr sz="900">
              <a:solidFill>
                <a:srgbClr val="586274"/>
              </a:solidFill>
            </a:endParaRPr>
          </a:p>
          <a:p>
            <a:pPr indent="0" lvl="0" marL="0" rtl="0" algn="l">
              <a:spcBef>
                <a:spcPts val="0"/>
              </a:spcBef>
              <a:spcAft>
                <a:spcPts val="0"/>
              </a:spcAft>
              <a:buNone/>
            </a:pPr>
            <a:r>
              <a:rPr lang="en" sz="900">
                <a:solidFill>
                  <a:srgbClr val="586274"/>
                </a:solidFill>
              </a:rPr>
              <a:t>proposes a novel middle way using point processes that is both accurate and</a:t>
            </a:r>
            <a:endParaRPr sz="900">
              <a:solidFill>
                <a:srgbClr val="586274"/>
              </a:solidFill>
            </a:endParaRPr>
          </a:p>
          <a:p>
            <a:pPr indent="0" lvl="0" marL="0" rtl="0" algn="l">
              <a:spcBef>
                <a:spcPts val="0"/>
              </a:spcBef>
              <a:spcAft>
                <a:spcPts val="0"/>
              </a:spcAft>
              <a:buNone/>
            </a:pPr>
            <a:r>
              <a:rPr lang="en" sz="900">
                <a:solidFill>
                  <a:srgbClr val="586274"/>
                </a:solidFill>
              </a:rPr>
              <a:t>also results in easy-to-evaluate [...]</a:t>
            </a:r>
            <a:endParaRPr sz="900">
              <a:solidFill>
                <a:srgbClr val="586274"/>
              </a:solidFill>
            </a:endParaRPr>
          </a:p>
        </p:txBody>
      </p:sp>
      <p:sp>
        <p:nvSpPr>
          <p:cNvPr id="435" name="Google Shape;435;p53"/>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54"/>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C20  ·  answer</a:t>
            </a:r>
            <a:endParaRPr b="1" sz="1100">
              <a:solidFill>
                <a:srgbClr val="586274"/>
              </a:solidFill>
            </a:endParaRPr>
          </a:p>
        </p:txBody>
      </p:sp>
      <p:sp>
        <p:nvSpPr>
          <p:cNvPr id="441" name="Google Shape;441;p54"/>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However, it has been shown that the dependencies between scheduled UEs in the uplink and their associated BSs are very weak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a:t>
            </a:r>
            <a:endParaRPr sz="1300">
              <a:solidFill>
                <a:srgbClr val="33405A"/>
              </a:solidFill>
              <a:latin typeface="Georgia"/>
              <a:ea typeface="Georgia"/>
              <a:cs typeface="Georgia"/>
              <a:sym typeface="Georgia"/>
            </a:endParaRPr>
          </a:p>
        </p:txBody>
      </p:sp>
      <p:sp>
        <p:nvSpPr>
          <p:cNvPr id="442" name="Google Shape;442;p54"/>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Evidence</a:t>
            </a:r>
            <a:endParaRPr b="1" sz="2800">
              <a:solidFill>
                <a:srgbClr val="1F7A4D"/>
              </a:solidFill>
              <a:latin typeface="Georgia"/>
              <a:ea typeface="Georgia"/>
              <a:cs typeface="Georgia"/>
              <a:sym typeface="Georgia"/>
            </a:endParaRPr>
          </a:p>
        </p:txBody>
      </p:sp>
      <p:sp>
        <p:nvSpPr>
          <p:cNvPr id="443" name="Google Shape;443;p54"/>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 </a:t>
            </a:r>
            <a:endParaRPr>
              <a:solidFill>
                <a:srgbClr val="586274"/>
              </a:solidFill>
            </a:endParaRPr>
          </a:p>
        </p:txBody>
      </p:sp>
      <p:sp>
        <p:nvSpPr>
          <p:cNvPr id="444" name="Google Shape;444;p54"/>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R-EV: 'It has been shown that … are very weak [T]': the target backs a claim the authors rely on.</a:t>
            </a:r>
            <a:endParaRPr>
              <a:solidFill>
                <a:srgbClr val="16213A"/>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5"/>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C21  ·  21 of 30  ·  vote in row C21</a:t>
            </a:r>
            <a:endParaRPr b="1" sz="1100">
              <a:solidFill>
                <a:srgbClr val="586274"/>
              </a:solidFill>
            </a:endParaRPr>
          </a:p>
        </p:txBody>
      </p:sp>
      <p:sp>
        <p:nvSpPr>
          <p:cNvPr id="450" name="Google Shape;450;p55"/>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Although CycleGAN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is a popular architecture trained without paired data by a cycle consistency loss, it still suffers from large chromatic aberration, severe artifacts and model redundancy when handling BID task (See Figure REF ).</a:t>
            </a:r>
            <a:endParaRPr sz="1600">
              <a:solidFill>
                <a:srgbClr val="16213A"/>
              </a:solidFill>
              <a:latin typeface="Georgia"/>
              <a:ea typeface="Georgia"/>
              <a:cs typeface="Georgia"/>
              <a:sym typeface="Georgia"/>
            </a:endParaRPr>
          </a:p>
        </p:txBody>
      </p:sp>
      <p:sp>
        <p:nvSpPr>
          <p:cNvPr id="451" name="Google Shape;451;p55"/>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We propose a lightweight and real-time baseline (FCL-GAN) for unsupervised BID. FCL-GAN drives the task by a frequency-domain contrastive loss constrained lightweight CycleGAN, as shown in Figure REF . Two new collaborative units, called lightweight domain conversion unit (LDCU) and parameter-free frequency-domain contrast unit (PFCU), are designed, which jointly makes sure “lightweight” and “real-time”, in addition to overcoming the limitations of current unsupervised methods. To the best of our knowledge, this is the first lightweight and real-time deep unsupervised BID method, which can be regarded as a guiding method for future research.</a:t>
            </a:r>
            <a:endParaRPr sz="900">
              <a:solidFill>
                <a:srgbClr val="33405A"/>
              </a:solidFill>
            </a:endParaRPr>
          </a:p>
          <a:p>
            <a:pPr indent="0" lvl="0" marL="0" rtl="0" algn="l">
              <a:spcBef>
                <a:spcPts val="0"/>
              </a:spcBef>
              <a:spcAft>
                <a:spcPts val="0"/>
              </a:spcAft>
              <a:buNone/>
            </a:pPr>
            <a:r>
              <a:t/>
            </a:r>
            <a:endParaRPr sz="900">
              <a:solidFill>
                <a:srgbClr val="33405A"/>
              </a:solidFill>
            </a:endParaRPr>
          </a:p>
          <a:p>
            <a:pPr indent="0" lvl="0" marL="0" rtl="0" algn="l">
              <a:spcBef>
                <a:spcPts val="0"/>
              </a:spcBef>
              <a:spcAft>
                <a:spcPts val="0"/>
              </a:spcAft>
              <a:buNone/>
            </a:pPr>
            <a:r>
              <a:rPr lang="en" sz="900">
                <a:solidFill>
                  <a:srgbClr val="33405A"/>
                </a:solidFill>
              </a:rPr>
              <a:t>Although CycleGAN </a:t>
            </a:r>
            <a:r>
              <a:rPr b="1" lang="en" sz="900">
                <a:solidFill>
                  <a:srgbClr val="6B3A06"/>
                </a:solidFill>
                <a:highlight>
                  <a:srgbClr val="FCE7C8"/>
                </a:highlight>
              </a:rPr>
              <a:t>[[TARGET]]</a:t>
            </a:r>
            <a:r>
              <a:rPr lang="en" sz="900">
                <a:solidFill>
                  <a:srgbClr val="33405A"/>
                </a:solidFill>
              </a:rPr>
              <a:t> is a popular architecture trained without paired data by a cycle consistency loss, it still suffers from large chromatic aberration, severe artifacts and model redundancy when handling BID task (See Figure REF ). As [...]</a:t>
            </a:r>
            <a:endParaRPr sz="900">
              <a:solidFill>
                <a:srgbClr val="33405A"/>
              </a:solidFill>
            </a:endParaRPr>
          </a:p>
        </p:txBody>
      </p:sp>
      <p:sp>
        <p:nvSpPr>
          <p:cNvPr id="452" name="Google Shape;452;p55"/>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Unpaired Image-to-Image Translation using Cycle-Consistent Adversarial  Networks</a:t>
            </a:r>
            <a:endParaRPr b="1" sz="1100">
              <a:solidFill>
                <a:srgbClr val="16213A"/>
              </a:solidFill>
            </a:endParaRPr>
          </a:p>
        </p:txBody>
      </p:sp>
      <p:sp>
        <p:nvSpPr>
          <p:cNvPr id="453" name="Google Shape;453;p55"/>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Image-to-image translation is a class of vision and graphics problems where</a:t>
            </a:r>
            <a:endParaRPr sz="900">
              <a:solidFill>
                <a:srgbClr val="586274"/>
              </a:solidFill>
            </a:endParaRPr>
          </a:p>
          <a:p>
            <a:pPr indent="0" lvl="0" marL="0" rtl="0" algn="l">
              <a:spcBef>
                <a:spcPts val="0"/>
              </a:spcBef>
              <a:spcAft>
                <a:spcPts val="0"/>
              </a:spcAft>
              <a:buNone/>
            </a:pPr>
            <a:r>
              <a:rPr lang="en" sz="900">
                <a:solidFill>
                  <a:srgbClr val="586274"/>
                </a:solidFill>
              </a:rPr>
              <a:t>the goal is to learn the mapping between an input image and an output image</a:t>
            </a:r>
            <a:endParaRPr sz="900">
              <a:solidFill>
                <a:srgbClr val="586274"/>
              </a:solidFill>
            </a:endParaRPr>
          </a:p>
          <a:p>
            <a:pPr indent="0" lvl="0" marL="0" rtl="0" algn="l">
              <a:spcBef>
                <a:spcPts val="0"/>
              </a:spcBef>
              <a:spcAft>
                <a:spcPts val="0"/>
              </a:spcAft>
              <a:buNone/>
            </a:pPr>
            <a:r>
              <a:rPr lang="en" sz="900">
                <a:solidFill>
                  <a:srgbClr val="586274"/>
                </a:solidFill>
              </a:rPr>
              <a:t>using a training set of aligned image pairs. However, for many tasks, paired</a:t>
            </a:r>
            <a:endParaRPr sz="900">
              <a:solidFill>
                <a:srgbClr val="586274"/>
              </a:solidFill>
            </a:endParaRPr>
          </a:p>
          <a:p>
            <a:pPr indent="0" lvl="0" marL="0" rtl="0" algn="l">
              <a:spcBef>
                <a:spcPts val="0"/>
              </a:spcBef>
              <a:spcAft>
                <a:spcPts val="0"/>
              </a:spcAft>
              <a:buNone/>
            </a:pPr>
            <a:r>
              <a:rPr lang="en" sz="900">
                <a:solidFill>
                  <a:srgbClr val="586274"/>
                </a:solidFill>
              </a:rPr>
              <a:t>training data will not be available. We present an approach for learning to</a:t>
            </a:r>
            <a:endParaRPr sz="900">
              <a:solidFill>
                <a:srgbClr val="586274"/>
              </a:solidFill>
            </a:endParaRPr>
          </a:p>
          <a:p>
            <a:pPr indent="0" lvl="0" marL="0" rtl="0" algn="l">
              <a:spcBef>
                <a:spcPts val="0"/>
              </a:spcBef>
              <a:spcAft>
                <a:spcPts val="0"/>
              </a:spcAft>
              <a:buNone/>
            </a:pPr>
            <a:r>
              <a:rPr lang="en" sz="900">
                <a:solidFill>
                  <a:srgbClr val="586274"/>
                </a:solidFill>
              </a:rPr>
              <a:t>translate an image from a source domain $X$ to a target domain $Y$ in the</a:t>
            </a:r>
            <a:endParaRPr sz="900">
              <a:solidFill>
                <a:srgbClr val="586274"/>
              </a:solidFill>
            </a:endParaRPr>
          </a:p>
          <a:p>
            <a:pPr indent="0" lvl="0" marL="0" rtl="0" algn="l">
              <a:spcBef>
                <a:spcPts val="0"/>
              </a:spcBef>
              <a:spcAft>
                <a:spcPts val="0"/>
              </a:spcAft>
              <a:buNone/>
            </a:pPr>
            <a:r>
              <a:rPr lang="en" sz="900">
                <a:solidFill>
                  <a:srgbClr val="586274"/>
                </a:solidFill>
              </a:rPr>
              <a:t>absence of paired examples. Our goal is [...]</a:t>
            </a:r>
            <a:endParaRPr sz="900">
              <a:solidFill>
                <a:srgbClr val="586274"/>
              </a:solidFill>
            </a:endParaRPr>
          </a:p>
        </p:txBody>
      </p:sp>
      <p:sp>
        <p:nvSpPr>
          <p:cNvPr id="454" name="Google Shape;454;p55"/>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6"/>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C21  ·  answer</a:t>
            </a:r>
            <a:endParaRPr b="1" sz="1100">
              <a:solidFill>
                <a:srgbClr val="586274"/>
              </a:solidFill>
            </a:endParaRPr>
          </a:p>
        </p:txBody>
      </p:sp>
      <p:sp>
        <p:nvSpPr>
          <p:cNvPr id="460" name="Google Shape;460;p56"/>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Although CycleGAN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is a popular architecture trained without paired data by a cycle consistency loss, it still suffers from large chromatic aberration, severe artifacts and model redundancy when handling BID task (See Figure REF ).</a:t>
            </a:r>
            <a:endParaRPr sz="1300">
              <a:solidFill>
                <a:srgbClr val="33405A"/>
              </a:solidFill>
              <a:latin typeface="Georgia"/>
              <a:ea typeface="Georgia"/>
              <a:cs typeface="Georgia"/>
              <a:sym typeface="Georgia"/>
            </a:endParaRPr>
          </a:p>
        </p:txBody>
      </p:sp>
      <p:sp>
        <p:nvSpPr>
          <p:cNvPr id="461" name="Google Shape;461;p56"/>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Gap</a:t>
            </a:r>
            <a:endParaRPr b="1" sz="2800">
              <a:solidFill>
                <a:srgbClr val="1F7A4D"/>
              </a:solidFill>
              <a:latin typeface="Georgia"/>
              <a:ea typeface="Georgia"/>
              <a:cs typeface="Georgia"/>
              <a:sym typeface="Georgia"/>
            </a:endParaRPr>
          </a:p>
        </p:txBody>
      </p:sp>
      <p:sp>
        <p:nvSpPr>
          <p:cNvPr id="462" name="Google Shape;462;p56"/>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 </a:t>
            </a:r>
            <a:endParaRPr>
              <a:solidFill>
                <a:srgbClr val="586274"/>
              </a:solidFill>
            </a:endParaRPr>
          </a:p>
        </p:txBody>
      </p:sp>
      <p:sp>
        <p:nvSpPr>
          <p:cNvPr id="463" name="Google Shape;463;p56"/>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R-GAP: 'CycleGAN [T] … still suffers from large chromatic aberration…': the limitation is stated about the target itself.</a:t>
            </a:r>
            <a:endParaRPr>
              <a:solidFill>
                <a:srgbClr val="16213A"/>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7"/>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C22  ·  22 of 30  ·  vote in row C22</a:t>
            </a:r>
            <a:endParaRPr b="1" sz="1100">
              <a:solidFill>
                <a:srgbClr val="586274"/>
              </a:solidFill>
            </a:endParaRPr>
          </a:p>
        </p:txBody>
      </p:sp>
      <p:sp>
        <p:nvSpPr>
          <p:cNvPr id="469" name="Google Shape;469;p57"/>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To reduce the time cost, we employ the shift and element-wise product operators, in which shift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is a zero-flop zero-parameter operation, and element-wise product requires little calculation.</a:t>
            </a:r>
            <a:endParaRPr sz="1600">
              <a:solidFill>
                <a:srgbClr val="16213A"/>
              </a:solidFill>
              <a:latin typeface="Georgia"/>
              <a:ea typeface="Georgia"/>
              <a:cs typeface="Georgia"/>
              <a:sym typeface="Georgia"/>
            </a:endParaRPr>
          </a:p>
        </p:txBody>
      </p:sp>
      <p:sp>
        <p:nvSpPr>
          <p:cNvPr id="470" name="Google Shape;470;p57"/>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Since the kernel of our feature extraction network is trained and generated by the depth map, it is sample-specific and position-specific, as in [CITE], [CITE], and thus can capture meaningful local structures as the point-based operator in point clouds.</a:t>
            </a:r>
            <a:endParaRPr sz="900">
              <a:solidFill>
                <a:srgbClr val="33405A"/>
              </a:solidFill>
            </a:endParaRPr>
          </a:p>
          <a:p>
            <a:pPr indent="0" lvl="0" marL="0" rtl="0" algn="l">
              <a:spcBef>
                <a:spcPts val="0"/>
              </a:spcBef>
              <a:spcAft>
                <a:spcPts val="0"/>
              </a:spcAft>
              <a:buNone/>
            </a:pPr>
            <a:r>
              <a:rPr lang="en" sz="900">
                <a:solidFill>
                  <a:srgbClr val="33405A"/>
                </a:solidFill>
              </a:rPr>
              <a:t>We first introduce the idea of depth-wise convolution [CITE] to the network, termed depth-wise local convolution (DLCN).</a:t>
            </a:r>
            <a:endParaRPr sz="900">
              <a:solidFill>
                <a:srgbClr val="33405A"/>
              </a:solidFill>
            </a:endParaRPr>
          </a:p>
          <a:p>
            <a:pPr indent="0" lvl="0" marL="0" rtl="0" algn="l">
              <a:spcBef>
                <a:spcPts val="0"/>
              </a:spcBef>
              <a:spcAft>
                <a:spcPts val="0"/>
              </a:spcAft>
              <a:buNone/>
            </a:pPr>
            <a:r>
              <a:rPr lang="en" sz="900">
                <a:solidFill>
                  <a:srgbClr val="33405A"/>
                </a:solidFill>
              </a:rPr>
              <a:t>Generally, depth-wise convolution (DCN) involves a set of global filters, where each filter only operates at its corresponding channel, while DLCN requires a feature volume of local filters the same size as the input feature maps. As the generated filters are actually a feature volume, a naive way to perform DLCN requires to convert the feature volume into [FORMULA] location-specific filters and then apply depth-wise and local convolutions to the feature maps, where [FORMULA] and [FORMULA] are the height and width of [...]</a:t>
            </a:r>
            <a:endParaRPr sz="900">
              <a:solidFill>
                <a:srgbClr val="33405A"/>
              </a:solidFill>
            </a:endParaRPr>
          </a:p>
        </p:txBody>
      </p:sp>
      <p:sp>
        <p:nvSpPr>
          <p:cNvPr id="471" name="Google Shape;471;p57"/>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Shift: A Zero FLOP, Zero Parameter Alternative to Spatial Convolutions</a:t>
            </a:r>
            <a:endParaRPr b="1" sz="1100">
              <a:solidFill>
                <a:srgbClr val="16213A"/>
              </a:solidFill>
            </a:endParaRPr>
          </a:p>
        </p:txBody>
      </p:sp>
      <p:sp>
        <p:nvSpPr>
          <p:cNvPr id="472" name="Google Shape;472;p57"/>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Neural networks rely on convolutions to aggregate spatial information.</a:t>
            </a:r>
            <a:endParaRPr sz="900">
              <a:solidFill>
                <a:srgbClr val="586274"/>
              </a:solidFill>
            </a:endParaRPr>
          </a:p>
          <a:p>
            <a:pPr indent="0" lvl="0" marL="0" rtl="0" algn="l">
              <a:spcBef>
                <a:spcPts val="0"/>
              </a:spcBef>
              <a:spcAft>
                <a:spcPts val="0"/>
              </a:spcAft>
              <a:buNone/>
            </a:pPr>
            <a:r>
              <a:rPr lang="en" sz="900">
                <a:solidFill>
                  <a:srgbClr val="586274"/>
                </a:solidFill>
              </a:rPr>
              <a:t>However, spatial convolutions are expensive in terms of model size and</a:t>
            </a:r>
            <a:endParaRPr sz="900">
              <a:solidFill>
                <a:srgbClr val="586274"/>
              </a:solidFill>
            </a:endParaRPr>
          </a:p>
          <a:p>
            <a:pPr indent="0" lvl="0" marL="0" rtl="0" algn="l">
              <a:spcBef>
                <a:spcPts val="0"/>
              </a:spcBef>
              <a:spcAft>
                <a:spcPts val="0"/>
              </a:spcAft>
              <a:buNone/>
            </a:pPr>
            <a:r>
              <a:rPr lang="en" sz="900">
                <a:solidFill>
                  <a:srgbClr val="586274"/>
                </a:solidFill>
              </a:rPr>
              <a:t>computation, both of which grow quadratically with respect to kernel size. In</a:t>
            </a:r>
            <a:endParaRPr sz="900">
              <a:solidFill>
                <a:srgbClr val="586274"/>
              </a:solidFill>
            </a:endParaRPr>
          </a:p>
          <a:p>
            <a:pPr indent="0" lvl="0" marL="0" rtl="0" algn="l">
              <a:spcBef>
                <a:spcPts val="0"/>
              </a:spcBef>
              <a:spcAft>
                <a:spcPts val="0"/>
              </a:spcAft>
              <a:buNone/>
            </a:pPr>
            <a:r>
              <a:rPr lang="en" sz="900">
                <a:solidFill>
                  <a:srgbClr val="586274"/>
                </a:solidFill>
              </a:rPr>
              <a:t>this paper, we present a parameter-free, FLOP-free "shift" operation as an</a:t>
            </a:r>
            <a:endParaRPr sz="900">
              <a:solidFill>
                <a:srgbClr val="586274"/>
              </a:solidFill>
            </a:endParaRPr>
          </a:p>
          <a:p>
            <a:pPr indent="0" lvl="0" marL="0" rtl="0" algn="l">
              <a:spcBef>
                <a:spcPts val="0"/>
              </a:spcBef>
              <a:spcAft>
                <a:spcPts val="0"/>
              </a:spcAft>
              <a:buNone/>
            </a:pPr>
            <a:r>
              <a:rPr lang="en" sz="900">
                <a:solidFill>
                  <a:srgbClr val="586274"/>
                </a:solidFill>
              </a:rPr>
              <a:t>alternative to spatial convolutions. We fuse shifts and point-wise convolutions</a:t>
            </a:r>
            <a:endParaRPr sz="900">
              <a:solidFill>
                <a:srgbClr val="586274"/>
              </a:solidFill>
            </a:endParaRPr>
          </a:p>
          <a:p>
            <a:pPr indent="0" lvl="0" marL="0" rtl="0" algn="l">
              <a:spcBef>
                <a:spcPts val="0"/>
              </a:spcBef>
              <a:spcAft>
                <a:spcPts val="0"/>
              </a:spcAft>
              <a:buNone/>
            </a:pPr>
            <a:r>
              <a:rPr lang="en" sz="900">
                <a:solidFill>
                  <a:srgbClr val="586274"/>
                </a:solidFill>
              </a:rPr>
              <a:t>to construct end-to-end trainable [...]</a:t>
            </a:r>
            <a:endParaRPr sz="900">
              <a:solidFill>
                <a:srgbClr val="586274"/>
              </a:solidFill>
            </a:endParaRPr>
          </a:p>
        </p:txBody>
      </p:sp>
      <p:sp>
        <p:nvSpPr>
          <p:cNvPr id="473" name="Google Shape;473;p57"/>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8"/>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C22  ·  answer</a:t>
            </a:r>
            <a:endParaRPr b="1" sz="1100">
              <a:solidFill>
                <a:srgbClr val="586274"/>
              </a:solidFill>
            </a:endParaRPr>
          </a:p>
        </p:txBody>
      </p:sp>
      <p:sp>
        <p:nvSpPr>
          <p:cNvPr id="479" name="Google Shape;479;p58"/>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To reduce the time cost, we employ the shift and element-wise product operators, in which shift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is a zero-flop zero-parameter operation, and element-wise product requires little calculation.</a:t>
            </a:r>
            <a:endParaRPr sz="1300">
              <a:solidFill>
                <a:srgbClr val="33405A"/>
              </a:solidFill>
              <a:latin typeface="Georgia"/>
              <a:ea typeface="Georgia"/>
              <a:cs typeface="Georgia"/>
              <a:sym typeface="Georgia"/>
            </a:endParaRPr>
          </a:p>
        </p:txBody>
      </p:sp>
      <p:sp>
        <p:nvSpPr>
          <p:cNvPr id="480" name="Google Shape;480;p58"/>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Application</a:t>
            </a:r>
            <a:endParaRPr b="1" sz="2800">
              <a:solidFill>
                <a:srgbClr val="1F7A4D"/>
              </a:solidFill>
              <a:latin typeface="Georgia"/>
              <a:ea typeface="Georgia"/>
              <a:cs typeface="Georgia"/>
              <a:sym typeface="Georgia"/>
            </a:endParaRPr>
          </a:p>
        </p:txBody>
      </p:sp>
      <p:sp>
        <p:nvSpPr>
          <p:cNvPr id="481" name="Google Shape;481;p58"/>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 </a:t>
            </a:r>
            <a:endParaRPr>
              <a:solidFill>
                <a:srgbClr val="586274"/>
              </a:solidFill>
            </a:endParaRPr>
          </a:p>
        </p:txBody>
      </p:sp>
      <p:sp>
        <p:nvSpPr>
          <p:cNvPr id="482" name="Google Shape;482;p58"/>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R-EV: The current work employs the target's shift operation as is.</a:t>
            </a:r>
            <a:endParaRPr>
              <a:solidFill>
                <a:srgbClr val="16213A"/>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9"/>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C23  ·  23 of 30  ·  vote in row C23</a:t>
            </a:r>
            <a:endParaRPr b="1" sz="1100">
              <a:solidFill>
                <a:srgbClr val="586274"/>
              </a:solidFill>
            </a:endParaRPr>
          </a:p>
        </p:txBody>
      </p:sp>
      <p:sp>
        <p:nvSpPr>
          <p:cNvPr id="488" name="Google Shape;488;p59"/>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Stochastic DC-CNN  Inspired by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we extend the DC-CNN framework into a stochastic DC-CNN (s-DC-CNN)—during the training, the [FORMULA] -th subnetwork is dropped with a probability of [FORMULA] , where [FORMULA] is the total number of the cascaded CNN.</a:t>
            </a:r>
            <a:endParaRPr sz="1600">
              <a:solidFill>
                <a:srgbClr val="16213A"/>
              </a:solidFill>
              <a:latin typeface="Georgia"/>
              <a:ea typeface="Georgia"/>
              <a:cs typeface="Georgia"/>
              <a:sym typeface="Georgia"/>
            </a:endParaRPr>
          </a:p>
        </p:txBody>
      </p:sp>
      <p:sp>
        <p:nvSpPr>
          <p:cNvPr id="489" name="Google Shape;489;p59"/>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Stochastic DC-CNN  Inspired by </a:t>
            </a:r>
            <a:r>
              <a:rPr b="1" lang="en" sz="900">
                <a:solidFill>
                  <a:srgbClr val="6B3A06"/>
                </a:solidFill>
                <a:highlight>
                  <a:srgbClr val="FCE7C8"/>
                </a:highlight>
              </a:rPr>
              <a:t>[[TARGET]]</a:t>
            </a:r>
            <a:r>
              <a:rPr lang="en" sz="900">
                <a:solidFill>
                  <a:srgbClr val="33405A"/>
                </a:solidFill>
              </a:rPr>
              <a:t>, we extend the DC-CNN framework into a stochastic DC-CNN (s-DC-CNN)—during the training, the [FORMULA] -th subnetwork is dropped with a probability of [FORMULA] , where [FORMULA] is the total number of the cascaded CNN. During the testing (inference), we can use all of the subnetworks to perform the reconstruction, which is expected to provide the best performance as the most depths are used. Alternatively, we could sample the network configurations [FORMULA] using the distribution [FORMULA] from the above strategy, and then reconstruct the image as an ensemble of the sampled model [FORMULA] . In so doing, the variance of the predicted value can be used as an uncertainty estimate given the ensemble. This alternative approach provides several benefits: (1) it accelerates the learning because the expected depth of the network is much shorter; (2) [...]</a:t>
            </a:r>
            <a:endParaRPr sz="900">
              <a:solidFill>
                <a:srgbClr val="33405A"/>
              </a:solidFill>
            </a:endParaRPr>
          </a:p>
        </p:txBody>
      </p:sp>
      <p:sp>
        <p:nvSpPr>
          <p:cNvPr id="490" name="Google Shape;490;p59"/>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Deep Networks with Stochastic Depth</a:t>
            </a:r>
            <a:endParaRPr b="1" sz="1100">
              <a:solidFill>
                <a:srgbClr val="16213A"/>
              </a:solidFill>
            </a:endParaRPr>
          </a:p>
        </p:txBody>
      </p:sp>
      <p:sp>
        <p:nvSpPr>
          <p:cNvPr id="491" name="Google Shape;491;p59"/>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Very deep convolutional networks with hundreds of layers have led to</a:t>
            </a:r>
            <a:endParaRPr sz="900">
              <a:solidFill>
                <a:srgbClr val="586274"/>
              </a:solidFill>
            </a:endParaRPr>
          </a:p>
          <a:p>
            <a:pPr indent="0" lvl="0" marL="0" rtl="0" algn="l">
              <a:spcBef>
                <a:spcPts val="0"/>
              </a:spcBef>
              <a:spcAft>
                <a:spcPts val="0"/>
              </a:spcAft>
              <a:buNone/>
            </a:pPr>
            <a:r>
              <a:rPr lang="en" sz="900">
                <a:solidFill>
                  <a:srgbClr val="586274"/>
                </a:solidFill>
              </a:rPr>
              <a:t>significant reductions in error on competitive benchmarks. Although the</a:t>
            </a:r>
            <a:endParaRPr sz="900">
              <a:solidFill>
                <a:srgbClr val="586274"/>
              </a:solidFill>
            </a:endParaRPr>
          </a:p>
          <a:p>
            <a:pPr indent="0" lvl="0" marL="0" rtl="0" algn="l">
              <a:spcBef>
                <a:spcPts val="0"/>
              </a:spcBef>
              <a:spcAft>
                <a:spcPts val="0"/>
              </a:spcAft>
              <a:buNone/>
            </a:pPr>
            <a:r>
              <a:rPr lang="en" sz="900">
                <a:solidFill>
                  <a:srgbClr val="586274"/>
                </a:solidFill>
              </a:rPr>
              <a:t>unmatched expressiveness of the many layers can be highly desirable at test</a:t>
            </a:r>
            <a:endParaRPr sz="900">
              <a:solidFill>
                <a:srgbClr val="586274"/>
              </a:solidFill>
            </a:endParaRPr>
          </a:p>
          <a:p>
            <a:pPr indent="0" lvl="0" marL="0" rtl="0" algn="l">
              <a:spcBef>
                <a:spcPts val="0"/>
              </a:spcBef>
              <a:spcAft>
                <a:spcPts val="0"/>
              </a:spcAft>
              <a:buNone/>
            </a:pPr>
            <a:r>
              <a:rPr lang="en" sz="900">
                <a:solidFill>
                  <a:srgbClr val="586274"/>
                </a:solidFill>
              </a:rPr>
              <a:t>time, training very deep networks comes with its own set of challenges. The</a:t>
            </a:r>
            <a:endParaRPr sz="900">
              <a:solidFill>
                <a:srgbClr val="586274"/>
              </a:solidFill>
            </a:endParaRPr>
          </a:p>
          <a:p>
            <a:pPr indent="0" lvl="0" marL="0" rtl="0" algn="l">
              <a:spcBef>
                <a:spcPts val="0"/>
              </a:spcBef>
              <a:spcAft>
                <a:spcPts val="0"/>
              </a:spcAft>
              <a:buNone/>
            </a:pPr>
            <a:r>
              <a:rPr lang="en" sz="900">
                <a:solidFill>
                  <a:srgbClr val="586274"/>
                </a:solidFill>
              </a:rPr>
              <a:t>gradients can vanish, the forward flow often diminishes, and the training time</a:t>
            </a:r>
            <a:endParaRPr sz="900">
              <a:solidFill>
                <a:srgbClr val="586274"/>
              </a:solidFill>
            </a:endParaRPr>
          </a:p>
          <a:p>
            <a:pPr indent="0" lvl="0" marL="0" rtl="0" algn="l">
              <a:spcBef>
                <a:spcPts val="0"/>
              </a:spcBef>
              <a:spcAft>
                <a:spcPts val="0"/>
              </a:spcAft>
              <a:buNone/>
            </a:pPr>
            <a:r>
              <a:rPr lang="en" sz="900">
                <a:solidFill>
                  <a:srgbClr val="586274"/>
                </a:solidFill>
              </a:rPr>
              <a:t>can be painfully slow. To address these [...]</a:t>
            </a:r>
            <a:endParaRPr sz="900">
              <a:solidFill>
                <a:srgbClr val="586274"/>
              </a:solidFill>
            </a:endParaRPr>
          </a:p>
        </p:txBody>
      </p:sp>
      <p:sp>
        <p:nvSpPr>
          <p:cNvPr id="492" name="Google Shape;492;p59"/>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0"/>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C23  ·  answer</a:t>
            </a:r>
            <a:endParaRPr b="1" sz="1100">
              <a:solidFill>
                <a:srgbClr val="586274"/>
              </a:solidFill>
            </a:endParaRPr>
          </a:p>
        </p:txBody>
      </p:sp>
      <p:sp>
        <p:nvSpPr>
          <p:cNvPr id="498" name="Google Shape;498;p60"/>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Stochastic DC-CNN  Inspired by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we extend the DC-CNN framework into a stochastic DC-CNN (s-DC-CNN)—during the training, the [FORMULA] -th subnetwork is dropped with a probability of [FORMULA] , where [FORMULA] is the total number of the cascaded CNN.</a:t>
            </a:r>
            <a:endParaRPr sz="1300">
              <a:solidFill>
                <a:srgbClr val="33405A"/>
              </a:solidFill>
              <a:latin typeface="Georgia"/>
              <a:ea typeface="Georgia"/>
              <a:cs typeface="Georgia"/>
              <a:sym typeface="Georgia"/>
            </a:endParaRPr>
          </a:p>
        </p:txBody>
      </p:sp>
      <p:sp>
        <p:nvSpPr>
          <p:cNvPr id="499" name="Google Shape;499;p60"/>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Basis</a:t>
            </a:r>
            <a:endParaRPr b="1" sz="2800">
              <a:solidFill>
                <a:srgbClr val="1F7A4D"/>
              </a:solidFill>
              <a:latin typeface="Georgia"/>
              <a:ea typeface="Georgia"/>
              <a:cs typeface="Georgia"/>
              <a:sym typeface="Georgia"/>
            </a:endParaRPr>
          </a:p>
        </p:txBody>
      </p:sp>
      <p:sp>
        <p:nvSpPr>
          <p:cNvPr id="500" name="Google Shape;500;p60"/>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Also acceptable: Improvement/Modification</a:t>
            </a:r>
            <a:endParaRPr>
              <a:solidFill>
                <a:srgbClr val="586274"/>
              </a:solidFill>
            </a:endParaRPr>
          </a:p>
        </p:txBody>
      </p:sp>
      <p:sp>
        <p:nvSpPr>
          <p:cNvPr id="501" name="Google Shape;501;p60"/>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R-IM, R-EV: 'Inspired by [T], we extend the DC-CNN framework': the extended object is DC-CNN, not the target, so the target is the idea's source (Basis); applying stochastic depth to subnetworks can also be read as adapting the target's method.</a:t>
            </a:r>
            <a:endParaRPr>
              <a:solidFill>
                <a:srgbClr val="16213A"/>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61"/>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C24  ·  24 of 30  ·  vote in row C24</a:t>
            </a:r>
            <a:endParaRPr b="1" sz="1100">
              <a:solidFill>
                <a:srgbClr val="586274"/>
              </a:solidFill>
            </a:endParaRPr>
          </a:p>
        </p:txBody>
      </p:sp>
      <p:sp>
        <p:nvSpPr>
          <p:cNvPr id="507" name="Google Shape;507;p61"/>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As pioneers, Liu et al.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introduced a pseudo size updating scheme in a detection network to estimate object sizes.</a:t>
            </a:r>
            <a:endParaRPr sz="1600">
              <a:solidFill>
                <a:srgbClr val="16213A"/>
              </a:solidFill>
              <a:latin typeface="Georgia"/>
              <a:ea typeface="Georgia"/>
              <a:cs typeface="Georgia"/>
              <a:sym typeface="Georgia"/>
            </a:endParaRPr>
          </a:p>
        </p:txBody>
      </p:sp>
      <p:sp>
        <p:nvSpPr>
          <p:cNvPr id="508" name="Google Shape;508;p61"/>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The advances of deep neural networks (DNNs) raise an issue of enormous demand for data annotations. However, it is very costly and laborious to collect object-level bounding box annotations [CITE], [CITE] which are usually needed for training DNN-based object detection methods, especially for images containing thousands of objects. Current crowd counting datasets provide only point-level annotations, and usually human heads are labeled as the central points, e.g., the green dots shown in Fig. REF . Due to the lack of object sizes, state-of-the-art DNN-based object detectors [CITE] cannot be trivially applied to such point supervision. As pioneers, Liu et al. </a:t>
            </a:r>
            <a:r>
              <a:rPr b="1" lang="en" sz="900">
                <a:solidFill>
                  <a:srgbClr val="6B3A06"/>
                </a:solidFill>
                <a:highlight>
                  <a:srgbClr val="FCE7C8"/>
                </a:highlight>
              </a:rPr>
              <a:t>[[TARGET]]</a:t>
            </a:r>
            <a:r>
              <a:rPr lang="en" sz="900">
                <a:solidFill>
                  <a:srgbClr val="33405A"/>
                </a:solidFill>
              </a:rPr>
              <a:t> introduced a pseudo size updating scheme in a detection network to estimate object sizes. Sam et al. [CITE] proposed an LSC-CNN to achieve higher detection performance in crowd scenes. However, these works are still not [...]</a:t>
            </a:r>
            <a:endParaRPr sz="900">
              <a:solidFill>
                <a:srgbClr val="33405A"/>
              </a:solidFill>
            </a:endParaRPr>
          </a:p>
        </p:txBody>
      </p:sp>
      <p:sp>
        <p:nvSpPr>
          <p:cNvPr id="509" name="Google Shape;509;p61"/>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Point in, Box out: Beyond Counting Persons in Crowds</a:t>
            </a:r>
            <a:endParaRPr b="1" sz="1100">
              <a:solidFill>
                <a:srgbClr val="16213A"/>
              </a:solidFill>
            </a:endParaRPr>
          </a:p>
        </p:txBody>
      </p:sp>
      <p:sp>
        <p:nvSpPr>
          <p:cNvPr id="510" name="Google Shape;510;p61"/>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Modern crowd counting methods usually employ deep neural networks (DNN) to</a:t>
            </a:r>
            <a:endParaRPr sz="900">
              <a:solidFill>
                <a:srgbClr val="586274"/>
              </a:solidFill>
            </a:endParaRPr>
          </a:p>
          <a:p>
            <a:pPr indent="0" lvl="0" marL="0" rtl="0" algn="l">
              <a:spcBef>
                <a:spcPts val="0"/>
              </a:spcBef>
              <a:spcAft>
                <a:spcPts val="0"/>
              </a:spcAft>
              <a:buNone/>
            </a:pPr>
            <a:r>
              <a:rPr lang="en" sz="900">
                <a:solidFill>
                  <a:srgbClr val="586274"/>
                </a:solidFill>
              </a:rPr>
              <a:t>estimate crowd counts via density regression. Despite their significant</a:t>
            </a:r>
            <a:endParaRPr sz="900">
              <a:solidFill>
                <a:srgbClr val="586274"/>
              </a:solidFill>
            </a:endParaRPr>
          </a:p>
          <a:p>
            <a:pPr indent="0" lvl="0" marL="0" rtl="0" algn="l">
              <a:spcBef>
                <a:spcPts val="0"/>
              </a:spcBef>
              <a:spcAft>
                <a:spcPts val="0"/>
              </a:spcAft>
              <a:buNone/>
            </a:pPr>
            <a:r>
              <a:rPr lang="en" sz="900">
                <a:solidFill>
                  <a:srgbClr val="586274"/>
                </a:solidFill>
              </a:rPr>
              <a:t>improvements, the regression-based methods are incapable of providing the</a:t>
            </a:r>
            <a:endParaRPr sz="900">
              <a:solidFill>
                <a:srgbClr val="586274"/>
              </a:solidFill>
            </a:endParaRPr>
          </a:p>
          <a:p>
            <a:pPr indent="0" lvl="0" marL="0" rtl="0" algn="l">
              <a:spcBef>
                <a:spcPts val="0"/>
              </a:spcBef>
              <a:spcAft>
                <a:spcPts val="0"/>
              </a:spcAft>
              <a:buNone/>
            </a:pPr>
            <a:r>
              <a:rPr lang="en" sz="900">
                <a:solidFill>
                  <a:srgbClr val="586274"/>
                </a:solidFill>
              </a:rPr>
              <a:t>detection of individuals in crowds. The detection-based methods, on the other</a:t>
            </a:r>
            <a:endParaRPr sz="900">
              <a:solidFill>
                <a:srgbClr val="586274"/>
              </a:solidFill>
            </a:endParaRPr>
          </a:p>
          <a:p>
            <a:pPr indent="0" lvl="0" marL="0" rtl="0" algn="l">
              <a:spcBef>
                <a:spcPts val="0"/>
              </a:spcBef>
              <a:spcAft>
                <a:spcPts val="0"/>
              </a:spcAft>
              <a:buNone/>
            </a:pPr>
            <a:r>
              <a:rPr lang="en" sz="900">
                <a:solidFill>
                  <a:srgbClr val="586274"/>
                </a:solidFill>
              </a:rPr>
              <a:t>hand, have not been largely explored in recent trends of crowd counting due to</a:t>
            </a:r>
            <a:endParaRPr sz="900">
              <a:solidFill>
                <a:srgbClr val="586274"/>
              </a:solidFill>
            </a:endParaRPr>
          </a:p>
          <a:p>
            <a:pPr indent="0" lvl="0" marL="0" rtl="0" algn="l">
              <a:spcBef>
                <a:spcPts val="0"/>
              </a:spcBef>
              <a:spcAft>
                <a:spcPts val="0"/>
              </a:spcAft>
              <a:buNone/>
            </a:pPr>
            <a:r>
              <a:rPr lang="en" sz="900">
                <a:solidFill>
                  <a:srgbClr val="586274"/>
                </a:solidFill>
              </a:rPr>
              <a:t>the needs for expensive bounding box [...]</a:t>
            </a:r>
            <a:endParaRPr sz="900">
              <a:solidFill>
                <a:srgbClr val="586274"/>
              </a:solidFill>
            </a:endParaRPr>
          </a:p>
        </p:txBody>
      </p:sp>
      <p:sp>
        <p:nvSpPr>
          <p:cNvPr id="511" name="Google Shape;511;p61"/>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62"/>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C24  ·  answer</a:t>
            </a:r>
            <a:endParaRPr b="1" sz="1100">
              <a:solidFill>
                <a:srgbClr val="586274"/>
              </a:solidFill>
            </a:endParaRPr>
          </a:p>
        </p:txBody>
      </p:sp>
      <p:sp>
        <p:nvSpPr>
          <p:cNvPr id="517" name="Google Shape;517;p62"/>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As pioneers, Liu et al.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introduced a pseudo size updating scheme in a detection network to estimate object sizes.</a:t>
            </a:r>
            <a:endParaRPr sz="1300">
              <a:solidFill>
                <a:srgbClr val="33405A"/>
              </a:solidFill>
              <a:latin typeface="Georgia"/>
              <a:ea typeface="Georgia"/>
              <a:cs typeface="Georgia"/>
              <a:sym typeface="Georgia"/>
            </a:endParaRPr>
          </a:p>
        </p:txBody>
      </p:sp>
      <p:sp>
        <p:nvSpPr>
          <p:cNvPr id="518" name="Google Shape;518;p62"/>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Identification of the Originator</a:t>
            </a:r>
            <a:endParaRPr b="1" sz="2800">
              <a:solidFill>
                <a:srgbClr val="1F7A4D"/>
              </a:solidFill>
              <a:latin typeface="Georgia"/>
              <a:ea typeface="Georgia"/>
              <a:cs typeface="Georgia"/>
              <a:sym typeface="Georgia"/>
            </a:endParaRPr>
          </a:p>
        </p:txBody>
      </p:sp>
      <p:sp>
        <p:nvSpPr>
          <p:cNvPr id="519" name="Google Shape;519;p62"/>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 </a:t>
            </a:r>
            <a:endParaRPr>
              <a:solidFill>
                <a:srgbClr val="586274"/>
              </a:solidFill>
            </a:endParaRPr>
          </a:p>
        </p:txBody>
      </p:sp>
      <p:sp>
        <p:nvSpPr>
          <p:cNvPr id="520" name="Google Shape;520;p62"/>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Originator: 'As pioneers, Liu et al. [T] introduced…': credited as pioneer.</a:t>
            </a:r>
            <a:endParaRPr>
              <a:solidFill>
                <a:srgbClr val="16213A"/>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63"/>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C25  ·  25 of 30  ·  vote in row C25</a:t>
            </a:r>
            <a:endParaRPr b="1" sz="1100">
              <a:solidFill>
                <a:srgbClr val="586274"/>
              </a:solidFill>
            </a:endParaRPr>
          </a:p>
        </p:txBody>
      </p:sp>
      <p:sp>
        <p:nvSpPr>
          <p:cNvPr id="526" name="Google Shape;526;p63"/>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Please see [CITE],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for more details on the degree-discounted bibliographic coupling.</a:t>
            </a:r>
            <a:endParaRPr sz="1600">
              <a:solidFill>
                <a:srgbClr val="16213A"/>
              </a:solidFill>
              <a:latin typeface="Georgia"/>
              <a:ea typeface="Georgia"/>
              <a:cs typeface="Georgia"/>
              <a:sym typeface="Georgia"/>
            </a:endParaRPr>
          </a:p>
        </p:txBody>
      </p:sp>
      <p:sp>
        <p:nvSpPr>
          <p:cNvPr id="527" name="Google Shape;527;p63"/>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which discounts the contributions of the nodes [FORMULA] by their out-degrees (the number of followers) and each mutual follower [FORMULA] by her in-degree (number of friends). Please see [CITE], </a:t>
            </a:r>
            <a:r>
              <a:rPr b="1" lang="en" sz="900">
                <a:solidFill>
                  <a:srgbClr val="6B3A06"/>
                </a:solidFill>
                <a:highlight>
                  <a:srgbClr val="FCE7C8"/>
                </a:highlight>
              </a:rPr>
              <a:t>[[TARGET]]</a:t>
            </a:r>
            <a:r>
              <a:rPr lang="en" sz="900">
                <a:solidFill>
                  <a:srgbClr val="33405A"/>
                </a:solidFill>
              </a:rPr>
              <a:t> for more details on the degree-discounted bibliographic coupling.</a:t>
            </a:r>
            <a:endParaRPr sz="900">
              <a:solidFill>
                <a:srgbClr val="33405A"/>
              </a:solidFill>
            </a:endParaRPr>
          </a:p>
        </p:txBody>
      </p:sp>
      <p:sp>
        <p:nvSpPr>
          <p:cNvPr id="528" name="Google Shape;528;p63"/>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Clustering and Community Detection in Directed Networks: A Survey</a:t>
            </a:r>
            <a:endParaRPr b="1" sz="1100">
              <a:solidFill>
                <a:srgbClr val="16213A"/>
              </a:solidFill>
            </a:endParaRPr>
          </a:p>
        </p:txBody>
      </p:sp>
      <p:sp>
        <p:nvSpPr>
          <p:cNvPr id="529" name="Google Shape;529;p63"/>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Networks (or graphs) appear as dominant structures in diverse domains,</a:t>
            </a:r>
            <a:endParaRPr sz="900">
              <a:solidFill>
                <a:srgbClr val="586274"/>
              </a:solidFill>
            </a:endParaRPr>
          </a:p>
          <a:p>
            <a:pPr indent="0" lvl="0" marL="0" rtl="0" algn="l">
              <a:spcBef>
                <a:spcPts val="0"/>
              </a:spcBef>
              <a:spcAft>
                <a:spcPts val="0"/>
              </a:spcAft>
              <a:buNone/>
            </a:pPr>
            <a:r>
              <a:rPr lang="en" sz="900">
                <a:solidFill>
                  <a:srgbClr val="586274"/>
                </a:solidFill>
              </a:rPr>
              <a:t>including sociology, biology, neuroscience and computer science. In most of the</a:t>
            </a:r>
            <a:endParaRPr sz="900">
              <a:solidFill>
                <a:srgbClr val="586274"/>
              </a:solidFill>
            </a:endParaRPr>
          </a:p>
          <a:p>
            <a:pPr indent="0" lvl="0" marL="0" rtl="0" algn="l">
              <a:spcBef>
                <a:spcPts val="0"/>
              </a:spcBef>
              <a:spcAft>
                <a:spcPts val="0"/>
              </a:spcAft>
              <a:buNone/>
            </a:pPr>
            <a:r>
              <a:rPr lang="en" sz="900">
                <a:solidFill>
                  <a:srgbClr val="586274"/>
                </a:solidFill>
              </a:rPr>
              <a:t>aforementioned cases graphs are directed - in the sense that there is</a:t>
            </a:r>
            <a:endParaRPr sz="900">
              <a:solidFill>
                <a:srgbClr val="586274"/>
              </a:solidFill>
            </a:endParaRPr>
          </a:p>
          <a:p>
            <a:pPr indent="0" lvl="0" marL="0" rtl="0" algn="l">
              <a:spcBef>
                <a:spcPts val="0"/>
              </a:spcBef>
              <a:spcAft>
                <a:spcPts val="0"/>
              </a:spcAft>
              <a:buNone/>
            </a:pPr>
            <a:r>
              <a:rPr lang="en" sz="900">
                <a:solidFill>
                  <a:srgbClr val="586274"/>
                </a:solidFill>
              </a:rPr>
              <a:t>directionality on the edges, making the semantics of the edges non symmetric.</a:t>
            </a:r>
            <a:endParaRPr sz="900">
              <a:solidFill>
                <a:srgbClr val="586274"/>
              </a:solidFill>
            </a:endParaRPr>
          </a:p>
          <a:p>
            <a:pPr indent="0" lvl="0" marL="0" rtl="0" algn="l">
              <a:spcBef>
                <a:spcPts val="0"/>
              </a:spcBef>
              <a:spcAft>
                <a:spcPts val="0"/>
              </a:spcAft>
              <a:buNone/>
            </a:pPr>
            <a:r>
              <a:rPr lang="en" sz="900">
                <a:solidFill>
                  <a:srgbClr val="586274"/>
                </a:solidFill>
              </a:rPr>
              <a:t>An interesting feature that real networks present is the clustering or</a:t>
            </a:r>
            <a:endParaRPr sz="900">
              <a:solidFill>
                <a:srgbClr val="586274"/>
              </a:solidFill>
            </a:endParaRPr>
          </a:p>
          <a:p>
            <a:pPr indent="0" lvl="0" marL="0" rtl="0" algn="l">
              <a:spcBef>
                <a:spcPts val="0"/>
              </a:spcBef>
              <a:spcAft>
                <a:spcPts val="0"/>
              </a:spcAft>
              <a:buNone/>
            </a:pPr>
            <a:r>
              <a:rPr lang="en" sz="900">
                <a:solidFill>
                  <a:srgbClr val="586274"/>
                </a:solidFill>
              </a:rPr>
              <a:t>community structure property, under which the [...]</a:t>
            </a:r>
            <a:endParaRPr sz="900">
              <a:solidFill>
                <a:srgbClr val="586274"/>
              </a:solidFill>
            </a:endParaRPr>
          </a:p>
        </p:txBody>
      </p:sp>
      <p:sp>
        <p:nvSpPr>
          <p:cNvPr id="530" name="Google Shape;530;p63"/>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64"/>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C25  ·  answer</a:t>
            </a:r>
            <a:endParaRPr b="1" sz="1100">
              <a:solidFill>
                <a:srgbClr val="586274"/>
              </a:solidFill>
            </a:endParaRPr>
          </a:p>
        </p:txBody>
      </p:sp>
      <p:sp>
        <p:nvSpPr>
          <p:cNvPr id="536" name="Google Shape;536;p64"/>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Please see [CITE],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for more details on the degree-discounted bibliographic coupling.</a:t>
            </a:r>
            <a:endParaRPr sz="1300">
              <a:solidFill>
                <a:srgbClr val="33405A"/>
              </a:solidFill>
              <a:latin typeface="Georgia"/>
              <a:ea typeface="Georgia"/>
              <a:cs typeface="Georgia"/>
              <a:sym typeface="Georgia"/>
            </a:endParaRPr>
          </a:p>
        </p:txBody>
      </p:sp>
      <p:sp>
        <p:nvSpPr>
          <p:cNvPr id="537" name="Google Shape;537;p64"/>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Further Reading</a:t>
            </a:r>
            <a:endParaRPr b="1" sz="2800">
              <a:solidFill>
                <a:srgbClr val="1F7A4D"/>
              </a:solidFill>
              <a:latin typeface="Georgia"/>
              <a:ea typeface="Georgia"/>
              <a:cs typeface="Georgia"/>
              <a:sym typeface="Georgia"/>
            </a:endParaRPr>
          </a:p>
        </p:txBody>
      </p:sp>
      <p:sp>
        <p:nvSpPr>
          <p:cNvPr id="538" name="Google Shape;538;p64"/>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 </a:t>
            </a:r>
            <a:endParaRPr>
              <a:solidFill>
                <a:srgbClr val="586274"/>
              </a:solidFill>
            </a:endParaRPr>
          </a:p>
        </p:txBody>
      </p:sp>
      <p:sp>
        <p:nvSpPr>
          <p:cNvPr id="539" name="Google Shape;539;p64"/>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R-FR: 'Please see [C], [T] for more details': a pointer.</a:t>
            </a:r>
            <a:endParaRPr>
              <a:solidFill>
                <a:srgbClr val="16213A"/>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65"/>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C26  ·  26 of 30  ·  vote in row C26</a:t>
            </a:r>
            <a:endParaRPr b="1" sz="1100">
              <a:solidFill>
                <a:srgbClr val="586274"/>
              </a:solidFill>
            </a:endParaRPr>
          </a:p>
        </p:txBody>
      </p:sp>
      <p:sp>
        <p:nvSpPr>
          <p:cNvPr id="545" name="Google Shape;545;p65"/>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Against the first intuition this degradation is not caused</a:t>
            </a:r>
            <a:endParaRPr sz="1600">
              <a:solidFill>
                <a:srgbClr val="16213A"/>
              </a:solidFill>
              <a:latin typeface="Georgia"/>
              <a:ea typeface="Georgia"/>
              <a:cs typeface="Georgia"/>
              <a:sym typeface="Georgia"/>
            </a:endParaRPr>
          </a:p>
          <a:p>
            <a:pPr indent="0" lvl="0" marL="0" rtl="0" algn="l">
              <a:spcBef>
                <a:spcPts val="0"/>
              </a:spcBef>
              <a:spcAft>
                <a:spcPts val="0"/>
              </a:spcAft>
              <a:buNone/>
            </a:pPr>
            <a:r>
              <a:rPr lang="en" sz="1600">
                <a:solidFill>
                  <a:srgbClr val="16213A"/>
                </a:solidFill>
                <a:latin typeface="Georgia"/>
                <a:ea typeface="Georgia"/>
                <a:cs typeface="Georgia"/>
                <a:sym typeface="Georgia"/>
              </a:rPr>
              <a:t>by overfitting as reported in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and [CITE].</a:t>
            </a:r>
            <a:endParaRPr sz="1600">
              <a:solidFill>
                <a:srgbClr val="16213A"/>
              </a:solidFill>
              <a:latin typeface="Georgia"/>
              <a:ea typeface="Georgia"/>
              <a:cs typeface="Georgia"/>
              <a:sym typeface="Georgia"/>
            </a:endParaRPr>
          </a:p>
        </p:txBody>
      </p:sp>
      <p:sp>
        <p:nvSpPr>
          <p:cNvPr id="546" name="Google Shape;546;p65"/>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Convolutional Neural Networks (CNNs) have made their mark in</a:t>
            </a:r>
            <a:endParaRPr sz="900">
              <a:solidFill>
                <a:srgbClr val="33405A"/>
              </a:solidFill>
            </a:endParaRPr>
          </a:p>
          <a:p>
            <a:pPr indent="0" lvl="0" marL="0" rtl="0" algn="l">
              <a:spcBef>
                <a:spcPts val="0"/>
              </a:spcBef>
              <a:spcAft>
                <a:spcPts val="0"/>
              </a:spcAft>
              <a:buNone/>
            </a:pPr>
            <a:r>
              <a:rPr lang="en" sz="900">
                <a:solidFill>
                  <a:srgbClr val="33405A"/>
                </a:solidFill>
              </a:rPr>
              <a:t>various fields of computer vision and become the dominant pattern</a:t>
            </a:r>
            <a:endParaRPr sz="900">
              <a:solidFill>
                <a:srgbClr val="33405A"/>
              </a:solidFill>
            </a:endParaRPr>
          </a:p>
          <a:p>
            <a:pPr indent="0" lvl="0" marL="0" rtl="0" algn="l">
              <a:spcBef>
                <a:spcPts val="0"/>
              </a:spcBef>
              <a:spcAft>
                <a:spcPts val="0"/>
              </a:spcAft>
              <a:buNone/>
            </a:pPr>
            <a:r>
              <a:rPr lang="en" sz="900">
                <a:solidFill>
                  <a:srgbClr val="33405A"/>
                </a:solidFill>
              </a:rPr>
              <a:t>recognition approach for visual object recognition. Introduced</a:t>
            </a:r>
            <a:endParaRPr sz="900">
              <a:solidFill>
                <a:srgbClr val="33405A"/>
              </a:solidFill>
            </a:endParaRPr>
          </a:p>
          <a:p>
            <a:pPr indent="0" lvl="0" marL="0" rtl="0" algn="l">
              <a:spcBef>
                <a:spcPts val="0"/>
              </a:spcBef>
              <a:spcAft>
                <a:spcPts val="0"/>
              </a:spcAft>
              <a:buNone/>
            </a:pPr>
            <a:r>
              <a:rPr lang="en" sz="900">
                <a:solidFill>
                  <a:srgbClr val="33405A"/>
                </a:solidFill>
              </a:rPr>
              <a:t>over 20 years ago [CITE], cnn were able</a:t>
            </a:r>
            <a:endParaRPr sz="900">
              <a:solidFill>
                <a:srgbClr val="33405A"/>
              </a:solidFill>
            </a:endParaRPr>
          </a:p>
          <a:p>
            <a:pPr indent="0" lvl="0" marL="0" rtl="0" algn="l">
              <a:spcBef>
                <a:spcPts val="0"/>
              </a:spcBef>
              <a:spcAft>
                <a:spcPts val="0"/>
              </a:spcAft>
              <a:buNone/>
            </a:pPr>
            <a:r>
              <a:rPr lang="en" sz="900">
                <a:solidFill>
                  <a:srgbClr val="33405A"/>
                </a:solidFill>
              </a:rPr>
              <a:t>to achieve comparable results but quickly comes to their limits.</a:t>
            </a:r>
            <a:endParaRPr sz="900">
              <a:solidFill>
                <a:srgbClr val="33405A"/>
              </a:solidFill>
            </a:endParaRPr>
          </a:p>
          <a:p>
            <a:pPr indent="0" lvl="0" marL="0" rtl="0" algn="l">
              <a:spcBef>
                <a:spcPts val="0"/>
              </a:spcBef>
              <a:spcAft>
                <a:spcPts val="0"/>
              </a:spcAft>
              <a:buNone/>
            </a:pPr>
            <a:r>
              <a:rPr lang="en" sz="900">
                <a:solidFill>
                  <a:srgbClr val="33405A"/>
                </a:solidFill>
              </a:rPr>
              <a:t>Based on the usage of a sigmoidal activation function, cnn</a:t>
            </a:r>
            <a:endParaRPr sz="900">
              <a:solidFill>
                <a:srgbClr val="33405A"/>
              </a:solidFill>
            </a:endParaRPr>
          </a:p>
          <a:p>
            <a:pPr indent="0" lvl="0" marL="0" rtl="0" algn="l">
              <a:spcBef>
                <a:spcPts val="0"/>
              </a:spcBef>
              <a:spcAft>
                <a:spcPts val="0"/>
              </a:spcAft>
              <a:buNone/>
            </a:pPr>
            <a:r>
              <a:rPr lang="en" sz="900">
                <a:solidFill>
                  <a:srgbClr val="33405A"/>
                </a:solidFill>
              </a:rPr>
              <a:t>were limited to have deep architectures exploiting more convolutional</a:t>
            </a:r>
            <a:endParaRPr sz="900">
              <a:solidFill>
                <a:srgbClr val="33405A"/>
              </a:solidFill>
            </a:endParaRPr>
          </a:p>
          <a:p>
            <a:pPr indent="0" lvl="0" marL="0" rtl="0" algn="l">
              <a:spcBef>
                <a:spcPts val="0"/>
              </a:spcBef>
              <a:spcAft>
                <a:spcPts val="0"/>
              </a:spcAft>
              <a:buNone/>
            </a:pPr>
            <a:r>
              <a:rPr lang="en" sz="900">
                <a:solidFill>
                  <a:srgbClr val="33405A"/>
                </a:solidFill>
              </a:rPr>
              <a:t>layers. The key contribution was made by introducing the</a:t>
            </a:r>
            <a:endParaRPr sz="900">
              <a:solidFill>
                <a:srgbClr val="33405A"/>
              </a:solidFill>
            </a:endParaRPr>
          </a:p>
          <a:p>
            <a:pPr indent="0" lvl="0" marL="0" rtl="0" algn="l">
              <a:spcBef>
                <a:spcPts val="0"/>
              </a:spcBef>
              <a:spcAft>
                <a:spcPts val="0"/>
              </a:spcAft>
              <a:buNone/>
            </a:pPr>
            <a:r>
              <a:rPr lang="en" sz="900">
                <a:solidFill>
                  <a:srgbClr val="33405A"/>
                </a:solidFill>
              </a:rPr>
              <a:t>Rectified Linear Unit (ReLU) as activation function [CITE].</a:t>
            </a:r>
            <a:endParaRPr sz="900">
              <a:solidFill>
                <a:srgbClr val="33405A"/>
              </a:solidFill>
            </a:endParaRPr>
          </a:p>
          <a:p>
            <a:pPr indent="0" lvl="0" marL="0" rtl="0" algn="l">
              <a:spcBef>
                <a:spcPts val="0"/>
              </a:spcBef>
              <a:spcAft>
                <a:spcPts val="0"/>
              </a:spcAft>
              <a:buNone/>
            </a:pPr>
            <a:r>
              <a:rPr lang="en" sz="900">
                <a:solidFill>
                  <a:srgbClr val="33405A"/>
                </a:solidFill>
              </a:rPr>
              <a:t>Since that cnn were designed to have deeper architectures, starting</a:t>
            </a:r>
            <a:endParaRPr sz="900">
              <a:solidFill>
                <a:srgbClr val="33405A"/>
              </a:solidFill>
            </a:endParaRPr>
          </a:p>
          <a:p>
            <a:pPr indent="0" lvl="0" marL="0" rtl="0" algn="l">
              <a:spcBef>
                <a:spcPts val="0"/>
              </a:spcBef>
              <a:spcAft>
                <a:spcPts val="0"/>
              </a:spcAft>
              <a:buNone/>
            </a:pPr>
            <a:r>
              <a:rPr lang="en" sz="900">
                <a:solidFill>
                  <a:srgbClr val="33405A"/>
                </a:solidFill>
              </a:rPr>
              <a:t>with the AlexNet [CITE] using 5 convolutional layers.</a:t>
            </a:r>
            <a:endParaRPr sz="900">
              <a:solidFill>
                <a:srgbClr val="33405A"/>
              </a:solidFill>
            </a:endParaRPr>
          </a:p>
          <a:p>
            <a:pPr indent="0" lvl="0" marL="0" rtl="0" algn="l">
              <a:spcBef>
                <a:spcPts val="0"/>
              </a:spcBef>
              <a:spcAft>
                <a:spcPts val="0"/>
              </a:spcAft>
              <a:buNone/>
            </a:pPr>
            <a:r>
              <a:rPr lang="en" sz="900">
                <a:solidFill>
                  <a:srgbClr val="33405A"/>
                </a:solidFill>
              </a:rPr>
              <a:t>In 2015 the VGGNet [CITE] was proposed using 19</a:t>
            </a:r>
            <a:endParaRPr sz="900">
              <a:solidFill>
                <a:srgbClr val="33405A"/>
              </a:solidFill>
            </a:endParaRPr>
          </a:p>
          <a:p>
            <a:pPr indent="0" lvl="0" marL="0" rtl="0" algn="l">
              <a:spcBef>
                <a:spcPts val="0"/>
              </a:spcBef>
              <a:spcAft>
                <a:spcPts val="0"/>
              </a:spcAft>
              <a:buNone/>
            </a:pPr>
            <a:r>
              <a:rPr lang="en" sz="900">
                <a:solidFill>
                  <a:srgbClr val="33405A"/>
                </a:solidFill>
              </a:rPr>
              <a:t>convolutional layers. One year later the first two networks were</a:t>
            </a:r>
            <a:endParaRPr sz="900">
              <a:solidFill>
                <a:srgbClr val="33405A"/>
              </a:solidFill>
            </a:endParaRPr>
          </a:p>
          <a:p>
            <a:pPr indent="0" lvl="0" marL="0" rtl="0" algn="l">
              <a:spcBef>
                <a:spcPts val="0"/>
              </a:spcBef>
              <a:spcAft>
                <a:spcPts val="0"/>
              </a:spcAft>
              <a:buNone/>
            </a:pPr>
            <a:r>
              <a:rPr lang="en" sz="900">
                <a:solidFill>
                  <a:srgbClr val="33405A"/>
                </a:solidFill>
              </a:rPr>
              <a:t>capable of surpassing the 100-layer barrier, namely the Highway Networks [CITE]</a:t>
            </a:r>
            <a:endParaRPr sz="900">
              <a:solidFill>
                <a:srgbClr val="33405A"/>
              </a:solidFill>
            </a:endParaRPr>
          </a:p>
          <a:p>
            <a:pPr indent="0" lvl="0" marL="0" rtl="0" algn="l">
              <a:spcBef>
                <a:spcPts val="0"/>
              </a:spcBef>
              <a:spcAft>
                <a:spcPts val="0"/>
              </a:spcAft>
              <a:buNone/>
            </a:pPr>
            <a:r>
              <a:rPr lang="en" sz="900">
                <a:solidFill>
                  <a:srgbClr val="33405A"/>
                </a:solidFill>
              </a:rPr>
              <a:t>and the Residual Networks (ResNets) [CITE]. [...]</a:t>
            </a:r>
            <a:endParaRPr sz="900">
              <a:solidFill>
                <a:srgbClr val="33405A"/>
              </a:solidFill>
            </a:endParaRPr>
          </a:p>
        </p:txBody>
      </p:sp>
      <p:sp>
        <p:nvSpPr>
          <p:cNvPr id="547" name="Google Shape;547;p65"/>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Convolutional Neural Networks at Constrained Time Cost</a:t>
            </a:r>
            <a:endParaRPr b="1" sz="1100">
              <a:solidFill>
                <a:srgbClr val="16213A"/>
              </a:solidFill>
            </a:endParaRPr>
          </a:p>
        </p:txBody>
      </p:sp>
      <p:sp>
        <p:nvSpPr>
          <p:cNvPr id="548" name="Google Shape;548;p65"/>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Though recent advanced convolutional neural networks (CNNs) have been</a:t>
            </a:r>
            <a:endParaRPr sz="900">
              <a:solidFill>
                <a:srgbClr val="586274"/>
              </a:solidFill>
            </a:endParaRPr>
          </a:p>
          <a:p>
            <a:pPr indent="0" lvl="0" marL="0" rtl="0" algn="l">
              <a:spcBef>
                <a:spcPts val="0"/>
              </a:spcBef>
              <a:spcAft>
                <a:spcPts val="0"/>
              </a:spcAft>
              <a:buNone/>
            </a:pPr>
            <a:r>
              <a:rPr lang="en" sz="900">
                <a:solidFill>
                  <a:srgbClr val="586274"/>
                </a:solidFill>
              </a:rPr>
              <a:t>improving the image recognition accuracy, the models are getting more complex</a:t>
            </a:r>
            <a:endParaRPr sz="900">
              <a:solidFill>
                <a:srgbClr val="586274"/>
              </a:solidFill>
            </a:endParaRPr>
          </a:p>
          <a:p>
            <a:pPr indent="0" lvl="0" marL="0" rtl="0" algn="l">
              <a:spcBef>
                <a:spcPts val="0"/>
              </a:spcBef>
              <a:spcAft>
                <a:spcPts val="0"/>
              </a:spcAft>
              <a:buNone/>
            </a:pPr>
            <a:r>
              <a:rPr lang="en" sz="900">
                <a:solidFill>
                  <a:srgbClr val="586274"/>
                </a:solidFill>
              </a:rPr>
              <a:t>and time-consuming. For real-world applications in industrial and commercial</a:t>
            </a:r>
            <a:endParaRPr sz="900">
              <a:solidFill>
                <a:srgbClr val="586274"/>
              </a:solidFill>
            </a:endParaRPr>
          </a:p>
          <a:p>
            <a:pPr indent="0" lvl="0" marL="0" rtl="0" algn="l">
              <a:spcBef>
                <a:spcPts val="0"/>
              </a:spcBef>
              <a:spcAft>
                <a:spcPts val="0"/>
              </a:spcAft>
              <a:buNone/>
            </a:pPr>
            <a:r>
              <a:rPr lang="en" sz="900">
                <a:solidFill>
                  <a:srgbClr val="586274"/>
                </a:solidFill>
              </a:rPr>
              <a:t>scenarios, engineers and developers are often faced with the requirement of</a:t>
            </a:r>
            <a:endParaRPr sz="900">
              <a:solidFill>
                <a:srgbClr val="586274"/>
              </a:solidFill>
            </a:endParaRPr>
          </a:p>
          <a:p>
            <a:pPr indent="0" lvl="0" marL="0" rtl="0" algn="l">
              <a:spcBef>
                <a:spcPts val="0"/>
              </a:spcBef>
              <a:spcAft>
                <a:spcPts val="0"/>
              </a:spcAft>
              <a:buNone/>
            </a:pPr>
            <a:r>
              <a:rPr lang="en" sz="900">
                <a:solidFill>
                  <a:srgbClr val="586274"/>
                </a:solidFill>
              </a:rPr>
              <a:t>constrained time budget. In this paper, we investigate the accuracy of CNNs</a:t>
            </a:r>
            <a:endParaRPr sz="900">
              <a:solidFill>
                <a:srgbClr val="586274"/>
              </a:solidFill>
            </a:endParaRPr>
          </a:p>
          <a:p>
            <a:pPr indent="0" lvl="0" marL="0" rtl="0" algn="l">
              <a:spcBef>
                <a:spcPts val="0"/>
              </a:spcBef>
              <a:spcAft>
                <a:spcPts val="0"/>
              </a:spcAft>
              <a:buNone/>
            </a:pPr>
            <a:r>
              <a:rPr lang="en" sz="900">
                <a:solidFill>
                  <a:srgbClr val="586274"/>
                </a:solidFill>
              </a:rPr>
              <a:t>under constrained time cost. Under this [...]</a:t>
            </a:r>
            <a:endParaRPr sz="900">
              <a:solidFill>
                <a:srgbClr val="586274"/>
              </a:solidFill>
            </a:endParaRPr>
          </a:p>
        </p:txBody>
      </p:sp>
      <p:sp>
        <p:nvSpPr>
          <p:cNvPr id="549" name="Google Shape;549;p65"/>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66"/>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C26  ·  answer</a:t>
            </a:r>
            <a:endParaRPr b="1" sz="1100">
              <a:solidFill>
                <a:srgbClr val="586274"/>
              </a:solidFill>
            </a:endParaRPr>
          </a:p>
        </p:txBody>
      </p:sp>
      <p:sp>
        <p:nvSpPr>
          <p:cNvPr id="555" name="Google Shape;555;p66"/>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Against the first intuition this degradation is not caused</a:t>
            </a:r>
            <a:endParaRPr sz="1300">
              <a:solidFill>
                <a:srgbClr val="33405A"/>
              </a:solidFill>
              <a:latin typeface="Georgia"/>
              <a:ea typeface="Georgia"/>
              <a:cs typeface="Georgia"/>
              <a:sym typeface="Georgia"/>
            </a:endParaRPr>
          </a:p>
          <a:p>
            <a:pPr indent="0" lvl="0" marL="0" rtl="0" algn="l">
              <a:spcBef>
                <a:spcPts val="0"/>
              </a:spcBef>
              <a:spcAft>
                <a:spcPts val="0"/>
              </a:spcAft>
              <a:buNone/>
            </a:pPr>
            <a:r>
              <a:rPr lang="en" sz="1300">
                <a:solidFill>
                  <a:srgbClr val="33405A"/>
                </a:solidFill>
                <a:latin typeface="Georgia"/>
                <a:ea typeface="Georgia"/>
                <a:cs typeface="Georgia"/>
                <a:sym typeface="Georgia"/>
              </a:rPr>
              <a:t>by overfitting as reported in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and [CITE].</a:t>
            </a:r>
            <a:endParaRPr sz="1300">
              <a:solidFill>
                <a:srgbClr val="33405A"/>
              </a:solidFill>
              <a:latin typeface="Georgia"/>
              <a:ea typeface="Georgia"/>
              <a:cs typeface="Georgia"/>
              <a:sym typeface="Georgia"/>
            </a:endParaRPr>
          </a:p>
        </p:txBody>
      </p:sp>
      <p:sp>
        <p:nvSpPr>
          <p:cNvPr id="556" name="Google Shape;556;p66"/>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Evidence</a:t>
            </a:r>
            <a:endParaRPr b="1" sz="2800">
              <a:solidFill>
                <a:srgbClr val="1F7A4D"/>
              </a:solidFill>
              <a:latin typeface="Georgia"/>
              <a:ea typeface="Georgia"/>
              <a:cs typeface="Georgia"/>
              <a:sym typeface="Georgia"/>
            </a:endParaRPr>
          </a:p>
        </p:txBody>
      </p:sp>
      <p:sp>
        <p:nvSpPr>
          <p:cNvPr id="557" name="Google Shape;557;p66"/>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 </a:t>
            </a:r>
            <a:endParaRPr>
              <a:solidFill>
                <a:srgbClr val="586274"/>
              </a:solidFill>
            </a:endParaRPr>
          </a:p>
        </p:txBody>
      </p:sp>
      <p:sp>
        <p:nvSpPr>
          <p:cNvPr id="558" name="Google Shape;558;p66"/>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R-EV: 'Not caused by overfitting as reported in [T]': the target backs the authors' claim.</a:t>
            </a:r>
            <a:endParaRPr>
              <a:solidFill>
                <a:srgbClr val="16213A"/>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67"/>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C27  ·  27 of 30  ·  vote in row C27</a:t>
            </a:r>
            <a:endParaRPr b="1" sz="1100">
              <a:solidFill>
                <a:srgbClr val="586274"/>
              </a:solidFill>
            </a:endParaRPr>
          </a:p>
        </p:txBody>
      </p:sp>
      <p:sp>
        <p:nvSpPr>
          <p:cNvPr id="564" name="Google Shape;564;p67"/>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However, PatchMatch inherently has a limited regularization power as shown in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[CITE], [CITE].</a:t>
            </a:r>
            <a:endParaRPr sz="1600">
              <a:solidFill>
                <a:srgbClr val="16213A"/>
              </a:solidFill>
              <a:latin typeface="Georgia"/>
              <a:ea typeface="Georgia"/>
              <a:cs typeface="Georgia"/>
              <a:sym typeface="Georgia"/>
            </a:endParaRPr>
          </a:p>
        </p:txBody>
      </p:sp>
      <p:sp>
        <p:nvSpPr>
          <p:cNvPr id="565" name="Google Shape;565;p67"/>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More related to our work is a method called deep image analogy [CITE] that searches semantic correspondences using deep PatchMatch [CITE] in a coarse-to-fine manner. However, PatchMatch inherently has a limited regularization power as shown in </a:t>
            </a:r>
            <a:r>
              <a:rPr b="1" lang="en" sz="900">
                <a:solidFill>
                  <a:srgbClr val="6B3A06"/>
                </a:solidFill>
                <a:highlight>
                  <a:srgbClr val="FCE7C8"/>
                </a:highlight>
              </a:rPr>
              <a:t>[[TARGET]]</a:t>
            </a:r>
            <a:r>
              <a:rPr lang="en" sz="900">
                <a:solidFill>
                  <a:srgbClr val="33405A"/>
                </a:solidFill>
              </a:rPr>
              <a:t>, [CITE], [CITE]. In addition, the method still needs the greedy optimization for feature deconvolution that induces computational bottlenecks, and only considers the translational fields, thus having the limitation to handle more complicated deformations.</a:t>
            </a:r>
            <a:endParaRPr sz="900">
              <a:solidFill>
                <a:srgbClr val="33405A"/>
              </a:solidFill>
            </a:endParaRPr>
          </a:p>
        </p:txBody>
      </p:sp>
      <p:sp>
        <p:nvSpPr>
          <p:cNvPr id="566" name="Google Shape;566;p67"/>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DCTM: Discrete-Continuous Transformation Matching for Semantic Flow</a:t>
            </a:r>
            <a:endParaRPr b="1" sz="1100">
              <a:solidFill>
                <a:srgbClr val="16213A"/>
              </a:solidFill>
            </a:endParaRPr>
          </a:p>
        </p:txBody>
      </p:sp>
      <p:sp>
        <p:nvSpPr>
          <p:cNvPr id="567" name="Google Shape;567;p67"/>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Techniques for dense semantic correspondence have provided limited ability to</a:t>
            </a:r>
            <a:endParaRPr sz="900">
              <a:solidFill>
                <a:srgbClr val="586274"/>
              </a:solidFill>
            </a:endParaRPr>
          </a:p>
          <a:p>
            <a:pPr indent="0" lvl="0" marL="0" rtl="0" algn="l">
              <a:spcBef>
                <a:spcPts val="0"/>
              </a:spcBef>
              <a:spcAft>
                <a:spcPts val="0"/>
              </a:spcAft>
              <a:buNone/>
            </a:pPr>
            <a:r>
              <a:rPr lang="en" sz="900">
                <a:solidFill>
                  <a:srgbClr val="586274"/>
                </a:solidFill>
              </a:rPr>
              <a:t>deal with the geometric variations that commonly exist between semantically</a:t>
            </a:r>
            <a:endParaRPr sz="900">
              <a:solidFill>
                <a:srgbClr val="586274"/>
              </a:solidFill>
            </a:endParaRPr>
          </a:p>
          <a:p>
            <a:pPr indent="0" lvl="0" marL="0" rtl="0" algn="l">
              <a:spcBef>
                <a:spcPts val="0"/>
              </a:spcBef>
              <a:spcAft>
                <a:spcPts val="0"/>
              </a:spcAft>
              <a:buNone/>
            </a:pPr>
            <a:r>
              <a:rPr lang="en" sz="900">
                <a:solidFill>
                  <a:srgbClr val="586274"/>
                </a:solidFill>
              </a:rPr>
              <a:t>similar images. While variations due to scale and rotation have been examined,</a:t>
            </a:r>
            <a:endParaRPr sz="900">
              <a:solidFill>
                <a:srgbClr val="586274"/>
              </a:solidFill>
            </a:endParaRPr>
          </a:p>
          <a:p>
            <a:pPr indent="0" lvl="0" marL="0" rtl="0" algn="l">
              <a:spcBef>
                <a:spcPts val="0"/>
              </a:spcBef>
              <a:spcAft>
                <a:spcPts val="0"/>
              </a:spcAft>
              <a:buNone/>
            </a:pPr>
            <a:r>
              <a:rPr lang="en" sz="900">
                <a:solidFill>
                  <a:srgbClr val="586274"/>
                </a:solidFill>
              </a:rPr>
              <a:t>there lack practical solutions for more complex deformations such as affine</a:t>
            </a:r>
            <a:endParaRPr sz="900">
              <a:solidFill>
                <a:srgbClr val="586274"/>
              </a:solidFill>
            </a:endParaRPr>
          </a:p>
          <a:p>
            <a:pPr indent="0" lvl="0" marL="0" rtl="0" algn="l">
              <a:spcBef>
                <a:spcPts val="0"/>
              </a:spcBef>
              <a:spcAft>
                <a:spcPts val="0"/>
              </a:spcAft>
              <a:buNone/>
            </a:pPr>
            <a:r>
              <a:rPr lang="en" sz="900">
                <a:solidFill>
                  <a:srgbClr val="586274"/>
                </a:solidFill>
              </a:rPr>
              <a:t>transformations because of the tremendous size of the associated solution</a:t>
            </a:r>
            <a:endParaRPr sz="900">
              <a:solidFill>
                <a:srgbClr val="586274"/>
              </a:solidFill>
            </a:endParaRPr>
          </a:p>
          <a:p>
            <a:pPr indent="0" lvl="0" marL="0" rtl="0" algn="l">
              <a:spcBef>
                <a:spcPts val="0"/>
              </a:spcBef>
              <a:spcAft>
                <a:spcPts val="0"/>
              </a:spcAft>
              <a:buNone/>
            </a:pPr>
            <a:r>
              <a:rPr lang="en" sz="900">
                <a:solidFill>
                  <a:srgbClr val="586274"/>
                </a:solidFill>
              </a:rPr>
              <a:t>space. To address this problem, we [...]</a:t>
            </a:r>
            <a:endParaRPr sz="900">
              <a:solidFill>
                <a:srgbClr val="586274"/>
              </a:solidFill>
            </a:endParaRPr>
          </a:p>
        </p:txBody>
      </p:sp>
      <p:sp>
        <p:nvSpPr>
          <p:cNvPr id="568" name="Google Shape;568;p67"/>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68"/>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C27  ·  answer</a:t>
            </a:r>
            <a:endParaRPr b="1" sz="1100">
              <a:solidFill>
                <a:srgbClr val="586274"/>
              </a:solidFill>
            </a:endParaRPr>
          </a:p>
        </p:txBody>
      </p:sp>
      <p:sp>
        <p:nvSpPr>
          <p:cNvPr id="574" name="Google Shape;574;p68"/>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However, PatchMatch inherently has a limited regularization power as shown in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[CITE], [CITE].</a:t>
            </a:r>
            <a:endParaRPr sz="1300">
              <a:solidFill>
                <a:srgbClr val="33405A"/>
              </a:solidFill>
              <a:latin typeface="Georgia"/>
              <a:ea typeface="Georgia"/>
              <a:cs typeface="Georgia"/>
              <a:sym typeface="Georgia"/>
            </a:endParaRPr>
          </a:p>
        </p:txBody>
      </p:sp>
      <p:sp>
        <p:nvSpPr>
          <p:cNvPr id="575" name="Google Shape;575;p68"/>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Evidence</a:t>
            </a:r>
            <a:endParaRPr b="1" sz="2800">
              <a:solidFill>
                <a:srgbClr val="1F7A4D"/>
              </a:solidFill>
              <a:latin typeface="Georgia"/>
              <a:ea typeface="Georgia"/>
              <a:cs typeface="Georgia"/>
              <a:sym typeface="Georgia"/>
            </a:endParaRPr>
          </a:p>
        </p:txBody>
      </p:sp>
      <p:sp>
        <p:nvSpPr>
          <p:cNvPr id="576" name="Google Shape;576;p68"/>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 </a:t>
            </a:r>
            <a:endParaRPr>
              <a:solidFill>
                <a:srgbClr val="586274"/>
              </a:solidFill>
            </a:endParaRPr>
          </a:p>
        </p:txBody>
      </p:sp>
      <p:sp>
        <p:nvSpPr>
          <p:cNvPr id="577" name="Google Shape;577;p68"/>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R-EV, R-GAP: 'PatchMatch … has a limited regularization power as shown in [T]': the target is the source that reports another method's limitation, not its holder: Evidence.</a:t>
            </a:r>
            <a:endParaRPr>
              <a:solidFill>
                <a:srgbClr val="16213A"/>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69"/>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C28  ·  28 of 30  ·  vote in row C28</a:t>
            </a:r>
            <a:endParaRPr b="1" sz="1100">
              <a:solidFill>
                <a:srgbClr val="586274"/>
              </a:solidFill>
            </a:endParaRPr>
          </a:p>
        </p:txBody>
      </p:sp>
      <p:sp>
        <p:nvSpPr>
          <p:cNvPr id="583" name="Google Shape;583;p69"/>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Thus, we adapt the representation from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and utilize the beam id to assign each point to its row [FORMULA] in the image.</a:t>
            </a:r>
            <a:endParaRPr sz="1600">
              <a:solidFill>
                <a:srgbClr val="16213A"/>
              </a:solidFill>
              <a:latin typeface="Georgia"/>
              <a:ea typeface="Georgia"/>
              <a:cs typeface="Georgia"/>
              <a:sym typeface="Georgia"/>
            </a:endParaRPr>
          </a:p>
        </p:txBody>
      </p:sp>
      <p:sp>
        <p:nvSpPr>
          <p:cNvPr id="584" name="Google Shape;584;p69"/>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However, in practice the vertical resolution [FORMULA] , which is the angle between subsequent LiDAR beams is not constant. Thus, we adapt the representation from </a:t>
            </a:r>
            <a:r>
              <a:rPr b="1" lang="en" sz="900">
                <a:solidFill>
                  <a:srgbClr val="6B3A06"/>
                </a:solidFill>
                <a:highlight>
                  <a:srgbClr val="FCE7C8"/>
                </a:highlight>
              </a:rPr>
              <a:t>[[TARGET]]</a:t>
            </a:r>
            <a:r>
              <a:rPr lang="en" sz="900">
                <a:solidFill>
                  <a:srgbClr val="33405A"/>
                </a:solidFill>
              </a:rPr>
              <a:t> and utilize the beam id to assign each point to its row [FORMULA] in the image. The beam id can be easily retrieved from the LiDAR sensor. This allows for an unambiguous vertical discretization to obtain a dense native range representation, which we use as the laser range image. This range representation is even easier to obtain than the spherical one (i.e. no need for zenith projection) and reduces holes and coordinate conflicts in the data. If (due to the horizontal discretization) multiple 3D points fall onto to the same pixel in the range image, we choose the one with azimuth position nearest to the respective pixel center.</a:t>
            </a:r>
            <a:endParaRPr sz="900">
              <a:solidFill>
                <a:srgbClr val="33405A"/>
              </a:solidFill>
            </a:endParaRPr>
          </a:p>
        </p:txBody>
      </p:sp>
      <p:sp>
        <p:nvSpPr>
          <p:cNvPr id="585" name="Google Shape;585;p69"/>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LaserNet: An Efficient Probabilistic 3D Object Detector for Autonomous  Driving</a:t>
            </a:r>
            <a:endParaRPr b="1" sz="1100">
              <a:solidFill>
                <a:srgbClr val="16213A"/>
              </a:solidFill>
            </a:endParaRPr>
          </a:p>
        </p:txBody>
      </p:sp>
      <p:sp>
        <p:nvSpPr>
          <p:cNvPr id="586" name="Google Shape;586;p69"/>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In this paper, we present LaserNet, a computationally efficient method for 3D</a:t>
            </a:r>
            <a:endParaRPr sz="900">
              <a:solidFill>
                <a:srgbClr val="586274"/>
              </a:solidFill>
            </a:endParaRPr>
          </a:p>
          <a:p>
            <a:pPr indent="0" lvl="0" marL="0" rtl="0" algn="l">
              <a:spcBef>
                <a:spcPts val="0"/>
              </a:spcBef>
              <a:spcAft>
                <a:spcPts val="0"/>
              </a:spcAft>
              <a:buNone/>
            </a:pPr>
            <a:r>
              <a:rPr lang="en" sz="900">
                <a:solidFill>
                  <a:srgbClr val="586274"/>
                </a:solidFill>
              </a:rPr>
              <a:t>object detection from LiDAR data for autonomous driving. The efficiency results</a:t>
            </a:r>
            <a:endParaRPr sz="900">
              <a:solidFill>
                <a:srgbClr val="586274"/>
              </a:solidFill>
            </a:endParaRPr>
          </a:p>
          <a:p>
            <a:pPr indent="0" lvl="0" marL="0" rtl="0" algn="l">
              <a:spcBef>
                <a:spcPts val="0"/>
              </a:spcBef>
              <a:spcAft>
                <a:spcPts val="0"/>
              </a:spcAft>
              <a:buNone/>
            </a:pPr>
            <a:r>
              <a:rPr lang="en" sz="900">
                <a:solidFill>
                  <a:srgbClr val="586274"/>
                </a:solidFill>
              </a:rPr>
              <a:t>from processing LiDAR data in the native range view of the sensor, where the</a:t>
            </a:r>
            <a:endParaRPr sz="900">
              <a:solidFill>
                <a:srgbClr val="586274"/>
              </a:solidFill>
            </a:endParaRPr>
          </a:p>
          <a:p>
            <a:pPr indent="0" lvl="0" marL="0" rtl="0" algn="l">
              <a:spcBef>
                <a:spcPts val="0"/>
              </a:spcBef>
              <a:spcAft>
                <a:spcPts val="0"/>
              </a:spcAft>
              <a:buNone/>
            </a:pPr>
            <a:r>
              <a:rPr lang="en" sz="900">
                <a:solidFill>
                  <a:srgbClr val="586274"/>
                </a:solidFill>
              </a:rPr>
              <a:t>input data is naturally compact. Operating in the range view involves well</a:t>
            </a:r>
            <a:endParaRPr sz="900">
              <a:solidFill>
                <a:srgbClr val="586274"/>
              </a:solidFill>
            </a:endParaRPr>
          </a:p>
          <a:p>
            <a:pPr indent="0" lvl="0" marL="0" rtl="0" algn="l">
              <a:spcBef>
                <a:spcPts val="0"/>
              </a:spcBef>
              <a:spcAft>
                <a:spcPts val="0"/>
              </a:spcAft>
              <a:buNone/>
            </a:pPr>
            <a:r>
              <a:rPr lang="en" sz="900">
                <a:solidFill>
                  <a:srgbClr val="586274"/>
                </a:solidFill>
              </a:rPr>
              <a:t>known challenges for learning, including occlusion and scale variation, but it</a:t>
            </a:r>
            <a:endParaRPr sz="900">
              <a:solidFill>
                <a:srgbClr val="586274"/>
              </a:solidFill>
            </a:endParaRPr>
          </a:p>
          <a:p>
            <a:pPr indent="0" lvl="0" marL="0" rtl="0" algn="l">
              <a:spcBef>
                <a:spcPts val="0"/>
              </a:spcBef>
              <a:spcAft>
                <a:spcPts val="0"/>
              </a:spcAft>
              <a:buNone/>
            </a:pPr>
            <a:r>
              <a:rPr lang="en" sz="900">
                <a:solidFill>
                  <a:srgbClr val="586274"/>
                </a:solidFill>
              </a:rPr>
              <a:t>also provides contextual [...]</a:t>
            </a:r>
            <a:endParaRPr sz="900">
              <a:solidFill>
                <a:srgbClr val="586274"/>
              </a:solidFill>
            </a:endParaRPr>
          </a:p>
        </p:txBody>
      </p:sp>
      <p:sp>
        <p:nvSpPr>
          <p:cNvPr id="587" name="Google Shape;587;p69"/>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70"/>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C28  ·  answer</a:t>
            </a:r>
            <a:endParaRPr b="1" sz="1100">
              <a:solidFill>
                <a:srgbClr val="586274"/>
              </a:solidFill>
            </a:endParaRPr>
          </a:p>
        </p:txBody>
      </p:sp>
      <p:sp>
        <p:nvSpPr>
          <p:cNvPr id="593" name="Google Shape;593;p70"/>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Thus, we adapt the representation from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and utilize the beam id to assign each point to its row [FORMULA] in the image.</a:t>
            </a:r>
            <a:endParaRPr sz="1300">
              <a:solidFill>
                <a:srgbClr val="33405A"/>
              </a:solidFill>
              <a:latin typeface="Georgia"/>
              <a:ea typeface="Georgia"/>
              <a:cs typeface="Georgia"/>
              <a:sym typeface="Georgia"/>
            </a:endParaRPr>
          </a:p>
        </p:txBody>
      </p:sp>
      <p:sp>
        <p:nvSpPr>
          <p:cNvPr id="594" name="Google Shape;594;p70"/>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Improvement/Modification</a:t>
            </a:r>
            <a:endParaRPr b="1" sz="2800">
              <a:solidFill>
                <a:srgbClr val="1F7A4D"/>
              </a:solidFill>
              <a:latin typeface="Georgia"/>
              <a:ea typeface="Georgia"/>
              <a:cs typeface="Georgia"/>
              <a:sym typeface="Georgia"/>
            </a:endParaRPr>
          </a:p>
        </p:txBody>
      </p:sp>
      <p:sp>
        <p:nvSpPr>
          <p:cNvPr id="595" name="Google Shape;595;p70"/>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 </a:t>
            </a:r>
            <a:endParaRPr>
              <a:solidFill>
                <a:srgbClr val="586274"/>
              </a:solidFill>
            </a:endParaRPr>
          </a:p>
        </p:txBody>
      </p:sp>
      <p:sp>
        <p:nvSpPr>
          <p:cNvPr id="596" name="Google Shape;596;p70"/>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R-IM: 'We adapt the representation from [T]': the authors adapt the target's method.</a:t>
            </a:r>
            <a:endParaRPr>
              <a:solidFill>
                <a:srgbClr val="16213A"/>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71"/>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C29  ·  29 of 30  ·  vote in row C29</a:t>
            </a:r>
            <a:endParaRPr b="1" sz="1100">
              <a:solidFill>
                <a:srgbClr val="586274"/>
              </a:solidFill>
            </a:endParaRPr>
          </a:p>
        </p:txBody>
      </p:sp>
      <p:sp>
        <p:nvSpPr>
          <p:cNvPr id="602" name="Google Shape;602;p71"/>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Therefore, this setting falls in the realm of unsupervised domain adaptation (UDA) for semantic segmentation [CITE], [CITE], [CITE], [CITE], [CITE], [CITE], [CITE], [CITE],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[CITE], [CITE], [CITE], which is in contrast to assuming access to ground truth from the target domain [CITE], [CITE].</a:t>
            </a:r>
            <a:endParaRPr sz="1600">
              <a:solidFill>
                <a:srgbClr val="16213A"/>
              </a:solidFill>
              <a:latin typeface="Georgia"/>
              <a:ea typeface="Georgia"/>
              <a:cs typeface="Georgia"/>
              <a:sym typeface="Georgia"/>
            </a:endParaRPr>
          </a:p>
        </p:txBody>
      </p:sp>
      <p:sp>
        <p:nvSpPr>
          <p:cNvPr id="603" name="Google Shape;603;p71"/>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Semantic image segmentation is a central and challenging task in autonomous driving, as it involves predicting a class label (e.g., road, sidewalk, pedestrian, vehicle, etc) per pixel in outdoor images. Therefore, non surprisingly, the development of deep models for semantic segmentation has received a great deal of interest since deep learning is the core for solving computer vision tasks [CITE], [CITE], [CITE], [CITE], [CITE], [CITE], [CITE]. In this paper, we do not aim at proposing a new deep model architecture for on-board semantic segmentation, but our focus is on the training process of semantic segmentation models. More specifically, we explore the setting where such models must perform in real-world images, while for training them we have access to automatically generated synthetic images with semantic ground truth together with unlabeled real-world images. In other words, [...]</a:t>
            </a:r>
            <a:endParaRPr sz="900">
              <a:solidFill>
                <a:srgbClr val="33405A"/>
              </a:solidFill>
            </a:endParaRPr>
          </a:p>
        </p:txBody>
      </p:sp>
      <p:sp>
        <p:nvSpPr>
          <p:cNvPr id="604" name="Google Shape;604;p71"/>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DSP: Dual Soft-Paste for Unsupervised Domain Adaptive Semantic  Segmentation</a:t>
            </a:r>
            <a:endParaRPr b="1" sz="1100">
              <a:solidFill>
                <a:srgbClr val="16213A"/>
              </a:solidFill>
            </a:endParaRPr>
          </a:p>
        </p:txBody>
      </p:sp>
      <p:sp>
        <p:nvSpPr>
          <p:cNvPr id="605" name="Google Shape;605;p71"/>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Unsupervised domain adaptation (UDA) for semantic segmentation aims to adapt</a:t>
            </a:r>
            <a:endParaRPr sz="900">
              <a:solidFill>
                <a:srgbClr val="586274"/>
              </a:solidFill>
            </a:endParaRPr>
          </a:p>
          <a:p>
            <a:pPr indent="0" lvl="0" marL="0" rtl="0" algn="l">
              <a:spcBef>
                <a:spcPts val="0"/>
              </a:spcBef>
              <a:spcAft>
                <a:spcPts val="0"/>
              </a:spcAft>
              <a:buNone/>
            </a:pPr>
            <a:r>
              <a:rPr lang="en" sz="900">
                <a:solidFill>
                  <a:srgbClr val="586274"/>
                </a:solidFill>
              </a:rPr>
              <a:t>a segmentation model trained on the labeled source domain to the unlabeled</a:t>
            </a:r>
            <a:endParaRPr sz="900">
              <a:solidFill>
                <a:srgbClr val="586274"/>
              </a:solidFill>
            </a:endParaRPr>
          </a:p>
          <a:p>
            <a:pPr indent="0" lvl="0" marL="0" rtl="0" algn="l">
              <a:spcBef>
                <a:spcPts val="0"/>
              </a:spcBef>
              <a:spcAft>
                <a:spcPts val="0"/>
              </a:spcAft>
              <a:buNone/>
            </a:pPr>
            <a:r>
              <a:rPr lang="en" sz="900">
                <a:solidFill>
                  <a:srgbClr val="586274"/>
                </a:solidFill>
              </a:rPr>
              <a:t>target domain. Existing methods try to learn domain invariant features while</a:t>
            </a:r>
            <a:endParaRPr sz="900">
              <a:solidFill>
                <a:srgbClr val="586274"/>
              </a:solidFill>
            </a:endParaRPr>
          </a:p>
          <a:p>
            <a:pPr indent="0" lvl="0" marL="0" rtl="0" algn="l">
              <a:spcBef>
                <a:spcPts val="0"/>
              </a:spcBef>
              <a:spcAft>
                <a:spcPts val="0"/>
              </a:spcAft>
              <a:buNone/>
            </a:pPr>
            <a:r>
              <a:rPr lang="en" sz="900">
                <a:solidFill>
                  <a:srgbClr val="586274"/>
                </a:solidFill>
              </a:rPr>
              <a:t>suffering from large domain gaps that make it difficult to correctly align</a:t>
            </a:r>
            <a:endParaRPr sz="900">
              <a:solidFill>
                <a:srgbClr val="586274"/>
              </a:solidFill>
            </a:endParaRPr>
          </a:p>
          <a:p>
            <a:pPr indent="0" lvl="0" marL="0" rtl="0" algn="l">
              <a:spcBef>
                <a:spcPts val="0"/>
              </a:spcBef>
              <a:spcAft>
                <a:spcPts val="0"/>
              </a:spcAft>
              <a:buNone/>
            </a:pPr>
            <a:r>
              <a:rPr lang="en" sz="900">
                <a:solidFill>
                  <a:srgbClr val="586274"/>
                </a:solidFill>
              </a:rPr>
              <a:t>discrepant features, especially in the initial training phase. To address this</a:t>
            </a:r>
            <a:endParaRPr sz="900">
              <a:solidFill>
                <a:srgbClr val="586274"/>
              </a:solidFill>
            </a:endParaRPr>
          </a:p>
          <a:p>
            <a:pPr indent="0" lvl="0" marL="0" rtl="0" algn="l">
              <a:spcBef>
                <a:spcPts val="0"/>
              </a:spcBef>
              <a:spcAft>
                <a:spcPts val="0"/>
              </a:spcAft>
              <a:buNone/>
            </a:pPr>
            <a:r>
              <a:rPr lang="en" sz="900">
                <a:solidFill>
                  <a:srgbClr val="586274"/>
                </a:solidFill>
              </a:rPr>
              <a:t>issue, we propose a novel Dual [...]</a:t>
            </a:r>
            <a:endParaRPr sz="900">
              <a:solidFill>
                <a:srgbClr val="586274"/>
              </a:solidFill>
            </a:endParaRPr>
          </a:p>
        </p:txBody>
      </p:sp>
      <p:sp>
        <p:nvSpPr>
          <p:cNvPr id="606" name="Google Shape;606;p71"/>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72"/>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C29  ·  answer</a:t>
            </a:r>
            <a:endParaRPr b="1" sz="1100">
              <a:solidFill>
                <a:srgbClr val="586274"/>
              </a:solidFill>
            </a:endParaRPr>
          </a:p>
        </p:txBody>
      </p:sp>
      <p:sp>
        <p:nvSpPr>
          <p:cNvPr id="612" name="Google Shape;612;p72"/>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Therefore, this setting falls in the realm of unsupervised domain adaptation (UDA) for semantic segmentation [CITE], [CITE], [CITE], [CITE], [CITE], [CITE], [CITE], [CITE],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[CITE], [CITE], [CITE], which is in contrast to assuming access to ground truth from the target domain [CITE], [CITE].</a:t>
            </a:r>
            <a:endParaRPr sz="1300">
              <a:solidFill>
                <a:srgbClr val="33405A"/>
              </a:solidFill>
              <a:latin typeface="Georgia"/>
              <a:ea typeface="Georgia"/>
              <a:cs typeface="Georgia"/>
              <a:sym typeface="Georgia"/>
            </a:endParaRPr>
          </a:p>
        </p:txBody>
      </p:sp>
      <p:sp>
        <p:nvSpPr>
          <p:cNvPr id="613" name="Google Shape;613;p72"/>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Background</a:t>
            </a:r>
            <a:endParaRPr b="1" sz="2800">
              <a:solidFill>
                <a:srgbClr val="1F7A4D"/>
              </a:solidFill>
              <a:latin typeface="Georgia"/>
              <a:ea typeface="Georgia"/>
              <a:cs typeface="Georgia"/>
              <a:sym typeface="Georgia"/>
            </a:endParaRPr>
          </a:p>
        </p:txBody>
      </p:sp>
      <p:sp>
        <p:nvSpPr>
          <p:cNvPr id="614" name="Google Shape;614;p72"/>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 </a:t>
            </a:r>
            <a:endParaRPr>
              <a:solidFill>
                <a:srgbClr val="586274"/>
              </a:solidFill>
            </a:endParaRPr>
          </a:p>
        </p:txBody>
      </p:sp>
      <p:sp>
        <p:nvSpPr>
          <p:cNvPr id="615" name="Google Shape;615;p72"/>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R-EV: The target is one of many works naming the research area (UDA for segmentation): Background.</a:t>
            </a:r>
            <a:endParaRPr>
              <a:solidFill>
                <a:srgbClr val="16213A"/>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73"/>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C30  ·  30 of 30  ·  vote in row C30</a:t>
            </a:r>
            <a:endParaRPr b="1" sz="1100">
              <a:solidFill>
                <a:srgbClr val="586274"/>
              </a:solidFill>
            </a:endParaRPr>
          </a:p>
        </p:txBody>
      </p:sp>
      <p:sp>
        <p:nvSpPr>
          <p:cNvPr id="621" name="Google Shape;621;p73"/>
          <p:cNvSpPr txBox="1"/>
          <p:nvPr/>
        </p:nvSpPr>
        <p:spPr>
          <a:xfrm>
            <a:off x="355600" y="457200"/>
            <a:ext cx="84327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6213A"/>
                </a:solidFill>
                <a:latin typeface="Georgia"/>
                <a:ea typeface="Georgia"/>
                <a:cs typeface="Georgia"/>
                <a:sym typeface="Georgia"/>
              </a:rPr>
              <a:t>However, these methods cannot apply to our cross-domain VMR task because (i) most UDA methods only align the unimodal features, while we need to align the multi-modal features (both queries and videos); (ii) many UDA methods aim to tackle classification-based tasks (e.g., activity recognition [CITE], [CITE], [CITE], object detection </a:t>
            </a:r>
            <a:r>
              <a:rPr b="1" lang="en" sz="1600">
                <a:solidFill>
                  <a:srgbClr val="6B3A06"/>
                </a:solidFill>
                <a:highlight>
                  <a:srgbClr val="FCE7C8"/>
                </a:highlight>
                <a:latin typeface="Georgia"/>
                <a:ea typeface="Georgia"/>
                <a:cs typeface="Georgia"/>
                <a:sym typeface="Georgia"/>
              </a:rPr>
              <a:t>[[TARGET]]</a:t>
            </a:r>
            <a:r>
              <a:rPr lang="en" sz="1600">
                <a:solidFill>
                  <a:srgbClr val="16213A"/>
                </a:solidFill>
                <a:latin typeface="Georgia"/>
                <a:ea typeface="Georgia"/>
                <a:cs typeface="Georgia"/>
                <a:sym typeface="Georgia"/>
              </a:rPr>
              <a:t> and text-video retrieval [CITE]) rather than our complicated retrieval task.</a:t>
            </a:r>
            <a:endParaRPr sz="1600">
              <a:solidFill>
                <a:srgbClr val="16213A"/>
              </a:solidFill>
              <a:latin typeface="Georgia"/>
              <a:ea typeface="Georgia"/>
              <a:cs typeface="Georgia"/>
              <a:sym typeface="Georgia"/>
            </a:endParaRPr>
          </a:p>
        </p:txBody>
      </p:sp>
      <p:sp>
        <p:nvSpPr>
          <p:cNvPr id="622" name="Google Shape;622;p73"/>
          <p:cNvSpPr txBox="1"/>
          <p:nvPr/>
        </p:nvSpPr>
        <p:spPr>
          <a:xfrm>
            <a:off x="355600" y="1676400"/>
            <a:ext cx="843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33405A"/>
                </a:solidFill>
              </a:rPr>
              <a:t>Unsupervised domain adaptation.</a:t>
            </a:r>
            <a:endParaRPr sz="900">
              <a:solidFill>
                <a:srgbClr val="33405A"/>
              </a:solidFill>
            </a:endParaRPr>
          </a:p>
          <a:p>
            <a:pPr indent="0" lvl="0" marL="0" rtl="0" algn="l">
              <a:spcBef>
                <a:spcPts val="0"/>
              </a:spcBef>
              <a:spcAft>
                <a:spcPts val="0"/>
              </a:spcAft>
              <a:buNone/>
            </a:pPr>
            <a:r>
              <a:rPr lang="en" sz="900">
                <a:solidFill>
                  <a:srgbClr val="33405A"/>
                </a:solidFill>
              </a:rPr>
              <a:t>Unsupervised domain adaptation (UDA) aims to transfer the knowledge from the label-rich source domain to the unlabelled target domain, which is called domain shift [CITE], [CITE], [CITE].</a:t>
            </a:r>
            <a:endParaRPr sz="900">
              <a:solidFill>
                <a:srgbClr val="33405A"/>
              </a:solidFill>
            </a:endParaRPr>
          </a:p>
          <a:p>
            <a:pPr indent="0" lvl="0" marL="0" rtl="0" algn="l">
              <a:spcBef>
                <a:spcPts val="0"/>
              </a:spcBef>
              <a:spcAft>
                <a:spcPts val="0"/>
              </a:spcAft>
              <a:buNone/>
            </a:pPr>
            <a:r>
              <a:rPr lang="en" sz="900">
                <a:solidFill>
                  <a:srgbClr val="33405A"/>
                </a:solidFill>
              </a:rPr>
              <a:t>This shift usually encounters some challenges: (i) the collected data are from diverse resources [CITE]; (ii) the training data in the target domain is limited [CITE]; (iii) the source and target domains have different modalities [CITE].</a:t>
            </a:r>
            <a:endParaRPr sz="900">
              <a:solidFill>
                <a:srgbClr val="33405A"/>
              </a:solidFill>
            </a:endParaRPr>
          </a:p>
          <a:p>
            <a:pPr indent="0" lvl="0" marL="0" rtl="0" algn="l">
              <a:spcBef>
                <a:spcPts val="0"/>
              </a:spcBef>
              <a:spcAft>
                <a:spcPts val="0"/>
              </a:spcAft>
              <a:buNone/>
            </a:pPr>
            <a:r>
              <a:rPr lang="en" sz="900">
                <a:solidFill>
                  <a:srgbClr val="33405A"/>
                </a:solidFill>
              </a:rPr>
              <a:t>A general solution is to align the feature distribution between the two domains. Many UDA methods align the feature distribution by minimizing the disagreement of data distribution in different domains [CITE], [CITE], or learning an adversarial domain-classifier to find domain-invariant features [CITE], [CITE].</a:t>
            </a:r>
            <a:endParaRPr sz="900">
              <a:solidFill>
                <a:srgbClr val="33405A"/>
              </a:solidFill>
            </a:endParaRPr>
          </a:p>
          <a:p>
            <a:pPr indent="0" lvl="0" marL="0" rtl="0" algn="l">
              <a:spcBef>
                <a:spcPts val="0"/>
              </a:spcBef>
              <a:spcAft>
                <a:spcPts val="0"/>
              </a:spcAft>
              <a:buNone/>
            </a:pPr>
            <a:r>
              <a:rPr lang="en" sz="900">
                <a:solidFill>
                  <a:srgbClr val="33405A"/>
                </a:solidFill>
              </a:rPr>
              <a:t>For example, for the activity recognition task, Song et al. [CITE] establish the cross-modal domain alignment via [...]</a:t>
            </a:r>
            <a:endParaRPr sz="900">
              <a:solidFill>
                <a:srgbClr val="33405A"/>
              </a:solidFill>
            </a:endParaRPr>
          </a:p>
        </p:txBody>
      </p:sp>
      <p:sp>
        <p:nvSpPr>
          <p:cNvPr id="623" name="Google Shape;623;p73"/>
          <p:cNvSpPr txBox="1"/>
          <p:nvPr/>
        </p:nvSpPr>
        <p:spPr>
          <a:xfrm>
            <a:off x="355600" y="36830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6213A"/>
                </a:solidFill>
              </a:rPr>
              <a:t>Cited: Uncertainty-Aware Unsupervised Domain Adaptation in Object Detection</a:t>
            </a:r>
            <a:endParaRPr b="1" sz="1100">
              <a:solidFill>
                <a:srgbClr val="16213A"/>
              </a:solidFill>
            </a:endParaRPr>
          </a:p>
        </p:txBody>
      </p:sp>
      <p:sp>
        <p:nvSpPr>
          <p:cNvPr id="624" name="Google Shape;624;p73"/>
          <p:cNvSpPr txBox="1"/>
          <p:nvPr/>
        </p:nvSpPr>
        <p:spPr>
          <a:xfrm>
            <a:off x="355600" y="3962400"/>
            <a:ext cx="8432700" cy="8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86274"/>
                </a:solidFill>
              </a:rPr>
              <a:t>Unsupervised domain adaptive object detection aims to adapt detectors from a</a:t>
            </a:r>
            <a:endParaRPr sz="900">
              <a:solidFill>
                <a:srgbClr val="586274"/>
              </a:solidFill>
            </a:endParaRPr>
          </a:p>
          <a:p>
            <a:pPr indent="0" lvl="0" marL="0" rtl="0" algn="l">
              <a:spcBef>
                <a:spcPts val="0"/>
              </a:spcBef>
              <a:spcAft>
                <a:spcPts val="0"/>
              </a:spcAft>
              <a:buNone/>
            </a:pPr>
            <a:r>
              <a:rPr lang="en" sz="900">
                <a:solidFill>
                  <a:srgbClr val="586274"/>
                </a:solidFill>
              </a:rPr>
              <a:t>labelled source domain to an unlabelled target domain. Most existing works take</a:t>
            </a:r>
            <a:endParaRPr sz="900">
              <a:solidFill>
                <a:srgbClr val="586274"/>
              </a:solidFill>
            </a:endParaRPr>
          </a:p>
          <a:p>
            <a:pPr indent="0" lvl="0" marL="0" rtl="0" algn="l">
              <a:spcBef>
                <a:spcPts val="0"/>
              </a:spcBef>
              <a:spcAft>
                <a:spcPts val="0"/>
              </a:spcAft>
              <a:buNone/>
            </a:pPr>
            <a:r>
              <a:rPr lang="en" sz="900">
                <a:solidFill>
                  <a:srgbClr val="586274"/>
                </a:solidFill>
              </a:rPr>
              <a:t>a two-stage strategy that first generates region proposals and then detects</a:t>
            </a:r>
            <a:endParaRPr sz="900">
              <a:solidFill>
                <a:srgbClr val="586274"/>
              </a:solidFill>
            </a:endParaRPr>
          </a:p>
          <a:p>
            <a:pPr indent="0" lvl="0" marL="0" rtl="0" algn="l">
              <a:spcBef>
                <a:spcPts val="0"/>
              </a:spcBef>
              <a:spcAft>
                <a:spcPts val="0"/>
              </a:spcAft>
              <a:buNone/>
            </a:pPr>
            <a:r>
              <a:rPr lang="en" sz="900">
                <a:solidFill>
                  <a:srgbClr val="586274"/>
                </a:solidFill>
              </a:rPr>
              <a:t>objects of interest, where adversarial learning is widely adopted to mitigate</a:t>
            </a:r>
            <a:endParaRPr sz="900">
              <a:solidFill>
                <a:srgbClr val="586274"/>
              </a:solidFill>
            </a:endParaRPr>
          </a:p>
          <a:p>
            <a:pPr indent="0" lvl="0" marL="0" rtl="0" algn="l">
              <a:spcBef>
                <a:spcPts val="0"/>
              </a:spcBef>
              <a:spcAft>
                <a:spcPts val="0"/>
              </a:spcAft>
              <a:buNone/>
            </a:pPr>
            <a:r>
              <a:rPr lang="en" sz="900">
                <a:solidFill>
                  <a:srgbClr val="586274"/>
                </a:solidFill>
              </a:rPr>
              <a:t>the inter-domain discrepancy in both stages. However, adversarial learning may</a:t>
            </a:r>
            <a:endParaRPr sz="900">
              <a:solidFill>
                <a:srgbClr val="586274"/>
              </a:solidFill>
            </a:endParaRPr>
          </a:p>
          <a:p>
            <a:pPr indent="0" lvl="0" marL="0" rtl="0" algn="l">
              <a:spcBef>
                <a:spcPts val="0"/>
              </a:spcBef>
              <a:spcAft>
                <a:spcPts val="0"/>
              </a:spcAft>
              <a:buNone/>
            </a:pPr>
            <a:r>
              <a:rPr lang="en" sz="900">
                <a:solidFill>
                  <a:srgbClr val="586274"/>
                </a:solidFill>
              </a:rPr>
              <a:t>impair the alignment of [...]</a:t>
            </a:r>
            <a:endParaRPr sz="900">
              <a:solidFill>
                <a:srgbClr val="586274"/>
              </a:solidFill>
            </a:endParaRPr>
          </a:p>
        </p:txBody>
      </p:sp>
      <p:sp>
        <p:nvSpPr>
          <p:cNvPr id="625" name="Google Shape;625;p73"/>
          <p:cNvSpPr txBox="1"/>
          <p:nvPr/>
        </p:nvSpPr>
        <p:spPr>
          <a:xfrm>
            <a:off x="355600" y="4826000"/>
            <a:ext cx="84327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8A93A3"/>
                </a:solidFill>
              </a:rPr>
              <a:t>Rules: slide 2 · "Rules" tab of the voting Sheet</a:t>
            </a:r>
            <a:endParaRPr sz="800">
              <a:solidFill>
                <a:srgbClr val="8A93A3"/>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74"/>
          <p:cNvSpPr txBox="1"/>
          <p:nvPr/>
        </p:nvSpPr>
        <p:spPr>
          <a:xfrm>
            <a:off x="355600" y="152400"/>
            <a:ext cx="8432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586274"/>
                </a:solidFill>
              </a:rPr>
              <a:t>C30  ·  answer</a:t>
            </a:r>
            <a:endParaRPr b="1" sz="1100">
              <a:solidFill>
                <a:srgbClr val="586274"/>
              </a:solidFill>
            </a:endParaRPr>
          </a:p>
        </p:txBody>
      </p:sp>
      <p:sp>
        <p:nvSpPr>
          <p:cNvPr id="631" name="Google Shape;631;p74"/>
          <p:cNvSpPr txBox="1"/>
          <p:nvPr/>
        </p:nvSpPr>
        <p:spPr>
          <a:xfrm>
            <a:off x="355600" y="508000"/>
            <a:ext cx="84327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33405A"/>
                </a:solidFill>
                <a:latin typeface="Georgia"/>
                <a:ea typeface="Georgia"/>
                <a:cs typeface="Georgia"/>
                <a:sym typeface="Georgia"/>
              </a:rPr>
              <a:t>However, these methods cannot apply to our cross-domain VMR task because (i) most UDA methods only align the unimodal features, while we need to align the multi-modal features (both queries and videos); (ii) many UDA methods aim to tackle classification-based tasks (e.g., activity recognition [CITE], [CITE], [CITE], object detection </a:t>
            </a:r>
            <a:r>
              <a:rPr b="1" lang="en" sz="1300">
                <a:solidFill>
                  <a:srgbClr val="6B3A06"/>
                </a:solidFill>
                <a:highlight>
                  <a:srgbClr val="FCE7C8"/>
                </a:highlight>
                <a:latin typeface="Georgia"/>
                <a:ea typeface="Georgia"/>
                <a:cs typeface="Georgia"/>
                <a:sym typeface="Georgia"/>
              </a:rPr>
              <a:t>[[TARGET]]</a:t>
            </a:r>
            <a:r>
              <a:rPr lang="en" sz="1300">
                <a:solidFill>
                  <a:srgbClr val="33405A"/>
                </a:solidFill>
                <a:latin typeface="Georgia"/>
                <a:ea typeface="Georgia"/>
                <a:cs typeface="Georgia"/>
                <a:sym typeface="Georgia"/>
              </a:rPr>
              <a:t> and text-video retrieval [CITE]) rather than our complicated retrieval task.</a:t>
            </a:r>
            <a:endParaRPr sz="1300">
              <a:solidFill>
                <a:srgbClr val="33405A"/>
              </a:solidFill>
              <a:latin typeface="Georgia"/>
              <a:ea typeface="Georgia"/>
              <a:cs typeface="Georgia"/>
              <a:sym typeface="Georgia"/>
            </a:endParaRPr>
          </a:p>
        </p:txBody>
      </p:sp>
      <p:sp>
        <p:nvSpPr>
          <p:cNvPr id="632" name="Google Shape;632;p74"/>
          <p:cNvSpPr txBox="1"/>
          <p:nvPr/>
        </p:nvSpPr>
        <p:spPr>
          <a:xfrm>
            <a:off x="355600" y="1778000"/>
            <a:ext cx="84327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1F7A4D"/>
                </a:solidFill>
                <a:latin typeface="Georgia"/>
                <a:ea typeface="Georgia"/>
                <a:cs typeface="Georgia"/>
                <a:sym typeface="Georgia"/>
              </a:rPr>
              <a:t>Gap</a:t>
            </a:r>
            <a:endParaRPr b="1" sz="2800">
              <a:solidFill>
                <a:srgbClr val="1F7A4D"/>
              </a:solidFill>
              <a:latin typeface="Georgia"/>
              <a:ea typeface="Georgia"/>
              <a:cs typeface="Georgia"/>
              <a:sym typeface="Georgia"/>
            </a:endParaRPr>
          </a:p>
        </p:txBody>
      </p:sp>
      <p:sp>
        <p:nvSpPr>
          <p:cNvPr id="633" name="Google Shape;633;p74"/>
          <p:cNvSpPr txBox="1"/>
          <p:nvPr/>
        </p:nvSpPr>
        <p:spPr>
          <a:xfrm>
            <a:off x="355600" y="2336800"/>
            <a:ext cx="8432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86274"/>
                </a:solidFill>
              </a:rPr>
              <a:t>Also acceptable: Background</a:t>
            </a:r>
            <a:endParaRPr>
              <a:solidFill>
                <a:srgbClr val="586274"/>
              </a:solidFill>
            </a:endParaRPr>
          </a:p>
        </p:txBody>
      </p:sp>
      <p:sp>
        <p:nvSpPr>
          <p:cNvPr id="634" name="Google Shape;634;p74"/>
          <p:cNvSpPr txBox="1"/>
          <p:nvPr/>
        </p:nvSpPr>
        <p:spPr>
          <a:xfrm>
            <a:off x="355600" y="2794000"/>
            <a:ext cx="8432700" cy="15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6213A"/>
                </a:solidFill>
              </a:rPr>
              <a:t>R-GAP: The limitation ('cannot apply to our … task') is stated about the UDA methods the target is listed among (holder): Gap.</a:t>
            </a:r>
            <a:endParaRPr>
              <a:solidFill>
                <a:srgbClr val="16213A"/>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