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12192000"/>
  <p:embeddedFontLst>
    <p:embeddedFont>
      <p:font typeface="IBM Plex Sans"/>
      <p:regular r:id="rId21"/>
      <p:bold r:id="rId22"/>
      <p:italic r:id="rId23"/>
      <p:boldItalic r:id="rId24"/>
    </p:embeddedFont>
    <p:embeddedFont>
      <p:font typeface="Source Serif 4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9" roundtripDataSignature="AMtx7mi/0LTJUza/vTYEcpzB68Xjsl+0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972D739-7D8E-44E2-B83B-F6AA39F61B1E}">
  <a:tblStyle styleId="{5972D739-7D8E-44E2-B83B-F6AA39F61B1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IBMPlexSans-bold.fntdata"/><Relationship Id="rId21" Type="http://schemas.openxmlformats.org/officeDocument/2006/relationships/font" Target="fonts/IBMPlexSans-regular.fntdata"/><Relationship Id="rId24" Type="http://schemas.openxmlformats.org/officeDocument/2006/relationships/font" Target="fonts/IBMPlexSans-boldItalic.fntdata"/><Relationship Id="rId23" Type="http://schemas.openxmlformats.org/officeDocument/2006/relationships/font" Target="fonts/IBMPlexSans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SourceSerif4-bold.fntdata"/><Relationship Id="rId25" Type="http://schemas.openxmlformats.org/officeDocument/2006/relationships/font" Target="fonts/SourceSerif4-regular.fntdata"/><Relationship Id="rId28" Type="http://schemas.openxmlformats.org/officeDocument/2006/relationships/font" Target="fonts/SourceSerif4-boldItalic.fntdata"/><Relationship Id="rId27" Type="http://schemas.openxmlformats.org/officeDocument/2006/relationships/font" Target="fonts/SourceSerif4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Purpose: share the calibration results and today's prompt tests, and get the green light to build the production notebook and run the full re-judge with prompt v11.1.</a:t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Three findings: the calibration suggests we applied the rules unevenly, with the caveat that the answer key was only partly reviewed by a person; the chunks stay in the prompt, but removing them or raising the judges' awareness of them barely changes the labels; so we keep v11.1 and ask for the go-ahead on the production run.</a:t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Selection: drawn by a2_calibration.py from the frozen trio's high-confidence labels, eval60 citing papers excluded; their citing papers are now excluded from both A3 test sets. 6_JGAC stepped away during C17–C19, so he has 27 votes.</a:t>
            </a:r>
            <a:endParaRPr/>
          </a:p>
        </p:txBody>
      </p:sp>
      <p:sp>
        <p:nvSpPr>
          <p:cNvPr id="44" name="Google Shape;44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" name="Google Shape;65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Strict = vote equals the key. The second column also counts the key's pre-set 'also acceptable' answer. Fleiss κ is built from pairs of raters, so it estimates what a typical pair would reach; seven people do not lower it. The 0.6 target is between annotators, not against the key, so leniency does not change it. 6_JGAC stepped away during three citations (C17–C19); his scores are on the 27 he voted. Caveat for every column: the key was drafted by Claude and only the 5 flagged items were reviewed by a person (Ale kept the rest unseen so she could vote blind), so agreement with the key partly measures agreement with that reading of the rules. Fleiss κ does not use the key.</a:t>
            </a:r>
            <a:endParaRPr/>
          </a:p>
        </p:txBody>
      </p:sp>
      <p:sp>
        <p:nvSpPr>
          <p:cNvPr id="66" name="Google Shape;66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" name="Google Shape;80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Both numbers measure pairs of people: on eval60 each team's label came from one member, so κ 0.63 is one person against another; the calibration's Fleiss κ 0.47 matches the average of its 21 pairs. So the drop is not caused by having seven raters. Likely causes, strongest first: (1) the rules were new. eval60 was labelled under guide rev1.4; the calibration asked us to apply rules rev1.1 (R0, R-EV, R-GAP, R-IM, R-CMP, R-FR), written the day before from eval60's hard cases, and our misses sit on exactly those rules. (2) A harder mix: calib30 was built with at least 3 per category, so Basis, Improvement/Modification, Originator and Gap weigh as much as Background; eval60 was about a third Background. The calib30 items were high-confidence for the judges, which would make them easier, so the mix and the new rules outweigh that. (3) The setting: alone and at our own pace for eval60, a live 2.5-hour session with reveals for the calibration (no drop between halves, though). (4) Thirty items is small; κ moves by about ±0.1 from sampling alone.</a:t>
            </a:r>
            <a:endParaRPr/>
          </a:p>
        </p:txBody>
      </p:sp>
      <p:sp>
        <p:nvSpPr>
          <p:cNvPr id="81" name="Google Shape;81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six items where the team majority differed from the key each map to one rule (R-IM, R-EV, R-GAP, R-CMP, Originator). Two caveats keep this a working hypothesis: the key was drafted by Claude against the rules and Ale reviewed only the 5 items Claude flagged as uncertain, so that she could still vote blind in the session; on the other items the key is one reading, not a gold standard; and these boundaries are genuinely hard: the judges disagree there too, and 11 of 30 items allow a second answer (C18’s Comparison is one). Either way, the practical step is the same: worked examples for these boundaries in guide rev2, then a short second calibration.</a:t>
            </a:r>
            <a:endParaRPr/>
          </a:p>
        </p:txBody>
      </p:sp>
      <p:sp>
        <p:nvSpPr>
          <p:cNvPr id="93" name="Google Shape;93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Workload: 9 categories × 2,000 instances = 18,000; 15% = 2,700, double-annotated = 5,400 judgments, shared by 8 people across both teams = 675 each. At 5 minutes that is about 56 hours each. Seeing the pre-label and working alone should bring it near 1 minute and also raise agreement. A short second calibration after guide rev2 checks that pairs reach 0.6 before A3 starts.</a:t>
            </a:r>
            <a:endParaRPr/>
          </a:p>
        </p:txBody>
      </p:sp>
      <p:sp>
        <p:nvSpPr>
          <p:cNvPr id="108" name="Google Shape;108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" name="Google Shape;130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calibration was a blind, nine-way choice made as a group; A3 will be confirm-or-correct, alone, after guide rev2. Items 1 to 3 change the conditions; item 4 checks the result before we commit the A3 effort. Scoring for item 4 can reuse the Agreement tab: Cohen κ per pair, and Fleiss κ across everyone.</a:t>
            </a:r>
            <a:endParaRPr/>
          </a:p>
        </p:txBody>
      </p:sp>
      <p:sp>
        <p:nvSpPr>
          <p:cNvPr id="131" name="Google Shape;131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Decision 1 is the setup validated on eval60 and the pool checks on 13 October; nothing in today's tests beat it. Decision 2 protects the guide, the calibration material and the agreement between groups 14 and 15 from another round of rule changes. Decision 5: the team has said dates can move.</a:t>
            </a:r>
            <a:endParaRPr/>
          </a:p>
        </p:txBody>
      </p:sp>
      <p:sp>
        <p:nvSpPr>
          <p:cNvPr id="154" name="Google Shape;154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7" name="Google Shape;177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Step 3 covers pool_cue_eg, pool_cue_cmp, pool_cue_rare and pilot_random_1500 (about 21,500 instances), plus random single citations if we add them; pool_cue_yield is already judged with v11.1. A speed option for step 3: skip the third judge when the first two agree; labels are identical by construction and it saves about 1.5–2 h, at the cost of unanimity counts. The supply estimates are rough projections from the v11.1 runs on the 900-instance cue sample and the 285 random instances; step 4 replaces them with real counts. A second calibration passes when pairs of annotators reach κ 0.6.</a:t>
            </a:r>
            <a:endParaRPr/>
          </a:p>
        </p:txBody>
      </p:sp>
      <p:sp>
        <p:nvSpPr>
          <p:cNvPr id="178" name="Google Shape;178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9" name="Google Shape;189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Pinned revisions: Qwen3.8-27B 1d4bf0f2ff, gemma-4-26B-A4B-it 4d7ae4984b, Mistral-Small-3.2-24B 95a6d26c4b (prefixes; full hashes in the run manifests). Worth recording them in the guide and the data contract between groups 14 and 15.</a:t>
            </a:r>
            <a:endParaRPr/>
          </a:p>
        </p:txBody>
      </p:sp>
      <p:sp>
        <p:nvSpPr>
          <p:cNvPr id="190" name="Google Shape;190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1" name="Google Shape;211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is the frozen production prompt, unchanged by today's tests. The chunks are a required input, with title and abstract optional; we include all of them. The prompt still calls them "passages" and heads the block "Cited paper (for verification only)"; renaming to "chunks" and softening the heading waits for a future version, because any wording change is a new prompt version that needs revalidation. The two tests that follow ask how much the judges actually draw on this block.</a:t>
            </a:r>
            <a:endParaRPr/>
          </a:p>
        </p:txBody>
      </p:sp>
      <p:sp>
        <p:nvSpPr>
          <p:cNvPr id="212" name="Google Shape;212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9" name="Google Shape;239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Batches: eval60 and pool_cue_yield (cue strata Comparison, Evidence, Gap). The 45-flip reading was a quick, non-blind pass. The one consistent pattern where chunks helped: the cited paper REPORTS a limitation (Evidence) versus HAS it (Gap), about 4 instances in 885. That motivated test 2, prompt v12.</a:t>
            </a:r>
            <a:endParaRPr/>
          </a:p>
        </p:txBody>
      </p:sp>
      <p:sp>
        <p:nvSpPr>
          <p:cNvPr id="240" name="Google Shape;240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8" name="Google Shape;258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three criteria had to pass and were written down before the run. The two eval60 items that broke: E26 (Evidence turned into Gap, the known problem-statement risk) and E12 (Further Reading turned into a tie). Same judges and the same pinned weights as v11.1. A v12.1 that fixes those two would mean tuning on eval60 again; past rewrites moved errors around rather than removing them, so we stop here.</a:t>
            </a:r>
            <a:endParaRPr/>
          </a:p>
        </p:txBody>
      </p:sp>
      <p:sp>
        <p:nvSpPr>
          <p:cNvPr id="259" name="Google Shape;259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3" name="Google Shape;273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chunks stay in the production prompt (v11.1), as the director asked. Two tests, one answer: without chunks, or with the judges' awareness of them raised (v12), the LLM labels do not change in any net way. The chunks still have a role: a human annotator can check whether the cited paper reports a limitation or has it. Because the pre-labels do not depend on the chunks, the A4 config B comparison is not biased by how the labels were made.</a:t>
            </a:r>
            <a:endParaRPr/>
          </a:p>
        </p:txBody>
      </p:sp>
      <p:sp>
        <p:nvSpPr>
          <p:cNvPr id="274" name="Google Shape;274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bg>
      <p:bgPr>
        <a:solidFill>
          <a:srgbClr val="F6F4EF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7"/>
          <p:cNvSpPr txBox="1"/>
          <p:nvPr>
            <p:ph type="title"/>
          </p:nvPr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2536"/>
              </a:buClr>
              <a:buSzPts val="3200"/>
              <a:buFont typeface="Source Serif 4"/>
              <a:buNone/>
              <a:defRPr sz="3200">
                <a:solidFill>
                  <a:srgbClr val="1C2536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" name="Google Shape;10;p17"/>
          <p:cNvSpPr txBox="1"/>
          <p:nvPr>
            <p:ph idx="1" type="body"/>
          </p:nvPr>
        </p:nvSpPr>
        <p:spPr>
          <a:xfrm>
            <a:off x="812800" y="1899841"/>
            <a:ext cx="10566400" cy="4145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1C2536"/>
              </a:buClr>
              <a:buSzPts val="1600"/>
              <a:buNone/>
              <a:defRPr sz="1600">
                <a:solidFill>
                  <a:srgbClr val="1C2536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2536"/>
              </a:buClr>
              <a:buSzPts val="3200"/>
              <a:buFont typeface="Source Serif 4"/>
              <a:buNone/>
              <a:defRPr b="0" i="0" sz="3200" u="none" cap="none" strike="noStrike">
                <a:solidFill>
                  <a:srgbClr val="1C2536"/>
                </a:solidFill>
                <a:latin typeface="Source Serif 4"/>
                <a:ea typeface="Source Serif 4"/>
                <a:cs typeface="Source Serif 4"/>
                <a:sym typeface="Source Serif 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812800" y="1899841"/>
            <a:ext cx="10566400" cy="4145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1C2536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1C2536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ocs.google.com/spreadsheets/d/1izAHI28Drk1s7nHq3LG31BIipadNz1b5/edit?usp=drive_link&amp;ouid=116572594382678564040&amp;rtpof=true&amp;sd=true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2536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"/>
          <p:cNvSpPr/>
          <p:nvPr/>
        </p:nvSpPr>
        <p:spPr>
          <a:xfrm>
            <a:off x="812800" y="812800"/>
            <a:ext cx="10883392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DB8DE"/>
              </a:buClr>
              <a:buSzPts val="1500"/>
              <a:buFont typeface="IBM Plex Sans"/>
              <a:buNone/>
            </a:pPr>
            <a:r>
              <a:rPr b="1" i="0" lang="en-US" sz="1500" u="none" cap="none" strike="noStrike">
                <a:solidFill>
                  <a:srgbClr val="9DB8DE"/>
                </a:solidFill>
                <a:latin typeface="IBM Plex Sans"/>
                <a:ea typeface="IBM Plex Sans"/>
                <a:cs typeface="IBM Plex Sans"/>
                <a:sym typeface="IBM Plex Sans"/>
              </a:rPr>
              <a:t>A2 · LLM-JUDGE PRE-LABELING</a:t>
            </a:r>
            <a:endParaRPr b="0" i="0" sz="15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" name="Google Shape;18;p1"/>
          <p:cNvSpPr txBox="1"/>
          <p:nvPr>
            <p:ph type="title"/>
          </p:nvPr>
        </p:nvSpPr>
        <p:spPr>
          <a:xfrm>
            <a:off x="812800" y="2275880"/>
            <a:ext cx="10883392" cy="1366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6F4EF"/>
              </a:buClr>
              <a:buSzPts val="4800"/>
              <a:buFont typeface="Source Serif 4"/>
              <a:buNone/>
            </a:pPr>
            <a:r>
              <a:rPr b="1" i="0" lang="en-US" sz="4800">
                <a:solidFill>
                  <a:srgbClr val="F6F4E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Calibration results and the prompt decision</a:t>
            </a:r>
            <a:endParaRPr sz="4800"/>
          </a:p>
        </p:txBody>
      </p:sp>
      <p:sp>
        <p:nvSpPr>
          <p:cNvPr id="19" name="Google Shape;19;p1"/>
          <p:cNvSpPr/>
          <p:nvPr/>
        </p:nvSpPr>
        <p:spPr>
          <a:xfrm>
            <a:off x="812800" y="3870920"/>
            <a:ext cx="10883392" cy="7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D3E0"/>
              </a:buClr>
              <a:buSzPts val="2000"/>
              <a:buFont typeface="IBM Plex Sans"/>
              <a:buNone/>
            </a:pPr>
            <a:r>
              <a:rPr b="0" i="0" lang="en-US" sz="2000" u="none" cap="none" strike="noStrike">
                <a:solidFill>
                  <a:srgbClr val="C9D3E0"/>
                </a:solidFill>
                <a:latin typeface="IBM Plex Sans"/>
                <a:ea typeface="IBM Plex Sans"/>
                <a:cs typeface="IBM Plex Sans"/>
                <a:sym typeface="IBM Plex Sans"/>
              </a:rPr>
              <a:t>What the calibration showed, what we need to start the production re-judge, </a:t>
            </a:r>
            <a:endParaRPr b="0" i="0" sz="2000" u="none" cap="none" strike="noStrike">
              <a:solidFill>
                <a:srgbClr val="C9D3E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D3E0"/>
              </a:buClr>
              <a:buSzPts val="2000"/>
              <a:buFont typeface="IBM Plex Sans"/>
              <a:buNone/>
            </a:pPr>
            <a:r>
              <a:rPr b="0" i="0" lang="en-US" sz="2000" u="none" cap="none" strike="noStrike">
                <a:solidFill>
                  <a:srgbClr val="C9D3E0"/>
                </a:solidFill>
                <a:latin typeface="IBM Plex Sans"/>
                <a:ea typeface="IBM Plex Sans"/>
                <a:cs typeface="IBM Plex Sans"/>
                <a:sym typeface="IBM Plex Sans"/>
              </a:rPr>
              <a:t>and</a:t>
            </a:r>
            <a:r>
              <a:rPr lang="en-US" sz="2000">
                <a:solidFill>
                  <a:srgbClr val="C9D3E0"/>
                </a:solidFill>
                <a:latin typeface="IBM Plex Sans"/>
                <a:ea typeface="IBM Plex Sans"/>
                <a:cs typeface="IBM Plex Sans"/>
                <a:sym typeface="IBM Plex Sans"/>
              </a:rPr>
              <a:t>… </a:t>
            </a:r>
            <a:r>
              <a:rPr b="0" i="0" lang="en-US" sz="2000" u="none" cap="none" strike="noStrike">
                <a:solidFill>
                  <a:srgbClr val="C9D3E0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US" sz="2000">
                <a:solidFill>
                  <a:schemeClr val="accent5"/>
                </a:solidFill>
                <a:latin typeface="IBM Plex Sans"/>
                <a:ea typeface="IBM Plex Sans"/>
                <a:cs typeface="IBM Plex Sans"/>
                <a:sym typeface="IBM Plex Sans"/>
              </a:rPr>
              <a:t>what the chunk tests showed</a:t>
            </a:r>
            <a:endParaRPr b="0" i="0" sz="20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12800" y="5778500"/>
            <a:ext cx="10883392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DB8DE"/>
              </a:buClr>
              <a:buSzPts val="1500"/>
              <a:buFont typeface="IBM Plex Sans"/>
              <a:buNone/>
            </a:pPr>
            <a:r>
              <a:rPr b="0" i="0" lang="en-US" sz="1500" u="none" cap="none" strike="noStrike">
                <a:solidFill>
                  <a:srgbClr val="9DB8DE"/>
                </a:solidFill>
                <a:latin typeface="IBM Plex Sans"/>
                <a:ea typeface="IBM Plex Sans"/>
                <a:cs typeface="IBM Plex Sans"/>
                <a:sym typeface="IBM Plex Sans"/>
              </a:rPr>
              <a:t>Groups 14 and 15 · extended team · 14 October 2026</a:t>
            </a:r>
            <a:endParaRPr b="0" i="0" sz="15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C5E9E"/>
              </a:buClr>
              <a:buSzPts val="1200"/>
              <a:buFont typeface="IBM Plex Sans"/>
              <a:buNone/>
            </a:pPr>
            <a:r>
              <a:rPr b="1" lang="en-US" sz="1200">
                <a:solidFill>
                  <a:srgbClr val="2C5E9E"/>
                </a:solidFill>
                <a:latin typeface="IBM Plex Sans"/>
                <a:ea typeface="IBM Plex Sans"/>
                <a:cs typeface="IBM Plex Sans"/>
                <a:sym typeface="IBM Plex Sans"/>
              </a:rPr>
              <a:t>IN ONE SLIDE</a:t>
            </a:r>
            <a:endParaRPr sz="1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7" name="Google Shape;27;p2"/>
          <p:cNvSpPr txBox="1"/>
          <p:nvPr>
            <p:ph type="title"/>
          </p:nvPr>
        </p:nvSpPr>
        <p:spPr>
          <a:xfrm>
            <a:off x="812800" y="1127720"/>
            <a:ext cx="10883392" cy="49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2536"/>
              </a:buClr>
              <a:buSzPts val="3200"/>
              <a:buFont typeface="Source Serif 4"/>
              <a:buNone/>
            </a:pPr>
            <a:r>
              <a:rPr b="1" i="0" lang="en-US" sz="3200">
                <a:solidFill>
                  <a:srgbClr val="1C2536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Three findings, one request</a:t>
            </a:r>
            <a:endParaRPr sz="3200"/>
          </a:p>
        </p:txBody>
      </p:sp>
      <p:sp>
        <p:nvSpPr>
          <p:cNvPr id="28" name="Google Shape;28;p2"/>
          <p:cNvSpPr/>
          <p:nvPr/>
        </p:nvSpPr>
        <p:spPr>
          <a:xfrm>
            <a:off x="815975" y="1903016"/>
            <a:ext cx="3380284" cy="3935809"/>
          </a:xfrm>
          <a:prstGeom prst="roundRect">
            <a:avLst>
              <a:gd fmla="val 2912" name="adj"/>
            </a:avLst>
          </a:prstGeom>
          <a:solidFill>
            <a:srgbClr val="FFFDF9"/>
          </a:solidFill>
          <a:ln cap="flat" cmpd="sng" w="9525">
            <a:solidFill>
              <a:srgbClr val="DCD8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1073150" y="2160191"/>
            <a:ext cx="295191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C5E9E"/>
              </a:buClr>
              <a:buSzPts val="1200"/>
              <a:buFont typeface="IBM Plex Sans"/>
              <a:buNone/>
            </a:pPr>
            <a:r>
              <a:rPr b="1" lang="en-US" sz="1200">
                <a:solidFill>
                  <a:srgbClr val="2C5E9E"/>
                </a:solidFill>
                <a:latin typeface="IBM Plex Sans"/>
                <a:ea typeface="IBM Plex Sans"/>
                <a:cs typeface="IBM Plex Sans"/>
                <a:sym typeface="IBM Plex Sans"/>
              </a:rPr>
              <a:t>1 · CALIBRATION</a:t>
            </a:r>
            <a:endParaRPr sz="1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1073150" y="2500511"/>
            <a:ext cx="295191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2536"/>
              </a:buClr>
              <a:buSzPts val="2000"/>
              <a:buFont typeface="Source Serif 4"/>
              <a:buNone/>
            </a:pPr>
            <a:r>
              <a:rPr b="1" lang="en-US" sz="2000">
                <a:solidFill>
                  <a:srgbClr val="1C2536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Our answers split on rule boundaries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1073150" y="3237111"/>
            <a:ext cx="2951912" cy="10564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400"/>
              <a:buFont typeface="IBM Plex Sans"/>
              <a:buNone/>
            </a:pPr>
            <a:r>
              <a:rPr lang="en-US" sz="1400">
                <a:solidFill>
                  <a:srgbClr val="4A5363"/>
                </a:solidFill>
                <a:latin typeface="IBM Plex Sans"/>
                <a:ea typeface="IBM Plex Sans"/>
                <a:cs typeface="IBM Plex Sans"/>
                <a:sym typeface="IBM Plex Sans"/>
              </a:rPr>
              <a:t>Team agreement κ 0.47, below the 0.6 target. Most misses fall on known boundaries, which points to guide rev2 and practice.</a:t>
            </a:r>
            <a:endParaRPr sz="1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405809" y="1903016"/>
            <a:ext cx="3380383" cy="3935809"/>
          </a:xfrm>
          <a:prstGeom prst="roundRect">
            <a:avLst>
              <a:gd fmla="val 2912" name="adj"/>
            </a:avLst>
          </a:prstGeom>
          <a:solidFill>
            <a:srgbClr val="FFFDF9"/>
          </a:solidFill>
          <a:ln cap="flat" cmpd="sng" w="9525">
            <a:solidFill>
              <a:srgbClr val="DCD8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662984" y="2160191"/>
            <a:ext cx="2952014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C5E9E"/>
              </a:buClr>
              <a:buSzPts val="1200"/>
              <a:buFont typeface="IBM Plex Sans"/>
              <a:buNone/>
            </a:pPr>
            <a:r>
              <a:rPr b="1" lang="en-US" sz="1200">
                <a:solidFill>
                  <a:srgbClr val="2C5E9E"/>
                </a:solidFill>
                <a:latin typeface="IBM Plex Sans"/>
                <a:ea typeface="IBM Plex Sans"/>
                <a:cs typeface="IBM Plex Sans"/>
                <a:sym typeface="IBM Plex Sans"/>
              </a:rPr>
              <a:t>2 · CHUNKS</a:t>
            </a:r>
            <a:endParaRPr sz="1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662984" y="2500511"/>
            <a:ext cx="2952014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2536"/>
              </a:buClr>
              <a:buSzPts val="2000"/>
              <a:buFont typeface="Source Serif 4"/>
              <a:buNone/>
            </a:pPr>
            <a:r>
              <a:rPr b="1" lang="en-US" sz="2000">
                <a:solidFill>
                  <a:srgbClr val="1C2536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The chunks stay; the judges lean on the citing text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662984" y="3541911"/>
            <a:ext cx="2952014" cy="10564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400"/>
              <a:buFont typeface="IBM Plex Sans"/>
              <a:buNone/>
            </a:pPr>
            <a:r>
              <a:rPr lang="en-US" sz="1400">
                <a:solidFill>
                  <a:srgbClr val="4A5363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Top-3 chunks stay in the prompt. Removing them, or raising the judges’ awareness of them (v12), barely changes the labels.</a:t>
            </a:r>
            <a:endParaRPr sz="1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7995741" y="1903016"/>
            <a:ext cx="3380284" cy="3935809"/>
          </a:xfrm>
          <a:prstGeom prst="roundRect">
            <a:avLst>
              <a:gd fmla="val 2912" name="adj"/>
            </a:avLst>
          </a:prstGeom>
          <a:solidFill>
            <a:srgbClr val="1C2536"/>
          </a:solidFill>
          <a:ln cap="flat" cmpd="sng" w="9525">
            <a:solidFill>
              <a:srgbClr val="1C25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8252916" y="2160191"/>
            <a:ext cx="295191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DB8DE"/>
              </a:buClr>
              <a:buSzPts val="1200"/>
              <a:buFont typeface="IBM Plex Sans"/>
              <a:buNone/>
            </a:pPr>
            <a:r>
              <a:rPr b="1" lang="en-US" sz="1200">
                <a:solidFill>
                  <a:srgbClr val="9DB8DE"/>
                </a:solidFill>
                <a:latin typeface="IBM Plex Sans"/>
                <a:ea typeface="IBM Plex Sans"/>
                <a:cs typeface="IBM Plex Sans"/>
                <a:sym typeface="IBM Plex Sans"/>
              </a:rPr>
              <a:t>3 · REQUEST</a:t>
            </a:r>
            <a:endParaRPr sz="1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8252916" y="2500511"/>
            <a:ext cx="2951912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6F4EF"/>
              </a:buClr>
              <a:buSzPts val="2000"/>
              <a:buFont typeface="Source Serif 4"/>
              <a:buNone/>
            </a:pPr>
            <a:r>
              <a:rPr b="1" lang="en-US" sz="2000">
                <a:solidFill>
                  <a:srgbClr val="F6F4E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Green light for production</a:t>
            </a:r>
            <a:endParaRPr sz="20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8252916" y="3237111"/>
            <a:ext cx="2951912" cy="1314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9D3E0"/>
              </a:buClr>
              <a:buSzPts val="1400"/>
              <a:buFont typeface="IBM Plex Sans"/>
              <a:buNone/>
            </a:pPr>
            <a:r>
              <a:rPr lang="en-US" sz="1400">
                <a:solidFill>
                  <a:srgbClr val="C9D3E0"/>
                </a:solidFill>
                <a:latin typeface="IBM Plex Sans"/>
                <a:ea typeface="IBM Plex Sans"/>
                <a:cs typeface="IBM Plex Sans"/>
                <a:sym typeface="IBM Plex Sans"/>
              </a:rPr>
              <a:t>Build the production notebook and re-judge the full pool with the frozen setup: prompt v11.1, Qwen3.8 + Gemma 4 + Mistral Small, pinned weights.</a:t>
            </a:r>
            <a:endParaRPr sz="1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A7280"/>
              </a:buClr>
              <a:buSzPts val="1200"/>
              <a:buFont typeface="IBM Plex Sans"/>
              <a:buNone/>
            </a:pPr>
            <a:r>
              <a:rPr lang="en-US" sz="1200">
                <a:solidFill>
                  <a:srgbClr val="6A7280"/>
                </a:solidFill>
                <a:latin typeface="IBM Plex Sans"/>
                <a:ea typeface="IBM Plex Sans"/>
                <a:cs typeface="IBM Plex Sans"/>
                <a:sym typeface="IBM Plex Sans"/>
              </a:rPr>
              <a:t>A2 · calibration and prompt review · 2</a:t>
            </a:r>
            <a:endParaRPr sz="1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F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C5E9E"/>
              </a:buClr>
              <a:buSzPts val="1200"/>
              <a:buFont typeface="IBM Plex Sans"/>
              <a:buNone/>
            </a:pPr>
            <a:r>
              <a:rPr b="1" lang="en-US" sz="1200">
                <a:solidFill>
                  <a:srgbClr val="2C5E9E"/>
                </a:solidFill>
                <a:latin typeface="IBM Plex Sans"/>
                <a:ea typeface="IBM Plex Sans"/>
                <a:cs typeface="IBM Plex Sans"/>
                <a:sym typeface="IBM Plex Sans"/>
              </a:rPr>
              <a:t>CALIBRATION · WHAT WE DID</a:t>
            </a:r>
            <a:endParaRPr sz="1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7" name="Google Shape;47;p3"/>
          <p:cNvSpPr txBox="1"/>
          <p:nvPr>
            <p:ph type="title"/>
          </p:nvPr>
        </p:nvSpPr>
        <p:spPr>
          <a:xfrm>
            <a:off x="812800" y="1127720"/>
            <a:ext cx="10883392" cy="49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2536"/>
              </a:buClr>
              <a:buSzPts val="3200"/>
              <a:buFont typeface="Source Serif 4"/>
              <a:buNone/>
            </a:pPr>
            <a:r>
              <a:rPr b="1" i="0" lang="en-US" sz="3200">
                <a:solidFill>
                  <a:srgbClr val="1C2536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30 citations, seven voters, one long evening</a:t>
            </a:r>
            <a:endParaRPr sz="3200"/>
          </a:p>
        </p:txBody>
      </p:sp>
      <p:cxnSp>
        <p:nvCxnSpPr>
          <p:cNvPr id="48" name="Google Shape;48;p3"/>
          <p:cNvCxnSpPr/>
          <p:nvPr/>
        </p:nvCxnSpPr>
        <p:spPr>
          <a:xfrm>
            <a:off x="812800" y="1963341"/>
            <a:ext cx="2489200" cy="0"/>
          </a:xfrm>
          <a:prstGeom prst="straightConnector1">
            <a:avLst/>
          </a:prstGeom>
          <a:noFill/>
          <a:ln cap="flat" cmpd="sng" w="25400">
            <a:solidFill>
              <a:srgbClr val="2C5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3"/>
          <p:cNvSpPr/>
          <p:nvPr/>
        </p:nvSpPr>
        <p:spPr>
          <a:xfrm>
            <a:off x="812800" y="2128441"/>
            <a:ext cx="2563876" cy="69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C2536"/>
              </a:buClr>
              <a:buSzPts val="4800"/>
              <a:buFont typeface="Source Serif 4"/>
              <a:buNone/>
            </a:pPr>
            <a:r>
              <a:rPr b="1" lang="en-US" sz="4800">
                <a:solidFill>
                  <a:srgbClr val="1C2536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30</a:t>
            </a:r>
            <a:endParaRPr sz="4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812800" y="2849761"/>
            <a:ext cx="2563876" cy="523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400"/>
              <a:buFont typeface="IBM Plex Sans"/>
              <a:buNone/>
            </a:pPr>
            <a:r>
              <a:rPr lang="en-US" sz="1400">
                <a:solidFill>
                  <a:srgbClr val="4A5363"/>
                </a:solidFill>
                <a:latin typeface="IBM Plex Sans"/>
                <a:ea typeface="IBM Plex Sans"/>
                <a:cs typeface="IBM Plex Sans"/>
                <a:sym typeface="IBM Plex Sans"/>
              </a:rPr>
              <a:t>citations, ≥ 3 per category, ≤ 1 per citing paper</a:t>
            </a:r>
            <a:endParaRPr sz="1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51" name="Google Shape;51;p3"/>
          <p:cNvCxnSpPr/>
          <p:nvPr/>
        </p:nvCxnSpPr>
        <p:spPr>
          <a:xfrm>
            <a:off x="3505200" y="1963341"/>
            <a:ext cx="2489200" cy="0"/>
          </a:xfrm>
          <a:prstGeom prst="straightConnector1">
            <a:avLst/>
          </a:prstGeom>
          <a:noFill/>
          <a:ln cap="flat" cmpd="sng" w="25400">
            <a:solidFill>
              <a:srgbClr val="2C5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" name="Google Shape;52;p3"/>
          <p:cNvSpPr/>
          <p:nvPr/>
        </p:nvSpPr>
        <p:spPr>
          <a:xfrm>
            <a:off x="3505200" y="2128441"/>
            <a:ext cx="2563876" cy="69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C2536"/>
              </a:buClr>
              <a:buSzPts val="4800"/>
              <a:buFont typeface="Source Serif 4"/>
              <a:buNone/>
            </a:pPr>
            <a:r>
              <a:rPr b="1" lang="en-US" sz="4800">
                <a:solidFill>
                  <a:srgbClr val="1C2536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7</a:t>
            </a:r>
            <a:endParaRPr sz="4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3505200" y="2849761"/>
            <a:ext cx="2563876" cy="523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400"/>
              <a:buFont typeface="IBM Plex Sans"/>
              <a:buNone/>
            </a:pPr>
            <a:r>
              <a:rPr lang="en-US" sz="1400">
                <a:solidFill>
                  <a:srgbClr val="4A5363"/>
                </a:solidFill>
                <a:latin typeface="IBM Plex Sans"/>
                <a:ea typeface="IBM Plex Sans"/>
                <a:cs typeface="IBM Plex Sans"/>
                <a:sym typeface="IBM Plex Sans"/>
              </a:rPr>
              <a:t>people voted </a:t>
            </a:r>
            <a:endParaRPr sz="1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54" name="Google Shape;54;p3"/>
          <p:cNvCxnSpPr/>
          <p:nvPr/>
        </p:nvCxnSpPr>
        <p:spPr>
          <a:xfrm>
            <a:off x="6197600" y="1963341"/>
            <a:ext cx="2489200" cy="0"/>
          </a:xfrm>
          <a:prstGeom prst="straightConnector1">
            <a:avLst/>
          </a:prstGeom>
          <a:noFill/>
          <a:ln cap="flat" cmpd="sng" w="25400">
            <a:solidFill>
              <a:srgbClr val="2C5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" name="Google Shape;55;p3"/>
          <p:cNvSpPr/>
          <p:nvPr/>
        </p:nvSpPr>
        <p:spPr>
          <a:xfrm>
            <a:off x="6197600" y="2128441"/>
            <a:ext cx="2563876" cy="69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C2536"/>
              </a:buClr>
              <a:buSzPts val="4800"/>
              <a:buFont typeface="Source Serif 4"/>
              <a:buNone/>
            </a:pPr>
            <a:r>
              <a:rPr b="1" lang="en-US" sz="4800">
                <a:solidFill>
                  <a:srgbClr val="1C2536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2.5 h</a:t>
            </a:r>
            <a:endParaRPr sz="4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6197600" y="2849761"/>
            <a:ext cx="2563876" cy="523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400"/>
              <a:buFont typeface="IBM Plex Sans"/>
              <a:buNone/>
            </a:pPr>
            <a:r>
              <a:rPr lang="en-US" sz="1400">
                <a:solidFill>
                  <a:srgbClr val="4A5363"/>
                </a:solidFill>
                <a:latin typeface="IBM Plex Sans"/>
                <a:ea typeface="IBM Plex Sans"/>
                <a:cs typeface="IBM Plex Sans"/>
                <a:sym typeface="IBM Plex Sans"/>
              </a:rPr>
              <a:t>about 5 minutes per citation, as a group</a:t>
            </a:r>
            <a:endParaRPr sz="1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57" name="Google Shape;57;p3"/>
          <p:cNvCxnSpPr/>
          <p:nvPr/>
        </p:nvCxnSpPr>
        <p:spPr>
          <a:xfrm>
            <a:off x="8890000" y="1963341"/>
            <a:ext cx="2489200" cy="0"/>
          </a:xfrm>
          <a:prstGeom prst="straightConnector1">
            <a:avLst/>
          </a:prstGeom>
          <a:noFill/>
          <a:ln cap="flat" cmpd="sng" w="25400">
            <a:solidFill>
              <a:srgbClr val="2C5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3"/>
          <p:cNvSpPr/>
          <p:nvPr/>
        </p:nvSpPr>
        <p:spPr>
          <a:xfrm>
            <a:off x="8890000" y="2128441"/>
            <a:ext cx="2563876" cy="69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C2536"/>
              </a:buClr>
              <a:buSzPts val="4800"/>
              <a:buFont typeface="Source Serif 4"/>
              <a:buNone/>
            </a:pPr>
            <a:r>
              <a:rPr b="1" lang="en-US" sz="4800">
                <a:solidFill>
                  <a:srgbClr val="1C2536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24/30</a:t>
            </a:r>
            <a:endParaRPr sz="4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8890000" y="2849761"/>
            <a:ext cx="2563876" cy="523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400"/>
              <a:buFont typeface="IBM Plex Sans"/>
              <a:buNone/>
            </a:pPr>
            <a:r>
              <a:rPr lang="en-US" sz="1400">
                <a:solidFill>
                  <a:srgbClr val="4A5363"/>
                </a:solidFill>
                <a:latin typeface="IBM Plex Sans"/>
                <a:ea typeface="IBM Plex Sans"/>
                <a:cs typeface="IBM Plex Sans"/>
                <a:sym typeface="IBM Plex Sans"/>
              </a:rPr>
              <a:t>team-majority vote matched the answer key</a:t>
            </a:r>
            <a:endParaRPr sz="1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812800" y="3703042"/>
            <a:ext cx="10883392" cy="854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500"/>
              <a:buFont typeface="IBM Plex Sans"/>
              <a:buNone/>
            </a:pPr>
            <a:r>
              <a:rPr lang="en-US" sz="1500">
                <a:solidFill>
                  <a:srgbClr val="4A5363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citations were high-confidence labels from the frozen trio. Claude drafted the answer key against the rules; Ale reviewed only the 5 items it flagged, so she could still vote blind in the session. 11 of the 30 items allow a second acceptable answer.</a:t>
            </a:r>
            <a:endParaRPr sz="15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812800" y="4633317"/>
            <a:ext cx="10883392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500"/>
              <a:buFont typeface="IBM Plex Sans"/>
              <a:buNone/>
            </a:pPr>
            <a:r>
              <a:rPr lang="en-US" sz="1500">
                <a:solidFill>
                  <a:srgbClr val="4A5363"/>
                </a:solidFill>
                <a:latin typeface="IBM Plex Sans"/>
                <a:ea typeface="IBM Plex Sans"/>
                <a:cs typeface="IBM Plex Sans"/>
                <a:sym typeface="IBM Plex Sans"/>
              </a:rPr>
              <a:t>In practice we read the citing paragraph, sometimes the cited title or abstract, and almost never the three chunks.</a:t>
            </a:r>
            <a:endParaRPr sz="15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A7280"/>
              </a:buClr>
              <a:buSzPts val="1200"/>
              <a:buFont typeface="IBM Plex Sans"/>
              <a:buNone/>
            </a:pPr>
            <a:r>
              <a:rPr lang="en-US" sz="1200">
                <a:solidFill>
                  <a:srgbClr val="6A7280"/>
                </a:solidFill>
                <a:latin typeface="IBM Plex Sans"/>
                <a:ea typeface="IBM Plex Sans"/>
                <a:cs typeface="IBM Plex Sans"/>
                <a:sym typeface="IBM Plex Sans"/>
              </a:rPr>
              <a:t>A2 · calibration and prompt review · 3</a:t>
            </a:r>
            <a:endParaRPr sz="1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C5E9E"/>
              </a:buClr>
              <a:buSzPts val="1200"/>
              <a:buFont typeface="IBM Plex Sans"/>
              <a:buNone/>
            </a:pPr>
            <a:r>
              <a:rPr b="1" lang="en-US" sz="1200">
                <a:solidFill>
                  <a:srgbClr val="2C5E9E"/>
                </a:solidFill>
                <a:latin typeface="IBM Plex Sans"/>
                <a:ea typeface="IBM Plex Sans"/>
                <a:cs typeface="IBM Plex Sans"/>
                <a:sym typeface="IBM Plex Sans"/>
              </a:rPr>
              <a:t>CALIBRATION · SCORES</a:t>
            </a:r>
            <a:endParaRPr sz="1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9" name="Google Shape;69;p4"/>
          <p:cNvSpPr txBox="1"/>
          <p:nvPr>
            <p:ph type="title"/>
          </p:nvPr>
        </p:nvSpPr>
        <p:spPr>
          <a:xfrm>
            <a:off x="812800" y="1127720"/>
            <a:ext cx="11379200" cy="49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2536"/>
              </a:buClr>
              <a:buSzPts val="3200"/>
              <a:buFont typeface="Source Serif 4"/>
              <a:buNone/>
            </a:pPr>
            <a:r>
              <a:rPr b="1" i="0" lang="en-US" sz="3200">
                <a:solidFill>
                  <a:srgbClr val="1C2536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Most of us agree with the key about two times in three</a:t>
            </a:r>
            <a:endParaRPr sz="3200"/>
          </a:p>
        </p:txBody>
      </p:sp>
      <p:graphicFrame>
        <p:nvGraphicFramePr>
          <p:cNvPr id="70" name="Google Shape;70;p4"/>
          <p:cNvGraphicFramePr/>
          <p:nvPr/>
        </p:nvGraphicFramePr>
        <p:xfrm>
          <a:off x="825500" y="18617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{5972D739-7D8E-44E2-B83B-F6AA39F61B1E}</a:tableStyleId>
              </a:tblPr>
              <a:tblGrid>
                <a:gridCol w="1520825"/>
                <a:gridCol w="1520825"/>
                <a:gridCol w="1520825"/>
                <a:gridCol w="1520825"/>
              </a:tblGrid>
              <a:tr h="590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Person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Strict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Incl. also-acceptable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Cohen κ vs key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2DD"/>
                    </a:solidFill>
                  </a:tcPr>
                </a:tc>
              </a:tr>
              <a:tr h="35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1_ABC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63%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77%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0.59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3_FL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67%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87%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0.63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1"/>
                    </a:solidFill>
                  </a:tcPr>
                </a:tc>
              </a:tr>
              <a:tr h="35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4_GR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73%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77%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0.70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5_JA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53%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60%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0.48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1"/>
                    </a:solidFill>
                  </a:tcPr>
                </a:tc>
              </a:tr>
              <a:tr h="590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6_JGAC (away for 3)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93%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96%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0.92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7_RAB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57%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67%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0.52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1"/>
                    </a:solidFill>
                  </a:tcPr>
                </a:tc>
              </a:tr>
              <a:tr h="35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8_ST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50%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60%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0.44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1" name="Google Shape;71;p4"/>
          <p:cNvSpPr/>
          <p:nvPr/>
        </p:nvSpPr>
        <p:spPr>
          <a:xfrm>
            <a:off x="7315200" y="1849041"/>
            <a:ext cx="4064000" cy="1622921"/>
          </a:xfrm>
          <a:prstGeom prst="roundRect">
            <a:avLst>
              <a:gd fmla="val 6260" name="adj"/>
            </a:avLst>
          </a:prstGeom>
          <a:solidFill>
            <a:srgbClr val="1C253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7518400" y="2052241"/>
            <a:ext cx="3767328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DB8DE"/>
              </a:buClr>
              <a:buSzPts val="1200"/>
              <a:buFont typeface="IBM Plex Sans"/>
              <a:buNone/>
            </a:pPr>
            <a:r>
              <a:rPr b="1" lang="en-US" sz="1200">
                <a:solidFill>
                  <a:srgbClr val="9DB8DE"/>
                </a:solidFill>
                <a:latin typeface="IBM Plex Sans"/>
                <a:ea typeface="IBM Plex Sans"/>
                <a:cs typeface="IBM Plex Sans"/>
                <a:sym typeface="IBM Plex Sans"/>
              </a:rPr>
              <a:t>AGREEMENT AMONG US</a:t>
            </a:r>
            <a:endParaRPr sz="1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7518400" y="2316361"/>
            <a:ext cx="3767328" cy="69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6F4EF"/>
              </a:buClr>
              <a:buSzPts val="4800"/>
              <a:buFont typeface="Source Serif 4"/>
              <a:buNone/>
            </a:pPr>
            <a:r>
              <a:rPr b="1" lang="en-US" sz="4800">
                <a:solidFill>
                  <a:srgbClr val="F6F4E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κ 0.47</a:t>
            </a:r>
            <a:endParaRPr sz="4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7518400" y="3037681"/>
            <a:ext cx="3767328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D3E0"/>
              </a:buClr>
              <a:buSzPts val="1300"/>
              <a:buFont typeface="IBM Plex Sans"/>
              <a:buNone/>
            </a:pPr>
            <a:r>
              <a:rPr lang="en-US" sz="1300">
                <a:solidFill>
                  <a:srgbClr val="C9D3E0"/>
                </a:solidFill>
                <a:latin typeface="IBM Plex Sans"/>
                <a:ea typeface="IBM Plex Sans"/>
                <a:cs typeface="IBM Plex Sans"/>
                <a:sym typeface="IBM Plex Sans"/>
              </a:rPr>
              <a:t>Fleiss, 7 voters. Target in the proposal: 0.6</a:t>
            </a:r>
            <a:endParaRPr sz="13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7315200" y="3675162"/>
            <a:ext cx="4185920" cy="504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300"/>
              <a:buFont typeface="IBM Plex Sans"/>
              <a:buNone/>
            </a:pPr>
            <a:r>
              <a:rPr lang="en-US" sz="1300">
                <a:solidFill>
                  <a:srgbClr val="4A5363"/>
                </a:solidFill>
                <a:latin typeface="IBM Plex Sans"/>
                <a:ea typeface="IBM Plex Sans"/>
                <a:cs typeface="IBM Plex Sans"/>
                <a:sym typeface="IBM Plex Sans"/>
              </a:rPr>
              <a:t>First half 0.42, second half 0.51: no sign of fatigue in the scores.</a:t>
            </a:r>
            <a:endParaRPr sz="13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7315200" y="4356993"/>
            <a:ext cx="4185920" cy="2647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300"/>
              <a:buFont typeface="IBM Plex Sans"/>
              <a:buNone/>
            </a:pPr>
            <a:r>
              <a:rPr lang="en-US" sz="1300">
                <a:solidFill>
                  <a:srgbClr val="4A5363"/>
                </a:solidFill>
                <a:latin typeface="IBM Plex Sans"/>
                <a:ea typeface="IBM Plex Sans"/>
                <a:cs typeface="IBM Plex Sans"/>
                <a:sym typeface="IBM Plex Sans"/>
              </a:rPr>
              <a:t>Only 3 of the 21 possible pairs of us reach 0.6.</a:t>
            </a:r>
            <a:endParaRPr sz="13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A7280"/>
              </a:buClr>
              <a:buSzPts val="1200"/>
              <a:buFont typeface="IBM Plex Sans"/>
              <a:buNone/>
            </a:pPr>
            <a:r>
              <a:rPr lang="en-US" sz="1200">
                <a:solidFill>
                  <a:srgbClr val="6A7280"/>
                </a:solidFill>
                <a:latin typeface="IBM Plex Sans"/>
                <a:ea typeface="IBM Plex Sans"/>
                <a:cs typeface="IBM Plex Sans"/>
                <a:sym typeface="IBM Plex Sans"/>
              </a:rPr>
              <a:t>A2 · calibration and prompt review · 4 · formulas in the Agreement tab of </a:t>
            </a:r>
            <a:r>
              <a:rPr lang="en-US" sz="1200" u="sng">
                <a:solidFill>
                  <a:schemeClr val="hlink"/>
                </a:solidFill>
                <a:latin typeface="IBM Plex Sans"/>
                <a:ea typeface="IBM Plex Sans"/>
                <a:cs typeface="IBM Plex Sans"/>
                <a:sym typeface="IBM Plex Sans"/>
                <a:hlinkClick r:id="rId3"/>
              </a:rPr>
              <a:t>A3_calibration_votes_agreement.xlsx</a:t>
            </a:r>
            <a:endParaRPr sz="1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F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C5E9E"/>
              </a:buClr>
              <a:buSzPts val="1200"/>
              <a:buFont typeface="IBM Plex Sans"/>
              <a:buNone/>
            </a:pPr>
            <a:r>
              <a:rPr b="1" lang="en-US" sz="1200">
                <a:solidFill>
                  <a:srgbClr val="2C5E9E"/>
                </a:solidFill>
                <a:latin typeface="IBM Plex Sans"/>
                <a:ea typeface="IBM Plex Sans"/>
                <a:cs typeface="IBM Plex Sans"/>
                <a:sym typeface="IBM Plex Sans"/>
              </a:rPr>
              <a:t>CALIBRATION · EVAL60 VS CALIB30</a:t>
            </a:r>
            <a:endParaRPr sz="1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4" name="Google Shape;84;p5"/>
          <p:cNvSpPr txBox="1"/>
          <p:nvPr>
            <p:ph type="title"/>
          </p:nvPr>
        </p:nvSpPr>
        <p:spPr>
          <a:xfrm>
            <a:off x="812800" y="1127720"/>
            <a:ext cx="10883392" cy="49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2536"/>
              </a:buClr>
              <a:buSzPts val="3200"/>
              <a:buFont typeface="Source Serif 4"/>
              <a:buNone/>
            </a:pPr>
            <a:r>
              <a:rPr b="1" i="0" lang="en-US" sz="3200">
                <a:solidFill>
                  <a:srgbClr val="1C2536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Why κ fell from 0.63 to 0.47</a:t>
            </a:r>
            <a:endParaRPr sz="3200"/>
          </a:p>
        </p:txBody>
      </p:sp>
      <p:graphicFrame>
        <p:nvGraphicFramePr>
          <p:cNvPr id="85" name="Google Shape;85;p5"/>
          <p:cNvGraphicFramePr/>
          <p:nvPr/>
        </p:nvGraphicFramePr>
        <p:xfrm>
          <a:off x="825500" y="18617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{5972D739-7D8E-44E2-B83B-F6AA39F61B1E}</a:tableStyleId>
              </a:tblPr>
              <a:tblGrid>
                <a:gridCol w="1688600"/>
                <a:gridCol w="4432550"/>
                <a:gridCol w="4432550"/>
              </a:tblGrid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IBM Plex Sans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eval60 (κ 0.63)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Calibration (κ 0.47)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2DD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Rules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Guide rev1.4; the new rules did not exist yet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Rules rev1.1, one day old, summarised on one slide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Items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60 items, about a third Background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Balanced: ≥ 3 per category, so rare boundaries weigh as much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1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Setting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Alone, at our own pace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Live group, about 5 minutes each, answer revealed after each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Measure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Cohen κ, one label per team per item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Fleiss κ over 7; pairs average 0.47 (0.32 to 0.66)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1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Sample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60 items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30 items: κ uncertain by roughly ± 0.1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86" name="Google Shape;86;p5"/>
          <p:cNvCxnSpPr/>
          <p:nvPr/>
        </p:nvCxnSpPr>
        <p:spPr>
          <a:xfrm>
            <a:off x="825500" y="4111228"/>
            <a:ext cx="0" cy="530721"/>
          </a:xfrm>
          <a:prstGeom prst="straightConnector1">
            <a:avLst/>
          </a:prstGeom>
          <a:noFill/>
          <a:ln cap="flat" cmpd="sng" w="25400">
            <a:solidFill>
              <a:srgbClr val="2C5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" name="Google Shape;87;p5"/>
          <p:cNvSpPr/>
          <p:nvPr/>
        </p:nvSpPr>
        <p:spPr>
          <a:xfrm>
            <a:off x="990600" y="4111228"/>
            <a:ext cx="10700258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536"/>
              </a:buClr>
              <a:buSzPts val="1400"/>
              <a:buFont typeface="IBM Plex Sans"/>
              <a:buNone/>
            </a:pPr>
            <a:r>
              <a:rPr b="1" lang="en-US" sz="1400">
                <a:solidFill>
                  <a:srgbClr val="1C2536"/>
                </a:solidFill>
                <a:latin typeface="IBM Plex Sans"/>
                <a:ea typeface="IBM Plex Sans"/>
                <a:cs typeface="IBM Plex Sans"/>
                <a:sym typeface="IBM Plex Sans"/>
              </a:rPr>
              <a:t>Most likely: new rules not yet internalised, on a deliberately harder mix</a:t>
            </a:r>
            <a:endParaRPr sz="1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990600" y="4410869"/>
            <a:ext cx="10700258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300"/>
              <a:buFont typeface="IBM Plex Sans"/>
              <a:buNone/>
            </a:pPr>
            <a:r>
              <a:rPr lang="en-US" sz="1300">
                <a:solidFill>
                  <a:srgbClr val="4A5363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drop is real but not alarming. Both causes are what guide rev2 and practice address; part of the gap may be sampling noise.</a:t>
            </a:r>
            <a:endParaRPr sz="13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A7280"/>
              </a:buClr>
              <a:buSzPts val="1200"/>
              <a:buFont typeface="IBM Plex Sans"/>
              <a:buNone/>
            </a:pPr>
            <a:r>
              <a:rPr lang="en-US" sz="1200">
                <a:solidFill>
                  <a:srgbClr val="6A7280"/>
                </a:solidFill>
                <a:latin typeface="IBM Plex Sans"/>
                <a:ea typeface="IBM Plex Sans"/>
                <a:cs typeface="IBM Plex Sans"/>
                <a:sym typeface="IBM Plex Sans"/>
              </a:rPr>
              <a:t>A2 · calibration and prompt review · 5</a:t>
            </a:r>
            <a:endParaRPr sz="1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C5E9E"/>
              </a:buClr>
              <a:buSzPts val="1200"/>
              <a:buFont typeface="IBM Plex Sans"/>
              <a:buNone/>
            </a:pPr>
            <a:r>
              <a:rPr b="1" lang="en-US" sz="1200">
                <a:solidFill>
                  <a:srgbClr val="2C5E9E"/>
                </a:solidFill>
                <a:latin typeface="IBM Plex Sans"/>
                <a:ea typeface="IBM Plex Sans"/>
                <a:cs typeface="IBM Plex Sans"/>
                <a:sym typeface="IBM Plex Sans"/>
              </a:rPr>
              <a:t>CALIBRATION · A FIRST READING</a:t>
            </a:r>
            <a:endParaRPr sz="1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6" name="Google Shape;96;p6"/>
          <p:cNvSpPr txBox="1"/>
          <p:nvPr>
            <p:ph type="title"/>
          </p:nvPr>
        </p:nvSpPr>
        <p:spPr>
          <a:xfrm>
            <a:off x="812800" y="1127720"/>
            <a:ext cx="10883392" cy="49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2536"/>
              </a:buClr>
              <a:buSzPts val="3200"/>
              <a:buFont typeface="Source Serif 4"/>
              <a:buNone/>
            </a:pPr>
            <a:r>
              <a:rPr b="1" i="0" lang="en-US" sz="3200">
                <a:solidFill>
                  <a:srgbClr val="1C2536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Most misses sit on rule boundaries</a:t>
            </a:r>
            <a:endParaRPr sz="3200"/>
          </a:p>
        </p:txBody>
      </p:sp>
      <p:graphicFrame>
        <p:nvGraphicFramePr>
          <p:cNvPr id="97" name="Google Shape;97;p6"/>
          <p:cNvGraphicFramePr/>
          <p:nvPr/>
        </p:nvGraphicFramePr>
        <p:xfrm>
          <a:off x="825500" y="18617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{5972D739-7D8E-44E2-B83B-F6AA39F61B1E}</a:tableStyleId>
              </a:tblPr>
              <a:tblGrid>
                <a:gridCol w="844300"/>
                <a:gridCol w="2321825"/>
                <a:gridCol w="2321825"/>
                <a:gridCol w="5065775"/>
              </a:tblGrid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Item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Answer key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Our majority vote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200"/>
                        <a:buFont typeface="IBM Plex San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The rule the key applies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2DD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C05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Improvement/Modification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Application (4 of 7)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R-IM: “via generalizing NeRF” extends the target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C10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Evidence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Comparison (3 of 7)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R-EV: the listed works are the source of the claim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1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C12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Background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Gap 3 · Background 3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R-GAP: the gap is the field’s, not the works’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C16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Background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Comparison (3 of 7)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R-CMP: one member of a family contrasted as a whole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1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C18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Originator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Comparison (5 of 6)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Originator: credited with proposing a new kind of attack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C30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Gap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Gap 3 · Background 3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200"/>
                        <a:buFont typeface="IBM Plex Sans"/>
                        <a:buNone/>
                      </a:pPr>
                      <a:r>
                        <a:rPr lang="en-US" sz="12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R-GAP: the limitation is stated about the listed works</a:t>
                      </a:r>
                      <a:endParaRPr sz="12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1"/>
                    </a:solidFill>
                  </a:tcPr>
                </a:tc>
              </a:tr>
            </a:tbl>
          </a:graphicData>
        </a:graphic>
      </p:graphicFrame>
      <p:cxnSp>
        <p:nvCxnSpPr>
          <p:cNvPr id="98" name="Google Shape;98;p6"/>
          <p:cNvCxnSpPr/>
          <p:nvPr/>
        </p:nvCxnSpPr>
        <p:spPr>
          <a:xfrm>
            <a:off x="825500" y="4443809"/>
            <a:ext cx="0" cy="992882"/>
          </a:xfrm>
          <a:prstGeom prst="straightConnector1">
            <a:avLst/>
          </a:prstGeom>
          <a:noFill/>
          <a:ln cap="flat" cmpd="sng" w="25400">
            <a:solidFill>
              <a:srgbClr val="2C5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p6"/>
          <p:cNvSpPr/>
          <p:nvPr/>
        </p:nvSpPr>
        <p:spPr>
          <a:xfrm>
            <a:off x="990600" y="4443809"/>
            <a:ext cx="5153914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536"/>
              </a:buClr>
              <a:buSzPts val="1400"/>
              <a:buFont typeface="IBM Plex Sans"/>
              <a:buNone/>
            </a:pPr>
            <a:r>
              <a:rPr b="1" lang="en-US" sz="1400">
                <a:solidFill>
                  <a:srgbClr val="1C2536"/>
                </a:solidFill>
                <a:latin typeface="IBM Plex Sans"/>
                <a:ea typeface="IBM Plex Sans"/>
                <a:cs typeface="IBM Plex Sans"/>
                <a:sym typeface="IBM Plex Sans"/>
              </a:rPr>
              <a:t>Two patterns</a:t>
            </a:r>
            <a:endParaRPr sz="1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990600" y="4743450"/>
            <a:ext cx="5153914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300"/>
              <a:buFont typeface="IBM Plex Sans"/>
              <a:buNone/>
            </a:pPr>
            <a:r>
              <a:rPr lang="en-US" sz="1300">
                <a:solidFill>
                  <a:srgbClr val="4A5363"/>
                </a:solidFill>
                <a:latin typeface="IBM Plex Sans"/>
                <a:ea typeface="IBM Plex Sans"/>
                <a:cs typeface="IBM Plex Sans"/>
                <a:sym typeface="IBM Plex Sans"/>
              </a:rPr>
              <a:t>Background was right only 38% of the time. 16 votes swapped Gap, Evidence and Background.</a:t>
            </a:r>
            <a:endParaRPr sz="13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01" name="Google Shape;101;p6"/>
          <p:cNvCxnSpPr/>
          <p:nvPr/>
        </p:nvCxnSpPr>
        <p:spPr>
          <a:xfrm>
            <a:off x="6210300" y="4443809"/>
            <a:ext cx="0" cy="992882"/>
          </a:xfrm>
          <a:prstGeom prst="straightConnector1">
            <a:avLst/>
          </a:prstGeom>
          <a:noFill/>
          <a:ln cap="flat" cmpd="sng" w="25400">
            <a:solidFill>
              <a:srgbClr val="A95A1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6"/>
          <p:cNvSpPr/>
          <p:nvPr/>
        </p:nvSpPr>
        <p:spPr>
          <a:xfrm>
            <a:off x="6375400" y="4443809"/>
            <a:ext cx="5153914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536"/>
              </a:buClr>
              <a:buSzPts val="1400"/>
              <a:buFont typeface="IBM Plex Sans"/>
              <a:buNone/>
            </a:pPr>
            <a:r>
              <a:rPr b="1" lang="en-US" sz="1400">
                <a:solidFill>
                  <a:srgbClr val="1C2536"/>
                </a:solidFill>
                <a:latin typeface="IBM Plex Sans"/>
                <a:ea typeface="IBM Plex Sans"/>
                <a:cs typeface="IBM Plex Sans"/>
                <a:sym typeface="IBM Plex Sans"/>
              </a:rPr>
              <a:t>Caveats</a:t>
            </a:r>
            <a:endParaRPr sz="1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6375400" y="4743450"/>
            <a:ext cx="5153914" cy="718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300"/>
              <a:buFont typeface="IBM Plex Sans"/>
              <a:buNone/>
            </a:pPr>
            <a:r>
              <a:rPr lang="en-US" sz="1300">
                <a:solidFill>
                  <a:srgbClr val="4A5363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key was drafted by Claude; only its 5 flagged items were reviewed. These boundaries are hard: 11 items allow a second answer.</a:t>
            </a:r>
            <a:endParaRPr sz="13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A7280"/>
              </a:buClr>
              <a:buSzPts val="1200"/>
              <a:buFont typeface="IBM Plex Sans"/>
              <a:buNone/>
            </a:pPr>
            <a:r>
              <a:rPr lang="en-US" sz="1200">
                <a:solidFill>
                  <a:srgbClr val="6A7280"/>
                </a:solidFill>
                <a:latin typeface="IBM Plex Sans"/>
                <a:ea typeface="IBM Plex Sans"/>
                <a:cs typeface="IBM Plex Sans"/>
                <a:sym typeface="IBM Plex Sans"/>
              </a:rPr>
              <a:t>A2 · calibration and prompt review · 6</a:t>
            </a:r>
            <a:endParaRPr sz="1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EF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C5E9E"/>
              </a:buClr>
              <a:buSzPts val="1200"/>
              <a:buFont typeface="IBM Plex Sans"/>
              <a:buNone/>
            </a:pPr>
            <a:r>
              <a:rPr b="1" lang="en-US" sz="1200">
                <a:solidFill>
                  <a:srgbClr val="2C5E9E"/>
                </a:solidFill>
                <a:latin typeface="IBM Plex Sans"/>
                <a:ea typeface="IBM Plex Sans"/>
                <a:cs typeface="IBM Plex Sans"/>
                <a:sym typeface="IBM Plex Sans"/>
              </a:rPr>
              <a:t>CALIBRATION · WHAT IT MEANS FOR A3</a:t>
            </a:r>
            <a:endParaRPr sz="1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1" name="Google Shape;111;p7"/>
          <p:cNvSpPr txBox="1"/>
          <p:nvPr>
            <p:ph type="title"/>
          </p:nvPr>
        </p:nvSpPr>
        <p:spPr>
          <a:xfrm>
            <a:off x="812800" y="1127720"/>
            <a:ext cx="10883392" cy="49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2536"/>
              </a:buClr>
              <a:buSzPts val="3200"/>
              <a:buFont typeface="Source Serif 4"/>
              <a:buNone/>
            </a:pPr>
            <a:r>
              <a:rPr b="1" i="0" lang="en-US" sz="3200">
                <a:solidFill>
                  <a:srgbClr val="1C2536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A3 cannot run the way the calibration did</a:t>
            </a:r>
            <a:endParaRPr sz="3200"/>
          </a:p>
        </p:txBody>
      </p:sp>
      <p:sp>
        <p:nvSpPr>
          <p:cNvPr id="112" name="Google Shape;112;p7"/>
          <p:cNvSpPr/>
          <p:nvPr/>
        </p:nvSpPr>
        <p:spPr>
          <a:xfrm>
            <a:off x="812800" y="1899841"/>
            <a:ext cx="5435600" cy="3942159"/>
          </a:xfrm>
          <a:prstGeom prst="roundRect">
            <a:avLst>
              <a:gd fmla="val 2577" name="adj"/>
            </a:avLst>
          </a:prstGeom>
          <a:solidFill>
            <a:srgbClr val="1C253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1117600" y="2204641"/>
            <a:ext cx="497078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DB8DE"/>
              </a:buClr>
              <a:buSzPts val="1200"/>
              <a:buFont typeface="IBM Plex Sans"/>
              <a:buNone/>
            </a:pPr>
            <a:r>
              <a:rPr b="1" lang="en-US" sz="1200">
                <a:solidFill>
                  <a:srgbClr val="9DB8DE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WORKLOAD</a:t>
            </a:r>
            <a:endParaRPr sz="1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1117600" y="2570361"/>
            <a:ext cx="4970780" cy="69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6F4EF"/>
              </a:buClr>
              <a:buSzPts val="4800"/>
              <a:buFont typeface="Source Serif 4"/>
              <a:buNone/>
            </a:pPr>
            <a:r>
              <a:rPr b="1" lang="en-US" sz="4800">
                <a:solidFill>
                  <a:srgbClr val="F6F4E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≈ 5,400</a:t>
            </a:r>
            <a:endParaRPr sz="4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1117600" y="3393281"/>
            <a:ext cx="4970780" cy="577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9D3E0"/>
              </a:buClr>
              <a:buSzPts val="1500"/>
              <a:buFont typeface="IBM Plex Sans"/>
              <a:buNone/>
            </a:pPr>
            <a:r>
              <a:rPr lang="en-US" sz="1500">
                <a:solidFill>
                  <a:srgbClr val="C9D3E0"/>
                </a:solidFill>
                <a:latin typeface="IBM Plex Sans"/>
                <a:ea typeface="IBM Plex Sans"/>
                <a:cs typeface="IBM Plex Sans"/>
                <a:sym typeface="IBM Plex Sans"/>
              </a:rPr>
              <a:t>judgments: 15% of 9 × 2,000 instances, each annotated twice.</a:t>
            </a:r>
            <a:endParaRPr sz="15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1117600" y="4098131"/>
            <a:ext cx="4970780" cy="577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C9D3E0"/>
              </a:buClr>
              <a:buSzPts val="1500"/>
              <a:buFont typeface="IBM Plex Sans"/>
              <a:buNone/>
            </a:pPr>
            <a:r>
              <a:rPr lang="en-US" sz="1500">
                <a:solidFill>
                  <a:srgbClr val="C9D3E0"/>
                </a:solidFill>
                <a:latin typeface="IBM Plex Sans"/>
                <a:ea typeface="IBM Plex Sans"/>
                <a:cs typeface="IBM Plex Sans"/>
                <a:sym typeface="IBM Plex Sans"/>
              </a:rPr>
              <a:t>At 5 minutes each that is about 56 hours per person across both teams. We need about 1 minute.</a:t>
            </a:r>
            <a:endParaRPr sz="15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6553200" y="1899841"/>
            <a:ext cx="497078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C5E9E"/>
              </a:buClr>
              <a:buSzPts val="1200"/>
              <a:buFont typeface="IBM Plex Sans"/>
              <a:buNone/>
            </a:pPr>
            <a:r>
              <a:rPr b="1" lang="en-US" sz="1200">
                <a:solidFill>
                  <a:srgbClr val="2C5E9E"/>
                </a:solidFill>
                <a:latin typeface="IBM Plex Sans"/>
                <a:ea typeface="IBM Plex Sans"/>
                <a:cs typeface="IBM Plex Sans"/>
                <a:sym typeface="IBM Plex Sans"/>
              </a:rPr>
              <a:t>WHAT CHANGES</a:t>
            </a:r>
            <a:endParaRPr sz="1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18" name="Google Shape;118;p7"/>
          <p:cNvCxnSpPr/>
          <p:nvPr/>
        </p:nvCxnSpPr>
        <p:spPr>
          <a:xfrm>
            <a:off x="6565900" y="2290961"/>
            <a:ext cx="0" cy="792262"/>
          </a:xfrm>
          <a:prstGeom prst="straightConnector1">
            <a:avLst/>
          </a:prstGeom>
          <a:noFill/>
          <a:ln cap="flat" cmpd="sng" w="25400">
            <a:solidFill>
              <a:srgbClr val="2C5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7"/>
          <p:cNvSpPr/>
          <p:nvPr/>
        </p:nvSpPr>
        <p:spPr>
          <a:xfrm>
            <a:off x="6731000" y="2290961"/>
            <a:ext cx="4787646" cy="269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2536"/>
              </a:buClr>
              <a:buSzPts val="1600"/>
              <a:buFont typeface="IBM Plex Sans"/>
              <a:buNone/>
            </a:pPr>
            <a:r>
              <a:rPr b="1" lang="en-US" sz="1600">
                <a:solidFill>
                  <a:srgbClr val="1C2536"/>
                </a:solidFill>
                <a:latin typeface="IBM Plex Sans"/>
                <a:ea typeface="IBM Plex Sans"/>
                <a:cs typeface="IBM Plex Sans"/>
                <a:sym typeface="IBM Plex Sans"/>
              </a:rPr>
              <a:t>Individual and asynchronous</a:t>
            </a:r>
            <a:endParaRPr sz="16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6731000" y="2585541"/>
            <a:ext cx="4787646" cy="523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400"/>
              <a:buFont typeface="IBM Plex Sans"/>
              <a:buNone/>
            </a:pPr>
            <a:r>
              <a:rPr lang="en-US" sz="1400">
                <a:solidFill>
                  <a:srgbClr val="4A5363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Confirm or correct the shown pre-label, as the proposal says.</a:t>
            </a:r>
            <a:endParaRPr sz="1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21" name="Google Shape;121;p7"/>
          <p:cNvCxnSpPr/>
          <p:nvPr/>
        </p:nvCxnSpPr>
        <p:spPr>
          <a:xfrm>
            <a:off x="6565900" y="3261023"/>
            <a:ext cx="0" cy="792262"/>
          </a:xfrm>
          <a:prstGeom prst="straightConnector1">
            <a:avLst/>
          </a:prstGeom>
          <a:noFill/>
          <a:ln cap="flat" cmpd="sng" w="25400">
            <a:solidFill>
              <a:srgbClr val="2C5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" name="Google Shape;122;p7"/>
          <p:cNvSpPr/>
          <p:nvPr/>
        </p:nvSpPr>
        <p:spPr>
          <a:xfrm>
            <a:off x="6731000" y="3261023"/>
            <a:ext cx="4787646" cy="269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2536"/>
              </a:buClr>
              <a:buSzPts val="1600"/>
              <a:buFont typeface="IBM Plex Sans"/>
              <a:buNone/>
            </a:pPr>
            <a:r>
              <a:rPr b="1" lang="en-US" sz="1600">
                <a:solidFill>
                  <a:srgbClr val="1C2536"/>
                </a:solidFill>
                <a:latin typeface="IBM Plex Sans"/>
                <a:ea typeface="IBM Plex Sans"/>
                <a:cs typeface="IBM Plex Sans"/>
                <a:sym typeface="IBM Plex Sans"/>
              </a:rPr>
              <a:t>Guide rev2 with worked examples</a:t>
            </a:r>
            <a:endParaRPr sz="16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6731000" y="3555603"/>
            <a:ext cx="4787646" cy="523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400"/>
              <a:buFont typeface="IBM Plex Sans"/>
              <a:buNone/>
            </a:pPr>
            <a:r>
              <a:rPr lang="en-US" sz="1400">
                <a:solidFill>
                  <a:srgbClr val="4A5363"/>
                </a:solidFill>
                <a:latin typeface="IBM Plex Sans"/>
                <a:ea typeface="IBM Plex Sans"/>
                <a:cs typeface="IBM Plex Sans"/>
                <a:sym typeface="IBM Plex Sans"/>
              </a:rPr>
              <a:t>On exactly the boundaries we missed: one example = Background, Gap vs Evidence, R-IM, Originator.</a:t>
            </a:r>
            <a:endParaRPr sz="1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24" name="Google Shape;124;p7"/>
          <p:cNvCxnSpPr/>
          <p:nvPr/>
        </p:nvCxnSpPr>
        <p:spPr>
          <a:xfrm>
            <a:off x="6565900" y="4231084"/>
            <a:ext cx="0" cy="792262"/>
          </a:xfrm>
          <a:prstGeom prst="straightConnector1">
            <a:avLst/>
          </a:prstGeom>
          <a:noFill/>
          <a:ln cap="flat" cmpd="sng" w="25400">
            <a:solidFill>
              <a:srgbClr val="2C5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" name="Google Shape;125;p7"/>
          <p:cNvSpPr/>
          <p:nvPr/>
        </p:nvSpPr>
        <p:spPr>
          <a:xfrm>
            <a:off x="6731000" y="4231084"/>
            <a:ext cx="4787646" cy="269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2536"/>
              </a:buClr>
              <a:buSzPts val="1600"/>
              <a:buFont typeface="IBM Plex Sans"/>
              <a:buNone/>
            </a:pPr>
            <a:r>
              <a:rPr b="1" lang="en-US" sz="1600">
                <a:solidFill>
                  <a:srgbClr val="1C2536"/>
                </a:solidFill>
                <a:latin typeface="IBM Plex Sans"/>
                <a:ea typeface="IBM Plex Sans"/>
                <a:cs typeface="IBM Plex Sans"/>
                <a:sym typeface="IBM Plex Sans"/>
              </a:rPr>
              <a:t>Chunks on demand</a:t>
            </a:r>
            <a:endParaRPr sz="16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6731000" y="4525665"/>
            <a:ext cx="4787646" cy="523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400"/>
              <a:buFont typeface="IBM Plex Sans"/>
              <a:buNone/>
            </a:pPr>
            <a:r>
              <a:rPr lang="en-US" sz="1400">
                <a:solidFill>
                  <a:srgbClr val="4A5363"/>
                </a:solidFill>
                <a:latin typeface="IBM Plex Sans"/>
                <a:ea typeface="IBM Plex Sans"/>
                <a:cs typeface="IBM Plex Sans"/>
                <a:sym typeface="IBM Plex Sans"/>
              </a:rPr>
              <a:t>Title and abstract shown; chunks one click away, mainly for Gap vs Evidence.</a:t>
            </a:r>
            <a:endParaRPr sz="1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A7280"/>
              </a:buClr>
              <a:buSzPts val="1200"/>
              <a:buFont typeface="IBM Plex Sans"/>
              <a:buNone/>
            </a:pPr>
            <a:r>
              <a:rPr lang="en-US" sz="1200">
                <a:solidFill>
                  <a:srgbClr val="6A7280"/>
                </a:solidFill>
                <a:latin typeface="IBM Plex Sans"/>
                <a:ea typeface="IBM Plex Sans"/>
                <a:cs typeface="IBM Plex Sans"/>
                <a:sym typeface="IBM Plex Sans"/>
              </a:rPr>
              <a:t>A2 · calibration and prompt review · 7</a:t>
            </a:r>
            <a:endParaRPr sz="1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C5E9E"/>
              </a:buClr>
              <a:buSzPts val="1200"/>
              <a:buFont typeface="IBM Plex Sans"/>
              <a:buNone/>
            </a:pPr>
            <a:r>
              <a:rPr b="1" lang="en-US" sz="1200">
                <a:solidFill>
                  <a:srgbClr val="2C5E9E"/>
                </a:solidFill>
                <a:latin typeface="IBM Plex Sans"/>
                <a:ea typeface="IBM Plex Sans"/>
                <a:cs typeface="IBM Plex Sans"/>
                <a:sym typeface="IBM Plex Sans"/>
              </a:rPr>
              <a:t>CALIBRATION · FROM 0.47 TO 0.6</a:t>
            </a:r>
            <a:endParaRPr sz="1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4" name="Google Shape;134;p8"/>
          <p:cNvSpPr txBox="1"/>
          <p:nvPr>
            <p:ph type="title"/>
          </p:nvPr>
        </p:nvSpPr>
        <p:spPr>
          <a:xfrm>
            <a:off x="812800" y="1127720"/>
            <a:ext cx="10883392" cy="49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2536"/>
              </a:buClr>
              <a:buSzPts val="3200"/>
              <a:buFont typeface="Source Serif 4"/>
              <a:buNone/>
            </a:pPr>
            <a:r>
              <a:rPr b="1" i="0" lang="en-US" sz="3200">
                <a:solidFill>
                  <a:srgbClr val="1C2536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What should raise κ, and how we check it</a:t>
            </a:r>
            <a:endParaRPr sz="3200"/>
          </a:p>
        </p:txBody>
      </p:sp>
      <p:sp>
        <p:nvSpPr>
          <p:cNvPr id="135" name="Google Shape;135;p8"/>
          <p:cNvSpPr/>
          <p:nvPr/>
        </p:nvSpPr>
        <p:spPr>
          <a:xfrm>
            <a:off x="815975" y="1801416"/>
            <a:ext cx="5200650" cy="1103511"/>
          </a:xfrm>
          <a:prstGeom prst="roundRect">
            <a:avLst>
              <a:gd fmla="val 8919" name="adj"/>
            </a:avLst>
          </a:prstGeom>
          <a:solidFill>
            <a:srgbClr val="FFFDF9"/>
          </a:solidFill>
          <a:ln cap="flat" cmpd="sng" w="9525">
            <a:solidFill>
              <a:srgbClr val="DCD8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996950" y="1982391"/>
            <a:ext cx="4983861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2536"/>
              </a:buClr>
              <a:buSzPts val="1500"/>
              <a:buFont typeface="IBM Plex Sans"/>
              <a:buNone/>
            </a:pPr>
            <a:r>
              <a:rPr b="1" lang="en-US" sz="1500">
                <a:solidFill>
                  <a:srgbClr val="1C2536"/>
                </a:solidFill>
                <a:latin typeface="IBM Plex Sans"/>
                <a:ea typeface="IBM Plex Sans"/>
                <a:cs typeface="IBM Plex Sans"/>
                <a:sym typeface="IBM Plex Sans"/>
              </a:rPr>
              <a:t>1 · Show the pre-label</a:t>
            </a:r>
            <a:endParaRPr sz="15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996950" y="2261791"/>
            <a:ext cx="4983861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300"/>
              <a:buFont typeface="IBM Plex Sans"/>
              <a:buNone/>
            </a:pPr>
            <a:r>
              <a:rPr lang="en-US" sz="1300">
                <a:solidFill>
                  <a:srgbClr val="4A5363"/>
                </a:solidFill>
                <a:latin typeface="IBM Plex Sans"/>
                <a:ea typeface="IBM Plex Sans"/>
                <a:cs typeface="IBM Plex Sans"/>
                <a:sym typeface="IBM Plex Sans"/>
              </a:rPr>
              <a:t>In A3 we confirm or correct the judges’ label instead of choosing among nine blind. That usually raises agreement a lot.</a:t>
            </a:r>
            <a:endParaRPr sz="13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6175375" y="1801416"/>
            <a:ext cx="5200650" cy="1103511"/>
          </a:xfrm>
          <a:prstGeom prst="roundRect">
            <a:avLst>
              <a:gd fmla="val 8919" name="adj"/>
            </a:avLst>
          </a:prstGeom>
          <a:solidFill>
            <a:srgbClr val="FFFDF9"/>
          </a:solidFill>
          <a:ln cap="flat" cmpd="sng" w="9525">
            <a:solidFill>
              <a:srgbClr val="DCD8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6356350" y="1982391"/>
            <a:ext cx="4983861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2536"/>
              </a:buClr>
              <a:buSzPts val="1500"/>
              <a:buFont typeface="IBM Plex Sans"/>
              <a:buNone/>
            </a:pPr>
            <a:r>
              <a:rPr b="1" lang="en-US" sz="1500">
                <a:solidFill>
                  <a:srgbClr val="1C2536"/>
                </a:solidFill>
                <a:latin typeface="IBM Plex Sans"/>
                <a:ea typeface="IBM Plex Sans"/>
                <a:cs typeface="IBM Plex Sans"/>
                <a:sym typeface="IBM Plex Sans"/>
              </a:rPr>
              <a:t>2 · Guide rev2 on our confusions</a:t>
            </a:r>
            <a:endParaRPr sz="15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6356350" y="2261791"/>
            <a:ext cx="4983861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300"/>
              <a:buFont typeface="IBM Plex Sans"/>
              <a:buNone/>
            </a:pPr>
            <a:r>
              <a:rPr lang="en-US" sz="1300">
                <a:solidFill>
                  <a:srgbClr val="4A5363"/>
                </a:solidFill>
                <a:latin typeface="IBM Plex Sans"/>
                <a:ea typeface="IBM Plex Sans"/>
                <a:cs typeface="IBM Plex Sans"/>
                <a:sym typeface="IBM Plex Sans"/>
              </a:rPr>
              <a:t>Worked examples for the two biggest: “one example among related works = Background” and Gap / Evidence / Background.</a:t>
            </a:r>
            <a:endParaRPr sz="13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815975" y="3063677"/>
            <a:ext cx="5200650" cy="1103511"/>
          </a:xfrm>
          <a:prstGeom prst="roundRect">
            <a:avLst>
              <a:gd fmla="val 8919" name="adj"/>
            </a:avLst>
          </a:prstGeom>
          <a:solidFill>
            <a:srgbClr val="FFFDF9"/>
          </a:solidFill>
          <a:ln cap="flat" cmpd="sng" w="9525">
            <a:solidFill>
              <a:srgbClr val="DCD8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996950" y="3244652"/>
            <a:ext cx="4983861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2536"/>
              </a:buClr>
              <a:buSzPts val="1500"/>
              <a:buFont typeface="IBM Plex Sans"/>
              <a:buNone/>
            </a:pPr>
            <a:r>
              <a:rPr b="1" lang="en-US" sz="1500">
                <a:solidFill>
                  <a:srgbClr val="1C2536"/>
                </a:solidFill>
                <a:latin typeface="IBM Plex Sans"/>
                <a:ea typeface="IBM Plex Sans"/>
                <a:cs typeface="IBM Plex Sans"/>
                <a:sym typeface="IBM Plex Sans"/>
              </a:rPr>
              <a:t>3 · Work alone, at our own pace</a:t>
            </a:r>
            <a:endParaRPr sz="15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996950" y="3524052"/>
            <a:ext cx="4983861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300"/>
              <a:buFont typeface="IBM Plex Sans"/>
              <a:buNone/>
            </a:pPr>
            <a:r>
              <a:rPr lang="en-US" sz="1300">
                <a:solidFill>
                  <a:srgbClr val="4A5363"/>
                </a:solidFill>
                <a:latin typeface="IBM Plex Sans"/>
                <a:ea typeface="IBM Plex Sans"/>
                <a:cs typeface="IBM Plex Sans"/>
                <a:sym typeface="IBM Plex Sans"/>
              </a:rPr>
              <a:t>A 2.5-hour group session is not how A3 will run.</a:t>
            </a:r>
            <a:endParaRPr sz="13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6175375" y="3063677"/>
            <a:ext cx="5200650" cy="1103511"/>
          </a:xfrm>
          <a:prstGeom prst="roundRect">
            <a:avLst>
              <a:gd fmla="val 8919" name="adj"/>
            </a:avLst>
          </a:prstGeom>
          <a:solidFill>
            <a:srgbClr val="FFFDF9"/>
          </a:solidFill>
          <a:ln cap="flat" cmpd="sng" w="9525">
            <a:solidFill>
              <a:srgbClr val="DCD8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6356350" y="3244652"/>
            <a:ext cx="4983861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2536"/>
              </a:buClr>
              <a:buSzPts val="1500"/>
              <a:buFont typeface="IBM Plex Sans"/>
              <a:buNone/>
            </a:pPr>
            <a:r>
              <a:rPr b="1" lang="en-US" sz="1500">
                <a:solidFill>
                  <a:srgbClr val="1C2536"/>
                </a:solidFill>
                <a:latin typeface="IBM Plex Sans"/>
                <a:ea typeface="IBM Plex Sans"/>
                <a:cs typeface="IBM Plex Sans"/>
                <a:sym typeface="IBM Plex Sans"/>
              </a:rPr>
              <a:t>4 · A short second check</a:t>
            </a:r>
            <a:endParaRPr sz="15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6356350" y="3524052"/>
            <a:ext cx="4983861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300"/>
              <a:buFont typeface="IBM Plex Sans"/>
              <a:buNone/>
            </a:pPr>
            <a:r>
              <a:rPr lang="en-US" sz="1300">
                <a:solidFill>
                  <a:srgbClr val="4A5363"/>
                </a:solidFill>
                <a:latin typeface="IBM Plex Sans"/>
                <a:ea typeface="IBM Plex Sans"/>
                <a:cs typeface="IBM Plex Sans"/>
                <a:sym typeface="IBM Plex Sans"/>
              </a:rPr>
              <a:t>After rev2: 15–20 new instances, pre-label shown, scored in pairs. A3 starts when pairs reach 0.6.</a:t>
            </a:r>
            <a:endParaRPr sz="13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812800" y="4373563"/>
            <a:ext cx="10566400" cy="868561"/>
          </a:xfrm>
          <a:prstGeom prst="roundRect">
            <a:avLst>
              <a:gd fmla="val 11698" name="adj"/>
            </a:avLst>
          </a:prstGeom>
          <a:solidFill>
            <a:srgbClr val="1C253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1016000" y="4551363"/>
            <a:ext cx="10464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DB8DE"/>
              </a:buClr>
              <a:buSzPts val="1200"/>
              <a:buFont typeface="IBM Plex Sans"/>
              <a:buNone/>
            </a:pPr>
            <a:r>
              <a:rPr b="1" lang="en-US" sz="1200">
                <a:solidFill>
                  <a:srgbClr val="9DB8DE"/>
                </a:solidFill>
                <a:latin typeface="IBM Plex Sans"/>
                <a:ea typeface="IBM Plex Sans"/>
                <a:cs typeface="IBM Plex Sans"/>
                <a:sym typeface="IBM Plex Sans"/>
              </a:rPr>
              <a:t>FOR THE REPORT</a:t>
            </a:r>
            <a:endParaRPr sz="1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1016000" y="4815483"/>
            <a:ext cx="10464800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6F4EF"/>
              </a:buClr>
              <a:buSzPts val="1400"/>
              <a:buFont typeface="IBM Plex Sans"/>
              <a:buNone/>
            </a:pPr>
            <a:r>
              <a:rPr lang="en-US" sz="1400">
                <a:solidFill>
                  <a:srgbClr val="F6F4EF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proposal’s 0.6 is pairwise agreement between annotators, so we measure it on the actual A3 pairs.</a:t>
            </a:r>
            <a:endParaRPr sz="1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A7280"/>
              </a:buClr>
              <a:buSzPts val="1200"/>
              <a:buFont typeface="IBM Plex Sans"/>
              <a:buNone/>
            </a:pPr>
            <a:r>
              <a:rPr lang="en-US" sz="1200">
                <a:solidFill>
                  <a:srgbClr val="6A7280"/>
                </a:solidFill>
                <a:latin typeface="IBM Plex Sans"/>
                <a:ea typeface="IBM Plex Sans"/>
                <a:cs typeface="IBM Plex Sans"/>
                <a:sym typeface="IBM Plex Sans"/>
              </a:rPr>
              <a:t>A2 · calibration and prompt review · 8</a:t>
            </a:r>
            <a:endParaRPr sz="1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C5E9E"/>
              </a:buClr>
              <a:buSzPts val="1200"/>
              <a:buFont typeface="IBM Plex Sans"/>
              <a:buNone/>
            </a:pPr>
            <a:r>
              <a:rPr b="1" lang="en-US" sz="1200">
                <a:solidFill>
                  <a:srgbClr val="2C5E9E"/>
                </a:solidFill>
                <a:latin typeface="IBM Plex Sans"/>
                <a:ea typeface="IBM Plex Sans"/>
                <a:cs typeface="IBM Plex Sans"/>
                <a:sym typeface="IBM Plex Sans"/>
              </a:rPr>
              <a:t>FOR APPROVAL</a:t>
            </a:r>
            <a:endParaRPr sz="1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57" name="Google Shape;157;p9"/>
          <p:cNvSpPr txBox="1"/>
          <p:nvPr>
            <p:ph type="title"/>
          </p:nvPr>
        </p:nvSpPr>
        <p:spPr>
          <a:xfrm>
            <a:off x="812800" y="1127720"/>
            <a:ext cx="10883392" cy="49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2536"/>
              </a:buClr>
              <a:buSzPts val="3200"/>
              <a:buFont typeface="Source Serif 4"/>
              <a:buNone/>
            </a:pPr>
            <a:r>
              <a:rPr b="1" i="0" lang="en-US" sz="3200">
                <a:solidFill>
                  <a:srgbClr val="1C2536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Five decisions for the green light</a:t>
            </a:r>
            <a:endParaRPr sz="3200"/>
          </a:p>
        </p:txBody>
      </p:sp>
      <p:cxnSp>
        <p:nvCxnSpPr>
          <p:cNvPr id="158" name="Google Shape;158;p9"/>
          <p:cNvCxnSpPr/>
          <p:nvPr/>
        </p:nvCxnSpPr>
        <p:spPr>
          <a:xfrm>
            <a:off x="812800" y="1903016"/>
            <a:ext cx="10566400" cy="0"/>
          </a:xfrm>
          <a:prstGeom prst="straightConnector1">
            <a:avLst/>
          </a:prstGeom>
          <a:noFill/>
          <a:ln cap="flat" cmpd="sng" w="9525">
            <a:solidFill>
              <a:srgbClr val="CFCB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" name="Google Shape;159;p9"/>
          <p:cNvSpPr/>
          <p:nvPr/>
        </p:nvSpPr>
        <p:spPr>
          <a:xfrm>
            <a:off x="812800" y="2007791"/>
            <a:ext cx="431800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C5E9E"/>
              </a:buClr>
              <a:buSzPts val="2200"/>
              <a:buFont typeface="Source Serif 4"/>
              <a:buNone/>
            </a:pPr>
            <a:r>
              <a:rPr b="1" lang="en-US" sz="2200">
                <a:solidFill>
                  <a:srgbClr val="2C5E9E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1</a:t>
            </a:r>
            <a:endParaRPr sz="2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1447800" y="2109391"/>
            <a:ext cx="10229342" cy="523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536"/>
              </a:buClr>
              <a:buSzPts val="1400"/>
              <a:buFont typeface="IBM Plex Sans"/>
              <a:buNone/>
            </a:pPr>
            <a:r>
              <a:rPr b="1" lang="en-US" sz="1400">
                <a:solidFill>
                  <a:srgbClr val="1C2536"/>
                </a:solidFill>
                <a:latin typeface="IBM Plex Sans"/>
                <a:ea typeface="IBM Plex Sans"/>
                <a:cs typeface="IBM Plex Sans"/>
                <a:sym typeface="IBM Plex Sans"/>
              </a:rPr>
              <a:t>Keep the frozen setup:</a:t>
            </a:r>
            <a:r>
              <a:rPr lang="en-US" sz="1400">
                <a:solidFill>
                  <a:srgbClr val="1C2536"/>
                </a:solidFill>
                <a:latin typeface="IBM Plex Sans"/>
                <a:ea typeface="IBM Plex Sans"/>
                <a:cs typeface="IBM Plex Sans"/>
                <a:sym typeface="IBM Plex Sans"/>
              </a:rPr>
              <a:t> prompt v11.1, Top-3 chunks included, with Qwen3.8-27B, Gemma 4 26B and Mistral Small 3.2, weights pinned to the validated revisions.</a:t>
            </a:r>
            <a:endParaRPr sz="1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61" name="Google Shape;161;p9"/>
          <p:cNvCxnSpPr/>
          <p:nvPr/>
        </p:nvCxnSpPr>
        <p:spPr>
          <a:xfrm>
            <a:off x="812800" y="2711847"/>
            <a:ext cx="10566400" cy="0"/>
          </a:xfrm>
          <a:prstGeom prst="straightConnector1">
            <a:avLst/>
          </a:prstGeom>
          <a:noFill/>
          <a:ln cap="flat" cmpd="sng" w="9525">
            <a:solidFill>
              <a:srgbClr val="CFCB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2" name="Google Shape;162;p9"/>
          <p:cNvSpPr/>
          <p:nvPr/>
        </p:nvSpPr>
        <p:spPr>
          <a:xfrm>
            <a:off x="812800" y="2816622"/>
            <a:ext cx="431800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C5E9E"/>
              </a:buClr>
              <a:buSzPts val="2200"/>
              <a:buFont typeface="Source Serif 4"/>
              <a:buNone/>
            </a:pPr>
            <a:r>
              <a:rPr b="1" lang="en-US" sz="2200">
                <a:solidFill>
                  <a:srgbClr val="2C5E9E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2</a:t>
            </a:r>
            <a:endParaRPr sz="2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1447800" y="2918222"/>
            <a:ext cx="10229342" cy="523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536"/>
              </a:buClr>
              <a:buSzPts val="1400"/>
              <a:buFont typeface="IBM Plex Sans"/>
              <a:buNone/>
            </a:pPr>
            <a:r>
              <a:rPr b="1" lang="en-US" sz="1400">
                <a:solidFill>
                  <a:srgbClr val="1C2536"/>
                </a:solidFill>
                <a:latin typeface="IBM Plex Sans"/>
                <a:ea typeface="IBM Plex Sans"/>
                <a:cs typeface="IBM Plex Sans"/>
                <a:sym typeface="IBM Plex Sans"/>
              </a:rPr>
              <a:t>No more prompt rounds in A2.</a:t>
            </a:r>
            <a:r>
              <a:rPr lang="en-US" sz="1400">
                <a:solidFill>
                  <a:srgbClr val="1C2536"/>
                </a:solidFill>
                <a:latin typeface="IBM Plex Sans"/>
                <a:ea typeface="IBM Plex Sans"/>
                <a:cs typeface="IBM Plex Sans"/>
                <a:sym typeface="IBM Plex Sans"/>
              </a:rPr>
              <a:t> No v12.1; the compact-prompt idea moves to A5, where prompting strategies are compared on gold labels.</a:t>
            </a:r>
            <a:endParaRPr sz="1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64" name="Google Shape;164;p9"/>
          <p:cNvCxnSpPr/>
          <p:nvPr/>
        </p:nvCxnSpPr>
        <p:spPr>
          <a:xfrm>
            <a:off x="812800" y="3520678"/>
            <a:ext cx="10566400" cy="0"/>
          </a:xfrm>
          <a:prstGeom prst="straightConnector1">
            <a:avLst/>
          </a:prstGeom>
          <a:noFill/>
          <a:ln cap="flat" cmpd="sng" w="9525">
            <a:solidFill>
              <a:srgbClr val="CFCB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" name="Google Shape;165;p9"/>
          <p:cNvSpPr/>
          <p:nvPr/>
        </p:nvSpPr>
        <p:spPr>
          <a:xfrm>
            <a:off x="812800" y="3625453"/>
            <a:ext cx="431800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C5E9E"/>
              </a:buClr>
              <a:buSzPts val="2200"/>
              <a:buFont typeface="Source Serif 4"/>
              <a:buNone/>
            </a:pPr>
            <a:r>
              <a:rPr b="1" lang="en-US" sz="2200">
                <a:solidFill>
                  <a:srgbClr val="2C5E9E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3</a:t>
            </a:r>
            <a:endParaRPr sz="2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1447800" y="3727053"/>
            <a:ext cx="10229342" cy="523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536"/>
              </a:buClr>
              <a:buSzPts val="1400"/>
              <a:buFont typeface="IBM Plex Sans"/>
              <a:buNone/>
            </a:pPr>
            <a:r>
              <a:rPr b="1" lang="en-US" sz="1400">
                <a:solidFill>
                  <a:srgbClr val="1C2536"/>
                </a:solidFill>
                <a:latin typeface="IBM Plex Sans"/>
                <a:ea typeface="IBM Plex Sans"/>
                <a:cs typeface="IBM Plex Sans"/>
                <a:sym typeface="IBM Plex Sans"/>
              </a:rPr>
              <a:t>Build the production notebook today</a:t>
            </a:r>
            <a:r>
              <a:rPr lang="en-US" sz="1400">
                <a:solidFill>
                  <a:srgbClr val="1C2536"/>
                </a:solidFill>
                <a:latin typeface="IBM Plex Sans"/>
                <a:ea typeface="IBM Plex Sans"/>
                <a:cs typeface="IBM Plex Sans"/>
                <a:sym typeface="IBM Plex Sans"/>
              </a:rPr>
              <a:t> and re-judge the full pool with it tomorrow; the experiment notebook is archived as it is.</a:t>
            </a:r>
            <a:endParaRPr sz="1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67" name="Google Shape;167;p9"/>
          <p:cNvCxnSpPr/>
          <p:nvPr/>
        </p:nvCxnSpPr>
        <p:spPr>
          <a:xfrm>
            <a:off x="812800" y="4329509"/>
            <a:ext cx="10566400" cy="0"/>
          </a:xfrm>
          <a:prstGeom prst="straightConnector1">
            <a:avLst/>
          </a:prstGeom>
          <a:noFill/>
          <a:ln cap="flat" cmpd="sng" w="9525">
            <a:solidFill>
              <a:srgbClr val="CFCB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8" name="Google Shape;168;p9"/>
          <p:cNvSpPr/>
          <p:nvPr/>
        </p:nvSpPr>
        <p:spPr>
          <a:xfrm>
            <a:off x="812800" y="4434284"/>
            <a:ext cx="431800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C5E9E"/>
              </a:buClr>
              <a:buSzPts val="2200"/>
              <a:buFont typeface="Source Serif 4"/>
              <a:buNone/>
            </a:pPr>
            <a:r>
              <a:rPr b="1" lang="en-US" sz="2200">
                <a:solidFill>
                  <a:srgbClr val="2C5E9E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4</a:t>
            </a:r>
            <a:endParaRPr sz="2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1447800" y="4535884"/>
            <a:ext cx="10229342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536"/>
              </a:buClr>
              <a:buSzPts val="1400"/>
              <a:buFont typeface="IBM Plex Sans"/>
              <a:buNone/>
            </a:pPr>
            <a:r>
              <a:rPr b="1" lang="en-US" sz="1400">
                <a:solidFill>
                  <a:srgbClr val="1C2536"/>
                </a:solidFill>
                <a:latin typeface="IBM Plex Sans"/>
                <a:ea typeface="IBM Plex Sans"/>
                <a:cs typeface="IBM Plex Sans"/>
                <a:sym typeface="IBM Plex Sans"/>
              </a:rPr>
              <a:t>A3 works individually</a:t>
            </a:r>
            <a:r>
              <a:rPr lang="en-US" sz="1400">
                <a:solidFill>
                  <a:srgbClr val="1C2536"/>
                </a:solidFill>
                <a:latin typeface="IBM Plex Sans"/>
                <a:ea typeface="IBM Plex Sans"/>
                <a:cs typeface="IBM Plex Sans"/>
                <a:sym typeface="IBM Plex Sans"/>
              </a:rPr>
              <a:t> with the pre-label shown, after guide rev2 and a short second calibration.</a:t>
            </a:r>
            <a:endParaRPr sz="1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70" name="Google Shape;170;p9"/>
          <p:cNvCxnSpPr/>
          <p:nvPr/>
        </p:nvCxnSpPr>
        <p:spPr>
          <a:xfrm>
            <a:off x="812800" y="4930180"/>
            <a:ext cx="10566400" cy="0"/>
          </a:xfrm>
          <a:prstGeom prst="straightConnector1">
            <a:avLst/>
          </a:prstGeom>
          <a:noFill/>
          <a:ln cap="flat" cmpd="sng" w="9525">
            <a:solidFill>
              <a:srgbClr val="CFCB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" name="Google Shape;171;p9"/>
          <p:cNvCxnSpPr/>
          <p:nvPr/>
        </p:nvCxnSpPr>
        <p:spPr>
          <a:xfrm>
            <a:off x="812800" y="5530850"/>
            <a:ext cx="10566400" cy="0"/>
          </a:xfrm>
          <a:prstGeom prst="straightConnector1">
            <a:avLst/>
          </a:prstGeom>
          <a:noFill/>
          <a:ln cap="flat" cmpd="sng" w="9525">
            <a:solidFill>
              <a:srgbClr val="CFCB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" name="Google Shape;172;p9"/>
          <p:cNvSpPr/>
          <p:nvPr/>
        </p:nvSpPr>
        <p:spPr>
          <a:xfrm>
            <a:off x="812800" y="5034955"/>
            <a:ext cx="431800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C5E9E"/>
              </a:buClr>
              <a:buSzPts val="2200"/>
              <a:buFont typeface="Source Serif 4"/>
              <a:buNone/>
            </a:pPr>
            <a:r>
              <a:rPr b="1" lang="en-US" sz="2200">
                <a:solidFill>
                  <a:srgbClr val="2C5E9E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5</a:t>
            </a:r>
            <a:endParaRPr sz="2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1447800" y="5136555"/>
            <a:ext cx="10229342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536"/>
              </a:buClr>
              <a:buSzPts val="1400"/>
              <a:buFont typeface="IBM Plex Sans"/>
              <a:buNone/>
            </a:pPr>
            <a:r>
              <a:rPr b="1" lang="en-US" sz="1400">
                <a:solidFill>
                  <a:srgbClr val="1C2536"/>
                </a:solidFill>
                <a:latin typeface="IBM Plex Sans"/>
                <a:ea typeface="IBM Plex Sans"/>
                <a:cs typeface="IBM Plex Sans"/>
                <a:sym typeface="IBM Plex Sans"/>
              </a:rPr>
              <a:t>Re-plan the dates</a:t>
            </a:r>
            <a:r>
              <a:rPr lang="en-US" sz="1400">
                <a:solidFill>
                  <a:srgbClr val="1C2536"/>
                </a:solidFill>
                <a:latin typeface="IBM Plex Sans"/>
                <a:ea typeface="IBM Plex Sans"/>
                <a:cs typeface="IBM Plex Sans"/>
                <a:sym typeface="IBM Plex Sans"/>
              </a:rPr>
              <a:t> around the re-judge and A3, rather than compressing A3.</a:t>
            </a:r>
            <a:endParaRPr sz="1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A7280"/>
              </a:buClr>
              <a:buSzPts val="1200"/>
              <a:buFont typeface="IBM Plex Sans"/>
              <a:buNone/>
            </a:pPr>
            <a:r>
              <a:rPr lang="en-US" sz="1200">
                <a:solidFill>
                  <a:srgbClr val="6A7280"/>
                </a:solidFill>
                <a:latin typeface="IBM Plex Sans"/>
                <a:ea typeface="IBM Plex Sans"/>
                <a:cs typeface="IBM Plex Sans"/>
                <a:sym typeface="IBM Plex Sans"/>
              </a:rPr>
              <a:t>A2 · calibration and prompt review · 13</a:t>
            </a:r>
            <a:endParaRPr sz="1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C5E9E"/>
              </a:buClr>
              <a:buSzPts val="1200"/>
              <a:buFont typeface="IBM Plex Sans"/>
              <a:buNone/>
            </a:pPr>
            <a:r>
              <a:rPr b="1" lang="en-US" sz="1200">
                <a:solidFill>
                  <a:srgbClr val="2C5E9E"/>
                </a:solidFill>
                <a:latin typeface="IBM Plex Sans"/>
                <a:ea typeface="IBM Plex Sans"/>
                <a:cs typeface="IBM Plex Sans"/>
                <a:sym typeface="IBM Plex Sans"/>
              </a:rPr>
              <a:t>NEXT STEPS</a:t>
            </a:r>
            <a:endParaRPr sz="1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1" name="Google Shape;181;p10"/>
          <p:cNvSpPr txBox="1"/>
          <p:nvPr>
            <p:ph type="title"/>
          </p:nvPr>
        </p:nvSpPr>
        <p:spPr>
          <a:xfrm>
            <a:off x="812800" y="1127720"/>
            <a:ext cx="10883392" cy="49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2536"/>
              </a:buClr>
              <a:buSzPts val="3200"/>
              <a:buFont typeface="Source Serif 4"/>
              <a:buNone/>
            </a:pPr>
            <a:r>
              <a:rPr b="1" i="0" lang="en-US" sz="3200">
                <a:solidFill>
                  <a:srgbClr val="1C2536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From green light to A3</a:t>
            </a:r>
            <a:endParaRPr sz="3200"/>
          </a:p>
        </p:txBody>
      </p:sp>
      <p:graphicFrame>
        <p:nvGraphicFramePr>
          <p:cNvPr id="182" name="Google Shape;182;p10"/>
          <p:cNvGraphicFramePr/>
          <p:nvPr/>
        </p:nvGraphicFramePr>
        <p:xfrm>
          <a:off x="825500" y="18617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{5972D739-7D8E-44E2-B83B-F6AA39F61B1E}</a:tableStyleId>
              </a:tblPr>
              <a:tblGrid>
                <a:gridCol w="633225"/>
                <a:gridCol w="6754375"/>
                <a:gridCol w="3166100"/>
              </a:tblGrid>
              <a:tr h="35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#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Step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When / effort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2DD"/>
                    </a:solidFill>
                  </a:tcPr>
                </a:tc>
              </a:tr>
              <a:tr h="35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Agree rules rev1.1 across groups 14 and 15; guide rev2 with worked examples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agreed · in progress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Production notebook: frozen config, batches, re-judge, merge, counts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agreed · today, 14 Oct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1"/>
                    </a:solidFill>
                  </a:tcPr>
                </a:tc>
              </a:tr>
              <a:tr h="35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Full pool re-judge with the frozen setup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tomorrow, 15 Oct · about 6.5 h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Counts per category, then the quota decision for short ones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after step 3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1"/>
                    </a:solidFill>
                  </a:tcPr>
                </a:tc>
              </a:tr>
              <a:tr h="35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Second calibration: 15–20 new items, pre-label shown, in pairs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after step 1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6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A3: test-set sampler, annotation packages, pilot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after steps 4 and 5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1"/>
                    </a:solidFill>
                  </a:tcPr>
                </a:tc>
              </a:tr>
              <a:tr h="35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7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Re-planned dates shared with the director and the extended team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[date]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83" name="Google Shape;183;p10"/>
          <p:cNvCxnSpPr/>
          <p:nvPr/>
        </p:nvCxnSpPr>
        <p:spPr>
          <a:xfrm>
            <a:off x="825500" y="4989909"/>
            <a:ext cx="0" cy="761802"/>
          </a:xfrm>
          <a:prstGeom prst="straightConnector1">
            <a:avLst/>
          </a:prstGeom>
          <a:noFill/>
          <a:ln cap="flat" cmpd="sng" w="25400">
            <a:solidFill>
              <a:srgbClr val="A95A1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4" name="Google Shape;184;p10"/>
          <p:cNvSpPr/>
          <p:nvPr/>
        </p:nvSpPr>
        <p:spPr>
          <a:xfrm>
            <a:off x="990600" y="4989909"/>
            <a:ext cx="10700258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536"/>
              </a:buClr>
              <a:buSzPts val="1400"/>
              <a:buFont typeface="IBM Plex Sans"/>
              <a:buNone/>
            </a:pPr>
            <a:r>
              <a:rPr b="1" lang="en-US" sz="1400">
                <a:solidFill>
                  <a:srgbClr val="1C2536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real open question is supply, not the prompt</a:t>
            </a:r>
            <a:endParaRPr sz="1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990600" y="5289550"/>
            <a:ext cx="10700258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300"/>
              <a:buFont typeface="IBM Plex Sans"/>
              <a:buNone/>
            </a:pPr>
            <a:r>
              <a:rPr lang="en-US" sz="1300">
                <a:solidFill>
                  <a:srgbClr val="4A5363"/>
                </a:solidFill>
                <a:latin typeface="IBM Plex Sans"/>
                <a:ea typeface="IBM Plex Sans"/>
                <a:cs typeface="IBM Plex Sans"/>
                <a:sym typeface="IBM Plex Sans"/>
              </a:rPr>
              <a:t>Our estimates put Originator, Application, Further Reading, Improvement/Modification and Basis below 2,000 high-confidence labels in the pilot corpus. Step 4 decides quotas or a corpus extension.</a:t>
            </a:r>
            <a:endParaRPr sz="13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A7280"/>
              </a:buClr>
              <a:buSzPts val="1200"/>
              <a:buFont typeface="IBM Plex Sans"/>
              <a:buNone/>
            </a:pPr>
            <a:r>
              <a:rPr lang="en-US" sz="1200">
                <a:solidFill>
                  <a:srgbClr val="6A7280"/>
                </a:solidFill>
                <a:latin typeface="IBM Plex Sans"/>
                <a:ea typeface="IBM Plex Sans"/>
                <a:cs typeface="IBM Plex Sans"/>
                <a:sym typeface="IBM Plex Sans"/>
              </a:rPr>
              <a:t>A2 · calibration and prompt review · 14</a:t>
            </a:r>
            <a:endParaRPr sz="1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EF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C5E9E"/>
              </a:buClr>
              <a:buSzPts val="1200"/>
              <a:buFont typeface="IBM Plex Sans"/>
              <a:buNone/>
            </a:pPr>
            <a:r>
              <a:rPr b="1" lang="en-US" sz="1200">
                <a:solidFill>
                  <a:srgbClr val="2C5E9E"/>
                </a:solidFill>
                <a:latin typeface="IBM Plex Sans"/>
                <a:ea typeface="IBM Plex Sans"/>
                <a:cs typeface="IBM Plex Sans"/>
                <a:sym typeface="IBM Plex Sans"/>
              </a:rPr>
              <a:t>APPENDIX</a:t>
            </a:r>
            <a:endParaRPr sz="1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3" name="Google Shape;193;p11"/>
          <p:cNvSpPr txBox="1"/>
          <p:nvPr>
            <p:ph type="title"/>
          </p:nvPr>
        </p:nvSpPr>
        <p:spPr>
          <a:xfrm>
            <a:off x="812800" y="1127720"/>
            <a:ext cx="10883392" cy="49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2536"/>
              </a:buClr>
              <a:buSzPts val="3200"/>
              <a:buFont typeface="Source Serif 4"/>
              <a:buNone/>
            </a:pPr>
            <a:r>
              <a:rPr b="1" i="0" lang="en-US" sz="3200">
                <a:solidFill>
                  <a:srgbClr val="1C2536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Housekeeping already done for the re-judge</a:t>
            </a:r>
            <a:endParaRPr sz="3200"/>
          </a:p>
        </p:txBody>
      </p:sp>
      <p:sp>
        <p:nvSpPr>
          <p:cNvPr id="194" name="Google Shape;194;p11"/>
          <p:cNvSpPr/>
          <p:nvPr/>
        </p:nvSpPr>
        <p:spPr>
          <a:xfrm>
            <a:off x="815975" y="1852216"/>
            <a:ext cx="5175250" cy="1154311"/>
          </a:xfrm>
          <a:prstGeom prst="roundRect">
            <a:avLst>
              <a:gd fmla="val 8527" name="adj"/>
            </a:avLst>
          </a:prstGeom>
          <a:solidFill>
            <a:srgbClr val="FFFDF9"/>
          </a:solidFill>
          <a:ln cap="flat" cmpd="sng" w="9525">
            <a:solidFill>
              <a:srgbClr val="D3D7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1022350" y="2058591"/>
            <a:ext cx="490537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2536"/>
              </a:buClr>
              <a:buSzPts val="1500"/>
              <a:buFont typeface="IBM Plex Sans"/>
              <a:buNone/>
            </a:pPr>
            <a:r>
              <a:rPr b="1" lang="en-US" sz="1500">
                <a:solidFill>
                  <a:srgbClr val="1C2536"/>
                </a:solidFill>
                <a:latin typeface="IBM Plex Sans"/>
                <a:ea typeface="IBM Plex Sans"/>
                <a:cs typeface="IBM Plex Sans"/>
                <a:sym typeface="IBM Plex Sans"/>
              </a:rPr>
              <a:t>Safer merge</a:t>
            </a:r>
            <a:endParaRPr sz="15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1022350" y="2337991"/>
            <a:ext cx="4905375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300"/>
              <a:buFont typeface="IBM Plex Sans"/>
              <a:buNone/>
            </a:pPr>
            <a:r>
              <a:rPr lang="en-US" sz="1300">
                <a:solidFill>
                  <a:srgbClr val="4A5363"/>
                </a:solidFill>
                <a:latin typeface="IBM Plex Sans"/>
                <a:ea typeface="IBM Plex Sans"/>
                <a:cs typeface="IBM Plex Sans"/>
                <a:sym typeface="IBM Plex Sans"/>
              </a:rPr>
              <a:t>a2_merge.py names the three judges and refuses leftover outputs (such as Ministral’s) or mixed prompt versions.</a:t>
            </a:r>
            <a:endParaRPr sz="13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6200775" y="1852216"/>
            <a:ext cx="5175250" cy="1154311"/>
          </a:xfrm>
          <a:prstGeom prst="roundRect">
            <a:avLst>
              <a:gd fmla="val 8527" name="adj"/>
            </a:avLst>
          </a:prstGeom>
          <a:solidFill>
            <a:srgbClr val="FFFDF9"/>
          </a:solidFill>
          <a:ln cap="flat" cmpd="sng" w="9525">
            <a:solidFill>
              <a:srgbClr val="D3D7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6407150" y="2058591"/>
            <a:ext cx="490537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2536"/>
              </a:buClr>
              <a:buSzPts val="1500"/>
              <a:buFont typeface="IBM Plex Sans"/>
              <a:buNone/>
            </a:pPr>
            <a:r>
              <a:rPr b="1" lang="en-US" sz="1500">
                <a:solidFill>
                  <a:srgbClr val="1C2536"/>
                </a:solidFill>
                <a:latin typeface="IBM Plex Sans"/>
                <a:ea typeface="IBM Plex Sans"/>
                <a:cs typeface="IBM Plex Sans"/>
                <a:sym typeface="IBM Plex Sans"/>
              </a:rPr>
              <a:t>Pinned judges</a:t>
            </a:r>
            <a:endParaRPr sz="15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6407150" y="2337991"/>
            <a:ext cx="4905375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300"/>
              <a:buFont typeface="IBM Plex Sans"/>
              <a:buNone/>
            </a:pPr>
            <a:r>
              <a:rPr lang="en-US" sz="1300">
                <a:solidFill>
                  <a:srgbClr val="4A5363"/>
                </a:solidFill>
                <a:latin typeface="IBM Plex Sans"/>
                <a:ea typeface="IBM Plex Sans"/>
                <a:cs typeface="IBM Plex Sans"/>
                <a:sym typeface="IBM Plex Sans"/>
              </a:rPr>
              <a:t>Every run uses the exact weights validated in the v11.1 runs, read from their manifests.</a:t>
            </a:r>
            <a:endParaRPr sz="13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815975" y="3216077"/>
            <a:ext cx="5175250" cy="1154311"/>
          </a:xfrm>
          <a:prstGeom prst="roundRect">
            <a:avLst>
              <a:gd fmla="val 8527" name="adj"/>
            </a:avLst>
          </a:prstGeom>
          <a:solidFill>
            <a:srgbClr val="FFFDF9"/>
          </a:solidFill>
          <a:ln cap="flat" cmpd="sng" w="9525">
            <a:solidFill>
              <a:srgbClr val="D3D7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1022350" y="3422452"/>
            <a:ext cx="490537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2536"/>
              </a:buClr>
              <a:buSzPts val="1500"/>
              <a:buFont typeface="IBM Plex Sans"/>
              <a:buNone/>
            </a:pPr>
            <a:r>
              <a:rPr b="1" lang="en-US" sz="1500">
                <a:solidFill>
                  <a:srgbClr val="1C2536"/>
                </a:solidFill>
                <a:latin typeface="IBM Plex Sans"/>
                <a:ea typeface="IBM Plex Sans"/>
                <a:cs typeface="IBM Plex Sans"/>
                <a:sym typeface="IBM Plex Sans"/>
              </a:rPr>
              <a:t>Clear judge lists</a:t>
            </a:r>
            <a:endParaRPr sz="15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1022350" y="3701852"/>
            <a:ext cx="4905375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300"/>
              <a:buFont typeface="IBM Plex Sans"/>
              <a:buNone/>
            </a:pPr>
            <a:r>
              <a:rPr lang="en-US" sz="1300">
                <a:solidFill>
                  <a:srgbClr val="4A5363"/>
                </a:solidFill>
                <a:latin typeface="IBM Plex Sans"/>
                <a:ea typeface="IBM Plex Sans"/>
                <a:cs typeface="IBM Plex Sans"/>
                <a:sym typeface="IBM Plex Sans"/>
              </a:rPr>
              <a:t>FROZEN_JUDGES in the notebook; the old v8 trio is kept only as a comparison baseline.</a:t>
            </a:r>
            <a:endParaRPr sz="13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6200775" y="3216077"/>
            <a:ext cx="5175250" cy="1154311"/>
          </a:xfrm>
          <a:prstGeom prst="roundRect">
            <a:avLst>
              <a:gd fmla="val 8527" name="adj"/>
            </a:avLst>
          </a:prstGeom>
          <a:solidFill>
            <a:srgbClr val="FFFDF9"/>
          </a:solidFill>
          <a:ln cap="flat" cmpd="sng" w="9525">
            <a:solidFill>
              <a:srgbClr val="D3D7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6407150" y="3422452"/>
            <a:ext cx="490537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2536"/>
              </a:buClr>
              <a:buSzPts val="1500"/>
              <a:buFont typeface="IBM Plex Sans"/>
              <a:buNone/>
            </a:pPr>
            <a:r>
              <a:rPr b="1" lang="en-US" sz="1500">
                <a:solidFill>
                  <a:srgbClr val="1C2536"/>
                </a:solidFill>
                <a:latin typeface="IBM Plex Sans"/>
                <a:ea typeface="IBM Plex Sans"/>
                <a:cs typeface="IBM Plex Sans"/>
                <a:sym typeface="IBM Plex Sans"/>
              </a:rPr>
              <a:t>Same names as eval60</a:t>
            </a:r>
            <a:endParaRPr sz="15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6407150" y="3701852"/>
            <a:ext cx="4905375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300"/>
              <a:buFont typeface="IBM Plex Sans"/>
              <a:buNone/>
            </a:pPr>
            <a:r>
              <a:rPr lang="en-US" sz="1300">
                <a:solidFill>
                  <a:srgbClr val="4A5363"/>
                </a:solidFill>
                <a:latin typeface="IBM Plex Sans"/>
                <a:ea typeface="IBM Plex Sans"/>
                <a:cs typeface="IBM Plex Sans"/>
                <a:sym typeface="IBM Plex Sans"/>
              </a:rPr>
              <a:t>a2_calibration.py writes chunk_1..3 with “[Section: …]”; the prompt keeps its wording.</a:t>
            </a:r>
            <a:endParaRPr sz="13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812800" y="4627563"/>
            <a:ext cx="10883392" cy="2647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300"/>
              <a:buFont typeface="IBM Plex Sans"/>
              <a:buNone/>
            </a:pPr>
            <a:r>
              <a:rPr lang="en-US" sz="1300">
                <a:solidFill>
                  <a:srgbClr val="4A5363"/>
                </a:solidFill>
                <a:latin typeface="IBM Plex Sans"/>
                <a:ea typeface="IBM Plex Sans"/>
                <a:cs typeface="IBM Plex Sans"/>
                <a:sym typeface="IBM Plex Sans"/>
              </a:rPr>
              <a:t>Kept for the report: notebook 10g (chunk ablation) and 10h (v12 check), and the Agreement tab with the κ formulas.</a:t>
            </a:r>
            <a:endParaRPr sz="13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A7280"/>
              </a:buClr>
              <a:buSzPts val="1200"/>
              <a:buFont typeface="IBM Plex Sans"/>
              <a:buNone/>
            </a:pPr>
            <a:r>
              <a:rPr lang="en-US" sz="1200">
                <a:solidFill>
                  <a:srgbClr val="6A7280"/>
                </a:solidFill>
                <a:latin typeface="IBM Plex Sans"/>
                <a:ea typeface="IBM Plex Sans"/>
                <a:cs typeface="IBM Plex Sans"/>
                <a:sym typeface="IBM Plex Sans"/>
              </a:rPr>
              <a:t>A2 · calibration and prompt review · 15</a:t>
            </a:r>
            <a:endParaRPr sz="1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aphicFrame>
        <p:nvGraphicFramePr>
          <p:cNvPr id="208" name="Google Shape;208;p11"/>
          <p:cNvGraphicFramePr/>
          <p:nvPr/>
        </p:nvGraphicFramePr>
        <p:xfrm>
          <a:off x="825500" y="27764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{5972D739-7D8E-44E2-B83B-F6AA39F61B1E}</a:tableStyleId>
              </a:tblPr>
              <a:tblGrid>
                <a:gridCol w="1900775"/>
                <a:gridCol w="1900775"/>
                <a:gridCol w="1900775"/>
              </a:tblGrid>
              <a:tr h="439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3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Column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FB1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FB1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DD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3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Column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AFB1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FB1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FB1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DD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3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Column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AFB1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AFB1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AFB1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BDDDF"/>
                    </a:solidFill>
                  </a:tcPr>
                </a:tc>
              </a:tr>
              <a:tr h="439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IBM Plex Sans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FB1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IBM Plex Sans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FB1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IBM Plex Sans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AFB1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9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IBM Plex Sans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IBM Plex Sans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IBM Plex Sans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C5E9E"/>
              </a:buClr>
              <a:buSzPts val="1200"/>
              <a:buFont typeface="IBM Plex Sans"/>
              <a:buNone/>
            </a:pPr>
            <a:r>
              <a:rPr b="1" lang="en-US" sz="1200">
                <a:solidFill>
                  <a:srgbClr val="2C5E9E"/>
                </a:solidFill>
                <a:latin typeface="IBM Plex Sans"/>
                <a:ea typeface="IBM Plex Sans"/>
                <a:cs typeface="IBM Plex Sans"/>
                <a:sym typeface="IBM Plex Sans"/>
              </a:rPr>
              <a:t>CHUNKS · IN PRODUCTION TODAY</a:t>
            </a:r>
            <a:endParaRPr sz="1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15" name="Google Shape;215;p12"/>
          <p:cNvSpPr txBox="1"/>
          <p:nvPr>
            <p:ph type="title"/>
          </p:nvPr>
        </p:nvSpPr>
        <p:spPr>
          <a:xfrm>
            <a:off x="812800" y="1127720"/>
            <a:ext cx="10883392" cy="49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2536"/>
              </a:buClr>
              <a:buSzPts val="3200"/>
              <a:buFont typeface="Source Serif 4"/>
              <a:buNone/>
            </a:pPr>
            <a:r>
              <a:rPr b="1" i="0" lang="en-US" sz="3200">
                <a:solidFill>
                  <a:srgbClr val="1C2536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How prompt v11.1 uses the Top-3 chunks</a:t>
            </a:r>
            <a:endParaRPr sz="3200"/>
          </a:p>
        </p:txBody>
      </p:sp>
      <p:sp>
        <p:nvSpPr>
          <p:cNvPr id="216" name="Google Shape;216;p12"/>
          <p:cNvSpPr/>
          <p:nvPr/>
        </p:nvSpPr>
        <p:spPr>
          <a:xfrm>
            <a:off x="812800" y="1849041"/>
            <a:ext cx="405511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C5E9E"/>
              </a:buClr>
              <a:buSzPts val="1200"/>
              <a:buFont typeface="IBM Plex Sans"/>
              <a:buNone/>
            </a:pPr>
            <a:r>
              <a:rPr b="1" lang="en-US" sz="1200">
                <a:solidFill>
                  <a:srgbClr val="2C5E9E"/>
                </a:solidFill>
                <a:latin typeface="IBM Plex Sans"/>
                <a:ea typeface="IBM Plex Sans"/>
                <a:cs typeface="IBM Plex Sans"/>
                <a:sym typeface="IBM Plex Sans"/>
              </a:rPr>
              <a:t>WHAT EACH JUDGE READS, IN ORDER</a:t>
            </a:r>
            <a:endParaRPr sz="1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812800" y="2138561"/>
            <a:ext cx="3937000" cy="365720"/>
          </a:xfrm>
          <a:prstGeom prst="roundRect">
            <a:avLst>
              <a:gd fmla="val 13890" name="adj"/>
            </a:avLst>
          </a:prstGeom>
          <a:solidFill>
            <a:srgbClr val="ECEEF1"/>
          </a:solidFill>
          <a:ln>
            <a:noFill/>
          </a:ln>
        </p:spPr>
        <p:txBody>
          <a:bodyPr anchorCtr="0" anchor="t" bIns="35900" lIns="112100" spcFirstLastPara="1" rIns="1625" wrap="square" tIns="613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536"/>
              </a:buClr>
              <a:buSzPts val="1200"/>
              <a:buFont typeface="IBM Plex Sans"/>
              <a:buNone/>
            </a:pPr>
            <a:r>
              <a:rPr lang="en-US" sz="1200">
                <a:solidFill>
                  <a:srgbClr val="1C2536"/>
                </a:solidFill>
                <a:latin typeface="IBM Plex Sans"/>
                <a:ea typeface="IBM Plex Sans"/>
                <a:cs typeface="IBM Plex Sans"/>
                <a:sym typeface="IBM Plex Sans"/>
              </a:rPr>
              <a:t>Task, categories, clarifications, rules 1–12</a:t>
            </a:r>
            <a:endParaRPr sz="1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812800" y="2580481"/>
            <a:ext cx="3937000" cy="365720"/>
          </a:xfrm>
          <a:prstGeom prst="roundRect">
            <a:avLst>
              <a:gd fmla="val 13890" name="adj"/>
            </a:avLst>
          </a:prstGeom>
          <a:solidFill>
            <a:srgbClr val="DCE6F4"/>
          </a:solidFill>
          <a:ln>
            <a:noFill/>
          </a:ln>
        </p:spPr>
        <p:txBody>
          <a:bodyPr anchorCtr="0" anchor="t" bIns="35900" lIns="112100" spcFirstLastPara="1" rIns="1625" wrap="square" tIns="613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536"/>
              </a:buClr>
              <a:buSzPts val="1200"/>
              <a:buFont typeface="IBM Plex Sans"/>
              <a:buNone/>
            </a:pPr>
            <a:r>
              <a:rPr lang="en-US" sz="1200">
                <a:solidFill>
                  <a:srgbClr val="1C2536"/>
                </a:solidFill>
                <a:latin typeface="IBM Plex Sans"/>
                <a:ea typeface="IBM Plex Sans"/>
                <a:cs typeface="IBM Plex Sans"/>
                <a:sym typeface="IBM Plex Sans"/>
              </a:rPr>
              <a:t>Cited paper: title and abstract</a:t>
            </a:r>
            <a:endParaRPr sz="1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812800" y="3022402"/>
            <a:ext cx="3937000" cy="365720"/>
          </a:xfrm>
          <a:prstGeom prst="roundRect">
            <a:avLst>
              <a:gd fmla="val 13890" name="adj"/>
            </a:avLst>
          </a:prstGeom>
          <a:solidFill>
            <a:srgbClr val="2C5E9E"/>
          </a:solidFill>
          <a:ln>
            <a:noFill/>
          </a:ln>
        </p:spPr>
        <p:txBody>
          <a:bodyPr anchorCtr="0" anchor="t" bIns="35900" lIns="112100" spcFirstLastPara="1" rIns="1625" wrap="square" tIns="613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DF9"/>
              </a:buClr>
              <a:buSzPts val="1200"/>
              <a:buFont typeface="IBM Plex Sans"/>
              <a:buNone/>
            </a:pPr>
            <a:r>
              <a:rPr b="1" lang="en-US" sz="1200">
                <a:solidFill>
                  <a:srgbClr val="FFFDF9"/>
                </a:solidFill>
                <a:latin typeface="IBM Plex Sans"/>
                <a:ea typeface="IBM Plex Sans"/>
                <a:cs typeface="IBM Plex Sans"/>
                <a:sym typeface="IBM Plex Sans"/>
              </a:rPr>
              <a:t>Top-3 chunks</a:t>
            </a:r>
            <a:r>
              <a:rPr lang="en-US" sz="1200">
                <a:solidFill>
                  <a:srgbClr val="FFFDF9"/>
                </a:solidFill>
                <a:latin typeface="IBM Plex Sans"/>
                <a:ea typeface="IBM Plex Sans"/>
                <a:cs typeface="IBM Plex Sans"/>
                <a:sym typeface="IBM Plex Sans"/>
              </a:rPr>
              <a:t>, each with its section, ≤ 300 words</a:t>
            </a:r>
            <a:endParaRPr sz="1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812800" y="3464322"/>
            <a:ext cx="3937000" cy="365720"/>
          </a:xfrm>
          <a:prstGeom prst="roundRect">
            <a:avLst>
              <a:gd fmla="val 13890" name="adj"/>
            </a:avLst>
          </a:prstGeom>
          <a:solidFill>
            <a:srgbClr val="ECEEF1"/>
          </a:solidFill>
          <a:ln>
            <a:noFill/>
          </a:ln>
        </p:spPr>
        <p:txBody>
          <a:bodyPr anchorCtr="0" anchor="t" bIns="35900" lIns="112100" spcFirstLastPara="1" rIns="1625" wrap="square" tIns="613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536"/>
              </a:buClr>
              <a:buSzPts val="1200"/>
              <a:buFont typeface="IBM Plex Sans"/>
              <a:buNone/>
            </a:pPr>
            <a:r>
              <a:rPr lang="en-US" sz="1200">
                <a:solidFill>
                  <a:srgbClr val="1C2536"/>
                </a:solidFill>
                <a:latin typeface="IBM Plex Sans"/>
                <a:ea typeface="IBM Plex Sans"/>
                <a:cs typeface="IBM Plex Sans"/>
                <a:sym typeface="IBM Plex Sans"/>
              </a:rPr>
              <a:t>Citing paragraph, target marked</a:t>
            </a:r>
            <a:endParaRPr sz="1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812800" y="3906242"/>
            <a:ext cx="3937000" cy="365720"/>
          </a:xfrm>
          <a:prstGeom prst="roundRect">
            <a:avLst>
              <a:gd fmla="val 13890" name="adj"/>
            </a:avLst>
          </a:prstGeom>
          <a:solidFill>
            <a:srgbClr val="ECEEF1"/>
          </a:solidFill>
          <a:ln>
            <a:noFill/>
          </a:ln>
        </p:spPr>
        <p:txBody>
          <a:bodyPr anchorCtr="0" anchor="t" bIns="35900" lIns="112100" spcFirstLastPara="1" rIns="1625" wrap="square" tIns="613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536"/>
              </a:buClr>
              <a:buSzPts val="1200"/>
              <a:buFont typeface="IBM Plex Sans"/>
              <a:buNone/>
            </a:pPr>
            <a:r>
              <a:rPr lang="en-US" sz="1200">
                <a:solidFill>
                  <a:srgbClr val="1C2536"/>
                </a:solidFill>
                <a:latin typeface="IBM Plex Sans"/>
                <a:ea typeface="IBM Plex Sans"/>
                <a:cs typeface="IBM Plex Sans"/>
                <a:sym typeface="IBM Plex Sans"/>
              </a:rPr>
              <a:t>Target sentence, then the answer</a:t>
            </a:r>
            <a:endParaRPr sz="1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812800" y="4348163"/>
            <a:ext cx="4055110" cy="6653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200"/>
              <a:buFont typeface="IBM Plex Sans"/>
              <a:buNone/>
            </a:pPr>
            <a:r>
              <a:rPr lang="en-US" sz="1200">
                <a:solidFill>
                  <a:srgbClr val="4A5363"/>
                </a:solidFill>
                <a:latin typeface="IBM Plex Sans"/>
                <a:ea typeface="IBM Plex Sans"/>
                <a:cs typeface="IBM Plex Sans"/>
                <a:sym typeface="IBM Plex Sans"/>
              </a:rPr>
              <a:t>Chunks from A1 with related-work sections filtered out. The citing text comes last on purpose: judges quote what is closest.</a:t>
            </a:r>
            <a:endParaRPr sz="1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5105400" y="1849041"/>
            <a:ext cx="6462014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C5E9E"/>
              </a:buClr>
              <a:buSzPts val="1200"/>
              <a:buFont typeface="IBM Plex Sans"/>
              <a:buNone/>
            </a:pPr>
            <a:r>
              <a:rPr b="1" lang="en-US" sz="1200">
                <a:solidFill>
                  <a:srgbClr val="2C5E9E"/>
                </a:solidFill>
                <a:latin typeface="IBM Plex Sans"/>
                <a:ea typeface="IBM Plex Sans"/>
                <a:cs typeface="IBM Plex Sans"/>
                <a:sym typeface="IBM Plex Sans"/>
              </a:rPr>
              <a:t>WHAT THE PROMPT TELLS THEM TO DO WITH IT</a:t>
            </a:r>
            <a:endParaRPr sz="1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24" name="Google Shape;224;p12"/>
          <p:cNvCxnSpPr/>
          <p:nvPr/>
        </p:nvCxnSpPr>
        <p:spPr>
          <a:xfrm>
            <a:off x="5118100" y="2189361"/>
            <a:ext cx="0" cy="700881"/>
          </a:xfrm>
          <a:prstGeom prst="straightConnector1">
            <a:avLst/>
          </a:prstGeom>
          <a:noFill/>
          <a:ln cap="flat" cmpd="sng" w="25400">
            <a:solidFill>
              <a:srgbClr val="2C5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5" name="Google Shape;225;p12"/>
          <p:cNvSpPr/>
          <p:nvPr/>
        </p:nvSpPr>
        <p:spPr>
          <a:xfrm>
            <a:off x="5283200" y="2189361"/>
            <a:ext cx="627888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2536"/>
              </a:buClr>
              <a:buSzPts val="1400"/>
              <a:buFont typeface="IBM Plex Sans"/>
              <a:buNone/>
            </a:pPr>
            <a:r>
              <a:rPr b="1" lang="en-US" sz="1400">
                <a:solidFill>
                  <a:srgbClr val="1C2536"/>
                </a:solidFill>
                <a:latin typeface="IBM Plex Sans"/>
                <a:ea typeface="IBM Plex Sans"/>
                <a:cs typeface="IBM Plex Sans"/>
                <a:sym typeface="IBM Plex Sans"/>
              </a:rPr>
              <a:t>Read the function from the citing text</a:t>
            </a:r>
            <a:endParaRPr sz="1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5283200" y="2428081"/>
            <a:ext cx="6278880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300"/>
              <a:buFont typeface="IBM Plex Sans"/>
              <a:buNone/>
            </a:pPr>
            <a:r>
              <a:rPr lang="en-US" sz="1300">
                <a:solidFill>
                  <a:srgbClr val="4A5363"/>
                </a:solidFill>
                <a:latin typeface="IBM Plex Sans"/>
                <a:ea typeface="IBM Plex Sans"/>
                <a:cs typeface="IBM Plex Sans"/>
                <a:sym typeface="IBM Plex Sans"/>
              </a:rPr>
              <a:t>Rule 1: the cited paper’s information helps verify it; its claims about itself, or being closely related, are not a function.</a:t>
            </a:r>
            <a:endParaRPr sz="13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27" name="Google Shape;227;p12"/>
          <p:cNvCxnSpPr/>
          <p:nvPr/>
        </p:nvCxnSpPr>
        <p:spPr>
          <a:xfrm>
            <a:off x="5118100" y="3017242"/>
            <a:ext cx="0" cy="700881"/>
          </a:xfrm>
          <a:prstGeom prst="straightConnector1">
            <a:avLst/>
          </a:prstGeom>
          <a:noFill/>
          <a:ln cap="flat" cmpd="sng" w="25400">
            <a:solidFill>
              <a:srgbClr val="2C5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p12"/>
          <p:cNvSpPr/>
          <p:nvPr/>
        </p:nvSpPr>
        <p:spPr>
          <a:xfrm>
            <a:off x="5283200" y="3017242"/>
            <a:ext cx="627888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2536"/>
              </a:buClr>
              <a:buSzPts val="1400"/>
              <a:buFont typeface="IBM Plex Sans"/>
              <a:buNone/>
            </a:pPr>
            <a:r>
              <a:rPr b="1" lang="en-US" sz="1400">
                <a:solidFill>
                  <a:srgbClr val="1C2536"/>
                </a:solidFill>
                <a:latin typeface="IBM Plex Sans"/>
                <a:ea typeface="IBM Plex Sans"/>
                <a:cs typeface="IBM Plex Sans"/>
                <a:sym typeface="IBM Plex Sans"/>
              </a:rPr>
              <a:t>Check consistency</a:t>
            </a:r>
            <a:endParaRPr sz="1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5283200" y="3255963"/>
            <a:ext cx="6278880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300"/>
              <a:buFont typeface="IBM Plex Sans"/>
              <a:buNone/>
            </a:pPr>
            <a:r>
              <a:rPr lang="en-US" sz="1300">
                <a:solidFill>
                  <a:srgbClr val="4A5363"/>
                </a:solidFill>
                <a:latin typeface="IBM Plex Sans"/>
                <a:ea typeface="IBM Plex Sans"/>
                <a:cs typeface="IBM Plex Sans"/>
                <a:sym typeface="IBM Plex Sans"/>
              </a:rPr>
              <a:t>Rule 6: for Comparison, Application, Improvement/Modification, Evidence and Basis, the cited paper must fit what the citing text says.</a:t>
            </a:r>
            <a:endParaRPr sz="13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30" name="Google Shape;230;p12"/>
          <p:cNvCxnSpPr/>
          <p:nvPr/>
        </p:nvCxnSpPr>
        <p:spPr>
          <a:xfrm>
            <a:off x="5118100" y="3845123"/>
            <a:ext cx="0" cy="700881"/>
          </a:xfrm>
          <a:prstGeom prst="straightConnector1">
            <a:avLst/>
          </a:prstGeom>
          <a:noFill/>
          <a:ln cap="flat" cmpd="sng" w="25400">
            <a:solidFill>
              <a:srgbClr val="2C5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" name="Google Shape;231;p12"/>
          <p:cNvSpPr/>
          <p:nvPr/>
        </p:nvSpPr>
        <p:spPr>
          <a:xfrm>
            <a:off x="5283200" y="3845123"/>
            <a:ext cx="627888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2536"/>
              </a:buClr>
              <a:buSzPts val="1400"/>
              <a:buFont typeface="IBM Plex Sans"/>
              <a:buNone/>
            </a:pPr>
            <a:r>
              <a:rPr b="1" lang="en-US" sz="1400">
                <a:solidFill>
                  <a:srgbClr val="1C2536"/>
                </a:solidFill>
                <a:latin typeface="IBM Plex Sans"/>
                <a:ea typeface="IBM Plex Sans"/>
                <a:cs typeface="IBM Plex Sans"/>
                <a:sym typeface="IBM Plex Sans"/>
              </a:rPr>
              <a:t>Fall back when retrieval misses</a:t>
            </a:r>
            <a:endParaRPr sz="1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32" name="Google Shape;232;p12"/>
          <p:cNvSpPr/>
          <p:nvPr/>
        </p:nvSpPr>
        <p:spPr>
          <a:xfrm>
            <a:off x="5283200" y="4083844"/>
            <a:ext cx="6278880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300"/>
              <a:buFont typeface="IBM Plex Sans"/>
              <a:buNone/>
            </a:pPr>
            <a:r>
              <a:rPr lang="en-US" sz="1300">
                <a:solidFill>
                  <a:srgbClr val="4A5363"/>
                </a:solidFill>
                <a:latin typeface="IBM Plex Sans"/>
                <a:ea typeface="IBM Plex Sans"/>
                <a:cs typeface="IBM Plex Sans"/>
                <a:sym typeface="IBM Plex Sans"/>
              </a:rPr>
              <a:t>If the chunks don’t reflect the paper’s main contribution, rely on the title and abstract.</a:t>
            </a:r>
            <a:endParaRPr sz="13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33" name="Google Shape;233;p12"/>
          <p:cNvCxnSpPr/>
          <p:nvPr/>
        </p:nvCxnSpPr>
        <p:spPr>
          <a:xfrm>
            <a:off x="5118100" y="4673005"/>
            <a:ext cx="0" cy="469801"/>
          </a:xfrm>
          <a:prstGeom prst="straightConnector1">
            <a:avLst/>
          </a:prstGeom>
          <a:noFill/>
          <a:ln cap="flat" cmpd="sng" w="25400">
            <a:solidFill>
              <a:srgbClr val="2C5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4" name="Google Shape;234;p12"/>
          <p:cNvSpPr/>
          <p:nvPr/>
        </p:nvSpPr>
        <p:spPr>
          <a:xfrm>
            <a:off x="5283200" y="4673005"/>
            <a:ext cx="627888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C2536"/>
              </a:buClr>
              <a:buSzPts val="1400"/>
              <a:buFont typeface="IBM Plex Sans"/>
              <a:buNone/>
            </a:pPr>
            <a:r>
              <a:rPr b="1" lang="en-US" sz="1400">
                <a:solidFill>
                  <a:srgbClr val="1C2536"/>
                </a:solidFill>
                <a:latin typeface="IBM Plex Sans"/>
                <a:ea typeface="IBM Plex Sans"/>
                <a:cs typeface="IBM Plex Sans"/>
                <a:sym typeface="IBM Plex Sans"/>
              </a:rPr>
              <a:t>Quote only the citing text</a:t>
            </a:r>
            <a:endParaRPr sz="1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5283200" y="4911725"/>
            <a:ext cx="6278880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300"/>
              <a:buFont typeface="IBM Plex Sans"/>
              <a:buNone/>
            </a:pPr>
            <a:r>
              <a:rPr lang="en-US" sz="1300">
                <a:solidFill>
                  <a:srgbClr val="4A5363"/>
                </a:solidFill>
                <a:latin typeface="IBM Plex Sans"/>
                <a:ea typeface="IBM Plex Sans"/>
                <a:cs typeface="IBM Plex Sans"/>
                <a:sym typeface="IBM Plex Sans"/>
              </a:rPr>
              <a:t>A judge whose evidence quote comes from the cited paper abstains from the vote.</a:t>
            </a:r>
            <a:endParaRPr sz="13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A7280"/>
              </a:buClr>
              <a:buSzPts val="1200"/>
              <a:buFont typeface="IBM Plex Sans"/>
              <a:buNone/>
            </a:pPr>
            <a:r>
              <a:rPr lang="en-US" sz="1200">
                <a:solidFill>
                  <a:srgbClr val="6A7280"/>
                </a:solidFill>
                <a:latin typeface="IBM Plex Sans"/>
                <a:ea typeface="IBM Plex Sans"/>
                <a:cs typeface="IBM Plex Sans"/>
                <a:sym typeface="IBM Plex Sans"/>
              </a:rPr>
              <a:t>A2 · calibration and prompt review · 9 · full text in claude/A2_PROMPT_v11.1_full_text.md</a:t>
            </a:r>
            <a:endParaRPr sz="1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F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3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C5E9E"/>
              </a:buClr>
              <a:buSzPts val="1200"/>
              <a:buFont typeface="IBM Plex Sans"/>
              <a:buNone/>
            </a:pPr>
            <a:r>
              <a:rPr b="1" lang="en-US" sz="1200">
                <a:solidFill>
                  <a:srgbClr val="2C5E9E"/>
                </a:solidFill>
                <a:latin typeface="IBM Plex Sans"/>
                <a:ea typeface="IBM Plex Sans"/>
                <a:cs typeface="IBM Plex Sans"/>
                <a:sym typeface="IBM Plex Sans"/>
              </a:rPr>
              <a:t>CHUNKS · TEST 1, ABLATION</a:t>
            </a:r>
            <a:endParaRPr sz="1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43" name="Google Shape;243;p13"/>
          <p:cNvSpPr txBox="1"/>
          <p:nvPr>
            <p:ph type="title"/>
          </p:nvPr>
        </p:nvSpPr>
        <p:spPr>
          <a:xfrm>
            <a:off x="812800" y="1127720"/>
            <a:ext cx="10883392" cy="49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2536"/>
              </a:buClr>
              <a:buSzPts val="3200"/>
              <a:buFont typeface="Source Serif 4"/>
              <a:buNone/>
            </a:pPr>
            <a:r>
              <a:rPr b="1" i="0" lang="en-US" sz="3200">
                <a:solidFill>
                  <a:srgbClr val="1C2536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Removing the Top-3 chunks changes almost nothing</a:t>
            </a:r>
            <a:endParaRPr sz="3200"/>
          </a:p>
        </p:txBody>
      </p:sp>
      <p:sp>
        <p:nvSpPr>
          <p:cNvPr id="244" name="Google Shape;244;p13"/>
          <p:cNvSpPr/>
          <p:nvPr/>
        </p:nvSpPr>
        <p:spPr>
          <a:xfrm>
            <a:off x="812800" y="1696641"/>
            <a:ext cx="10883392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500"/>
              <a:buFont typeface="IBM Plex Sans"/>
              <a:buNone/>
            </a:pPr>
            <a:r>
              <a:rPr lang="en-US" sz="1500">
                <a:solidFill>
                  <a:srgbClr val="4A5363"/>
                </a:solidFill>
                <a:latin typeface="IBM Plex Sans"/>
                <a:ea typeface="IBM Plex Sans"/>
                <a:cs typeface="IBM Plex Sans"/>
                <a:sym typeface="IBM Plex Sans"/>
              </a:rPr>
              <a:t>A test only: the frozen trio and prompt v11.1, with and without the three chunks. Production keeps the chunks.</a:t>
            </a:r>
            <a:endParaRPr sz="15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45" name="Google Shape;245;p13"/>
          <p:cNvCxnSpPr/>
          <p:nvPr/>
        </p:nvCxnSpPr>
        <p:spPr>
          <a:xfrm>
            <a:off x="812800" y="2280841"/>
            <a:ext cx="3386634" cy="0"/>
          </a:xfrm>
          <a:prstGeom prst="straightConnector1">
            <a:avLst/>
          </a:prstGeom>
          <a:noFill/>
          <a:ln cap="flat" cmpd="sng" w="25400">
            <a:solidFill>
              <a:srgbClr val="2C5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6" name="Google Shape;246;p13"/>
          <p:cNvSpPr/>
          <p:nvPr/>
        </p:nvSpPr>
        <p:spPr>
          <a:xfrm>
            <a:off x="812800" y="2445941"/>
            <a:ext cx="3488233" cy="69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C2536"/>
              </a:buClr>
              <a:buSzPts val="4800"/>
              <a:buFont typeface="Source Serif 4"/>
              <a:buNone/>
            </a:pPr>
            <a:r>
              <a:rPr b="1" lang="en-US" sz="4800">
                <a:solidFill>
                  <a:srgbClr val="1C2536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48 → 49</a:t>
            </a:r>
            <a:endParaRPr sz="4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47" name="Google Shape;247;p13"/>
          <p:cNvSpPr/>
          <p:nvPr/>
        </p:nvSpPr>
        <p:spPr>
          <a:xfrm>
            <a:off x="812800" y="3167261"/>
            <a:ext cx="3488233" cy="771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400"/>
              <a:buFont typeface="IBM Plex Sans"/>
              <a:buNone/>
            </a:pPr>
            <a:r>
              <a:rPr lang="en-US" sz="1400">
                <a:solidFill>
                  <a:srgbClr val="4A5363"/>
                </a:solidFill>
                <a:latin typeface="IBM Plex Sans"/>
                <a:ea typeface="IBM Plex Sans"/>
                <a:cs typeface="IBM Plex Sans"/>
                <a:sym typeface="IBM Plex Sans"/>
              </a:rPr>
              <a:t>eval60 trio, correct against the adjudicated reference; nothing went from right to wrong</a:t>
            </a:r>
            <a:endParaRPr sz="1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48" name="Google Shape;248;p13"/>
          <p:cNvCxnSpPr/>
          <p:nvPr/>
        </p:nvCxnSpPr>
        <p:spPr>
          <a:xfrm>
            <a:off x="4402634" y="2280841"/>
            <a:ext cx="3386733" cy="0"/>
          </a:xfrm>
          <a:prstGeom prst="straightConnector1">
            <a:avLst/>
          </a:prstGeom>
          <a:noFill/>
          <a:ln cap="flat" cmpd="sng" w="25400">
            <a:solidFill>
              <a:srgbClr val="2C5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9" name="Google Shape;249;p13"/>
          <p:cNvSpPr/>
          <p:nvPr/>
        </p:nvSpPr>
        <p:spPr>
          <a:xfrm>
            <a:off x="4402634" y="2445941"/>
            <a:ext cx="3488335" cy="69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C2536"/>
              </a:buClr>
              <a:buSzPts val="4800"/>
              <a:buFont typeface="Source Serif 4"/>
              <a:buNone/>
            </a:pPr>
            <a:r>
              <a:rPr b="1" lang="en-US" sz="4800">
                <a:solidFill>
                  <a:srgbClr val="1C2536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60/60</a:t>
            </a:r>
            <a:endParaRPr sz="4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50" name="Google Shape;250;p13"/>
          <p:cNvSpPr/>
          <p:nvPr/>
        </p:nvSpPr>
        <p:spPr>
          <a:xfrm>
            <a:off x="4402634" y="3167261"/>
            <a:ext cx="3488335" cy="523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400"/>
              <a:buFont typeface="IBM Plex Sans"/>
              <a:buNone/>
            </a:pPr>
            <a:r>
              <a:rPr lang="en-US" sz="1400">
                <a:solidFill>
                  <a:srgbClr val="4A5363"/>
                </a:solidFill>
                <a:latin typeface="IBM Plex Sans"/>
                <a:ea typeface="IBM Plex Sans"/>
                <a:cs typeface="IBM Plex Sans"/>
                <a:sym typeface="IBM Plex Sans"/>
              </a:rPr>
              <a:t>Qwen gives the same eval60 label with or without chunks</a:t>
            </a:r>
            <a:endParaRPr sz="1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251" name="Google Shape;251;p13"/>
          <p:cNvCxnSpPr/>
          <p:nvPr/>
        </p:nvCxnSpPr>
        <p:spPr>
          <a:xfrm>
            <a:off x="7992566" y="2280841"/>
            <a:ext cx="3386634" cy="0"/>
          </a:xfrm>
          <a:prstGeom prst="straightConnector1">
            <a:avLst/>
          </a:prstGeom>
          <a:noFill/>
          <a:ln cap="flat" cmpd="sng" w="25400">
            <a:solidFill>
              <a:srgbClr val="2C5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2" name="Google Shape;252;p13"/>
          <p:cNvSpPr/>
          <p:nvPr/>
        </p:nvSpPr>
        <p:spPr>
          <a:xfrm>
            <a:off x="7992566" y="2445941"/>
            <a:ext cx="3488233" cy="69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C2536"/>
              </a:buClr>
              <a:buSzPts val="4800"/>
              <a:buFont typeface="Source Serif 4"/>
              <a:buNone/>
            </a:pPr>
            <a:r>
              <a:rPr b="1" lang="en-US" sz="4800">
                <a:solidFill>
                  <a:srgbClr val="1C2536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9–12%</a:t>
            </a:r>
            <a:endParaRPr sz="4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53" name="Google Shape;253;p13"/>
          <p:cNvSpPr/>
          <p:nvPr/>
        </p:nvSpPr>
        <p:spPr>
          <a:xfrm>
            <a:off x="7992566" y="3167261"/>
            <a:ext cx="3488233" cy="523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400"/>
              <a:buFont typeface="IBM Plex Sans"/>
              <a:buNone/>
            </a:pPr>
            <a:r>
              <a:rPr lang="en-US" sz="1400">
                <a:solidFill>
                  <a:srgbClr val="4A5363"/>
                </a:solidFill>
                <a:latin typeface="IBM Plex Sans"/>
                <a:ea typeface="IBM Plex Sans"/>
                <a:cs typeface="IBM Plex Sans"/>
                <a:sym typeface="IBM Plex Sans"/>
              </a:rPr>
              <a:t>of labels move per judge on 885 hard cue instances, in both directions</a:t>
            </a:r>
            <a:endParaRPr sz="1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54" name="Google Shape;254;p13"/>
          <p:cNvSpPr/>
          <p:nvPr/>
        </p:nvSpPr>
        <p:spPr>
          <a:xfrm>
            <a:off x="812800" y="4218583"/>
            <a:ext cx="10883392" cy="577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500"/>
              <a:buFont typeface="IBM Plex Sans"/>
              <a:buNone/>
            </a:pPr>
            <a:r>
              <a:rPr lang="en-US" sz="1500">
                <a:solidFill>
                  <a:srgbClr val="4A5363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moves cancel out: high-confidence counts per category stay flat (Gap 109 → 114). Reading the 45 changed trio labels: 16 better with chunks, 18 better without, 11 neither.</a:t>
            </a:r>
            <a:endParaRPr sz="15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55" name="Google Shape;255;p1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A7280"/>
              </a:buClr>
              <a:buSzPts val="1200"/>
              <a:buFont typeface="IBM Plex Sans"/>
              <a:buNone/>
            </a:pPr>
            <a:r>
              <a:rPr lang="en-US" sz="1200">
                <a:solidFill>
                  <a:srgbClr val="6A7280"/>
                </a:solidFill>
                <a:latin typeface="IBM Plex Sans"/>
                <a:ea typeface="IBM Plex Sans"/>
                <a:cs typeface="IBM Plex Sans"/>
                <a:sym typeface="IBM Plex Sans"/>
              </a:rPr>
              <a:t>A2 · calibration and prompt review · 10 · notebook 10g, prompt v11.1-nopass</a:t>
            </a:r>
            <a:endParaRPr sz="1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4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C5E9E"/>
              </a:buClr>
              <a:buSzPts val="1200"/>
              <a:buFont typeface="IBM Plex Sans"/>
              <a:buNone/>
            </a:pPr>
            <a:r>
              <a:rPr b="1" lang="en-US" sz="1200">
                <a:solidFill>
                  <a:srgbClr val="2C5E9E"/>
                </a:solidFill>
                <a:latin typeface="IBM Plex Sans"/>
                <a:ea typeface="IBM Plex Sans"/>
                <a:cs typeface="IBM Plex Sans"/>
                <a:sym typeface="IBM Plex Sans"/>
              </a:rPr>
              <a:t>CHUNKS · TEST 2, PROMPT V12, RAISING AWARENESS</a:t>
            </a:r>
            <a:endParaRPr sz="1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62" name="Google Shape;262;p14"/>
          <p:cNvSpPr txBox="1"/>
          <p:nvPr>
            <p:ph type="title"/>
          </p:nvPr>
        </p:nvSpPr>
        <p:spPr>
          <a:xfrm>
            <a:off x="812800" y="1127720"/>
            <a:ext cx="10883392" cy="960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2536"/>
              </a:buClr>
              <a:buSzPts val="3200"/>
              <a:buFont typeface="Source Serif 4"/>
              <a:buNone/>
            </a:pPr>
            <a:r>
              <a:rPr b="1" i="0" lang="en-US" sz="3200">
                <a:solidFill>
                  <a:srgbClr val="1C2536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Raising the judges’ awareness of the chunks did not help</a:t>
            </a:r>
            <a:endParaRPr sz="3200"/>
          </a:p>
        </p:txBody>
      </p:sp>
      <p:sp>
        <p:nvSpPr>
          <p:cNvPr id="263" name="Google Shape;263;p14"/>
          <p:cNvSpPr/>
          <p:nvPr/>
        </p:nvSpPr>
        <p:spPr>
          <a:xfrm>
            <a:off x="812800" y="2367161"/>
            <a:ext cx="457262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C5E9E"/>
              </a:buClr>
              <a:buSzPts val="1200"/>
              <a:buFont typeface="IBM Plex Sans"/>
              <a:buNone/>
            </a:pPr>
            <a:r>
              <a:rPr b="1" lang="en-US" sz="1200">
                <a:solidFill>
                  <a:srgbClr val="2C5E9E"/>
                </a:solidFill>
                <a:latin typeface="IBM Plex Sans"/>
                <a:ea typeface="IBM Plex Sans"/>
                <a:cs typeface="IBM Plex Sans"/>
                <a:sym typeface="IBM Plex Sans"/>
              </a:rPr>
              <a:t>WHAT V12 ADDED</a:t>
            </a:r>
            <a:endParaRPr sz="1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64" name="Google Shape;264;p14"/>
          <p:cNvSpPr/>
          <p:nvPr/>
        </p:nvSpPr>
        <p:spPr>
          <a:xfrm>
            <a:off x="812800" y="2707481"/>
            <a:ext cx="4572627" cy="798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400"/>
              <a:buFont typeface="IBM Plex Sans"/>
              <a:buNone/>
            </a:pPr>
            <a:r>
              <a:rPr lang="en-US" sz="1400">
                <a:solidFill>
                  <a:srgbClr val="4A5363"/>
                </a:solidFill>
                <a:latin typeface="IBM Plex Sans"/>
                <a:ea typeface="IBM Plex Sans"/>
                <a:cs typeface="IBM Plex Sans"/>
                <a:sym typeface="IBM Plex Sans"/>
              </a:rPr>
              <a:t>Everything in v11.1, chunks included, plus a rule 13 that points the judges to the title, abstract and chunks on four boundaries.</a:t>
            </a:r>
            <a:endParaRPr sz="1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65" name="Google Shape;265;p14"/>
          <p:cNvSpPr/>
          <p:nvPr/>
        </p:nvSpPr>
        <p:spPr>
          <a:xfrm>
            <a:off x="891032" y="3607792"/>
            <a:ext cx="4486775" cy="10564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75768" lvl="0" marL="175768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400"/>
              <a:buFont typeface="IBM Plex Sans"/>
              <a:buChar char="•"/>
            </a:pPr>
            <a:r>
              <a:rPr lang="en-US" sz="1400">
                <a:solidFill>
                  <a:srgbClr val="4A5363"/>
                </a:solidFill>
                <a:latin typeface="IBM Plex Sans"/>
                <a:ea typeface="IBM Plex Sans"/>
                <a:cs typeface="IBM Plex Sans"/>
                <a:sym typeface="IBM Plex Sans"/>
              </a:rPr>
              <a:t>Gap vs Evidence (reports vs has the limitation)</a:t>
            </a:r>
            <a:endParaRPr sz="1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75768" lvl="0" marL="175768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400"/>
              <a:buFont typeface="IBM Plex Sans"/>
              <a:buChar char="•"/>
            </a:pPr>
            <a:r>
              <a:rPr lang="en-US" sz="1400">
                <a:solidFill>
                  <a:srgbClr val="4A5363"/>
                </a:solidFill>
                <a:latin typeface="IBM Plex Sans"/>
                <a:ea typeface="IBM Plex Sans"/>
                <a:cs typeface="IBM Plex Sans"/>
                <a:sym typeface="IBM Plex Sans"/>
              </a:rPr>
              <a:t>Application vs Background (datasets, tools)</a:t>
            </a:r>
            <a:endParaRPr sz="1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75768" lvl="0" marL="175768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400"/>
              <a:buFont typeface="IBM Plex Sans"/>
              <a:buChar char="•"/>
            </a:pPr>
            <a:r>
              <a:rPr lang="en-US" sz="1400">
                <a:solidFill>
                  <a:srgbClr val="4A5363"/>
                </a:solidFill>
                <a:latin typeface="IBM Plex Sans"/>
                <a:ea typeface="IBM Plex Sans"/>
                <a:cs typeface="IBM Plex Sans"/>
                <a:sym typeface="IBM Plex Sans"/>
              </a:rPr>
              <a:t>Further Reading vs Evidence (surveys)</a:t>
            </a:r>
            <a:endParaRPr sz="1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175768" lvl="0" marL="175768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400"/>
              <a:buFont typeface="IBM Plex Sans"/>
              <a:buChar char="•"/>
            </a:pPr>
            <a:r>
              <a:rPr lang="en-US" sz="1400">
                <a:solidFill>
                  <a:srgbClr val="4A5363"/>
                </a:solidFill>
                <a:latin typeface="IBM Plex Sans"/>
                <a:ea typeface="IBM Plex Sans"/>
                <a:cs typeface="IBM Plex Sans"/>
                <a:sym typeface="IBM Plex Sans"/>
              </a:rPr>
              <a:t>Originator, as confirmation only</a:t>
            </a:r>
            <a:endParaRPr sz="1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66" name="Google Shape;266;p14"/>
          <p:cNvSpPr/>
          <p:nvPr/>
        </p:nvSpPr>
        <p:spPr>
          <a:xfrm>
            <a:off x="5607844" y="2367161"/>
            <a:ext cx="594449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C5E9E"/>
              </a:buClr>
              <a:buSzPts val="1200"/>
              <a:buFont typeface="IBM Plex Sans"/>
              <a:buNone/>
            </a:pPr>
            <a:r>
              <a:rPr b="1" lang="en-US" sz="1200">
                <a:solidFill>
                  <a:srgbClr val="2C5E9E"/>
                </a:solidFill>
                <a:latin typeface="IBM Plex Sans"/>
                <a:ea typeface="IBM Plex Sans"/>
                <a:cs typeface="IBM Plex Sans"/>
                <a:sym typeface="IBM Plex Sans"/>
              </a:rPr>
              <a:t>CRITERIA FIXED BEFORE THE RUN</a:t>
            </a:r>
            <a:endParaRPr sz="1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aphicFrame>
        <p:nvGraphicFramePr>
          <p:cNvPr id="267" name="Google Shape;267;p14"/>
          <p:cNvGraphicFramePr/>
          <p:nvPr/>
        </p:nvGraphicFramePr>
        <p:xfrm>
          <a:off x="5620544" y="27455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{5972D739-7D8E-44E2-B83B-F6AA39F61B1E}</a:tableStyleId>
              </a:tblPr>
              <a:tblGrid>
                <a:gridCol w="3193300"/>
                <a:gridCol w="1596650"/>
                <a:gridCol w="912375"/>
              </a:tblGrid>
              <a:tr h="35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Criterion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v12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Result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2DD"/>
                    </a:solidFill>
                  </a:tcPr>
                </a:tc>
              </a:tr>
              <a:tr h="35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eval60 trio ≥ 48/60, ≤ 1 broke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47/60, 2 broke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Fail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B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Basis ≤ 8 on 285 random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6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Pass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EF1"/>
                    </a:solidFill>
                  </a:tcPr>
                </a:tc>
              </a:tr>
              <a:tr h="359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≥ 14 of 20 blind flips better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not needed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2536"/>
                        </a:buClr>
                        <a:buSzPts val="1300"/>
                        <a:buFont typeface="IBM Plex Sans"/>
                        <a:buNone/>
                      </a:pPr>
                      <a:r>
                        <a:rPr lang="en-US" sz="1300" u="none" cap="none" strike="noStrike">
                          <a:solidFill>
                            <a:srgbClr val="1C2536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—</a:t>
                      </a:r>
                      <a:endParaRPr sz="13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57775" marB="57775" marR="57775" marL="57775">
                    <a:lnL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E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4C3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8" name="Google Shape;268;p14"/>
          <p:cNvSpPr/>
          <p:nvPr/>
        </p:nvSpPr>
        <p:spPr>
          <a:xfrm>
            <a:off x="5607844" y="4335066"/>
            <a:ext cx="5944497" cy="5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363"/>
              </a:buClr>
              <a:buSzPts val="1400"/>
              <a:buFont typeface="IBM Plex Sans"/>
              <a:buNone/>
            </a:pPr>
            <a:r>
              <a:rPr lang="en-US" sz="1400">
                <a:solidFill>
                  <a:srgbClr val="4A5363"/>
                </a:solidFill>
                <a:latin typeface="IBM Plex Sans"/>
                <a:ea typeface="IBM Plex Sans"/>
                <a:cs typeface="IBM Plex Sans"/>
                <a:sym typeface="IBM Plex Sans"/>
              </a:rPr>
              <a:t>Mistral Small fell from 41 to 38: the longer rule list costs the weakest judge. On the pool, Gap vs Evidence barely moved (Gap 109 → 107).</a:t>
            </a:r>
            <a:endParaRPr sz="14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69" name="Google Shape;269;p14"/>
          <p:cNvSpPr/>
          <p:nvPr/>
        </p:nvSpPr>
        <p:spPr>
          <a:xfrm>
            <a:off x="812800" y="5155406"/>
            <a:ext cx="10883392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C2536"/>
              </a:buClr>
              <a:buSzPts val="1600"/>
              <a:buFont typeface="IBM Plex Sans"/>
              <a:buNone/>
            </a:pPr>
            <a:r>
              <a:rPr b="1" lang="en-US" sz="1600">
                <a:solidFill>
                  <a:srgbClr val="1C2536"/>
                </a:solidFill>
                <a:latin typeface="IBM Plex Sans"/>
                <a:ea typeface="IBM Plex Sans"/>
                <a:cs typeface="IBM Plex Sans"/>
                <a:sym typeface="IBM Plex Sans"/>
              </a:rPr>
              <a:t>Decision: v12 is rejected; prompt v11.1, chunks included, stays frozen.</a:t>
            </a:r>
            <a:endParaRPr sz="16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70" name="Google Shape;270;p14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A7280"/>
              </a:buClr>
              <a:buSzPts val="1200"/>
              <a:buFont typeface="IBM Plex Sans"/>
              <a:buNone/>
            </a:pPr>
            <a:r>
              <a:rPr lang="en-US" sz="1200">
                <a:solidFill>
                  <a:srgbClr val="6A7280"/>
                </a:solidFill>
                <a:latin typeface="IBM Plex Sans"/>
                <a:ea typeface="IBM Plex Sans"/>
                <a:cs typeface="IBM Plex Sans"/>
                <a:sym typeface="IBM Plex Sans"/>
              </a:rPr>
              <a:t>A2 · calibration and prompt review · 11 · notebook 10h, a2_prompt_v12.py</a:t>
            </a:r>
            <a:endParaRPr sz="1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5E9E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5"/>
          <p:cNvSpPr/>
          <p:nvPr/>
        </p:nvSpPr>
        <p:spPr>
          <a:xfrm>
            <a:off x="812800" y="1745059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E6F4"/>
              </a:buClr>
              <a:buSzPts val="1200"/>
              <a:buFont typeface="IBM Plex Sans"/>
              <a:buNone/>
            </a:pPr>
            <a:r>
              <a:rPr b="1" lang="en-US" sz="1200">
                <a:solidFill>
                  <a:srgbClr val="DCE6F4"/>
                </a:solidFill>
                <a:latin typeface="IBM Plex Sans"/>
                <a:ea typeface="IBM Plex Sans"/>
                <a:cs typeface="IBM Plex Sans"/>
                <a:sym typeface="IBM Plex Sans"/>
              </a:rPr>
              <a:t>CHUNKS · WHAT WE TAKE FROM BOTH TESTS</a:t>
            </a:r>
            <a:endParaRPr sz="1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77" name="Google Shape;277;p15"/>
          <p:cNvSpPr txBox="1"/>
          <p:nvPr>
            <p:ph type="title"/>
          </p:nvPr>
        </p:nvSpPr>
        <p:spPr>
          <a:xfrm>
            <a:off x="812800" y="2263180"/>
            <a:ext cx="10883392" cy="17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DF9"/>
              </a:buClr>
              <a:buSzPts val="4000"/>
              <a:buFont typeface="Source Serif 4"/>
              <a:buNone/>
            </a:pPr>
            <a:r>
              <a:rPr b="1" i="0" lang="en-US" sz="4000">
                <a:solidFill>
                  <a:srgbClr val="FFFDF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We keep the chunks. The judges read mainly the citing text; the chunks matter most where a person checks them.</a:t>
            </a:r>
            <a:endParaRPr sz="4000"/>
          </a:p>
        </p:txBody>
      </p:sp>
      <p:sp>
        <p:nvSpPr>
          <p:cNvPr id="278" name="Google Shape;278;p15"/>
          <p:cNvSpPr/>
          <p:nvPr/>
        </p:nvSpPr>
        <p:spPr>
          <a:xfrm>
            <a:off x="812800" y="4320580"/>
            <a:ext cx="10883392" cy="614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4ECF7"/>
              </a:buClr>
              <a:buSzPts val="1600"/>
              <a:buFont typeface="IBM Plex Sans"/>
              <a:buNone/>
            </a:pPr>
            <a:r>
              <a:rPr lang="en-US" sz="1600">
                <a:solidFill>
                  <a:srgbClr val="E4ECF7"/>
                </a:solidFill>
                <a:latin typeface="IBM Plex Sans"/>
                <a:ea typeface="IBM Plex Sans"/>
                <a:cs typeface="IBM Plex Sans"/>
                <a:sym typeface="IBM Plex Sans"/>
              </a:rPr>
              <a:t>For A3: chunks on demand for Gap vs Evidence. For the report: a clear negative result on LLM pre-labeling, useful going into the A4 comparison of title + abstract vs chunks.</a:t>
            </a:r>
            <a:endParaRPr sz="16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79" name="Google Shape;279;p15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E6F4"/>
              </a:buClr>
              <a:buSzPts val="1200"/>
              <a:buFont typeface="IBM Plex Sans"/>
              <a:buNone/>
            </a:pPr>
            <a:r>
              <a:rPr lang="en-US" sz="1200">
                <a:solidFill>
                  <a:srgbClr val="DCE6F4"/>
                </a:solidFill>
                <a:latin typeface="IBM Plex Sans"/>
                <a:ea typeface="IBM Plex Sans"/>
                <a:cs typeface="IBM Plex Sans"/>
                <a:sym typeface="IBM Plex Sans"/>
              </a:rPr>
              <a:t>A2 · calibration and prompt review · 12</a:t>
            </a:r>
            <a:endParaRPr sz="1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2: calibration and prompt review">
  <a:themeElements>
    <a:clrScheme name="A2: calibration and prompt review">
      <a:dk1>
        <a:srgbClr val="1C2536"/>
      </a:dk1>
      <a:lt1>
        <a:srgbClr val="F6F4EF"/>
      </a:lt1>
      <a:dk2>
        <a:srgbClr val="535964"/>
      </a:dk2>
      <a:lt2>
        <a:srgbClr val="E0DFDD"/>
      </a:lt2>
      <a:accent1>
        <a:srgbClr val="2C5E9E"/>
      </a:accent1>
      <a:accent2>
        <a:srgbClr val="9DB8DE"/>
      </a:accent2>
      <a:accent3>
        <a:srgbClr val="4A5363"/>
      </a:accent3>
      <a:accent4>
        <a:srgbClr val="6A7280"/>
      </a:accent4>
      <a:accent5>
        <a:srgbClr val="C9D3E0"/>
      </a:accent5>
      <a:accent6>
        <a:srgbClr val="DCE6F4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2026-10-14T21:06:50Z</dcterms:created>
</cp:coreProperties>
</file>