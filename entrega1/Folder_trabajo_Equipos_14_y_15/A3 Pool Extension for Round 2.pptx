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263"/>
  </p:normalViewPr>
  <p:slideViewPr>
    <p:cSldViewPr snapToGrid="0" snapToObjects="1">
      <p:cViewPr varScale="1">
        <p:scale>
          <a:sx n="86" d="100"/>
          <a:sy n="86" d="100"/>
        </p:scale>
        <p:origin x="21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0891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days of work to make round 2 possible. Round 1 covered six categories; the three left were too scarce in the pool for two test sets of 360 each. This deck covers what we did, what it gave us, and what to watch when annotating round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sampled Background, Comparison, Gap, Evidence, Application and Originator. The rest needed 360 per half. The sampler refuses to sample a category twice, and the draw depends on the whole pool, so we could not draw now and top up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frozen setup for every new batch: prompt v11.1, the three pinned judge revisions, vLLM 0.29.0, norw passages. The extended pool is the round-1 pool byte for byte, followed by the new rows; the round-1 hash still matches the manifest.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cues follow prompt rule 3: Basis needs the current work as the subject. Before building, the already-judged hits gave a 44% yield on the random batches; the batch came out at 47.9%. At most one per citation group and 5 per citing paper, no overlap with any earlier batch. About 2 h on the A100.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chunking and cleaning ran on the Mac, A1 on a Colab T4 (about 1.5 h), judging on the A100 (about 1.5 h). The version check re-chunked 200 shared papers with transformers 5.17.0 and got exactly the pilot’s chunks. 21 non-English citing papers excluded; the related-work exclusion list has 77,052 chunks (4.9%).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Yield = high-confidence labels in the stratum’s own category over instances. The batch: 95.6% high confidence, 4.4% ties, 6 parse errors in 11,709 answers. The Originator rows go to training only: Originator was already sampled in round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frozen setup for both batches: prompt v11.1, Qwen3.8-27B, gemma-4-26B-A4B-it and Mistral-Small-3.2-24B at their pinned revisions, vLLM 0.29.0. The extended pool is the round-1 pool line for line, then the new records; re-merging the Basis batch gave exactly the same counts.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2,000 target is the proposal’s per-category goal for the whole dataset. Basis is now met. Further Reading and Originator are about 200 short each; IM cannot be fixed by extension, because its cue rate is about 9 per 10,000 pairs in every subcategory we measured.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active + 30 reserve per set and category. The round-1 sample counts against the limits (at most 2 per citing paper, 1 per citation group). The draw is a preview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Reading held up better than feared: 73% of its new labels are unanimous, close to the pilot’s 82%. Basis is 68% unanimous. IM is the weak one, so it is the category whose correction rate we should look at first after the first wave.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sets are covered. For the 2,000-per-category training target we use the supply we have, documented in the contract and the report. More subcategories would help Further Reading and Originator but not IM; that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812781"/>
            <a:ext cx="10566436" cy="502859"/>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82" y="1620440"/>
            <a:ext cx="10566418" cy="44247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812781"/>
            <a:ext cx="10566436" cy="502859"/>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782" y="1620440"/>
            <a:ext cx="10566418" cy="44247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82" y="1887231"/>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A65A"/>
                </a:solidFill>
                <a:latin typeface="IBM Plex Sans" pitchFamily="34" charset="0"/>
                <a:ea typeface="IBM Plex Sans" pitchFamily="34" charset="-122"/>
                <a:cs typeface="IBM Plex Sans" pitchFamily="34" charset="-120"/>
              </a:rPr>
              <a:t>A3 · TEST SETS · ROUND 2</a:t>
            </a:r>
            <a:endParaRPr lang="en-US" sz="1400" dirty="0"/>
          </a:p>
        </p:txBody>
      </p:sp>
      <p:sp>
        <p:nvSpPr>
          <p:cNvPr id="3" name="Text 1"/>
          <p:cNvSpPr>
            <a:spLocks noGrp="1"/>
          </p:cNvSpPr>
          <p:nvPr>
            <p:ph type="title"/>
          </p:nvPr>
        </p:nvSpPr>
        <p:spPr>
          <a:xfrm>
            <a:off x="812782" y="2390089"/>
            <a:ext cx="10883429" cy="1625528"/>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2EC"/>
                </a:solidFill>
                <a:latin typeface="Source Serif 4" pitchFamily="18" charset="0"/>
                <a:ea typeface="Source Serif 4" pitchFamily="18" charset="-122"/>
                <a:cs typeface="Source Serif 4" pitchFamily="18" charset="-120"/>
              </a:rPr>
              <a:t>Pool extension</a:t>
            </a:r>
            <a:endParaRPr lang="en-US" sz="6000" dirty="0"/>
          </a:p>
          <a:p>
            <a:pPr marL="0" indent="0" algn="l">
              <a:lnSpc>
                <a:spcPts val="6300"/>
              </a:lnSpc>
              <a:buNone/>
            </a:pPr>
            <a:r>
              <a:rPr lang="en-US" sz="6000" b="1" i="0" dirty="0">
                <a:solidFill>
                  <a:srgbClr val="F4F2EC"/>
                </a:solidFill>
                <a:latin typeface="Source Serif 4" pitchFamily="18" charset="0"/>
                <a:ea typeface="Source Serif 4" pitchFamily="18" charset="-122"/>
                <a:cs typeface="Source Serif 4" pitchFamily="18" charset="-120"/>
              </a:rPr>
              <a:t>for round 2</a:t>
            </a:r>
            <a:endParaRPr lang="en-US" sz="6000" dirty="0"/>
          </a:p>
        </p:txBody>
      </p:sp>
      <p:sp>
        <p:nvSpPr>
          <p:cNvPr id="4" name="Text 2"/>
          <p:cNvSpPr/>
          <p:nvPr/>
        </p:nvSpPr>
        <p:spPr>
          <a:xfrm>
            <a:off x="812782" y="4244217"/>
            <a:ext cx="9156700" cy="751862"/>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2E3"/>
                </a:solidFill>
                <a:latin typeface="IBM Plex Sans" pitchFamily="34" charset="0"/>
                <a:ea typeface="IBM Plex Sans" pitchFamily="34" charset="-122"/>
                <a:cs typeface="IBM Plex Sans" pitchFamily="34" charset="-120"/>
              </a:rPr>
              <a:t>Basis, Improvement/Modification and Further Reading now reach 360 candidates per half</a:t>
            </a:r>
            <a:endParaRPr lang="en-US" sz="2200" dirty="0"/>
          </a:p>
        </p:txBody>
      </p:sp>
      <p:sp>
        <p:nvSpPr>
          <p:cNvPr id="5" name="Text 3"/>
          <p:cNvSpPr/>
          <p:nvPr/>
        </p:nvSpPr>
        <p:spPr>
          <a:xfrm>
            <a:off x="812782" y="6238243"/>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7BF"/>
                </a:solidFill>
                <a:latin typeface="IBM Plex Sans" pitchFamily="34" charset="0"/>
                <a:ea typeface="IBM Plex Sans" pitchFamily="34" charset="-122"/>
                <a:cs typeface="IBM Plex Sans" pitchFamily="34" charset="-120"/>
              </a:rPr>
              <a:t>Groups 14 + 15 · October 21–22, 2026 · prompt v11.1, frozen judges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103111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The three categories left for round 2 were too scarce</a:t>
            </a:r>
            <a:endParaRPr lang="en-US" sz="3600" dirty="0"/>
          </a:p>
        </p:txBody>
      </p:sp>
      <p:sp>
        <p:nvSpPr>
          <p:cNvPr id="3" name="Shape 1"/>
          <p:cNvSpPr/>
          <p:nvPr/>
        </p:nvSpPr>
        <p:spPr>
          <a:xfrm>
            <a:off x="815957" y="2177238"/>
            <a:ext cx="5124432" cy="2733079"/>
          </a:xfrm>
          <a:prstGeom prst="roundRect">
            <a:avLst>
              <a:gd name="adj" fmla="val 3601"/>
            </a:avLst>
          </a:prstGeom>
          <a:solidFill>
            <a:srgbClr val="FFFFFF"/>
          </a:solidFill>
          <a:ln w="6350">
            <a:solidFill>
              <a:srgbClr val="DDE1E8"/>
            </a:solidFill>
            <a:prstDash val="solid"/>
          </a:ln>
        </p:spPr>
        <p:txBody>
          <a:bodyPr/>
          <a:lstStyle/>
          <a:p>
            <a:endParaRPr lang="es-ES_tradnl"/>
          </a:p>
        </p:txBody>
      </p:sp>
      <p:sp>
        <p:nvSpPr>
          <p:cNvPr id="4" name="Text 2"/>
          <p:cNvSpPr/>
          <p:nvPr/>
        </p:nvSpPr>
        <p:spPr>
          <a:xfrm>
            <a:off x="1123337" y="2484617"/>
            <a:ext cx="4644963" cy="27425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F5FB8"/>
                </a:solidFill>
                <a:latin typeface="IBM Plex Sans" pitchFamily="34" charset="0"/>
                <a:ea typeface="IBM Plex Sans" pitchFamily="34" charset="-122"/>
                <a:cs typeface="IBM Plex Sans" pitchFamily="34" charset="-120"/>
              </a:rPr>
              <a:t>NEEDED</a:t>
            </a:r>
            <a:endParaRPr lang="en-US" sz="1400" dirty="0"/>
          </a:p>
        </p:txBody>
      </p:sp>
      <p:sp>
        <p:nvSpPr>
          <p:cNvPr id="5" name="Text 3"/>
          <p:cNvSpPr/>
          <p:nvPr/>
        </p:nvSpPr>
        <p:spPr>
          <a:xfrm>
            <a:off x="1123337" y="2860477"/>
            <a:ext cx="4644963"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213D"/>
                </a:solidFill>
                <a:latin typeface="Source Serif 4" pitchFamily="18" charset="0"/>
                <a:ea typeface="Source Serif 4" pitchFamily="18" charset="-122"/>
                <a:cs typeface="Source Serif 4" pitchFamily="18" charset="-120"/>
              </a:rPr>
              <a:t>360</a:t>
            </a:r>
            <a:endParaRPr lang="en-US" sz="6000" dirty="0"/>
          </a:p>
        </p:txBody>
      </p:sp>
      <p:sp>
        <p:nvSpPr>
          <p:cNvPr id="6" name="Text 4"/>
          <p:cNvSpPr/>
          <p:nvPr/>
        </p:nvSpPr>
        <p:spPr>
          <a:xfrm>
            <a:off x="1123337" y="3749477"/>
            <a:ext cx="4644963" cy="87886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candidates per category and per half (330 active + 30 reserve), so 720 per category for both test sets</a:t>
            </a:r>
            <a:endParaRPr lang="en-US" sz="1600" dirty="0"/>
          </a:p>
        </p:txBody>
      </p:sp>
      <p:sp>
        <p:nvSpPr>
          <p:cNvPr id="7" name="Shape 5"/>
          <p:cNvSpPr/>
          <p:nvPr/>
        </p:nvSpPr>
        <p:spPr>
          <a:xfrm>
            <a:off x="6251521" y="2177238"/>
            <a:ext cx="5124522" cy="2733079"/>
          </a:xfrm>
          <a:prstGeom prst="roundRect">
            <a:avLst>
              <a:gd name="adj" fmla="val 3601"/>
            </a:avLst>
          </a:prstGeom>
          <a:solidFill>
            <a:srgbClr val="FFFFFF"/>
          </a:solidFill>
          <a:ln w="6350">
            <a:solidFill>
              <a:srgbClr val="DDE1E8"/>
            </a:solidFill>
            <a:prstDash val="solid"/>
          </a:ln>
        </p:spPr>
        <p:txBody>
          <a:bodyPr/>
          <a:lstStyle/>
          <a:p>
            <a:endParaRPr lang="es-ES_tradnl"/>
          </a:p>
        </p:txBody>
      </p:sp>
      <p:sp>
        <p:nvSpPr>
          <p:cNvPr id="8" name="Text 6"/>
          <p:cNvSpPr/>
          <p:nvPr/>
        </p:nvSpPr>
        <p:spPr>
          <a:xfrm>
            <a:off x="6558900" y="2484617"/>
            <a:ext cx="4645056" cy="27425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C2611F"/>
                </a:solidFill>
                <a:latin typeface="IBM Plex Sans" pitchFamily="34" charset="0"/>
                <a:ea typeface="IBM Plex Sans" pitchFamily="34" charset="-122"/>
                <a:cs typeface="IBM Plex Sans" pitchFamily="34" charset="-120"/>
              </a:rPr>
              <a:t>AVAILABLE (OCT 21)</a:t>
            </a:r>
            <a:endParaRPr lang="en-US" sz="1400" dirty="0"/>
          </a:p>
        </p:txBody>
      </p:sp>
      <p:sp>
        <p:nvSpPr>
          <p:cNvPr id="9" name="Text 7"/>
          <p:cNvSpPr/>
          <p:nvPr/>
        </p:nvSpPr>
        <p:spPr>
          <a:xfrm>
            <a:off x="6558900" y="2860477"/>
            <a:ext cx="464505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213D"/>
                </a:solidFill>
                <a:latin typeface="Source Serif 4" pitchFamily="18" charset="0"/>
                <a:ea typeface="Source Serif 4" pitchFamily="18" charset="-122"/>
                <a:cs typeface="Source Serif 4" pitchFamily="18" charset="-120"/>
              </a:rPr>
              <a:t>≈230–285</a:t>
            </a:r>
            <a:endParaRPr lang="en-US" sz="6000" dirty="0"/>
          </a:p>
        </p:txBody>
      </p:sp>
      <p:sp>
        <p:nvSpPr>
          <p:cNvPr id="10" name="Text 8"/>
          <p:cNvSpPr/>
          <p:nvPr/>
        </p:nvSpPr>
        <p:spPr>
          <a:xfrm>
            <a:off x="6558900" y="3749477"/>
            <a:ext cx="4645056" cy="87886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per half for Basis, Improvement/Modification and Further Reading, from about 500–570 high-confidence, test-eligible rows each</a:t>
            </a:r>
            <a:endParaRPr lang="en-US" sz="1600" dirty="0"/>
          </a:p>
        </p:txBody>
      </p:sp>
      <p:sp>
        <p:nvSpPr>
          <p:cNvPr id="11" name="Text 9"/>
          <p:cNvSpPr/>
          <p:nvPr/>
        </p:nvSpPr>
        <p:spPr>
          <a:xfrm>
            <a:off x="812782" y="5269057"/>
            <a:ext cx="10883429"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The sampler draws each category only once, so the pool had to be final before the round-2 draw.</a:t>
            </a:r>
            <a:endParaRPr lang="en-US" sz="1600" dirty="0"/>
          </a:p>
        </p:txBody>
      </p:sp>
      <p:sp>
        <p:nvSpPr>
          <p:cNvPr id="12" name="Text 10"/>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2 · Source: pool_v11.1/counts.md; contract §6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Two routes, one copy of the pool</a:t>
            </a:r>
            <a:endParaRPr lang="en-US" sz="3600" dirty="0"/>
          </a:p>
        </p:txBody>
      </p:sp>
      <p:sp>
        <p:nvSpPr>
          <p:cNvPr id="3" name="Shape 1"/>
          <p:cNvSpPr/>
          <p:nvPr/>
        </p:nvSpPr>
        <p:spPr>
          <a:xfrm>
            <a:off x="815957" y="1674378"/>
            <a:ext cx="3346432" cy="2473938"/>
          </a:xfrm>
          <a:prstGeom prst="roundRect">
            <a:avLst>
              <a:gd name="adj" fmla="val 3978"/>
            </a:avLst>
          </a:prstGeom>
          <a:solidFill>
            <a:srgbClr val="FFFFFF"/>
          </a:solidFill>
          <a:ln w="6350">
            <a:solidFill>
              <a:srgbClr val="DDE1E8"/>
            </a:solidFill>
            <a:prstDash val="solid"/>
          </a:ln>
        </p:spPr>
        <p:txBody>
          <a:bodyPr/>
          <a:lstStyle/>
          <a:p>
            <a:endParaRPr lang="es-ES_tradnl"/>
          </a:p>
        </p:txBody>
      </p:sp>
      <p:sp>
        <p:nvSpPr>
          <p:cNvPr id="4" name="Text 2"/>
          <p:cNvSpPr/>
          <p:nvPr/>
        </p:nvSpPr>
        <p:spPr>
          <a:xfrm>
            <a:off x="1097901" y="1956322"/>
            <a:ext cx="2866021" cy="360669"/>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A · Basis cue</a:t>
            </a:r>
            <a:endParaRPr lang="en-US" sz="2200" dirty="0"/>
          </a:p>
        </p:txBody>
      </p:sp>
      <p:sp>
        <p:nvSpPr>
          <p:cNvPr id="5" name="Text 3"/>
          <p:cNvSpPr/>
          <p:nvPr/>
        </p:nvSpPr>
        <p:spPr>
          <a:xfrm>
            <a:off x="1097901" y="2393156"/>
            <a:ext cx="2866021" cy="1447836"/>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Basis never had a cue stratum. A new cue on the current corpus finds sentences where our work builds on the cited one.</a:t>
            </a:r>
            <a:endParaRPr lang="en-US" sz="1600" dirty="0"/>
          </a:p>
        </p:txBody>
      </p:sp>
      <p:sp>
        <p:nvSpPr>
          <p:cNvPr id="6" name="Shape 4"/>
          <p:cNvSpPr/>
          <p:nvPr/>
        </p:nvSpPr>
        <p:spPr>
          <a:xfrm>
            <a:off x="4422739" y="1674378"/>
            <a:ext cx="3346522" cy="2473938"/>
          </a:xfrm>
          <a:prstGeom prst="roundRect">
            <a:avLst>
              <a:gd name="adj" fmla="val 3978"/>
            </a:avLst>
          </a:prstGeom>
          <a:solidFill>
            <a:srgbClr val="FFFFFF"/>
          </a:solidFill>
          <a:ln w="6350">
            <a:solidFill>
              <a:srgbClr val="DDE1E8"/>
            </a:solidFill>
            <a:prstDash val="solid"/>
          </a:ln>
        </p:spPr>
        <p:txBody>
          <a:bodyPr/>
          <a:lstStyle/>
          <a:p>
            <a:endParaRPr lang="es-ES_tradnl"/>
          </a:p>
        </p:txBody>
      </p:sp>
      <p:sp>
        <p:nvSpPr>
          <p:cNvPr id="7" name="Text 5"/>
          <p:cNvSpPr/>
          <p:nvPr/>
        </p:nvSpPr>
        <p:spPr>
          <a:xfrm>
            <a:off x="4704682" y="1956322"/>
            <a:ext cx="2866114" cy="695938"/>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B · New subcategories</a:t>
            </a:r>
            <a:endParaRPr lang="en-US" sz="2200" dirty="0"/>
          </a:p>
        </p:txBody>
      </p:sp>
      <p:sp>
        <p:nvSpPr>
          <p:cNvPr id="8" name="Text 6"/>
          <p:cNvSpPr/>
          <p:nvPr/>
        </p:nvSpPr>
        <p:spPr>
          <a:xfrm>
            <a:off x="4704682" y="2728424"/>
            <a:ext cx="2866114" cy="116334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cs.LG, cs.CL and cs.DS through the full pipeline, for Further Reading (and more Originator and IM).</a:t>
            </a:r>
            <a:endParaRPr lang="en-US" sz="1600" dirty="0"/>
          </a:p>
        </p:txBody>
      </p:sp>
      <p:sp>
        <p:nvSpPr>
          <p:cNvPr id="9" name="Shape 7"/>
          <p:cNvSpPr/>
          <p:nvPr/>
        </p:nvSpPr>
        <p:spPr>
          <a:xfrm>
            <a:off x="8029611" y="1674378"/>
            <a:ext cx="3346432" cy="2473938"/>
          </a:xfrm>
          <a:prstGeom prst="roundRect">
            <a:avLst>
              <a:gd name="adj" fmla="val 3978"/>
            </a:avLst>
          </a:prstGeom>
          <a:solidFill>
            <a:srgbClr val="FFFFFF"/>
          </a:solidFill>
          <a:ln w="6350">
            <a:solidFill>
              <a:srgbClr val="DDE1E8"/>
            </a:solidFill>
            <a:prstDash val="solid"/>
          </a:ln>
        </p:spPr>
        <p:txBody>
          <a:bodyPr/>
          <a:lstStyle/>
          <a:p>
            <a:endParaRPr lang="es-ES_tradnl"/>
          </a:p>
        </p:txBody>
      </p:sp>
      <p:sp>
        <p:nvSpPr>
          <p:cNvPr id="10" name="Text 8"/>
          <p:cNvSpPr/>
          <p:nvPr/>
        </p:nvSpPr>
        <p:spPr>
          <a:xfrm>
            <a:off x="8311555" y="1956322"/>
            <a:ext cx="2866021" cy="360669"/>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C · Fallback</a:t>
            </a:r>
            <a:endParaRPr lang="en-US" sz="2200" dirty="0"/>
          </a:p>
        </p:txBody>
      </p:sp>
      <p:sp>
        <p:nvSpPr>
          <p:cNvPr id="11" name="Text 9"/>
          <p:cNvSpPr/>
          <p:nvPr/>
        </p:nvSpPr>
        <p:spPr>
          <a:xfrm>
            <a:off x="8311555" y="2393156"/>
            <a:ext cx="2866021" cy="59437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Lower, documented quotas. Not needed for the test sets.</a:t>
            </a:r>
            <a:endParaRPr lang="en-US" sz="1600" dirty="0"/>
          </a:p>
        </p:txBody>
      </p:sp>
      <p:sp>
        <p:nvSpPr>
          <p:cNvPr id="12" name="Shape 10"/>
          <p:cNvSpPr/>
          <p:nvPr/>
        </p:nvSpPr>
        <p:spPr>
          <a:xfrm>
            <a:off x="812782" y="4507057"/>
            <a:ext cx="10566436" cy="975230"/>
          </a:xfrm>
          <a:prstGeom prst="roundRect">
            <a:avLst>
              <a:gd name="adj" fmla="val 10418"/>
            </a:avLst>
          </a:prstGeom>
          <a:solidFill>
            <a:srgbClr val="E8ECF3"/>
          </a:solidFill>
          <a:ln/>
        </p:spPr>
        <p:txBody>
          <a:bodyPr/>
          <a:lstStyle/>
          <a:p>
            <a:endParaRPr lang="es-ES_tradnl"/>
          </a:p>
        </p:txBody>
      </p:sp>
      <p:pic>
        <p:nvPicPr>
          <p:cNvPr id="13" name="Image 0" descr="Lock"/>
          <p:cNvPicPr>
            <a:picLocks noChangeAspect="1"/>
          </p:cNvPicPr>
          <p:nvPr/>
        </p:nvPicPr>
        <p:blipFill>
          <a:blip r:embed="rId3"/>
          <a:srcRect t="-561" b="-561"/>
          <a:stretch/>
        </p:blipFill>
        <p:spPr>
          <a:xfrm>
            <a:off x="1092128" y="4842235"/>
            <a:ext cx="244890" cy="304782"/>
          </a:xfrm>
          <a:prstGeom prst="rect">
            <a:avLst/>
          </a:prstGeom>
        </p:spPr>
      </p:pic>
      <p:sp>
        <p:nvSpPr>
          <p:cNvPr id="14" name="Text 11"/>
          <p:cNvSpPr/>
          <p:nvPr/>
        </p:nvSpPr>
        <p:spPr>
          <a:xfrm>
            <a:off x="1489364" y="4710184"/>
            <a:ext cx="9898823" cy="59437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pool_v11.1 is never written.</a:t>
            </a:r>
            <a:r>
              <a:rPr lang="en-US" sz="1600" dirty="0">
                <a:solidFill>
                  <a:srgbClr val="14213D"/>
                </a:solidFill>
                <a:latin typeface="IBM Plex Sans" pitchFamily="34" charset="0"/>
                <a:ea typeface="IBM Plex Sans" pitchFamily="34" charset="-122"/>
                <a:cs typeface="IBM Plex Sans" pitchFamily="34" charset="-120"/>
              </a:rPr>
              <a:t> Round 1 is recomputed from it (its hash is in the manifest), so new rows go to a copy: </a:t>
            </a:r>
            <a:r>
              <a:rPr lang="en-US" sz="1600" b="1" dirty="0">
                <a:solidFill>
                  <a:srgbClr val="14213D"/>
                </a:solidFill>
                <a:latin typeface="IBM Plex Sans" pitchFamily="34" charset="0"/>
                <a:ea typeface="IBM Plex Sans" pitchFamily="34" charset="-122"/>
                <a:cs typeface="IBM Plex Sans" pitchFamily="34" charset="-120"/>
              </a:rPr>
              <a:t>pool_v11.1_ext</a:t>
            </a:r>
            <a:r>
              <a:rPr lang="en-US" sz="1600" dirty="0">
                <a:solidFill>
                  <a:srgbClr val="14213D"/>
                </a:solidFill>
                <a:latin typeface="IBM Plex Sans" pitchFamily="34" charset="0"/>
                <a:ea typeface="IBM Plex Sans" pitchFamily="34" charset="-122"/>
                <a:cs typeface="IBM Plex Sans" pitchFamily="34" charset="-120"/>
              </a:rPr>
              <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A: one cue batch gave 2,655 new Basis labels</a:t>
            </a:r>
            <a:endParaRPr lang="en-US" sz="3600" dirty="0"/>
          </a:p>
        </p:txBody>
      </p:sp>
      <p:sp>
        <p:nvSpPr>
          <p:cNvPr id="3" name="Text 1"/>
          <p:cNvSpPr/>
          <p:nvPr/>
        </p:nvSpPr>
        <p:spPr>
          <a:xfrm>
            <a:off x="812782" y="1620422"/>
            <a:ext cx="5258599" cy="27425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F5FB8"/>
                </a:solidFill>
                <a:latin typeface="IBM Plex Sans" pitchFamily="34" charset="0"/>
                <a:ea typeface="IBM Plex Sans" pitchFamily="34" charset="-122"/>
                <a:cs typeface="IBM Plex Sans" pitchFamily="34" charset="-120"/>
              </a:rPr>
              <a:t>CUE SET V4: FIVE BASIS CUES</a:t>
            </a:r>
            <a:endParaRPr lang="en-US" sz="1400" dirty="0"/>
          </a:p>
        </p:txBody>
      </p:sp>
      <p:sp>
        <p:nvSpPr>
          <p:cNvPr id="4" name="Text 2"/>
          <p:cNvSpPr/>
          <p:nvPr/>
        </p:nvSpPr>
        <p:spPr>
          <a:xfrm>
            <a:off x="870440" y="1996280"/>
            <a:ext cx="5193321" cy="154931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4A5568"/>
                </a:solidFill>
                <a:latin typeface="IBM Plex Sans" pitchFamily="34" charset="0"/>
                <a:ea typeface="IBM Plex Sans" pitchFamily="34" charset="-122"/>
                <a:cs typeface="IBM Plex Sans" pitchFamily="34" charset="-120"/>
              </a:rPr>
              <a:t>“we build on / our method is based on [x]”</a:t>
            </a:r>
            <a:endParaRPr lang="en-US" sz="1600" dirty="0"/>
          </a:p>
          <a:p>
            <a:pPr marL="196342" indent="-196342" algn="l">
              <a:lnSpc>
                <a:spcPts val="2400"/>
              </a:lnSpc>
              <a:buSzPct val="100000"/>
              <a:buChar char="•"/>
            </a:pPr>
            <a:r>
              <a:rPr lang="en-US" sz="1600" dirty="0">
                <a:solidFill>
                  <a:srgbClr val="4A5568"/>
                </a:solidFill>
                <a:latin typeface="IBM Plex Sans" pitchFamily="34" charset="0"/>
                <a:ea typeface="IBM Plex Sans" pitchFamily="34" charset="-122"/>
                <a:cs typeface="IBM Plex Sans" pitchFamily="34" charset="-120"/>
              </a:rPr>
              <a:t>“Following [x], we …”</a:t>
            </a:r>
            <a:endParaRPr lang="en-US" sz="1600" dirty="0"/>
          </a:p>
          <a:p>
            <a:pPr marL="196342" indent="-196342" algn="l">
              <a:lnSpc>
                <a:spcPts val="2400"/>
              </a:lnSpc>
              <a:buSzPct val="100000"/>
              <a:buChar char="•"/>
            </a:pPr>
            <a:r>
              <a:rPr lang="en-US" sz="1600" dirty="0">
                <a:solidFill>
                  <a:srgbClr val="4A5568"/>
                </a:solidFill>
                <a:latin typeface="IBM Plex Sans" pitchFamily="34" charset="0"/>
                <a:ea typeface="IBM Plex Sans" pitchFamily="34" charset="-122"/>
                <a:cs typeface="IBM Plex Sans" pitchFamily="34" charset="-120"/>
              </a:rPr>
              <a:t>“based on [x]”, only when the sentence says we/our</a:t>
            </a:r>
            <a:endParaRPr lang="en-US" sz="1600" dirty="0"/>
          </a:p>
          <a:p>
            <a:pPr marL="196342" indent="-196342" algn="l">
              <a:lnSpc>
                <a:spcPts val="2400"/>
              </a:lnSpc>
              <a:buSzPct val="100000"/>
              <a:buChar char="•"/>
            </a:pPr>
            <a:r>
              <a:rPr lang="en-US" sz="1600" dirty="0">
                <a:solidFill>
                  <a:srgbClr val="4A5568"/>
                </a:solidFill>
                <a:latin typeface="IBM Plex Sans" pitchFamily="34" charset="0"/>
                <a:ea typeface="IBM Plex Sans" pitchFamily="34" charset="-122"/>
                <a:cs typeface="IBM Plex Sans" pitchFamily="34" charset="-120"/>
              </a:rPr>
              <a:t>“extends our previous work [x]”</a:t>
            </a:r>
            <a:endParaRPr lang="en-US" sz="1600" dirty="0"/>
          </a:p>
          <a:p>
            <a:pPr marL="196342" indent="-196342" algn="l">
              <a:lnSpc>
                <a:spcPts val="2400"/>
              </a:lnSpc>
              <a:buSzPct val="100000"/>
              <a:buChar char="•"/>
            </a:pPr>
            <a:r>
              <a:rPr lang="en-US" sz="1600" dirty="0">
                <a:solidFill>
                  <a:srgbClr val="4A5568"/>
                </a:solidFill>
                <a:latin typeface="IBM Plex Sans" pitchFamily="34" charset="0"/>
                <a:ea typeface="IBM Plex Sans" pitchFamily="34" charset="-122"/>
                <a:cs typeface="IBM Plex Sans" pitchFamily="34" charset="-120"/>
              </a:rPr>
              <a:t>“as a starting point”</a:t>
            </a:r>
            <a:endParaRPr lang="en-US" sz="1600" dirty="0"/>
          </a:p>
        </p:txBody>
      </p:sp>
      <p:sp>
        <p:nvSpPr>
          <p:cNvPr id="5" name="Text 3"/>
          <p:cNvSpPr/>
          <p:nvPr/>
        </p:nvSpPr>
        <p:spPr>
          <a:xfrm>
            <a:off x="812782" y="3647190"/>
            <a:ext cx="5258599"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6,604 hits in 524,713 rows. The six v3 categories are unchanged (0 rows differ).</a:t>
            </a:r>
            <a:endParaRPr lang="en-US" sz="1400" dirty="0"/>
          </a:p>
        </p:txBody>
      </p:sp>
      <p:sp>
        <p:nvSpPr>
          <p:cNvPr id="6" name="Text 4"/>
          <p:cNvSpPr/>
          <p:nvPr/>
        </p:nvSpPr>
        <p:spPr>
          <a:xfrm>
            <a:off x="6273782" y="1620422"/>
            <a:ext cx="5258599" cy="274259"/>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F5FB8"/>
                </a:solidFill>
                <a:latin typeface="IBM Plex Sans" pitchFamily="34" charset="0"/>
                <a:ea typeface="IBM Plex Sans" pitchFamily="34" charset="-122"/>
                <a:cs typeface="IBM Plex Sans" pitchFamily="34" charset="-120"/>
              </a:rPr>
              <a:t>POOL_CUE_BASIS · 5,539 INSTANCES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85327" y="2007825"/>
          <a:ext cx="5093890" cy="2629116"/>
        </p:xfrm>
        <a:graphic>
          <a:graphicData uri="http://schemas.openxmlformats.org/drawingml/2006/table">
            <a:tbl>
              <a:tblPr/>
              <a:tblGrid>
                <a:gridCol w="3056334">
                  <a:extLst>
                    <a:ext uri="{9D8B030D-6E8A-4147-A177-3AD203B41FA5}">
                      <a16:colId xmlns:a16="http://schemas.microsoft.com/office/drawing/2014/main" val="20000"/>
                    </a:ext>
                  </a:extLst>
                </a:gridCol>
                <a:gridCol w="2037556">
                  <a:extLst>
                    <a:ext uri="{9D8B030D-6E8A-4147-A177-3AD203B41FA5}">
                      <a16:colId xmlns:a16="http://schemas.microsoft.com/office/drawing/2014/main" val="20001"/>
                    </a:ext>
                  </a:extLst>
                </a:gridCol>
              </a:tblGrid>
              <a:tr h="438186">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High-confidence label</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Basis (yield 47.9%)</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2,655</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extLst>
                  <a:ext uri="{0D108BD9-81ED-4DB2-BD59-A6C34878D82A}">
                    <a16:rowId xmlns:a16="http://schemas.microsoft.com/office/drawing/2014/main" val="10001"/>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Application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1,886</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Background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376</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Improvement/Modification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261</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Ties (no pre-label)</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205</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4 · a2_cue_scan.py v4; judges_v11.1_norw/pool_cue_basis/merged/summary.json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103111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B: the extension went through the same pipeline</a:t>
            </a:r>
            <a:endParaRPr lang="en-US" sz="3600" dirty="0"/>
          </a:p>
        </p:txBody>
      </p:sp>
      <p:sp>
        <p:nvSpPr>
          <p:cNvPr id="3" name="Shape 1"/>
          <p:cNvSpPr/>
          <p:nvPr/>
        </p:nvSpPr>
        <p:spPr>
          <a:xfrm>
            <a:off x="815957" y="2332199"/>
            <a:ext cx="1741163" cy="1529105"/>
          </a:xfrm>
          <a:prstGeom prst="roundRect">
            <a:avLst>
              <a:gd name="adj" fmla="val 6437"/>
            </a:avLst>
          </a:prstGeom>
          <a:solidFill>
            <a:srgbClr val="FFFFFF"/>
          </a:solidFill>
          <a:ln w="6350">
            <a:solidFill>
              <a:srgbClr val="DDE1E8"/>
            </a:solidFill>
            <a:prstDash val="solid"/>
          </a:ln>
        </p:spPr>
        <p:txBody>
          <a:bodyPr/>
          <a:lstStyle/>
          <a:p>
            <a:endParaRPr lang="es-ES_tradnl"/>
          </a:p>
        </p:txBody>
      </p:sp>
      <p:sp>
        <p:nvSpPr>
          <p:cNvPr id="4" name="Text 2"/>
          <p:cNvSpPr/>
          <p:nvPr/>
        </p:nvSpPr>
        <p:spPr>
          <a:xfrm>
            <a:off x="996337" y="2512578"/>
            <a:ext cx="1431203"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1F"/>
                </a:solidFill>
                <a:latin typeface="IBM Plex Sans" pitchFamily="34" charset="0"/>
                <a:ea typeface="IBM Plex Sans" pitchFamily="34" charset="-122"/>
                <a:cs typeface="IBM Plex Sans" pitchFamily="34" charset="-120"/>
              </a:rPr>
              <a:t>1 · Extract</a:t>
            </a:r>
            <a:endParaRPr lang="en-US" sz="1200" dirty="0"/>
          </a:p>
        </p:txBody>
      </p:sp>
      <p:sp>
        <p:nvSpPr>
          <p:cNvPr id="5" name="Text 3"/>
          <p:cNvSpPr/>
          <p:nvPr/>
        </p:nvSpPr>
        <p:spPr>
          <a:xfrm>
            <a:off x="996337" y="2802117"/>
            <a:ext cx="1431203"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Source Serif 4" pitchFamily="18" charset="0"/>
                <a:ea typeface="Source Serif 4" pitchFamily="18" charset="-122"/>
                <a:cs typeface="Source Serif 4" pitchFamily="18" charset="-120"/>
              </a:rPr>
              <a:t>31,446</a:t>
            </a:r>
            <a:endParaRPr lang="en-US" sz="2200" dirty="0"/>
          </a:p>
        </p:txBody>
      </p:sp>
      <p:sp>
        <p:nvSpPr>
          <p:cNvPr id="6" name="Text 4"/>
          <p:cNvSpPr/>
          <p:nvPr/>
        </p:nvSpPr>
        <p:spPr>
          <a:xfrm>
            <a:off x="996337" y="3269438"/>
            <a:ext cx="1431203" cy="43688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cited papers; 405,545 contexts</a:t>
            </a:r>
            <a:endParaRPr lang="en-US" sz="1200" dirty="0"/>
          </a:p>
        </p:txBody>
      </p:sp>
      <p:pic>
        <p:nvPicPr>
          <p:cNvPr id="7" name="Image 0" descr="arrow-right"/>
          <p:cNvPicPr>
            <a:picLocks noChangeAspect="1"/>
          </p:cNvPicPr>
          <p:nvPr/>
        </p:nvPicPr>
        <p:blipFill>
          <a:blip r:embed="rId3"/>
          <a:srcRect l="-18" r="-18"/>
          <a:stretch/>
        </p:blipFill>
        <p:spPr>
          <a:xfrm>
            <a:off x="2661859" y="3020578"/>
            <a:ext cx="254000" cy="152346"/>
          </a:xfrm>
          <a:prstGeom prst="rect">
            <a:avLst/>
          </a:prstGeom>
        </p:spPr>
      </p:pic>
      <p:sp>
        <p:nvSpPr>
          <p:cNvPr id="8" name="Shape 5"/>
          <p:cNvSpPr/>
          <p:nvPr/>
        </p:nvSpPr>
        <p:spPr>
          <a:xfrm>
            <a:off x="3020597" y="2126456"/>
            <a:ext cx="1741253" cy="1940592"/>
          </a:xfrm>
          <a:prstGeom prst="roundRect">
            <a:avLst>
              <a:gd name="adj" fmla="val 5653"/>
            </a:avLst>
          </a:prstGeom>
          <a:solidFill>
            <a:srgbClr val="FFFFFF"/>
          </a:solidFill>
          <a:ln w="6350">
            <a:solidFill>
              <a:srgbClr val="DDE1E8"/>
            </a:solidFill>
            <a:prstDash val="solid"/>
          </a:ln>
        </p:spPr>
        <p:txBody>
          <a:bodyPr/>
          <a:lstStyle/>
          <a:p>
            <a:endParaRPr lang="es-ES_tradnl"/>
          </a:p>
        </p:txBody>
      </p:sp>
      <p:sp>
        <p:nvSpPr>
          <p:cNvPr id="9" name="Text 6"/>
          <p:cNvSpPr/>
          <p:nvPr/>
        </p:nvSpPr>
        <p:spPr>
          <a:xfrm>
            <a:off x="3200977" y="2306836"/>
            <a:ext cx="1431294"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1F"/>
                </a:solidFill>
                <a:latin typeface="IBM Plex Sans" pitchFamily="34" charset="0"/>
                <a:ea typeface="IBM Plex Sans" pitchFamily="34" charset="-122"/>
                <a:cs typeface="IBM Plex Sans" pitchFamily="34" charset="-120"/>
              </a:rPr>
              <a:t>2 · Chunk</a:t>
            </a:r>
            <a:endParaRPr lang="en-US" sz="1200" dirty="0"/>
          </a:p>
        </p:txBody>
      </p:sp>
      <p:sp>
        <p:nvSpPr>
          <p:cNvPr id="10" name="Text 7"/>
          <p:cNvSpPr/>
          <p:nvPr/>
        </p:nvSpPr>
        <p:spPr>
          <a:xfrm>
            <a:off x="3200977" y="2596372"/>
            <a:ext cx="143129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Source Serif 4" pitchFamily="18" charset="0"/>
                <a:ea typeface="Source Serif 4" pitchFamily="18" charset="-122"/>
                <a:cs typeface="Source Serif 4" pitchFamily="18" charset="-120"/>
              </a:rPr>
              <a:t>18,607</a:t>
            </a:r>
            <a:endParaRPr lang="en-US" sz="2200" dirty="0"/>
          </a:p>
        </p:txBody>
      </p:sp>
      <p:sp>
        <p:nvSpPr>
          <p:cNvPr id="11" name="Text 8"/>
          <p:cNvSpPr/>
          <p:nvPr/>
        </p:nvSpPr>
        <p:spPr>
          <a:xfrm>
            <a:off x="3200977" y="3063692"/>
            <a:ext cx="1431294" cy="84837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new papers chunked; 12,839 shared keep the pilot’s rows</a:t>
            </a:r>
            <a:endParaRPr lang="en-US" sz="1200" dirty="0"/>
          </a:p>
        </p:txBody>
      </p:sp>
      <p:pic>
        <p:nvPicPr>
          <p:cNvPr id="12" name="Image 1" descr="arrow-right"/>
          <p:cNvPicPr>
            <a:picLocks noChangeAspect="1"/>
          </p:cNvPicPr>
          <p:nvPr/>
        </p:nvPicPr>
        <p:blipFill>
          <a:blip r:embed="rId3"/>
          <a:srcRect l="-18" r="-18"/>
          <a:stretch/>
        </p:blipFill>
        <p:spPr>
          <a:xfrm>
            <a:off x="4866589" y="3020578"/>
            <a:ext cx="254000" cy="152346"/>
          </a:xfrm>
          <a:prstGeom prst="rect">
            <a:avLst/>
          </a:prstGeom>
        </p:spPr>
      </p:pic>
      <p:sp>
        <p:nvSpPr>
          <p:cNvPr id="13" name="Shape 9"/>
          <p:cNvSpPr/>
          <p:nvPr/>
        </p:nvSpPr>
        <p:spPr>
          <a:xfrm>
            <a:off x="5225328" y="2229281"/>
            <a:ext cx="1741253" cy="1734849"/>
          </a:xfrm>
          <a:prstGeom prst="roundRect">
            <a:avLst>
              <a:gd name="adj" fmla="val 5673"/>
            </a:avLst>
          </a:prstGeom>
          <a:solidFill>
            <a:srgbClr val="FFFFFF"/>
          </a:solidFill>
          <a:ln w="6350">
            <a:solidFill>
              <a:srgbClr val="DDE1E8"/>
            </a:solidFill>
            <a:prstDash val="solid"/>
          </a:ln>
        </p:spPr>
        <p:txBody>
          <a:bodyPr/>
          <a:lstStyle/>
          <a:p>
            <a:endParaRPr lang="es-ES_tradnl"/>
          </a:p>
        </p:txBody>
      </p:sp>
      <p:sp>
        <p:nvSpPr>
          <p:cNvPr id="14" name="Text 10"/>
          <p:cNvSpPr/>
          <p:nvPr/>
        </p:nvSpPr>
        <p:spPr>
          <a:xfrm>
            <a:off x="5405708" y="2409661"/>
            <a:ext cx="1431294"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1F"/>
                </a:solidFill>
                <a:latin typeface="IBM Plex Sans" pitchFamily="34" charset="0"/>
                <a:ea typeface="IBM Plex Sans" pitchFamily="34" charset="-122"/>
                <a:cs typeface="IBM Plex Sans" pitchFamily="34" charset="-120"/>
              </a:rPr>
              <a:t>3 · Clean</a:t>
            </a:r>
            <a:endParaRPr lang="en-US" sz="1200" dirty="0"/>
          </a:p>
        </p:txBody>
      </p:sp>
      <p:sp>
        <p:nvSpPr>
          <p:cNvPr id="15" name="Text 11"/>
          <p:cNvSpPr/>
          <p:nvPr/>
        </p:nvSpPr>
        <p:spPr>
          <a:xfrm>
            <a:off x="5405708" y="2699200"/>
            <a:ext cx="143129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Source Serif 4" pitchFamily="18" charset="0"/>
                <a:ea typeface="Source Serif 4" pitchFamily="18" charset="-122"/>
                <a:cs typeface="Source Serif 4" pitchFamily="18" charset="-120"/>
              </a:rPr>
              <a:t>30,153</a:t>
            </a:r>
            <a:endParaRPr lang="en-US" sz="2200" dirty="0"/>
          </a:p>
        </p:txBody>
      </p:sp>
      <p:sp>
        <p:nvSpPr>
          <p:cNvPr id="16" name="Text 12"/>
          <p:cNvSpPr/>
          <p:nvPr/>
        </p:nvSpPr>
        <p:spPr>
          <a:xfrm>
            <a:off x="5405708" y="3166520"/>
            <a:ext cx="1431294" cy="64263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papers and 368,296 contexts kept</a:t>
            </a:r>
            <a:endParaRPr lang="en-US" sz="1200" dirty="0"/>
          </a:p>
        </p:txBody>
      </p:sp>
      <p:pic>
        <p:nvPicPr>
          <p:cNvPr id="17" name="Image 2" descr="arrow-right"/>
          <p:cNvPicPr>
            <a:picLocks noChangeAspect="1"/>
          </p:cNvPicPr>
          <p:nvPr/>
        </p:nvPicPr>
        <p:blipFill>
          <a:blip r:embed="rId3"/>
          <a:srcRect l="-18" r="-18"/>
          <a:stretch/>
        </p:blipFill>
        <p:spPr>
          <a:xfrm>
            <a:off x="7071320" y="3020578"/>
            <a:ext cx="254000" cy="152346"/>
          </a:xfrm>
          <a:prstGeom prst="rect">
            <a:avLst/>
          </a:prstGeom>
        </p:spPr>
      </p:pic>
      <p:sp>
        <p:nvSpPr>
          <p:cNvPr id="18" name="Shape 13"/>
          <p:cNvSpPr/>
          <p:nvPr/>
        </p:nvSpPr>
        <p:spPr>
          <a:xfrm>
            <a:off x="7430059" y="2332199"/>
            <a:ext cx="1741253" cy="1529105"/>
          </a:xfrm>
          <a:prstGeom prst="roundRect">
            <a:avLst>
              <a:gd name="adj" fmla="val 6437"/>
            </a:avLst>
          </a:prstGeom>
          <a:solidFill>
            <a:srgbClr val="FFFFFF"/>
          </a:solidFill>
          <a:ln w="6350">
            <a:solidFill>
              <a:srgbClr val="DDE1E8"/>
            </a:solidFill>
            <a:prstDash val="solid"/>
          </a:ln>
        </p:spPr>
        <p:txBody>
          <a:bodyPr/>
          <a:lstStyle/>
          <a:p>
            <a:endParaRPr lang="es-ES_tradnl"/>
          </a:p>
        </p:txBody>
      </p:sp>
      <p:sp>
        <p:nvSpPr>
          <p:cNvPr id="19" name="Text 14"/>
          <p:cNvSpPr/>
          <p:nvPr/>
        </p:nvSpPr>
        <p:spPr>
          <a:xfrm>
            <a:off x="7610439" y="2512578"/>
            <a:ext cx="1431294"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1F"/>
                </a:solidFill>
                <a:latin typeface="IBM Plex Sans" pitchFamily="34" charset="0"/>
                <a:ea typeface="IBM Plex Sans" pitchFamily="34" charset="-122"/>
                <a:cs typeface="IBM Plex Sans" pitchFamily="34" charset="-120"/>
              </a:rPr>
              <a:t>4 · A1 (norw)</a:t>
            </a:r>
            <a:endParaRPr lang="en-US" sz="1200" dirty="0"/>
          </a:p>
        </p:txBody>
      </p:sp>
      <p:sp>
        <p:nvSpPr>
          <p:cNvPr id="20" name="Text 15"/>
          <p:cNvSpPr/>
          <p:nvPr/>
        </p:nvSpPr>
        <p:spPr>
          <a:xfrm>
            <a:off x="7610439" y="2802117"/>
            <a:ext cx="143129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Source Serif 4" pitchFamily="18" charset="0"/>
                <a:ea typeface="Source Serif 4" pitchFamily="18" charset="-122"/>
                <a:cs typeface="Source Serif 4" pitchFamily="18" charset="-120"/>
              </a:rPr>
              <a:t>196,622</a:t>
            </a:r>
            <a:endParaRPr lang="en-US" sz="2200" dirty="0"/>
          </a:p>
        </p:txBody>
      </p:sp>
      <p:sp>
        <p:nvSpPr>
          <p:cNvPr id="21" name="Text 16"/>
          <p:cNvSpPr/>
          <p:nvPr/>
        </p:nvSpPr>
        <p:spPr>
          <a:xfrm>
            <a:off x="7610439" y="3269438"/>
            <a:ext cx="1431294" cy="43688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pairs ranked over 1.57M chunks</a:t>
            </a:r>
            <a:endParaRPr lang="en-US" sz="1200" dirty="0"/>
          </a:p>
        </p:txBody>
      </p:sp>
      <p:pic>
        <p:nvPicPr>
          <p:cNvPr id="22" name="Image 3" descr="arrow-right"/>
          <p:cNvPicPr>
            <a:picLocks noChangeAspect="1"/>
          </p:cNvPicPr>
          <p:nvPr/>
        </p:nvPicPr>
        <p:blipFill>
          <a:blip r:embed="rId3"/>
          <a:srcRect l="-18" r="-18"/>
          <a:stretch/>
        </p:blipFill>
        <p:spPr>
          <a:xfrm>
            <a:off x="9276051" y="3020578"/>
            <a:ext cx="254000" cy="152346"/>
          </a:xfrm>
          <a:prstGeom prst="rect">
            <a:avLst/>
          </a:prstGeom>
        </p:spPr>
      </p:pic>
      <p:sp>
        <p:nvSpPr>
          <p:cNvPr id="23" name="Shape 17"/>
          <p:cNvSpPr/>
          <p:nvPr/>
        </p:nvSpPr>
        <p:spPr>
          <a:xfrm>
            <a:off x="9634789" y="2332199"/>
            <a:ext cx="1741253" cy="1529105"/>
          </a:xfrm>
          <a:prstGeom prst="roundRect">
            <a:avLst>
              <a:gd name="adj" fmla="val 6437"/>
            </a:avLst>
          </a:prstGeom>
          <a:solidFill>
            <a:srgbClr val="FFFFFF"/>
          </a:solidFill>
          <a:ln w="6350">
            <a:solidFill>
              <a:srgbClr val="DDE1E8"/>
            </a:solidFill>
            <a:prstDash val="solid"/>
          </a:ln>
        </p:spPr>
        <p:txBody>
          <a:bodyPr/>
          <a:lstStyle/>
          <a:p>
            <a:endParaRPr lang="es-ES_tradnl"/>
          </a:p>
        </p:txBody>
      </p:sp>
      <p:sp>
        <p:nvSpPr>
          <p:cNvPr id="24" name="Text 18"/>
          <p:cNvSpPr/>
          <p:nvPr/>
        </p:nvSpPr>
        <p:spPr>
          <a:xfrm>
            <a:off x="9815169" y="2512578"/>
            <a:ext cx="1431294"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1F"/>
                </a:solidFill>
                <a:latin typeface="IBM Plex Sans" pitchFamily="34" charset="0"/>
                <a:ea typeface="IBM Plex Sans" pitchFamily="34" charset="-122"/>
                <a:cs typeface="IBM Plex Sans" pitchFamily="34" charset="-120"/>
              </a:rPr>
              <a:t>5 · Cue batch</a:t>
            </a:r>
            <a:endParaRPr lang="en-US" sz="1200" dirty="0"/>
          </a:p>
        </p:txBody>
      </p:sp>
      <p:sp>
        <p:nvSpPr>
          <p:cNvPr id="25" name="Text 19"/>
          <p:cNvSpPr/>
          <p:nvPr/>
        </p:nvSpPr>
        <p:spPr>
          <a:xfrm>
            <a:off x="9815169" y="2802117"/>
            <a:ext cx="143129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4213D"/>
                </a:solidFill>
                <a:latin typeface="Source Serif 4" pitchFamily="18" charset="0"/>
                <a:ea typeface="Source Serif 4" pitchFamily="18" charset="-122"/>
                <a:cs typeface="Source Serif 4" pitchFamily="18" charset="-120"/>
              </a:rPr>
              <a:t>3,905</a:t>
            </a:r>
            <a:endParaRPr lang="en-US" sz="2200" dirty="0"/>
          </a:p>
        </p:txBody>
      </p:sp>
      <p:sp>
        <p:nvSpPr>
          <p:cNvPr id="26" name="Text 20"/>
          <p:cNvSpPr/>
          <p:nvPr/>
        </p:nvSpPr>
        <p:spPr>
          <a:xfrm>
            <a:off x="9815169" y="3269438"/>
            <a:ext cx="1431294" cy="43688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FR, Originator, IM instances</a:t>
            </a:r>
            <a:endParaRPr lang="en-US" sz="1200" dirty="0"/>
          </a:p>
        </p:txBody>
      </p:sp>
      <p:sp>
        <p:nvSpPr>
          <p:cNvPr id="27" name="Shape 21"/>
          <p:cNvSpPr/>
          <p:nvPr/>
        </p:nvSpPr>
        <p:spPr>
          <a:xfrm>
            <a:off x="812782" y="4375004"/>
            <a:ext cx="10566436" cy="939511"/>
          </a:xfrm>
          <a:prstGeom prst="roundRect">
            <a:avLst>
              <a:gd name="adj" fmla="val 10814"/>
            </a:avLst>
          </a:prstGeom>
          <a:solidFill>
            <a:srgbClr val="E8ECF3"/>
          </a:solidFill>
          <a:ln/>
        </p:spPr>
        <p:txBody>
          <a:bodyPr/>
          <a:lstStyle/>
          <a:p>
            <a:endParaRPr lang="es-ES_tradnl"/>
          </a:p>
        </p:txBody>
      </p:sp>
      <p:pic>
        <p:nvPicPr>
          <p:cNvPr id="28" name="Image 4" descr="Verified"/>
          <p:cNvPicPr>
            <a:picLocks noChangeAspect="1"/>
          </p:cNvPicPr>
          <p:nvPr/>
        </p:nvPicPr>
        <p:blipFill>
          <a:blip r:embed="rId4"/>
          <a:srcRect l="-407" r="-407"/>
          <a:stretch/>
        </p:blipFill>
        <p:spPr>
          <a:xfrm>
            <a:off x="1092128" y="4692324"/>
            <a:ext cx="204842" cy="304782"/>
          </a:xfrm>
          <a:prstGeom prst="rect">
            <a:avLst/>
          </a:prstGeom>
        </p:spPr>
      </p:pic>
      <p:sp>
        <p:nvSpPr>
          <p:cNvPr id="29" name="Text 22"/>
          <p:cNvSpPr/>
          <p:nvPr/>
        </p:nvSpPr>
        <p:spPr>
          <a:xfrm>
            <a:off x="1449315" y="4578133"/>
            <a:ext cx="9940073" cy="5586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Papers shared with the pilot keep their exact chunks, so their chunk keys match the pool’s. After cleaning they are </a:t>
            </a:r>
            <a:r>
              <a:rPr lang="en-US" sz="1500" b="1" dirty="0">
                <a:solidFill>
                  <a:srgbClr val="14213D"/>
                </a:solidFill>
                <a:latin typeface="IBM Plex Sans" pitchFamily="34" charset="0"/>
                <a:ea typeface="IBM Plex Sans" pitchFamily="34" charset="-122"/>
                <a:cs typeface="IBM Plex Sans" pitchFamily="34" charset="-120"/>
              </a:rPr>
              <a:t>identical to the pilot’s rows</a:t>
            </a:r>
            <a:r>
              <a:rPr lang="en-US" sz="1500" dirty="0">
                <a:solidFill>
                  <a:srgbClr val="14213D"/>
                </a:solidFill>
                <a:latin typeface="IBM Plex Sans" pitchFamily="34" charset="0"/>
                <a:ea typeface="IBM Plex Sans" pitchFamily="34" charset="-122"/>
                <a:cs typeface="IBM Plex Sans" pitchFamily="34" charset="-120"/>
              </a:rPr>
              <a:t> (0 differences in 12,839).</a:t>
            </a:r>
            <a:endParaRPr lang="en-US" sz="1500" dirty="0"/>
          </a:p>
        </p:txBody>
      </p:sp>
      <p:sp>
        <p:nvSpPr>
          <p:cNvPr id="30" name="Text 23"/>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5 · ext_cited_prepare.py (split, version-check, join, verify-clean); A1 notebook §6; experiments §8d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B added 1,202 Further Reading at a lower yield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27" y="1631967"/>
          <a:ext cx="10554891" cy="1752744"/>
        </p:xfrm>
        <a:graphic>
          <a:graphicData uri="http://schemas.openxmlformats.org/drawingml/2006/table">
            <a:tbl>
              <a:tblPr/>
              <a:tblGrid>
                <a:gridCol w="2955369">
                  <a:extLst>
                    <a:ext uri="{9D8B030D-6E8A-4147-A177-3AD203B41FA5}">
                      <a16:colId xmlns:a16="http://schemas.microsoft.com/office/drawing/2014/main" val="20000"/>
                    </a:ext>
                  </a:extLst>
                </a:gridCol>
                <a:gridCol w="1477685">
                  <a:extLst>
                    <a:ext uri="{9D8B030D-6E8A-4147-A177-3AD203B41FA5}">
                      <a16:colId xmlns:a16="http://schemas.microsoft.com/office/drawing/2014/main" val="20001"/>
                    </a:ext>
                  </a:extLst>
                </a:gridCol>
                <a:gridCol w="1688782">
                  <a:extLst>
                    <a:ext uri="{9D8B030D-6E8A-4147-A177-3AD203B41FA5}">
                      <a16:colId xmlns:a16="http://schemas.microsoft.com/office/drawing/2014/main" val="20002"/>
                    </a:ext>
                  </a:extLst>
                </a:gridCol>
                <a:gridCol w="1477685">
                  <a:extLst>
                    <a:ext uri="{9D8B030D-6E8A-4147-A177-3AD203B41FA5}">
                      <a16:colId xmlns:a16="http://schemas.microsoft.com/office/drawing/2014/main" val="20003"/>
                    </a:ext>
                  </a:extLst>
                </a:gridCol>
                <a:gridCol w="1477685">
                  <a:extLst>
                    <a:ext uri="{9D8B030D-6E8A-4147-A177-3AD203B41FA5}">
                      <a16:colId xmlns:a16="http://schemas.microsoft.com/office/drawing/2014/main" val="20004"/>
                    </a:ext>
                  </a:extLst>
                </a:gridCol>
                <a:gridCol w="1477685">
                  <a:extLst>
                    <a:ext uri="{9D8B030D-6E8A-4147-A177-3AD203B41FA5}">
                      <a16:colId xmlns:a16="http://schemas.microsoft.com/office/drawing/2014/main" val="20005"/>
                    </a:ext>
                  </a:extLst>
                </a:gridCol>
              </a:tblGrid>
              <a:tr h="438186">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Cue stratum</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Instances</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Own label</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Yield</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Pilot yield</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Main other</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Further Reading</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3,100</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1,202</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38.8%</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54.8%</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Background</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extLst>
                  <a:ext uri="{0D108BD9-81ED-4DB2-BD59-A6C34878D82A}">
                    <a16:rowId xmlns:a16="http://schemas.microsoft.com/office/drawing/2014/main" val="10001"/>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Originator</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631</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384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60.9%</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67.0%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Background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Improvement/Mod.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174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123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70.7%</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72.8%</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Basis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Shape 1"/>
          <p:cNvSpPr/>
          <p:nvPr/>
        </p:nvSpPr>
        <p:spPr>
          <a:xfrm>
            <a:off x="812782" y="3689493"/>
            <a:ext cx="10566436" cy="939511"/>
          </a:xfrm>
          <a:prstGeom prst="roundRect">
            <a:avLst>
              <a:gd name="adj" fmla="val 10814"/>
            </a:avLst>
          </a:prstGeom>
          <a:solidFill>
            <a:srgbClr val="FBEBDD"/>
          </a:solidFill>
          <a:ln/>
        </p:spPr>
        <p:txBody>
          <a:bodyPr/>
          <a:lstStyle/>
          <a:p>
            <a:endParaRPr lang="es-ES_tradnl"/>
          </a:p>
        </p:txBody>
      </p:sp>
      <p:pic>
        <p:nvPicPr>
          <p:cNvPr id="5" name="Image 0" descr="Lightbulb"/>
          <p:cNvPicPr>
            <a:picLocks noChangeAspect="1"/>
          </p:cNvPicPr>
          <p:nvPr/>
        </p:nvPicPr>
        <p:blipFill>
          <a:blip r:embed="rId3"/>
          <a:srcRect t="-457" b="-457"/>
          <a:stretch/>
        </p:blipFill>
        <p:spPr>
          <a:xfrm>
            <a:off x="1092128" y="4006813"/>
            <a:ext cx="207638" cy="304782"/>
          </a:xfrm>
          <a:prstGeom prst="rect">
            <a:avLst/>
          </a:prstGeom>
        </p:spPr>
      </p:pic>
      <p:sp>
        <p:nvSpPr>
          <p:cNvPr id="6" name="Text 2"/>
          <p:cNvSpPr/>
          <p:nvPr/>
        </p:nvSpPr>
        <p:spPr>
          <a:xfrm>
            <a:off x="1452111" y="3892621"/>
            <a:ext cx="9937193" cy="5586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Why lower: cs.DS uses many list pointers (“see [1–5]”). Under rule R-FR (content first) those often vote </a:t>
            </a:r>
            <a:r>
              <a:rPr lang="en-US" sz="1500" b="1" dirty="0">
                <a:solidFill>
                  <a:srgbClr val="14213D"/>
                </a:solidFill>
                <a:latin typeface="IBM Plex Sans" pitchFamily="34" charset="0"/>
                <a:ea typeface="IBM Plex Sans" pitchFamily="34" charset="-122"/>
                <a:cs typeface="IBM Plex Sans" pitchFamily="34" charset="-120"/>
              </a:rPr>
              <a:t>Background</a:t>
            </a:r>
            <a:r>
              <a:rPr lang="en-US" sz="1500" dirty="0">
                <a:solidFill>
                  <a:srgbClr val="14213D"/>
                </a:solidFill>
                <a:latin typeface="IBM Plex Sans" pitchFamily="34" charset="0"/>
                <a:ea typeface="IBM Plex Sans" pitchFamily="34" charset="-122"/>
                <a:cs typeface="IBM Plex Sans" pitchFamily="34" charset="-120"/>
              </a:rPr>
              <a:t>: 1,415 of the Further Reading stratum went there.</a:t>
            </a:r>
            <a:endParaRPr lang="en-US" sz="1500" dirty="0"/>
          </a:p>
        </p:txBody>
      </p:sp>
      <p:sp>
        <p:nvSpPr>
          <p:cNvPr id="7" name="Text 3"/>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6 · judges_v11.1_norw/pool_ext_cue_rare/merged/summary.json; pilot yields from pool_rejudge_v11.1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Every check passed</a:t>
            </a:r>
            <a:endParaRPr lang="en-US" sz="3600" dirty="0"/>
          </a:p>
        </p:txBody>
      </p:sp>
      <p:sp>
        <p:nvSpPr>
          <p:cNvPr id="3" name="Shape 1"/>
          <p:cNvSpPr/>
          <p:nvPr/>
        </p:nvSpPr>
        <p:spPr>
          <a:xfrm>
            <a:off x="815957" y="1623597"/>
            <a:ext cx="5187932" cy="995579"/>
          </a:xfrm>
          <a:prstGeom prst="roundRect">
            <a:avLst>
              <a:gd name="adj" fmla="val 9886"/>
            </a:avLst>
          </a:prstGeom>
          <a:solidFill>
            <a:srgbClr val="FFFFFF"/>
          </a:solidFill>
          <a:ln w="6350">
            <a:solidFill>
              <a:srgbClr val="DDE1E8"/>
            </a:solidFill>
            <a:prstDash val="solid"/>
          </a:ln>
        </p:spPr>
        <p:txBody>
          <a:bodyPr/>
          <a:lstStyle/>
          <a:p>
            <a:endParaRPr lang="es-ES_tradnl"/>
          </a:p>
        </p:txBody>
      </p:sp>
      <p:pic>
        <p:nvPicPr>
          <p:cNvPr id="4" name="Image 0" descr="CheckCircle"/>
          <p:cNvPicPr>
            <a:picLocks noChangeAspect="1"/>
          </p:cNvPicPr>
          <p:nvPr/>
        </p:nvPicPr>
        <p:blipFill>
          <a:blip r:embed="rId3"/>
          <a:srcRect t="-186" b="-186"/>
          <a:stretch/>
        </p:blipFill>
        <p:spPr>
          <a:xfrm>
            <a:off x="1047119" y="1854758"/>
            <a:ext cx="202406" cy="279346"/>
          </a:xfrm>
          <a:prstGeom prst="rect">
            <a:avLst/>
          </a:prstGeom>
        </p:spPr>
      </p:pic>
      <p:sp>
        <p:nvSpPr>
          <p:cNvPr id="5" name="Text 2"/>
          <p:cNvSpPr/>
          <p:nvPr/>
        </p:nvSpPr>
        <p:spPr>
          <a:xfrm>
            <a:off x="1401871" y="1854758"/>
            <a:ext cx="4501982" cy="5586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Round-1 pool untouched:</a:t>
            </a:r>
            <a:r>
              <a:rPr lang="en-US" sz="1500" dirty="0">
                <a:solidFill>
                  <a:srgbClr val="14213D"/>
                </a:solidFill>
                <a:latin typeface="IBM Plex Sans" pitchFamily="34" charset="0"/>
                <a:ea typeface="IBM Plex Sans" pitchFamily="34" charset="-122"/>
                <a:cs typeface="IBM Plex Sans" pitchFamily="34" charset="-120"/>
              </a:rPr>
              <a:t> its hash still matches manifest_round1.json</a:t>
            </a:r>
            <a:endParaRPr lang="en-US" sz="1500" dirty="0"/>
          </a:p>
        </p:txBody>
      </p:sp>
      <p:sp>
        <p:nvSpPr>
          <p:cNvPr id="6" name="Shape 3"/>
          <p:cNvSpPr/>
          <p:nvPr/>
        </p:nvSpPr>
        <p:spPr>
          <a:xfrm>
            <a:off x="6188021" y="1623597"/>
            <a:ext cx="5188022" cy="995579"/>
          </a:xfrm>
          <a:prstGeom prst="roundRect">
            <a:avLst>
              <a:gd name="adj" fmla="val 9886"/>
            </a:avLst>
          </a:prstGeom>
          <a:solidFill>
            <a:srgbClr val="FFFFFF"/>
          </a:solidFill>
          <a:ln w="6350">
            <a:solidFill>
              <a:srgbClr val="DDE1E8"/>
            </a:solidFill>
            <a:prstDash val="solid"/>
          </a:ln>
        </p:spPr>
        <p:txBody>
          <a:bodyPr/>
          <a:lstStyle/>
          <a:p>
            <a:endParaRPr lang="es-ES_tradnl"/>
          </a:p>
        </p:txBody>
      </p:sp>
      <p:pic>
        <p:nvPicPr>
          <p:cNvPr id="7" name="Image 1" descr="CheckCircle"/>
          <p:cNvPicPr>
            <a:picLocks noChangeAspect="1"/>
          </p:cNvPicPr>
          <p:nvPr/>
        </p:nvPicPr>
        <p:blipFill>
          <a:blip r:embed="rId4"/>
          <a:srcRect l="-48" r="-48"/>
          <a:stretch/>
        </p:blipFill>
        <p:spPr>
          <a:xfrm>
            <a:off x="6419182" y="1854758"/>
            <a:ext cx="209712" cy="279346"/>
          </a:xfrm>
          <a:prstGeom prst="rect">
            <a:avLst/>
          </a:prstGeom>
        </p:spPr>
      </p:pic>
      <p:sp>
        <p:nvSpPr>
          <p:cNvPr id="8" name="Text 4"/>
          <p:cNvSpPr/>
          <p:nvPr/>
        </p:nvSpPr>
        <p:spPr>
          <a:xfrm>
            <a:off x="6781240" y="1854758"/>
            <a:ext cx="4494550" cy="5586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Judges in range:</a:t>
            </a:r>
            <a:r>
              <a:rPr lang="en-US" sz="1500" dirty="0">
                <a:solidFill>
                  <a:srgbClr val="14213D"/>
                </a:solidFill>
                <a:latin typeface="IBM Plex Sans" pitchFamily="34" charset="0"/>
                <a:ea typeface="IBM Plex Sans" pitchFamily="34" charset="-122"/>
                <a:cs typeface="IBM Plex Sans" pitchFamily="34" charset="-120"/>
              </a:rPr>
              <a:t> 96% high confidence, 3.7–4.4% ties, as in round 1</a:t>
            </a:r>
            <a:endParaRPr lang="en-US" sz="1500" dirty="0"/>
          </a:p>
        </p:txBody>
      </p:sp>
      <p:sp>
        <p:nvSpPr>
          <p:cNvPr id="9" name="Shape 5"/>
          <p:cNvSpPr/>
          <p:nvPr/>
        </p:nvSpPr>
        <p:spPr>
          <a:xfrm>
            <a:off x="815957" y="2803308"/>
            <a:ext cx="5187932" cy="995579"/>
          </a:xfrm>
          <a:prstGeom prst="roundRect">
            <a:avLst>
              <a:gd name="adj" fmla="val 9886"/>
            </a:avLst>
          </a:prstGeom>
          <a:solidFill>
            <a:srgbClr val="FFFFFF"/>
          </a:solidFill>
          <a:ln w="6350">
            <a:solidFill>
              <a:srgbClr val="DDE1E8"/>
            </a:solidFill>
            <a:prstDash val="solid"/>
          </a:ln>
        </p:spPr>
        <p:txBody>
          <a:bodyPr/>
          <a:lstStyle/>
          <a:p>
            <a:endParaRPr lang="es-ES_tradnl"/>
          </a:p>
        </p:txBody>
      </p:sp>
      <p:pic>
        <p:nvPicPr>
          <p:cNvPr id="10" name="Image 2" descr="CheckCircle"/>
          <p:cNvPicPr>
            <a:picLocks noChangeAspect="1"/>
          </p:cNvPicPr>
          <p:nvPr/>
        </p:nvPicPr>
        <p:blipFill>
          <a:blip r:embed="rId5"/>
          <a:srcRect l="-115" r="-115"/>
          <a:stretch/>
        </p:blipFill>
        <p:spPr>
          <a:xfrm>
            <a:off x="1047119" y="3034469"/>
            <a:ext cx="197265" cy="279346"/>
          </a:xfrm>
          <a:prstGeom prst="rect">
            <a:avLst/>
          </a:prstGeom>
        </p:spPr>
      </p:pic>
      <p:sp>
        <p:nvSpPr>
          <p:cNvPr id="11" name="Text 6"/>
          <p:cNvSpPr/>
          <p:nvPr/>
        </p:nvSpPr>
        <p:spPr>
          <a:xfrm>
            <a:off x="1396729" y="3034469"/>
            <a:ext cx="4507278" cy="5586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Chunking reproduced:</a:t>
            </a:r>
            <a:r>
              <a:rPr lang="en-US" sz="1500" dirty="0">
                <a:solidFill>
                  <a:srgbClr val="14213D"/>
                </a:solidFill>
                <a:latin typeface="IBM Plex Sans" pitchFamily="34" charset="0"/>
                <a:ea typeface="IBM Plex Sans" pitchFamily="34" charset="-122"/>
                <a:cs typeface="IBM Plex Sans" pitchFamily="34" charset="-120"/>
              </a:rPr>
              <a:t> 200 of 200 shared papers re-chunked identically</a:t>
            </a:r>
            <a:endParaRPr lang="en-US" sz="1500" dirty="0"/>
          </a:p>
        </p:txBody>
      </p:sp>
      <p:sp>
        <p:nvSpPr>
          <p:cNvPr id="12" name="Shape 7"/>
          <p:cNvSpPr/>
          <p:nvPr/>
        </p:nvSpPr>
        <p:spPr>
          <a:xfrm>
            <a:off x="6188021" y="2803308"/>
            <a:ext cx="5188022" cy="995579"/>
          </a:xfrm>
          <a:prstGeom prst="roundRect">
            <a:avLst>
              <a:gd name="adj" fmla="val 9886"/>
            </a:avLst>
          </a:prstGeom>
          <a:solidFill>
            <a:srgbClr val="FFFFFF"/>
          </a:solidFill>
          <a:ln w="6350">
            <a:solidFill>
              <a:srgbClr val="DDE1E8"/>
            </a:solidFill>
            <a:prstDash val="solid"/>
          </a:ln>
        </p:spPr>
        <p:txBody>
          <a:bodyPr/>
          <a:lstStyle/>
          <a:p>
            <a:endParaRPr lang="es-ES_tradnl"/>
          </a:p>
        </p:txBody>
      </p:sp>
      <p:pic>
        <p:nvPicPr>
          <p:cNvPr id="13" name="Image 3" descr="CheckCircle"/>
          <p:cNvPicPr>
            <a:picLocks noChangeAspect="1"/>
          </p:cNvPicPr>
          <p:nvPr/>
        </p:nvPicPr>
        <p:blipFill>
          <a:blip r:embed="rId6"/>
          <a:srcRect l="-258" r="-258"/>
          <a:stretch/>
        </p:blipFill>
        <p:spPr>
          <a:xfrm>
            <a:off x="6419182" y="3034469"/>
            <a:ext cx="229736" cy="279346"/>
          </a:xfrm>
          <a:prstGeom prst="rect">
            <a:avLst/>
          </a:prstGeom>
        </p:spPr>
      </p:pic>
      <p:sp>
        <p:nvSpPr>
          <p:cNvPr id="14" name="Text 8"/>
          <p:cNvSpPr/>
          <p:nvPr/>
        </p:nvSpPr>
        <p:spPr>
          <a:xfrm>
            <a:off x="6801265" y="3034469"/>
            <a:ext cx="4473925" cy="5586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Cleaning reproduced:</a:t>
            </a:r>
            <a:r>
              <a:rPr lang="en-US" sz="1500" dirty="0">
                <a:solidFill>
                  <a:srgbClr val="14213D"/>
                </a:solidFill>
                <a:latin typeface="IBM Plex Sans" pitchFamily="34" charset="0"/>
                <a:ea typeface="IBM Plex Sans" pitchFamily="34" charset="-122"/>
                <a:cs typeface="IBM Plex Sans" pitchFamily="34" charset="-120"/>
              </a:rPr>
              <a:t> 0 differences on 12,839 shared papers</a:t>
            </a:r>
            <a:endParaRPr lang="en-US" sz="1500" dirty="0"/>
          </a:p>
        </p:txBody>
      </p:sp>
      <p:sp>
        <p:nvSpPr>
          <p:cNvPr id="15" name="Shape 9"/>
          <p:cNvSpPr/>
          <p:nvPr/>
        </p:nvSpPr>
        <p:spPr>
          <a:xfrm>
            <a:off x="815957" y="3983019"/>
            <a:ext cx="5187932" cy="995579"/>
          </a:xfrm>
          <a:prstGeom prst="roundRect">
            <a:avLst>
              <a:gd name="adj" fmla="val 9886"/>
            </a:avLst>
          </a:prstGeom>
          <a:solidFill>
            <a:srgbClr val="FFFFFF"/>
          </a:solidFill>
          <a:ln w="6350">
            <a:solidFill>
              <a:srgbClr val="DDE1E8"/>
            </a:solidFill>
            <a:prstDash val="solid"/>
          </a:ln>
        </p:spPr>
        <p:txBody>
          <a:bodyPr/>
          <a:lstStyle/>
          <a:p>
            <a:endParaRPr lang="es-ES_tradnl"/>
          </a:p>
        </p:txBody>
      </p:sp>
      <p:pic>
        <p:nvPicPr>
          <p:cNvPr id="16" name="Image 4" descr="CheckCircle"/>
          <p:cNvPicPr>
            <a:picLocks noChangeAspect="1"/>
          </p:cNvPicPr>
          <p:nvPr/>
        </p:nvPicPr>
        <p:blipFill>
          <a:blip r:embed="rId7"/>
          <a:srcRect t="-324" b="-324"/>
          <a:stretch/>
        </p:blipFill>
        <p:spPr>
          <a:xfrm>
            <a:off x="1047119" y="4214180"/>
            <a:ext cx="189237" cy="279346"/>
          </a:xfrm>
          <a:prstGeom prst="rect">
            <a:avLst/>
          </a:prstGeom>
        </p:spPr>
      </p:pic>
      <p:sp>
        <p:nvSpPr>
          <p:cNvPr id="17" name="Text 10"/>
          <p:cNvSpPr/>
          <p:nvPr/>
        </p:nvSpPr>
        <p:spPr>
          <a:xfrm>
            <a:off x="1388702" y="4214180"/>
            <a:ext cx="4515546" cy="5586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 overlap:</a:t>
            </a:r>
            <a:r>
              <a:rPr lang="en-US" sz="1500" dirty="0">
                <a:solidFill>
                  <a:srgbClr val="14213D"/>
                </a:solidFill>
                <a:latin typeface="IBM Plex Sans" pitchFamily="34" charset="0"/>
                <a:ea typeface="IBM Plex Sans" pitchFamily="34" charset="-122"/>
                <a:cs typeface="IBM Plex Sans" pitchFamily="34" charset="-120"/>
              </a:rPr>
              <a:t> new batches share no instance with any earlier batch or dev set</a:t>
            </a:r>
            <a:endParaRPr lang="en-US" sz="1500" dirty="0"/>
          </a:p>
        </p:txBody>
      </p:sp>
      <p:sp>
        <p:nvSpPr>
          <p:cNvPr id="18" name="Shape 11"/>
          <p:cNvSpPr/>
          <p:nvPr/>
        </p:nvSpPr>
        <p:spPr>
          <a:xfrm>
            <a:off x="6188021" y="3983019"/>
            <a:ext cx="5188022" cy="995579"/>
          </a:xfrm>
          <a:prstGeom prst="roundRect">
            <a:avLst>
              <a:gd name="adj" fmla="val 9886"/>
            </a:avLst>
          </a:prstGeom>
          <a:solidFill>
            <a:srgbClr val="FFFFFF"/>
          </a:solidFill>
          <a:ln w="6350">
            <a:solidFill>
              <a:srgbClr val="DDE1E8"/>
            </a:solidFill>
            <a:prstDash val="solid"/>
          </a:ln>
        </p:spPr>
        <p:txBody>
          <a:bodyPr/>
          <a:lstStyle/>
          <a:p>
            <a:endParaRPr lang="es-ES_tradnl"/>
          </a:p>
        </p:txBody>
      </p:sp>
      <p:pic>
        <p:nvPicPr>
          <p:cNvPr id="19" name="Image 5" descr="CheckCircle"/>
          <p:cNvPicPr>
            <a:picLocks noChangeAspect="1"/>
          </p:cNvPicPr>
          <p:nvPr/>
        </p:nvPicPr>
        <p:blipFill>
          <a:blip r:embed="rId8"/>
          <a:srcRect t="-31" b="-31"/>
          <a:stretch/>
        </p:blipFill>
        <p:spPr>
          <a:xfrm>
            <a:off x="6419182" y="4214180"/>
            <a:ext cx="222070" cy="279346"/>
          </a:xfrm>
          <a:prstGeom prst="rect">
            <a:avLst/>
          </a:prstGeom>
        </p:spPr>
      </p:pic>
      <p:sp>
        <p:nvSpPr>
          <p:cNvPr id="20" name="Text 12"/>
          <p:cNvSpPr/>
          <p:nvPr/>
        </p:nvSpPr>
        <p:spPr>
          <a:xfrm>
            <a:off x="6793598" y="4214180"/>
            <a:ext cx="4481822" cy="558656"/>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Cue v4 safe:</a:t>
            </a:r>
            <a:r>
              <a:rPr lang="en-US" sz="1500" dirty="0">
                <a:solidFill>
                  <a:srgbClr val="14213D"/>
                </a:solidFill>
                <a:latin typeface="IBM Plex Sans" pitchFamily="34" charset="0"/>
                <a:ea typeface="IBM Plex Sans" pitchFamily="34" charset="-122"/>
                <a:cs typeface="IBM Plex Sans" pitchFamily="34" charset="-120"/>
              </a:rPr>
              <a:t> the six v3 categories match v3 on all 524,713 rows</a:t>
            </a:r>
            <a:endParaRPr lang="en-US" sz="1500" dirty="0"/>
          </a:p>
        </p:txBody>
      </p:sp>
      <p:sp>
        <p:nvSpPr>
          <p:cNvPr id="21" name="Text 13"/>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7 · Extended pool: 38,780 instances (29,336 + 9,444), sha256 8fff…8c14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4"/>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Supply grew in all four short categories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27" y="1631971"/>
          <a:ext cx="10554890" cy="2475417"/>
        </p:xfrm>
        <a:graphic>
          <a:graphicData uri="http://schemas.openxmlformats.org/drawingml/2006/table">
            <a:tbl>
              <a:tblPr/>
              <a:tblGrid>
                <a:gridCol w="2955369">
                  <a:extLst>
                    <a:ext uri="{9D8B030D-6E8A-4147-A177-3AD203B41FA5}">
                      <a16:colId xmlns:a16="http://schemas.microsoft.com/office/drawing/2014/main" val="20000"/>
                    </a:ext>
                  </a:extLst>
                </a:gridCol>
                <a:gridCol w="1372136">
                  <a:extLst>
                    <a:ext uri="{9D8B030D-6E8A-4147-A177-3AD203B41FA5}">
                      <a16:colId xmlns:a16="http://schemas.microsoft.com/office/drawing/2014/main" val="20001"/>
                    </a:ext>
                  </a:extLst>
                </a:gridCol>
                <a:gridCol w="1372136">
                  <a:extLst>
                    <a:ext uri="{9D8B030D-6E8A-4147-A177-3AD203B41FA5}">
                      <a16:colId xmlns:a16="http://schemas.microsoft.com/office/drawing/2014/main" val="20002"/>
                    </a:ext>
                  </a:extLst>
                </a:gridCol>
                <a:gridCol w="1372136">
                  <a:extLst>
                    <a:ext uri="{9D8B030D-6E8A-4147-A177-3AD203B41FA5}">
                      <a16:colId xmlns:a16="http://schemas.microsoft.com/office/drawing/2014/main" val="20003"/>
                    </a:ext>
                  </a:extLst>
                </a:gridCol>
                <a:gridCol w="1688782">
                  <a:extLst>
                    <a:ext uri="{9D8B030D-6E8A-4147-A177-3AD203B41FA5}">
                      <a16:colId xmlns:a16="http://schemas.microsoft.com/office/drawing/2014/main" val="20004"/>
                    </a:ext>
                  </a:extLst>
                </a:gridCol>
                <a:gridCol w="1794331">
                  <a:extLst>
                    <a:ext uri="{9D8B030D-6E8A-4147-A177-3AD203B41FA5}">
                      <a16:colId xmlns:a16="http://schemas.microsoft.com/office/drawing/2014/main" val="20005"/>
                    </a:ext>
                  </a:extLst>
                </a:gridCol>
              </a:tblGrid>
              <a:tr h="722673">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High-confidence</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Before</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Added</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Now</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New unanimous</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vs 2,000</a:t>
                      </a:r>
                      <a:endParaRPr lang="en-US" sz="1600" dirty="0">
                        <a:latin typeface="IBM Plex Sans" charset="0"/>
                        <a:ea typeface="IBM Plex Sans" charset="0"/>
                        <a:cs typeface="IBM Plex Sans" charset="0"/>
                      </a:endParaRPr>
                    </a:p>
                  </a:txBody>
                  <a:tcPr marL="71120" marR="71120" marT="71120" marB="7112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Basis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499</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+2,711</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3,210</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68%</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met</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extLst>
                  <a:ext uri="{0D108BD9-81ED-4DB2-BD59-A6C34878D82A}">
                    <a16:rowId xmlns:a16="http://schemas.microsoft.com/office/drawing/2014/main" val="10001"/>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Further Reading</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569</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+1,207</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1,776</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73%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224 short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Originator</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1,379</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+407</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1,786</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80%</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214 short</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CC2"/>
                      </a:solidFill>
                      <a:prstDash val="solid"/>
                      <a:round/>
                      <a:headEnd type="none" w="med" len="med"/>
                      <a:tailEnd type="none" w="med" len="med"/>
                    </a:lnL>
                    <a:lnR w="12700" cap="flat" cmpd="sng" algn="ctr">
                      <a:solidFill>
                        <a:srgbClr val="B9BC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9BCC2"/>
                      </a:solidFill>
                      <a:prstDash val="solid"/>
                      <a:round/>
                      <a:headEnd type="none" w="med" len="med"/>
                      <a:tailEnd type="none" w="med" len="med"/>
                    </a:lnB>
                    <a:solidFill>
                      <a:srgbClr val="E8ECF3"/>
                    </a:solidFill>
                  </a:tcPr>
                </a:tc>
                <a:extLst>
                  <a:ext uri="{0D108BD9-81ED-4DB2-BD59-A6C34878D82A}">
                    <a16:rowId xmlns:a16="http://schemas.microsoft.com/office/drawing/2014/main" val="10003"/>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Improvement/Mod.</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566</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+392</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958</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42%</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1,042 short</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9BC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12782" y="4412168"/>
            <a:ext cx="10883429" cy="5586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Both batches also added 1,956 Application, 1,925 Background and 324 Evidence (training data). Almost every new row is test-eligible.</a:t>
            </a:r>
            <a:endParaRPr lang="en-US" sz="1500" dirty="0"/>
          </a:p>
        </p:txBody>
      </p:sp>
      <p:sp>
        <p:nvSpPr>
          <p:cNvPr id="5" name="Text 2"/>
          <p:cNvSpPr/>
          <p:nvPr/>
        </p:nvSpPr>
        <p:spPr>
          <a:xfrm>
            <a:off x="812782" y="6238246"/>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8 · pool_v11.1_ext/</a:t>
            </a:r>
            <a:r>
              <a:rPr lang="en-US" sz="1200" dirty="0" err="1">
                <a:solidFill>
                  <a:srgbClr val="6B7486"/>
                </a:solidFill>
                <a:latin typeface="IBM Plex Sans" pitchFamily="34" charset="0"/>
                <a:ea typeface="IBM Plex Sans" pitchFamily="34" charset="-122"/>
                <a:cs typeface="IBM Plex Sans" pitchFamily="34" charset="-120"/>
              </a:rPr>
              <a:t>counts_ext.md</a:t>
            </a:r>
            <a:r>
              <a:rPr lang="en-US" sz="1200" dirty="0">
                <a:solidFill>
                  <a:srgbClr val="6B7486"/>
                </a:solidFill>
                <a:latin typeface="IBM Plex Sans" pitchFamily="34" charset="0"/>
                <a:ea typeface="IBM Plex Sans" pitchFamily="34" charset="-122"/>
                <a:cs typeface="IBM Plex Sans" pitchFamily="34" charset="-120"/>
              </a:rPr>
              <a:t>; “new unanimous” = all three judges agree, among the added rows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E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Round-2 preview: all six cells drawn in full</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327" y="1631967"/>
          <a:ext cx="10554889" cy="1752744"/>
        </p:xfrm>
        <a:graphic>
          <a:graphicData uri="http://schemas.openxmlformats.org/drawingml/2006/table">
            <a:tbl>
              <a:tblPr/>
              <a:tblGrid>
                <a:gridCol w="2955369">
                  <a:extLst>
                    <a:ext uri="{9D8B030D-6E8A-4147-A177-3AD203B41FA5}">
                      <a16:colId xmlns:a16="http://schemas.microsoft.com/office/drawing/2014/main" val="20000"/>
                    </a:ext>
                  </a:extLst>
                </a:gridCol>
                <a:gridCol w="1899880">
                  <a:extLst>
                    <a:ext uri="{9D8B030D-6E8A-4147-A177-3AD203B41FA5}">
                      <a16:colId xmlns:a16="http://schemas.microsoft.com/office/drawing/2014/main" val="20001"/>
                    </a:ext>
                  </a:extLst>
                </a:gridCol>
                <a:gridCol w="1899880">
                  <a:extLst>
                    <a:ext uri="{9D8B030D-6E8A-4147-A177-3AD203B41FA5}">
                      <a16:colId xmlns:a16="http://schemas.microsoft.com/office/drawing/2014/main" val="20002"/>
                    </a:ext>
                  </a:extLst>
                </a:gridCol>
                <a:gridCol w="1899880">
                  <a:extLst>
                    <a:ext uri="{9D8B030D-6E8A-4147-A177-3AD203B41FA5}">
                      <a16:colId xmlns:a16="http://schemas.microsoft.com/office/drawing/2014/main" val="20003"/>
                    </a:ext>
                  </a:extLst>
                </a:gridCol>
                <a:gridCol w="1899880">
                  <a:extLst>
                    <a:ext uri="{9D8B030D-6E8A-4147-A177-3AD203B41FA5}">
                      <a16:colId xmlns:a16="http://schemas.microsoft.com/office/drawing/2014/main" val="20004"/>
                    </a:ext>
                  </a:extLst>
                </a:gridCol>
              </a:tblGrid>
              <a:tr h="438186">
                <a:tc>
                  <a:txBody>
                    <a:bodyPr/>
                    <a:lstStyle/>
                    <a:p>
                      <a:pPr marL="0" indent="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Category</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AFB1B3"/>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AFB1B3"/>
                      </a:solidFill>
                      <a:prstDash val="solid"/>
                      <a:round/>
                      <a:headEnd type="none" w="med" len="med"/>
                      <a:tailEnd type="none" w="med" len="med"/>
                    </a:lnB>
                    <a:solidFill>
                      <a:srgbClr val="DBDD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Candidates A</a:t>
                      </a:r>
                      <a:endParaRPr lang="en-US" sz="1600" dirty="0">
                        <a:latin typeface="IBM Plex Sans" charset="0"/>
                        <a:ea typeface="IBM Plex Sans" charset="0"/>
                        <a:cs typeface="IBM Plex Sans" charset="0"/>
                      </a:endParaRPr>
                    </a:p>
                  </a:txBody>
                  <a:tcPr marL="71120" marR="71120" marT="71120" marB="71120">
                    <a:lnL w="12700" cap="flat" cmpd="sng" algn="ctr">
                      <a:solidFill>
                        <a:srgbClr val="AFB1B3"/>
                      </a:solidFill>
                      <a:prstDash val="solid"/>
                      <a:round/>
                      <a:headEnd type="none" w="med" len="med"/>
                      <a:tailEnd type="none" w="med" len="med"/>
                    </a:lnL>
                    <a:lnR w="12700" cap="flat" cmpd="sng" algn="ctr">
                      <a:solidFill>
                        <a:srgbClr val="AFB1B3"/>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AFB1B3"/>
                      </a:solidFill>
                      <a:prstDash val="solid"/>
                      <a:round/>
                      <a:headEnd type="none" w="med" len="med"/>
                      <a:tailEnd type="none" w="med" len="med"/>
                    </a:lnB>
                    <a:solidFill>
                      <a:srgbClr val="DBDD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Candidates B</a:t>
                      </a:r>
                      <a:endParaRPr lang="en-US" sz="1600" dirty="0">
                        <a:latin typeface="IBM Plex Sans" charset="0"/>
                        <a:ea typeface="IBM Plex Sans" charset="0"/>
                        <a:cs typeface="IBM Plex Sans" charset="0"/>
                      </a:endParaRPr>
                    </a:p>
                  </a:txBody>
                  <a:tcPr marL="71120" marR="71120" marT="71120" marB="71120">
                    <a:lnL w="12700" cap="flat" cmpd="sng" algn="ctr">
                      <a:solidFill>
                        <a:srgbClr val="AFB1B3"/>
                      </a:solidFill>
                      <a:prstDash val="solid"/>
                      <a:round/>
                      <a:headEnd type="none" w="med" len="med"/>
                      <a:tailEnd type="none" w="med" len="med"/>
                    </a:lnL>
                    <a:lnR w="12700" cap="flat" cmpd="sng" algn="ctr">
                      <a:solidFill>
                        <a:srgbClr val="AFB1B3"/>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AFB1B3"/>
                      </a:solidFill>
                      <a:prstDash val="solid"/>
                      <a:round/>
                      <a:headEnd type="none" w="med" len="med"/>
                      <a:tailEnd type="none" w="med" len="med"/>
                    </a:lnB>
                    <a:solidFill>
                      <a:srgbClr val="DBDD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Drawn A / B</a:t>
                      </a:r>
                      <a:endParaRPr lang="en-US" sz="1600" dirty="0">
                        <a:latin typeface="IBM Plex Sans" charset="0"/>
                        <a:ea typeface="IBM Plex Sans" charset="0"/>
                        <a:cs typeface="IBM Plex Sans" charset="0"/>
                      </a:endParaRPr>
                    </a:p>
                  </a:txBody>
                  <a:tcPr marL="71120" marR="71120" marT="71120" marB="71120">
                    <a:lnL w="12700" cap="flat" cmpd="sng" algn="ctr">
                      <a:solidFill>
                        <a:srgbClr val="AFB1B3"/>
                      </a:solidFill>
                      <a:prstDash val="solid"/>
                      <a:round/>
                      <a:headEnd type="none" w="med" len="med"/>
                      <a:tailEnd type="none" w="med" len="med"/>
                    </a:lnL>
                    <a:lnR w="12700" cap="flat" cmpd="sng" algn="ctr">
                      <a:solidFill>
                        <a:srgbClr val="AFB1B3"/>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AFB1B3"/>
                      </a:solidFill>
                      <a:prstDash val="solid"/>
                      <a:round/>
                      <a:headEnd type="none" w="med" len="med"/>
                      <a:tailEnd type="none" w="med" len="med"/>
                    </a:lnB>
                    <a:solidFill>
                      <a:srgbClr val="DBDDE0"/>
                    </a:solidFill>
                  </a:tcPr>
                </a:tc>
                <a:tc>
                  <a:txBody>
                    <a:bodyPr/>
                    <a:lstStyle/>
                    <a:p>
                      <a:pPr marL="0" indent="0" algn="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Short</a:t>
                      </a:r>
                      <a:endParaRPr lang="en-US" sz="1600" dirty="0">
                        <a:latin typeface="IBM Plex Sans" charset="0"/>
                        <a:ea typeface="IBM Plex Sans" charset="0"/>
                        <a:cs typeface="IBM Plex Sans" charset="0"/>
                      </a:endParaRPr>
                    </a:p>
                  </a:txBody>
                  <a:tcPr marL="71120" marR="71120" marT="71120" marB="71120">
                    <a:lnL w="12700" cap="flat" cmpd="sng" algn="ctr">
                      <a:solidFill>
                        <a:srgbClr val="AFB1B3"/>
                      </a:solidFill>
                      <a:prstDash val="solid"/>
                      <a:round/>
                      <a:headEnd type="none" w="med" len="med"/>
                      <a:tailEnd type="none" w="med" len="med"/>
                    </a:lnL>
                    <a:lnR w="12700" cap="flat" cmpd="sng" algn="ctr">
                      <a:solidFill>
                        <a:srgbClr val="AFB1B3"/>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AFB1B3"/>
                      </a:solidFill>
                      <a:prstDash val="solid"/>
                      <a:round/>
                      <a:headEnd type="none" w="med" len="med"/>
                      <a:tailEnd type="none" w="med" len="med"/>
                    </a:lnB>
                    <a:solidFill>
                      <a:srgbClr val="DBDDE0"/>
                    </a:solidFill>
                  </a:tcPr>
                </a:tc>
                <a:extLst>
                  <a:ext uri="{0D108BD9-81ED-4DB2-BD59-A6C34878D82A}">
                    <a16:rowId xmlns:a16="http://schemas.microsoft.com/office/drawing/2014/main" val="10000"/>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Improvement/Mod.</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AFB1B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481</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AFB1B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475</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AFB1B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360 / 360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AFB1B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AFB1B3"/>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Further Reading</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BCBE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E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928</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BCBE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E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845</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BCBE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E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360 / 360</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BCBE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EC1"/>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0</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BCBE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CBEC1"/>
                      </a:solidFill>
                      <a:prstDash val="solid"/>
                      <a:round/>
                      <a:headEnd type="none" w="med" len="med"/>
                      <a:tailEnd type="none" w="med" len="med"/>
                    </a:lnB>
                  </a:tcPr>
                </a:tc>
                <a:extLst>
                  <a:ext uri="{0D108BD9-81ED-4DB2-BD59-A6C34878D82A}">
                    <a16:rowId xmlns:a16="http://schemas.microsoft.com/office/drawing/2014/main" val="10002"/>
                  </a:ext>
                </a:extLst>
              </a:tr>
              <a:tr h="438186">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Basis</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E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1,627</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1,579</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360 / 360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0</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EC1"/>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bl>
          </a:graphicData>
        </a:graphic>
      </p:graphicFrame>
      <p:sp>
        <p:nvSpPr>
          <p:cNvPr id="4" name="Shape 1"/>
          <p:cNvSpPr/>
          <p:nvPr/>
        </p:nvSpPr>
        <p:spPr>
          <a:xfrm>
            <a:off x="812782" y="3689493"/>
            <a:ext cx="5156218" cy="1279922"/>
          </a:xfrm>
          <a:prstGeom prst="roundRect">
            <a:avLst>
              <a:gd name="adj" fmla="val 7938"/>
            </a:avLst>
          </a:prstGeom>
          <a:solidFill>
            <a:srgbClr val="FFFFFF"/>
          </a:solidFill>
          <a:ln/>
        </p:spPr>
        <p:txBody>
          <a:bodyPr/>
          <a:lstStyle/>
          <a:p>
            <a:endParaRPr lang="es-ES_tradnl"/>
          </a:p>
        </p:txBody>
      </p:sp>
      <p:sp>
        <p:nvSpPr>
          <p:cNvPr id="5" name="Text 2"/>
          <p:cNvSpPr/>
          <p:nvPr/>
        </p:nvSpPr>
        <p:spPr>
          <a:xfrm>
            <a:off x="1041346" y="3918055"/>
            <a:ext cx="4840063"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611F"/>
                </a:solidFill>
                <a:latin typeface="IBM Plex Sans" pitchFamily="34" charset="0"/>
                <a:ea typeface="IBM Plex Sans" pitchFamily="34" charset="-122"/>
                <a:cs typeface="IBM Plex Sans" pitchFamily="34" charset="-120"/>
              </a:rPr>
              <a:t>BEFORE OPTION B</a:t>
            </a:r>
            <a:endParaRPr lang="en-US" sz="1200" dirty="0"/>
          </a:p>
        </p:txBody>
      </p:sp>
      <p:sp>
        <p:nvSpPr>
          <p:cNvPr id="6" name="Text 3"/>
          <p:cNvSpPr/>
          <p:nvPr/>
        </p:nvSpPr>
        <p:spPr>
          <a:xfrm>
            <a:off x="1041346" y="4207594"/>
            <a:ext cx="4927654" cy="29202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Further Reading drew only 286 / 275: 74 and 85 short</a:t>
            </a:r>
            <a:endParaRPr lang="en-US" sz="1500" dirty="0"/>
          </a:p>
        </p:txBody>
      </p:sp>
      <p:sp>
        <p:nvSpPr>
          <p:cNvPr id="7" name="Shape 4"/>
          <p:cNvSpPr/>
          <p:nvPr/>
        </p:nvSpPr>
        <p:spPr>
          <a:xfrm>
            <a:off x="6223000" y="3689493"/>
            <a:ext cx="5156218" cy="1279922"/>
          </a:xfrm>
          <a:prstGeom prst="roundRect">
            <a:avLst>
              <a:gd name="adj" fmla="val 7938"/>
            </a:avLst>
          </a:prstGeom>
          <a:solidFill>
            <a:srgbClr val="FFFFFF"/>
          </a:solidFill>
          <a:ln/>
        </p:spPr>
        <p:txBody>
          <a:bodyPr/>
          <a:lstStyle/>
          <a:p>
            <a:endParaRPr lang="es-ES_tradnl"/>
          </a:p>
        </p:txBody>
      </p:sp>
      <p:sp>
        <p:nvSpPr>
          <p:cNvPr id="8" name="Text 5"/>
          <p:cNvSpPr/>
          <p:nvPr/>
        </p:nvSpPr>
        <p:spPr>
          <a:xfrm>
            <a:off x="6451564" y="3918055"/>
            <a:ext cx="4840063"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5FB8"/>
                </a:solidFill>
                <a:latin typeface="IBM Plex Sans" pitchFamily="34" charset="0"/>
                <a:ea typeface="IBM Plex Sans" pitchFamily="34" charset="-122"/>
                <a:cs typeface="IBM Plex Sans" pitchFamily="34" charset="-120"/>
              </a:rPr>
              <a:t>NOW</a:t>
            </a:r>
            <a:endParaRPr lang="en-US" sz="1200" dirty="0"/>
          </a:p>
        </p:txBody>
      </p:sp>
      <p:sp>
        <p:nvSpPr>
          <p:cNvPr id="9" name="Text 6"/>
          <p:cNvSpPr/>
          <p:nvPr/>
        </p:nvSpPr>
        <p:spPr>
          <a:xfrm>
            <a:off x="6451564" y="4207594"/>
            <a:ext cx="4840063" cy="55865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IM is the scarcest and fills first, with about 120 spare per half</a:t>
            </a:r>
            <a:endParaRPr lang="en-US" sz="1500" dirty="0"/>
          </a:p>
        </p:txBody>
      </p:sp>
      <p:sp>
        <p:nvSpPr>
          <p:cNvPr id="10" name="Text 7"/>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9 · a3_sheets.draw_sample on pool_v11.1_ext with sample_round1 as prior · preview only, nothing written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2EC"/>
                </a:solidFill>
                <a:latin typeface="Source Serif 4" pitchFamily="18" charset="0"/>
                <a:ea typeface="Source Serif 4" pitchFamily="18" charset="-122"/>
                <a:cs typeface="Source Serif 4" pitchFamily="18" charset="-120"/>
              </a:rPr>
              <a:t>What to watch when annotating round 2</a:t>
            </a:r>
            <a:endParaRPr lang="en-US" sz="3600" dirty="0"/>
          </a:p>
        </p:txBody>
      </p:sp>
      <p:sp>
        <p:nvSpPr>
          <p:cNvPr id="3" name="Shape 1"/>
          <p:cNvSpPr/>
          <p:nvPr/>
        </p:nvSpPr>
        <p:spPr>
          <a:xfrm>
            <a:off x="812782" y="1683903"/>
            <a:ext cx="3352782" cy="0"/>
          </a:xfrm>
          <a:prstGeom prst="line">
            <a:avLst/>
          </a:prstGeom>
          <a:noFill/>
          <a:ln w="25400">
            <a:solidFill>
              <a:srgbClr val="F2A65A"/>
            </a:solidFill>
            <a:prstDash val="solid"/>
          </a:ln>
        </p:spPr>
        <p:txBody>
          <a:bodyPr/>
          <a:lstStyle/>
          <a:p>
            <a:endParaRPr lang="es-ES_tradnl"/>
          </a:p>
        </p:txBody>
      </p:sp>
      <p:sp>
        <p:nvSpPr>
          <p:cNvPr id="4" name="Text 2"/>
          <p:cNvSpPr/>
          <p:nvPr/>
        </p:nvSpPr>
        <p:spPr>
          <a:xfrm>
            <a:off x="812782" y="1897422"/>
            <a:ext cx="3453365" cy="360669"/>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65A"/>
                </a:solidFill>
                <a:latin typeface="IBM Plex Sans" pitchFamily="34" charset="0"/>
                <a:ea typeface="IBM Plex Sans" pitchFamily="34" charset="-122"/>
                <a:cs typeface="IBM Plex Sans" pitchFamily="34" charset="-120"/>
              </a:rPr>
              <a:t>IM</a:t>
            </a:r>
            <a:endParaRPr lang="en-US" sz="2200" dirty="0"/>
          </a:p>
        </p:txBody>
      </p:sp>
      <p:sp>
        <p:nvSpPr>
          <p:cNvPr id="5" name="Text 3"/>
          <p:cNvSpPr/>
          <p:nvPr/>
        </p:nvSpPr>
        <p:spPr>
          <a:xfrm>
            <a:off x="812782" y="2334251"/>
            <a:ext cx="3453365" cy="1130156"/>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C9D2E3"/>
                </a:solidFill>
                <a:latin typeface="IBM Plex Sans" pitchFamily="34" charset="0"/>
                <a:ea typeface="IBM Plex Sans" pitchFamily="34" charset="-122"/>
                <a:cs typeface="IBM Plex Sans" pitchFamily="34" charset="-120"/>
              </a:rPr>
              <a:t>Only 42% of the new IM labels are unanimous; the rest are 2-of-3 votes. Expect more corrections; the reserve and the 10% rule cover it.</a:t>
            </a:r>
            <a:endParaRPr lang="en-US" sz="1500" dirty="0"/>
          </a:p>
        </p:txBody>
      </p:sp>
      <p:sp>
        <p:nvSpPr>
          <p:cNvPr id="6" name="Shape 4"/>
          <p:cNvSpPr/>
          <p:nvPr/>
        </p:nvSpPr>
        <p:spPr>
          <a:xfrm>
            <a:off x="4419564" y="1683903"/>
            <a:ext cx="3352872" cy="0"/>
          </a:xfrm>
          <a:prstGeom prst="line">
            <a:avLst/>
          </a:prstGeom>
          <a:noFill/>
          <a:ln w="25400">
            <a:solidFill>
              <a:srgbClr val="F2A65A"/>
            </a:solidFill>
            <a:prstDash val="solid"/>
          </a:ln>
        </p:spPr>
        <p:txBody>
          <a:bodyPr/>
          <a:lstStyle/>
          <a:p>
            <a:endParaRPr lang="es-ES_tradnl"/>
          </a:p>
        </p:txBody>
      </p:sp>
      <p:sp>
        <p:nvSpPr>
          <p:cNvPr id="7" name="Text 5"/>
          <p:cNvSpPr/>
          <p:nvPr/>
        </p:nvSpPr>
        <p:spPr>
          <a:xfrm>
            <a:off x="4419564" y="1897422"/>
            <a:ext cx="3453458" cy="360669"/>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65A"/>
                </a:solidFill>
                <a:latin typeface="IBM Plex Sans" pitchFamily="34" charset="0"/>
                <a:ea typeface="IBM Plex Sans" pitchFamily="34" charset="-122"/>
                <a:cs typeface="IBM Plex Sans" pitchFamily="34" charset="-120"/>
              </a:rPr>
              <a:t>Basis vs Application</a:t>
            </a:r>
            <a:endParaRPr lang="en-US" sz="2200" dirty="0"/>
          </a:p>
        </p:txBody>
      </p:sp>
      <p:sp>
        <p:nvSpPr>
          <p:cNvPr id="8" name="Text 6"/>
          <p:cNvSpPr/>
          <p:nvPr/>
        </p:nvSpPr>
        <p:spPr>
          <a:xfrm>
            <a:off x="4419564" y="2334251"/>
            <a:ext cx="3453458" cy="1130156"/>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C9D2E3"/>
                </a:solidFill>
                <a:latin typeface="IBM Plex Sans" pitchFamily="34" charset="0"/>
                <a:ea typeface="IBM Plex Sans" pitchFamily="34" charset="-122"/>
                <a:cs typeface="IBM Plex Sans" pitchFamily="34" charset="-120"/>
              </a:rPr>
              <a:t>The main disagreement in the Basis batch (κ 0.56). Apply rule 3: Basis only when our work builds on, follows or extends the cited one.</a:t>
            </a:r>
            <a:endParaRPr lang="en-US" sz="1500" dirty="0"/>
          </a:p>
        </p:txBody>
      </p:sp>
      <p:sp>
        <p:nvSpPr>
          <p:cNvPr id="9" name="Shape 7"/>
          <p:cNvSpPr/>
          <p:nvPr/>
        </p:nvSpPr>
        <p:spPr>
          <a:xfrm>
            <a:off x="8026436" y="1683903"/>
            <a:ext cx="3352782" cy="0"/>
          </a:xfrm>
          <a:prstGeom prst="line">
            <a:avLst/>
          </a:prstGeom>
          <a:noFill/>
          <a:ln w="25400">
            <a:solidFill>
              <a:srgbClr val="F2A65A"/>
            </a:solidFill>
            <a:prstDash val="solid"/>
          </a:ln>
        </p:spPr>
        <p:txBody>
          <a:bodyPr/>
          <a:lstStyle/>
          <a:p>
            <a:endParaRPr lang="es-ES_tradnl"/>
          </a:p>
        </p:txBody>
      </p:sp>
      <p:sp>
        <p:nvSpPr>
          <p:cNvPr id="10" name="Text 8"/>
          <p:cNvSpPr/>
          <p:nvPr/>
        </p:nvSpPr>
        <p:spPr>
          <a:xfrm>
            <a:off x="8026436" y="1897422"/>
            <a:ext cx="3453365" cy="360669"/>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A65A"/>
                </a:solidFill>
                <a:latin typeface="IBM Plex Sans" pitchFamily="34" charset="0"/>
                <a:ea typeface="IBM Plex Sans" pitchFamily="34" charset="-122"/>
                <a:cs typeface="IBM Plex Sans" pitchFamily="34" charset="-120"/>
              </a:rPr>
              <a:t>List pointers</a:t>
            </a:r>
            <a:endParaRPr lang="en-US" sz="2200" dirty="0"/>
          </a:p>
        </p:txBody>
      </p:sp>
      <p:sp>
        <p:nvSpPr>
          <p:cNvPr id="11" name="Text 9"/>
          <p:cNvSpPr/>
          <p:nvPr/>
        </p:nvSpPr>
        <p:spPr>
          <a:xfrm>
            <a:off x="8026436" y="2334251"/>
            <a:ext cx="3453365" cy="1130156"/>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C9D2E3"/>
                </a:solidFill>
                <a:latin typeface="IBM Plex Sans" pitchFamily="34" charset="0"/>
                <a:ea typeface="IBM Plex Sans" pitchFamily="34" charset="-122"/>
                <a:cs typeface="IBM Plex Sans" pitchFamily="34" charset="-120"/>
              </a:rPr>
              <a:t>“see [1–5]” in cs.DS. R-FR: content first. Further Reading only when the sentence just sends the reader elsewhere.</a:t>
            </a:r>
            <a:endParaRPr lang="en-US" sz="1500" dirty="0"/>
          </a:p>
        </p:txBody>
      </p:sp>
      <p:sp>
        <p:nvSpPr>
          <p:cNvPr id="12" name="Text 10"/>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7BF"/>
                </a:solidFill>
                <a:latin typeface="IBM Plex Sans" pitchFamily="34" charset="0"/>
                <a:ea typeface="IBM Plex Sans" pitchFamily="34" charset="-122"/>
                <a:cs typeface="IBM Plex Sans" pitchFamily="34" charset="-120"/>
              </a:rPr>
              <a:t>10 · Guide rev3.1, rules 3, 5 and R-FR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82" y="812781"/>
            <a:ext cx="10883429" cy="528259"/>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Next steps</a:t>
            </a:r>
            <a:endParaRPr lang="en-US" sz="3600" dirty="0"/>
          </a:p>
        </p:txBody>
      </p:sp>
      <p:sp>
        <p:nvSpPr>
          <p:cNvPr id="3" name="Text 1"/>
          <p:cNvSpPr/>
          <p:nvPr/>
        </p:nvSpPr>
        <p:spPr>
          <a:xfrm>
            <a:off x="812782" y="1620422"/>
            <a:ext cx="40636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B8"/>
                </a:solidFill>
                <a:latin typeface="Source Serif 4" pitchFamily="18" charset="0"/>
                <a:ea typeface="Source Serif 4" pitchFamily="18" charset="-122"/>
                <a:cs typeface="Source Serif 4" pitchFamily="18" charset="-120"/>
              </a:rPr>
              <a:t>1</a:t>
            </a:r>
            <a:endParaRPr lang="en-US" sz="2200" dirty="0"/>
          </a:p>
        </p:txBody>
      </p:sp>
      <p:sp>
        <p:nvSpPr>
          <p:cNvPr id="4" name="Text 2"/>
          <p:cNvSpPr/>
          <p:nvPr/>
        </p:nvSpPr>
        <p:spPr>
          <a:xfrm>
            <a:off x="1346128" y="1620422"/>
            <a:ext cx="5643923"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Finish wave 1 of round 1, then the reserve decision (§9)</a:t>
            </a:r>
            <a:endParaRPr lang="en-US" sz="1600" dirty="0"/>
          </a:p>
        </p:txBody>
      </p:sp>
      <p:sp>
        <p:nvSpPr>
          <p:cNvPr id="5" name="Text 3"/>
          <p:cNvSpPr/>
          <p:nvPr/>
        </p:nvSpPr>
        <p:spPr>
          <a:xfrm>
            <a:off x="812782" y="2163961"/>
            <a:ext cx="40636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B8"/>
                </a:solidFill>
                <a:latin typeface="Source Serif 4" pitchFamily="18" charset="0"/>
                <a:ea typeface="Source Serif 4" pitchFamily="18" charset="-122"/>
                <a:cs typeface="Source Serif 4" pitchFamily="18" charset="-120"/>
              </a:rPr>
              <a:t>2</a:t>
            </a:r>
            <a:endParaRPr lang="en-US" sz="2200" dirty="0"/>
          </a:p>
        </p:txBody>
      </p:sp>
      <p:sp>
        <p:nvSpPr>
          <p:cNvPr id="6" name="Text 4"/>
          <p:cNvSpPr/>
          <p:nvPr/>
        </p:nvSpPr>
        <p:spPr>
          <a:xfrm>
            <a:off x="1346128" y="2163961"/>
            <a:ext cx="5447010" cy="59437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Commit the round-2 draw on pool_v11.1_ext; batches continue after the reserve batches</a:t>
            </a:r>
            <a:endParaRPr lang="en-US" sz="1600" dirty="0"/>
          </a:p>
        </p:txBody>
      </p:sp>
      <p:sp>
        <p:nvSpPr>
          <p:cNvPr id="7" name="Text 5"/>
          <p:cNvSpPr/>
          <p:nvPr/>
        </p:nvSpPr>
        <p:spPr>
          <a:xfrm>
            <a:off x="812782" y="2885281"/>
            <a:ext cx="406364"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5FB8"/>
                </a:solidFill>
                <a:latin typeface="Source Serif 4" pitchFamily="18" charset="0"/>
                <a:ea typeface="Source Serif 4" pitchFamily="18" charset="-122"/>
                <a:cs typeface="Source Serif 4" pitchFamily="18" charset="-120"/>
              </a:rPr>
              <a:t>3</a:t>
            </a:r>
            <a:endParaRPr lang="en-US" sz="2200" dirty="0"/>
          </a:p>
        </p:txBody>
      </p:sp>
      <p:sp>
        <p:nvSpPr>
          <p:cNvPr id="8" name="Text 6"/>
          <p:cNvSpPr/>
          <p:nvPr/>
        </p:nvSpPr>
        <p:spPr>
          <a:xfrm>
            <a:off x="1346128" y="2885281"/>
            <a:ext cx="5447010" cy="59437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Assign annotators with round 1 as prior, build and share the Sheets</a:t>
            </a:r>
            <a:endParaRPr lang="en-US" sz="1600" dirty="0"/>
          </a:p>
        </p:txBody>
      </p:sp>
      <p:sp>
        <p:nvSpPr>
          <p:cNvPr id="9" name="Shape 7"/>
          <p:cNvSpPr/>
          <p:nvPr/>
        </p:nvSpPr>
        <p:spPr>
          <a:xfrm>
            <a:off x="6990051" y="1620422"/>
            <a:ext cx="4389167" cy="1889486"/>
          </a:xfrm>
          <a:prstGeom prst="roundRect">
            <a:avLst>
              <a:gd name="adj" fmla="val 5377"/>
            </a:avLst>
          </a:prstGeom>
          <a:solidFill>
            <a:srgbClr val="FBEBDD"/>
          </a:solidFill>
          <a:ln/>
        </p:spPr>
        <p:txBody>
          <a:bodyPr/>
          <a:lstStyle/>
          <a:p>
            <a:endParaRPr lang="es-ES_tradnl"/>
          </a:p>
        </p:txBody>
      </p:sp>
      <p:sp>
        <p:nvSpPr>
          <p:cNvPr id="10" name="Text 8"/>
          <p:cNvSpPr/>
          <p:nvPr/>
        </p:nvSpPr>
        <p:spPr>
          <a:xfrm>
            <a:off x="7244051" y="1874422"/>
            <a:ext cx="3997602"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3F0E"/>
                </a:solidFill>
                <a:latin typeface="IBM Plex Sans" pitchFamily="34" charset="0"/>
                <a:ea typeface="IBM Plex Sans" pitchFamily="34" charset="-122"/>
                <a:cs typeface="IBM Plex Sans" pitchFamily="34" charset="-120"/>
              </a:rPr>
              <a:t>SOME CATEGORIES ARE STILL SHORT!!!</a:t>
            </a:r>
            <a:endParaRPr lang="en-US" sz="1200" dirty="0"/>
          </a:p>
        </p:txBody>
      </p:sp>
      <p:sp>
        <p:nvSpPr>
          <p:cNvPr id="11" name="Text 9"/>
          <p:cNvSpPr/>
          <p:nvPr/>
        </p:nvSpPr>
        <p:spPr>
          <a:xfrm>
            <a:off x="7244051" y="2189392"/>
            <a:ext cx="3997602" cy="109191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Decided: we work with lowered, documented targets: IM ≈ 958, Further Reading ≈ 1,776, Originator ≈ 1,786 (Basis meets 2,000). Further pool extension is future work.</a:t>
            </a:r>
            <a:endParaRPr lang="en-US" sz="1500" dirty="0"/>
          </a:p>
        </p:txBody>
      </p:sp>
      <p:sp>
        <p:nvSpPr>
          <p:cNvPr id="12" name="Text 10"/>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86"/>
                </a:solidFill>
                <a:latin typeface="IBM Plex Sans" pitchFamily="34" charset="0"/>
                <a:ea typeface="IBM Plex Sans" pitchFamily="34" charset="-122"/>
                <a:cs typeface="IBM Plex Sans" pitchFamily="34" charset="-120"/>
              </a:rPr>
              <a:t>11 · Contract §6, §12</a:t>
            </a:r>
            <a:endParaRPr lang="en-US" sz="1200" dirty="0"/>
          </a:p>
        </p:txBody>
      </p:sp>
    </p:spTree>
  </p:cSld>
  <p:clrMapOvr>
    <a:masterClrMapping/>
  </p:clrMapOvr>
</p:sld>
</file>

<file path=ppt/theme/theme1.xml><?xml version="1.0" encoding="utf-8"?>
<a:theme xmlns:a="http://schemas.openxmlformats.org/drawingml/2006/main" name="A3 Pool Extension for Round 2">
  <a:themeElements>
    <a:clrScheme name="A3 Pool Extension for Round 2">
      <a:dk1>
        <a:srgbClr val="14213D"/>
      </a:dk1>
      <a:lt1>
        <a:srgbClr val="F7F6F2"/>
      </a:lt1>
      <a:dk2>
        <a:srgbClr val="4D566A"/>
      </a:dk2>
      <a:lt2>
        <a:srgbClr val="E0E1E0"/>
      </a:lt2>
      <a:accent1>
        <a:srgbClr val="2F5FB8"/>
      </a:accent1>
      <a:accent2>
        <a:srgbClr val="C2611F"/>
      </a:accent2>
      <a:accent3>
        <a:srgbClr val="F2A65A"/>
      </a:accent3>
      <a:accent4>
        <a:srgbClr val="8A3F0E"/>
      </a:accent4>
      <a:accent5>
        <a:srgbClr val="4A5568"/>
      </a:accent5>
      <a:accent6>
        <a:srgbClr val="6B7486"/>
      </a:accent6>
      <a:hlink>
        <a:srgbClr val="0563C1"/>
      </a:hlink>
      <a:folHlink>
        <a:srgbClr val="954F72"/>
      </a:folHlink>
    </a:clrScheme>
    <a:fontScheme name="A3 Pool Extension for Round 2">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1711</Words>
  <Application>Microsoft Macintosh PowerPoint</Application>
  <PresentationFormat>Widescreen</PresentationFormat>
  <Paragraphs>196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IBM Plex Sans</vt:lpstr>
      <vt:lpstr>Source Serif 4</vt:lpstr>
      <vt:lpstr>A3 Pool Extension for Round 2</vt:lpstr>
      <vt:lpstr>Pool extension for round 2</vt:lpstr>
      <vt:lpstr>The three categories left for round 2 were too scarce</vt:lpstr>
      <vt:lpstr>Two routes, one copy of the pool</vt:lpstr>
      <vt:lpstr>A: one cue batch gave 2,655 new Basis labels</vt:lpstr>
      <vt:lpstr>B: the extension went through the same pipeline</vt:lpstr>
      <vt:lpstr>B added 1,202 Further Reading at a lower yield</vt:lpstr>
      <vt:lpstr>Every check passed</vt:lpstr>
      <vt:lpstr>Supply grew in all four short categories</vt:lpstr>
      <vt:lpstr>Round-2 preview: all six cells drawn in full</vt:lpstr>
      <vt:lpstr>What to watch when annotating round 2</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 Pool Extension for Round 2</dc:title>
  <dc:subject/>
  <dc:creator/>
  <cp:lastModifiedBy>Alejandra Barbosa</cp:lastModifiedBy>
  <cp:revision>2</cp:revision>
  <dcterms:created xsi:type="dcterms:W3CDTF">2026-10-23T16:50:28Z</dcterms:created>
  <dcterms:modified xsi:type="dcterms:W3CDTF">2026-10-23T16:54:21Z</dcterms:modified>
</cp:coreProperties>
</file>