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6" d="100"/>
          <a:sy n="116" d="100"/>
        </p:scale>
        <p:origin x="224"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5765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teams labeled all 60 instances blind, 15 per member. They agree on 41 (kappa 0.63, substantial agreement); the other 19 are hard cases that we do not score and that we settle today by rule. Against the 41 agreed cases, the new trio (Qwen3.8 + Gemma 4 + a Mistral) gets 30 right, the old 7-8B trio 13. Qwen3.8 alone gets 33. The one category the judges miss entirely is Gap.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A2 notebook does. A1 gave us the pool: every citation in the pilot corpus with the three most relevant passages of the cited paper. Section 7 scans the citing text for cue phrases that hint at rare categories, so we can sample them on purpose. Sections 1 and 8 build batches: random ones for common categories and cue-targeted ones for rare ones, never more than one citation from the same bracket. Three open models judge each instance independently, quoting the text they rely on. A label counts as high confidence when at least two of the three agree; otherwise the instance gets no pre-label and never reaches a test set. eval60 is the referee that chose the judges and will choose the prompt; everything in this meeting comes from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team labeled all 60 instances, so every instance has two labels. When they match, the label is our reference, and the 41 matching instances are the ones we score the judges on. When they differ, it is a hard case: we do not score it, and it goes to the adjudication sheet. Cohen's kappa measures how much the teams agree beyond what chance would give. Observed agreement is 41 of 60, 0.683. Chance agreement comes from each team's label mix: for each category multiply the share of instances team A gave it by team B's share, then add them up; that is 0.144 here, mostly from Background. Kappa = (0.683 - 0.144) / (1 - 0.144) = 0.63, which the usual Landis and Koch scale calls substantial. The third box is where the "Claude's reading" numbers in the next slide come from: Claude labeled the hard cases independently to give the discussion a starting point. It is not a third team and not the answer.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teams agree on 41 of 60; kappa 0.63. Team A works faster and marks more labels as high confidence; team B writes fewer notes but spends a median of 5 minutes per instance. Both teams match the chosen trio equally often (37 of 60 each). The "Claude's reading" row compares each team with Claude's own labels on the 19 hard cases (previous slide): team B matches on 13, team A on 5. That is one reading, not the answer. The second pass made things worse: team A changed 10 labels (7 by one member), mostly following the section heading, for example "it is in Related Work, so Comparison", and agreement fell from 41 to 32. That is why annotators will not see citing information.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boundary is the pair of categories the two teams chose between. Seven hard cases are about Evidence: one team saw the cited work as support for a claim, the other as background, a tool, or the basis of the work. Four are about "see [x]" pointers. Three about whether a sentence is a real comparison, three about whether "adapt" means a real modification, and two about Gap. The two Gap cases are the clearest example of why we need rules: E50 and E52 have the same structure, a list of methods followed by "these methods fail", and team A said Gap on one while team B said Gap on the other. The candidate rules come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Scores are out of the 41 instances where both teams agree. Qwen3.8 is the strongest single judge with 33; the trio gets 30 because a majority vote sometimes overrules Qwen when it is right. The old 7-8B trio got 13. Qwen and Gemma agree on 35 of the 41; on the 6 where they disagree, neither Mistral sided with the right one, so the third judge almost never changes the outcome. Our tie rule says to take the faster model, Ministral. We re-ran it with the filtered passages: 24 alone, trio still 30. The trio is strong on Background, Originator, Further Reading and Improvement/Modification, and weak on Gap, where it found none of the 3 cases. The next slide explains what we tried for that.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experiments this week. First, Gap: the judges found none of the 3 Gap cases, so we rewrote the Gap rule (v10). On 300 instances with Gap cue phrases the trio's Gap labels went from 19 to 111, but reading 20 of the changes, about 45% were wrong, and always in the same way: the cited paper is the source that reports another method's limitation, which is Evidence, not Gap. v11 will say so explicitly. Second, citing information (v9): showing the citing paper's title, abstract and section did not help the judges, and it made the teams agree less, because people started labeling by section heading. So nobody sees it. Third, passages: about a quarter of the top retrieved passages came from the cited paper's own related-work section, which describes other papers. We filtered them out; labels barely moved and accuracy is unchanged, so we keep the cleaner passages.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candidates drawn from the hard cases, not decisions. Rule 1: a citation that proves a claim the authors make is Evidence, even when the claim is about other methods' weaknesses; it is not Gap because the cited paper does not have the weakness. Rule 2: in computer science "adapt" often just means "use"; it counts as Improvement/Modification only when the text says what was changed. Rule 3: parenthetical pointers like "see [x] for a review" are Further Reading. Rule 4: when the text lists works and then says "these methods fail" or "these methods require X", the limitation is attributed to each of them, so each is Gap; this settles E50 and E52, where the teams split opposite ways. Rule 5: a dataset, model or variant that is only named as context, not used and not used as support, is Background. Whatever the teams adopt goes into guide rev2, agreed with group 8, and with the same wording into the judges' prompt v11.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corpus is almost all computer vision, where Further Reading cue phrases are rare: about 20 per 10,000 citations. We extracted citation contexts for three more arXiv categories and scanned them with the same cue phrases, without running the full pipeline. Machine learning has about 8 times as many Further Reading cues, and data structures and algorithms 40 times as many, but almost all of those are "see" or "cf." pointers, often to lists of papers, so the true yield is lower. Computational linguistics gains little. Improvement/Modification cues are equally rare everywhere, so more data will not solve that category. If we extend, the new cited papers go through the same steps as the pilot: chunking, cleaning, language check, SciBERT embeddings, retrieval with the related-work filter, cue scan and judging with the frozen setup. The licensing approach is unchanged, since everything is rebuilt from unarXive locators. We only do this if Further Reading is still short after the re-judge, starting with cs.LG.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this meeting's output: rules in the sheet, then agreed with group 8 so both groups annotate the same way. Step 2 turns those rules into the judges' prompt and fixes the Gap mistake we found; we test it on eval60 against the agreed cases and the adjudicated ones, and on the 300 Gap-cue instances, and keep it only if it helps. Step 3 freezes everything, because the contract requires one trio and one prompt for the whole pool. Step 4 re-judges all batches, about 35,000 instances, with the new setup and gives us real counts per category. Step 5 decides what to do for categories that are still short, which is where the corpus extension comes in, and then we sample the test sets. The protocol line applies to everyone: no citing information, since it lowered agreement, and AI-tool use declared, so the human reference stays independent of the models it grades.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20070"/>
            <a:ext cx="10566467" cy="447036"/>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71905"/>
            <a:ext cx="10566433" cy="4173295"/>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20070"/>
            <a:ext cx="10566467" cy="447036"/>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71905"/>
            <a:ext cx="10566433" cy="4173295"/>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67" y="812767"/>
            <a:ext cx="10883461" cy="274329"/>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9CC3EC"/>
                </a:solidFill>
                <a:latin typeface="IBM Plex Sans" pitchFamily="34" charset="0"/>
                <a:ea typeface="IBM Plex Sans" pitchFamily="34" charset="-122"/>
                <a:cs typeface="IBM Plex Sans" pitchFamily="34" charset="-120"/>
              </a:rPr>
              <a:t>LCR PROJECT · A2 JUDGE SELECTION · 9 OCTOBER 2026</a:t>
            </a:r>
            <a:endParaRPr lang="en-US" sz="1400" dirty="0"/>
          </a:p>
        </p:txBody>
      </p:sp>
      <p:sp>
        <p:nvSpPr>
          <p:cNvPr id="3" name="Text 1"/>
          <p:cNvSpPr>
            <a:spLocks noGrp="1"/>
          </p:cNvSpPr>
          <p:nvPr>
            <p:ph type="title"/>
          </p:nvPr>
        </p:nvSpPr>
        <p:spPr>
          <a:xfrm>
            <a:off x="812767" y="1214052"/>
            <a:ext cx="10883461" cy="1366397"/>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7F6F2"/>
                </a:solidFill>
                <a:latin typeface="Source Serif 4" pitchFamily="18" charset="0"/>
                <a:ea typeface="Source Serif 4" pitchFamily="18" charset="-122"/>
                <a:cs typeface="Source Serif 4" pitchFamily="18" charset="-120"/>
              </a:rPr>
              <a:t>eval60: what the teams' labels told us</a:t>
            </a:r>
            <a:endParaRPr lang="en-US" sz="4800" dirty="0"/>
          </a:p>
        </p:txBody>
      </p:sp>
      <p:sp>
        <p:nvSpPr>
          <p:cNvPr id="4" name="Text 2"/>
          <p:cNvSpPr/>
          <p:nvPr/>
        </p:nvSpPr>
        <p:spPr>
          <a:xfrm>
            <a:off x="812767" y="2707404"/>
            <a:ext cx="10883461"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IBM Plex Sans" pitchFamily="34" charset="0"/>
                <a:ea typeface="IBM Plex Sans" pitchFamily="34" charset="-122"/>
                <a:cs typeface="IBM Plex Sans" pitchFamily="34" charset="-120"/>
              </a:rPr>
              <a:t>The judges are chosen, Gap is the open problem, and 19 hard cases need a rule each</a:t>
            </a:r>
            <a:endParaRPr lang="en-US" sz="1600" dirty="0"/>
          </a:p>
        </p:txBody>
      </p:sp>
      <p:sp>
        <p:nvSpPr>
          <p:cNvPr id="5" name="Shape 3"/>
          <p:cNvSpPr/>
          <p:nvPr/>
        </p:nvSpPr>
        <p:spPr>
          <a:xfrm>
            <a:off x="812767" y="4490806"/>
            <a:ext cx="2527322" cy="1554427"/>
          </a:xfrm>
          <a:prstGeom prst="roundRect">
            <a:avLst>
              <a:gd name="adj" fmla="val 6536"/>
            </a:avLst>
          </a:prstGeom>
          <a:solidFill>
            <a:srgbClr val="1F2F52"/>
          </a:solidFill>
          <a:ln/>
        </p:spPr>
        <p:txBody>
          <a:bodyPr/>
          <a:lstStyle/>
          <a:p>
            <a:endParaRPr lang="es-ES_tradnl"/>
          </a:p>
        </p:txBody>
      </p:sp>
      <p:sp>
        <p:nvSpPr>
          <p:cNvPr id="6" name="Text 4"/>
          <p:cNvSpPr/>
          <p:nvPr/>
        </p:nvSpPr>
        <p:spPr>
          <a:xfrm>
            <a:off x="1066767" y="4744806"/>
            <a:ext cx="2079902"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F7F6F2"/>
                </a:solidFill>
                <a:latin typeface="Source Serif 4" pitchFamily="18" charset="0"/>
                <a:ea typeface="Source Serif 4" pitchFamily="18" charset="-122"/>
                <a:cs typeface="Source Serif 4" pitchFamily="18" charset="-120"/>
              </a:rPr>
              <a:t>0.63</a:t>
            </a:r>
            <a:endParaRPr lang="en-US" sz="4000" dirty="0"/>
          </a:p>
        </p:txBody>
      </p:sp>
      <p:sp>
        <p:nvSpPr>
          <p:cNvPr id="7" name="Text 5"/>
          <p:cNvSpPr/>
          <p:nvPr/>
        </p:nvSpPr>
        <p:spPr>
          <a:xfrm>
            <a:off x="1066767" y="5328984"/>
            <a:ext cx="2079902"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C9D3E3"/>
                </a:solidFill>
                <a:latin typeface="IBM Plex Sans" pitchFamily="34" charset="0"/>
                <a:ea typeface="IBM Plex Sans" pitchFamily="34" charset="-122"/>
                <a:cs typeface="IBM Plex Sans" pitchFamily="34" charset="-120"/>
              </a:rPr>
              <a:t>Cohen's κ, team A vs team B</a:t>
            </a:r>
            <a:endParaRPr lang="en-US" sz="1400" dirty="0"/>
          </a:p>
        </p:txBody>
      </p:sp>
      <p:sp>
        <p:nvSpPr>
          <p:cNvPr id="8" name="Shape 6"/>
          <p:cNvSpPr/>
          <p:nvPr/>
        </p:nvSpPr>
        <p:spPr>
          <a:xfrm>
            <a:off x="3492445" y="4490806"/>
            <a:ext cx="2527377" cy="1554427"/>
          </a:xfrm>
          <a:prstGeom prst="roundRect">
            <a:avLst>
              <a:gd name="adj" fmla="val 6536"/>
            </a:avLst>
          </a:prstGeom>
          <a:solidFill>
            <a:srgbClr val="1F2F52"/>
          </a:solidFill>
          <a:ln/>
        </p:spPr>
        <p:txBody>
          <a:bodyPr/>
          <a:lstStyle/>
          <a:p>
            <a:endParaRPr lang="es-ES_tradnl"/>
          </a:p>
        </p:txBody>
      </p:sp>
      <p:sp>
        <p:nvSpPr>
          <p:cNvPr id="9" name="Text 7"/>
          <p:cNvSpPr/>
          <p:nvPr/>
        </p:nvSpPr>
        <p:spPr>
          <a:xfrm>
            <a:off x="3746445" y="4744806"/>
            <a:ext cx="2079959"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F7F6F2"/>
                </a:solidFill>
                <a:latin typeface="Source Serif 4" pitchFamily="18" charset="0"/>
                <a:ea typeface="Source Serif 4" pitchFamily="18" charset="-122"/>
                <a:cs typeface="Source Serif 4" pitchFamily="18" charset="-120"/>
              </a:rPr>
              <a:t>41 / 19</a:t>
            </a:r>
            <a:endParaRPr lang="en-US" sz="4000" dirty="0"/>
          </a:p>
        </p:txBody>
      </p:sp>
      <p:sp>
        <p:nvSpPr>
          <p:cNvPr id="10" name="Text 8"/>
          <p:cNvSpPr/>
          <p:nvPr/>
        </p:nvSpPr>
        <p:spPr>
          <a:xfrm>
            <a:off x="3746445" y="5328984"/>
            <a:ext cx="2079959"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C9D3E3"/>
                </a:solidFill>
                <a:latin typeface="IBM Plex Sans" pitchFamily="34" charset="0"/>
                <a:ea typeface="IBM Plex Sans" pitchFamily="34" charset="-122"/>
                <a:cs typeface="IBM Plex Sans" pitchFamily="34" charset="-120"/>
              </a:rPr>
              <a:t>agreed (scored) / hard cases</a:t>
            </a:r>
            <a:endParaRPr lang="en-US" sz="1400" dirty="0"/>
          </a:p>
        </p:txBody>
      </p:sp>
      <p:sp>
        <p:nvSpPr>
          <p:cNvPr id="11" name="Shape 9"/>
          <p:cNvSpPr/>
          <p:nvPr/>
        </p:nvSpPr>
        <p:spPr>
          <a:xfrm>
            <a:off x="6172178" y="4490806"/>
            <a:ext cx="2527322" cy="1554427"/>
          </a:xfrm>
          <a:prstGeom prst="roundRect">
            <a:avLst>
              <a:gd name="adj" fmla="val 6536"/>
            </a:avLst>
          </a:prstGeom>
          <a:solidFill>
            <a:srgbClr val="1F2F52"/>
          </a:solidFill>
          <a:ln/>
        </p:spPr>
        <p:txBody>
          <a:bodyPr/>
          <a:lstStyle/>
          <a:p>
            <a:endParaRPr lang="es-ES_tradnl"/>
          </a:p>
        </p:txBody>
      </p:sp>
      <p:sp>
        <p:nvSpPr>
          <p:cNvPr id="12" name="Text 10"/>
          <p:cNvSpPr/>
          <p:nvPr/>
        </p:nvSpPr>
        <p:spPr>
          <a:xfrm>
            <a:off x="6426178" y="4744806"/>
            <a:ext cx="2079902"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F7F6F2"/>
                </a:solidFill>
                <a:latin typeface="Source Serif 4" pitchFamily="18" charset="0"/>
                <a:ea typeface="Source Serif 4" pitchFamily="18" charset="-122"/>
                <a:cs typeface="Source Serif 4" pitchFamily="18" charset="-120"/>
              </a:rPr>
              <a:t>30 / 41</a:t>
            </a:r>
            <a:endParaRPr lang="en-US" sz="4000" dirty="0"/>
          </a:p>
        </p:txBody>
      </p:sp>
      <p:sp>
        <p:nvSpPr>
          <p:cNvPr id="13" name="Text 11"/>
          <p:cNvSpPr/>
          <p:nvPr/>
        </p:nvSpPr>
        <p:spPr>
          <a:xfrm>
            <a:off x="6426178" y="5328984"/>
            <a:ext cx="2079902"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C9D3E3"/>
                </a:solidFill>
                <a:latin typeface="IBM Plex Sans" pitchFamily="34" charset="0"/>
                <a:ea typeface="IBM Plex Sans" pitchFamily="34" charset="-122"/>
                <a:cs typeface="IBM Plex Sans" pitchFamily="34" charset="-120"/>
              </a:rPr>
              <a:t>judge trio correct (old trio: 13)</a:t>
            </a:r>
            <a:endParaRPr lang="en-US" sz="1400" dirty="0"/>
          </a:p>
        </p:txBody>
      </p:sp>
      <p:sp>
        <p:nvSpPr>
          <p:cNvPr id="14" name="Shape 12"/>
          <p:cNvSpPr/>
          <p:nvPr/>
        </p:nvSpPr>
        <p:spPr>
          <a:xfrm>
            <a:off x="8851857" y="4490806"/>
            <a:ext cx="2527377" cy="1554427"/>
          </a:xfrm>
          <a:prstGeom prst="roundRect">
            <a:avLst>
              <a:gd name="adj" fmla="val 6536"/>
            </a:avLst>
          </a:prstGeom>
          <a:solidFill>
            <a:srgbClr val="1F2F52"/>
          </a:solidFill>
          <a:ln/>
        </p:spPr>
        <p:txBody>
          <a:bodyPr/>
          <a:lstStyle/>
          <a:p>
            <a:endParaRPr lang="es-ES_tradnl"/>
          </a:p>
        </p:txBody>
      </p:sp>
      <p:sp>
        <p:nvSpPr>
          <p:cNvPr id="15" name="Text 13"/>
          <p:cNvSpPr/>
          <p:nvPr/>
        </p:nvSpPr>
        <p:spPr>
          <a:xfrm>
            <a:off x="9105857" y="4744806"/>
            <a:ext cx="2079959"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F0A35E"/>
                </a:solidFill>
                <a:latin typeface="Source Serif 4" pitchFamily="18" charset="0"/>
                <a:ea typeface="Source Serif 4" pitchFamily="18" charset="-122"/>
                <a:cs typeface="Source Serif 4" pitchFamily="18" charset="-120"/>
              </a:rPr>
              <a:t>0 / 3</a:t>
            </a:r>
            <a:endParaRPr lang="en-US" sz="4000" dirty="0"/>
          </a:p>
        </p:txBody>
      </p:sp>
      <p:sp>
        <p:nvSpPr>
          <p:cNvPr id="16" name="Text 14"/>
          <p:cNvSpPr/>
          <p:nvPr/>
        </p:nvSpPr>
        <p:spPr>
          <a:xfrm>
            <a:off x="9105857" y="5328984"/>
            <a:ext cx="2079959" cy="487649"/>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C9D3E3"/>
                </a:solidFill>
                <a:latin typeface="IBM Plex Sans" pitchFamily="34" charset="0"/>
                <a:ea typeface="IBM Plex Sans" pitchFamily="34" charset="-122"/>
                <a:cs typeface="IBM Plex Sans" pitchFamily="34" charset="-120"/>
              </a:rPr>
              <a:t>Gap cases found by the trio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7" y="812767"/>
            <a:ext cx="10883461" cy="256525"/>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2F6FB0"/>
                </a:solidFill>
                <a:latin typeface="IBM Plex Sans" pitchFamily="34" charset="0"/>
                <a:ea typeface="IBM Plex Sans" pitchFamily="34" charset="-122"/>
                <a:cs typeface="IBM Plex Sans" pitchFamily="34" charset="-120"/>
              </a:rPr>
              <a:t>THE A2 NOTEBOOK</a:t>
            </a:r>
            <a:endParaRPr lang="en-US" sz="1300" dirty="0"/>
          </a:p>
        </p:txBody>
      </p:sp>
      <p:sp>
        <p:nvSpPr>
          <p:cNvPr id="3" name="Text 1"/>
          <p:cNvSpPr>
            <a:spLocks noGrp="1"/>
          </p:cNvSpPr>
          <p:nvPr>
            <p:ph type="title"/>
          </p:nvPr>
        </p:nvSpPr>
        <p:spPr>
          <a:xfrm>
            <a:off x="812767" y="1120070"/>
            <a:ext cx="10883461" cy="47243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From citations to pre-labels in five steps</a:t>
            </a:r>
            <a:endParaRPr lang="en-US" sz="3200" dirty="0"/>
          </a:p>
        </p:txBody>
      </p:sp>
      <p:sp>
        <p:nvSpPr>
          <p:cNvPr id="4" name="Shape 2"/>
          <p:cNvSpPr/>
          <p:nvPr/>
        </p:nvSpPr>
        <p:spPr>
          <a:xfrm>
            <a:off x="812767" y="1821105"/>
            <a:ext cx="1767913" cy="1762566"/>
          </a:xfrm>
          <a:prstGeom prst="roundRect">
            <a:avLst>
              <a:gd name="adj" fmla="val 5764"/>
            </a:avLst>
          </a:prstGeom>
          <a:solidFill>
            <a:srgbClr val="EEF1F5"/>
          </a:solidFill>
          <a:ln/>
        </p:spPr>
        <p:txBody>
          <a:bodyPr/>
          <a:lstStyle/>
          <a:p>
            <a:endParaRPr lang="es-ES_tradnl"/>
          </a:p>
        </p:txBody>
      </p:sp>
      <p:sp>
        <p:nvSpPr>
          <p:cNvPr id="5" name="Text 3"/>
          <p:cNvSpPr/>
          <p:nvPr/>
        </p:nvSpPr>
        <p:spPr>
          <a:xfrm>
            <a:off x="990534" y="1998873"/>
            <a:ext cx="1463179" cy="23877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FB0"/>
                </a:solidFill>
                <a:latin typeface="IBM Plex Sans" pitchFamily="34" charset="0"/>
                <a:ea typeface="IBM Plex Sans" pitchFamily="34" charset="-122"/>
                <a:cs typeface="IBM Plex Sans" pitchFamily="34" charset="-120"/>
              </a:rPr>
              <a:t>INPUT · A1</a:t>
            </a:r>
            <a:endParaRPr lang="en-US" sz="1200" dirty="0"/>
          </a:p>
        </p:txBody>
      </p:sp>
      <p:sp>
        <p:nvSpPr>
          <p:cNvPr id="6" name="Text 4"/>
          <p:cNvSpPr/>
          <p:nvPr/>
        </p:nvSpPr>
        <p:spPr>
          <a:xfrm>
            <a:off x="990534" y="2275748"/>
            <a:ext cx="1463179"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Pool</a:t>
            </a:r>
            <a:endParaRPr lang="en-US" sz="1600" dirty="0"/>
          </a:p>
        </p:txBody>
      </p:sp>
      <p:sp>
        <p:nvSpPr>
          <p:cNvPr id="7" name="Text 5"/>
          <p:cNvSpPr/>
          <p:nvPr/>
        </p:nvSpPr>
        <p:spPr>
          <a:xfrm>
            <a:off x="990534" y="2583050"/>
            <a:ext cx="1463179" cy="84825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524,713 citations, each with 3 passages of the cited paper</a:t>
            </a:r>
            <a:endParaRPr lang="en-US" sz="1200" dirty="0"/>
          </a:p>
        </p:txBody>
      </p:sp>
      <p:pic>
        <p:nvPicPr>
          <p:cNvPr id="8" name="Image 0" descr="arrow-right"/>
          <p:cNvPicPr>
            <a:picLocks noChangeAspect="1"/>
          </p:cNvPicPr>
          <p:nvPr/>
        </p:nvPicPr>
        <p:blipFill>
          <a:blip r:embed="rId3"/>
          <a:srcRect l="-7" r="-7"/>
          <a:stretch/>
        </p:blipFill>
        <p:spPr>
          <a:xfrm>
            <a:off x="2656858" y="2626210"/>
            <a:ext cx="279356" cy="152356"/>
          </a:xfrm>
          <a:prstGeom prst="rect">
            <a:avLst/>
          </a:prstGeom>
        </p:spPr>
      </p:pic>
      <p:sp>
        <p:nvSpPr>
          <p:cNvPr id="9" name="Shape 6"/>
          <p:cNvSpPr/>
          <p:nvPr/>
        </p:nvSpPr>
        <p:spPr>
          <a:xfrm>
            <a:off x="3012392" y="1821105"/>
            <a:ext cx="1767968" cy="1762566"/>
          </a:xfrm>
          <a:prstGeom prst="roundRect">
            <a:avLst>
              <a:gd name="adj" fmla="val 5764"/>
            </a:avLst>
          </a:prstGeom>
          <a:solidFill>
            <a:srgbClr val="EEF1F5"/>
          </a:solidFill>
          <a:ln/>
        </p:spPr>
        <p:txBody>
          <a:bodyPr/>
          <a:lstStyle/>
          <a:p>
            <a:endParaRPr lang="es-ES_tradnl"/>
          </a:p>
        </p:txBody>
      </p:sp>
      <p:sp>
        <p:nvSpPr>
          <p:cNvPr id="10" name="Text 7"/>
          <p:cNvSpPr/>
          <p:nvPr/>
        </p:nvSpPr>
        <p:spPr>
          <a:xfrm>
            <a:off x="3190159" y="1998873"/>
            <a:ext cx="1463234" cy="23877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FB0"/>
                </a:solidFill>
                <a:latin typeface="IBM Plex Sans" pitchFamily="34" charset="0"/>
                <a:ea typeface="IBM Plex Sans" pitchFamily="34" charset="-122"/>
                <a:cs typeface="IBM Plex Sans" pitchFamily="34" charset="-120"/>
              </a:rPr>
              <a:t>§7</a:t>
            </a:r>
            <a:endParaRPr lang="en-US" sz="1200" dirty="0"/>
          </a:p>
        </p:txBody>
      </p:sp>
      <p:sp>
        <p:nvSpPr>
          <p:cNvPr id="11" name="Text 8"/>
          <p:cNvSpPr/>
          <p:nvPr/>
        </p:nvSpPr>
        <p:spPr>
          <a:xfrm>
            <a:off x="3190159" y="2275748"/>
            <a:ext cx="1463234"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Cue scan</a:t>
            </a:r>
            <a:endParaRPr lang="en-US" sz="1600" dirty="0"/>
          </a:p>
        </p:txBody>
      </p:sp>
      <p:sp>
        <p:nvSpPr>
          <p:cNvPr id="12" name="Text 9"/>
          <p:cNvSpPr/>
          <p:nvPr/>
        </p:nvSpPr>
        <p:spPr>
          <a:xfrm>
            <a:off x="3190159" y="2583050"/>
            <a:ext cx="1463234"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flags phrases like "see [x]" or "first proposed in"</a:t>
            </a:r>
            <a:endParaRPr lang="en-US" sz="1200" dirty="0"/>
          </a:p>
        </p:txBody>
      </p:sp>
      <p:pic>
        <p:nvPicPr>
          <p:cNvPr id="13" name="Image 1" descr="arrow-right"/>
          <p:cNvPicPr>
            <a:picLocks noChangeAspect="1"/>
          </p:cNvPicPr>
          <p:nvPr/>
        </p:nvPicPr>
        <p:blipFill>
          <a:blip r:embed="rId3"/>
          <a:srcRect l="-7" r="-7"/>
          <a:stretch/>
        </p:blipFill>
        <p:spPr>
          <a:xfrm>
            <a:off x="4856538" y="2626210"/>
            <a:ext cx="279356" cy="152356"/>
          </a:xfrm>
          <a:prstGeom prst="rect">
            <a:avLst/>
          </a:prstGeom>
        </p:spPr>
      </p:pic>
      <p:sp>
        <p:nvSpPr>
          <p:cNvPr id="14" name="Shape 10"/>
          <p:cNvSpPr/>
          <p:nvPr/>
        </p:nvSpPr>
        <p:spPr>
          <a:xfrm>
            <a:off x="5212071" y="1821105"/>
            <a:ext cx="1767913" cy="1762566"/>
          </a:xfrm>
          <a:prstGeom prst="roundRect">
            <a:avLst>
              <a:gd name="adj" fmla="val 5764"/>
            </a:avLst>
          </a:prstGeom>
          <a:solidFill>
            <a:srgbClr val="EEF1F5"/>
          </a:solidFill>
          <a:ln/>
        </p:spPr>
        <p:txBody>
          <a:bodyPr/>
          <a:lstStyle/>
          <a:p>
            <a:endParaRPr lang="es-ES_tradnl"/>
          </a:p>
        </p:txBody>
      </p:sp>
      <p:sp>
        <p:nvSpPr>
          <p:cNvPr id="15" name="Text 11"/>
          <p:cNvSpPr/>
          <p:nvPr/>
        </p:nvSpPr>
        <p:spPr>
          <a:xfrm>
            <a:off x="5389838" y="1998873"/>
            <a:ext cx="1463179" cy="23877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FB0"/>
                </a:solidFill>
                <a:latin typeface="IBM Plex Sans" pitchFamily="34" charset="0"/>
                <a:ea typeface="IBM Plex Sans" pitchFamily="34" charset="-122"/>
                <a:cs typeface="IBM Plex Sans" pitchFamily="34" charset="-120"/>
              </a:rPr>
              <a:t>§1 · §8</a:t>
            </a:r>
            <a:endParaRPr lang="en-US" sz="1200" dirty="0"/>
          </a:p>
        </p:txBody>
      </p:sp>
      <p:sp>
        <p:nvSpPr>
          <p:cNvPr id="16" name="Text 12"/>
          <p:cNvSpPr/>
          <p:nvPr/>
        </p:nvSpPr>
        <p:spPr>
          <a:xfrm>
            <a:off x="5389838" y="2275748"/>
            <a:ext cx="1463179"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Batches</a:t>
            </a:r>
            <a:endParaRPr lang="en-US" sz="1600" dirty="0"/>
          </a:p>
        </p:txBody>
      </p:sp>
      <p:sp>
        <p:nvSpPr>
          <p:cNvPr id="17" name="Text 13"/>
          <p:cNvSpPr/>
          <p:nvPr/>
        </p:nvSpPr>
        <p:spPr>
          <a:xfrm>
            <a:off x="5389838" y="2583050"/>
            <a:ext cx="1463179"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random and cue-targeted samples, 1 per bracket</a:t>
            </a:r>
            <a:endParaRPr lang="en-US" sz="1200" dirty="0"/>
          </a:p>
        </p:txBody>
      </p:sp>
      <p:pic>
        <p:nvPicPr>
          <p:cNvPr id="18" name="Image 2" descr="arrow-right"/>
          <p:cNvPicPr>
            <a:picLocks noChangeAspect="1"/>
          </p:cNvPicPr>
          <p:nvPr/>
        </p:nvPicPr>
        <p:blipFill>
          <a:blip r:embed="rId3"/>
          <a:srcRect l="-7" r="-7"/>
          <a:stretch/>
        </p:blipFill>
        <p:spPr>
          <a:xfrm>
            <a:off x="7056162" y="2626210"/>
            <a:ext cx="279356" cy="152356"/>
          </a:xfrm>
          <a:prstGeom prst="rect">
            <a:avLst/>
          </a:prstGeom>
        </p:spPr>
      </p:pic>
      <p:sp>
        <p:nvSpPr>
          <p:cNvPr id="19" name="Shape 14"/>
          <p:cNvSpPr/>
          <p:nvPr/>
        </p:nvSpPr>
        <p:spPr>
          <a:xfrm>
            <a:off x="7411696" y="1821105"/>
            <a:ext cx="1767913" cy="1762566"/>
          </a:xfrm>
          <a:prstGeom prst="roundRect">
            <a:avLst>
              <a:gd name="adj" fmla="val 5764"/>
            </a:avLst>
          </a:prstGeom>
          <a:solidFill>
            <a:srgbClr val="14213D"/>
          </a:solidFill>
          <a:ln/>
        </p:spPr>
        <p:txBody>
          <a:bodyPr/>
          <a:lstStyle/>
          <a:p>
            <a:endParaRPr lang="es-ES_tradnl"/>
          </a:p>
        </p:txBody>
      </p:sp>
      <p:sp>
        <p:nvSpPr>
          <p:cNvPr id="20" name="Text 15"/>
          <p:cNvSpPr/>
          <p:nvPr/>
        </p:nvSpPr>
        <p:spPr>
          <a:xfrm>
            <a:off x="7589463" y="1998873"/>
            <a:ext cx="1463179" cy="23877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CC3EC"/>
                </a:solidFill>
                <a:latin typeface="IBM Plex Sans" pitchFamily="34" charset="0"/>
                <a:ea typeface="IBM Plex Sans" pitchFamily="34" charset="-122"/>
                <a:cs typeface="IBM Plex Sans" pitchFamily="34" charset="-120"/>
              </a:rPr>
              <a:t>§3 · §10a</a:t>
            </a:r>
            <a:endParaRPr lang="en-US" sz="1200" dirty="0"/>
          </a:p>
        </p:txBody>
      </p:sp>
      <p:sp>
        <p:nvSpPr>
          <p:cNvPr id="21" name="Text 16"/>
          <p:cNvSpPr/>
          <p:nvPr/>
        </p:nvSpPr>
        <p:spPr>
          <a:xfrm>
            <a:off x="7589463" y="2275748"/>
            <a:ext cx="1463179"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2"/>
                </a:solidFill>
                <a:latin typeface="IBM Plex Sans" pitchFamily="34" charset="0"/>
                <a:ea typeface="IBM Plex Sans" pitchFamily="34" charset="-122"/>
                <a:cs typeface="IBM Plex Sans" pitchFamily="34" charset="-120"/>
              </a:rPr>
              <a:t>3 judges</a:t>
            </a:r>
            <a:endParaRPr lang="en-US" sz="1600" dirty="0"/>
          </a:p>
        </p:txBody>
      </p:sp>
      <p:sp>
        <p:nvSpPr>
          <p:cNvPr id="22" name="Text 17"/>
          <p:cNvSpPr/>
          <p:nvPr/>
        </p:nvSpPr>
        <p:spPr>
          <a:xfrm>
            <a:off x="7589463" y="2583050"/>
            <a:ext cx="1463179"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9D3E3"/>
                </a:solidFill>
                <a:latin typeface="IBM Plex Sans" pitchFamily="34" charset="0"/>
                <a:ea typeface="IBM Plex Sans" pitchFamily="34" charset="-122"/>
                <a:cs typeface="IBM Plex Sans" pitchFamily="34" charset="-120"/>
              </a:rPr>
              <a:t>Qwen3.8, Gemma 4, Ministral: a quote and a label each</a:t>
            </a:r>
            <a:endParaRPr lang="en-US" sz="1200" dirty="0"/>
          </a:p>
        </p:txBody>
      </p:sp>
      <p:pic>
        <p:nvPicPr>
          <p:cNvPr id="23" name="Image 3" descr="arrow-right"/>
          <p:cNvPicPr>
            <a:picLocks noChangeAspect="1"/>
          </p:cNvPicPr>
          <p:nvPr/>
        </p:nvPicPr>
        <p:blipFill>
          <a:blip r:embed="rId3"/>
          <a:srcRect l="-7" r="-7"/>
          <a:stretch/>
        </p:blipFill>
        <p:spPr>
          <a:xfrm>
            <a:off x="9255787" y="2626210"/>
            <a:ext cx="279356" cy="152356"/>
          </a:xfrm>
          <a:prstGeom prst="rect">
            <a:avLst/>
          </a:prstGeom>
        </p:spPr>
      </p:pic>
      <p:sp>
        <p:nvSpPr>
          <p:cNvPr id="24" name="Shape 18"/>
          <p:cNvSpPr/>
          <p:nvPr/>
        </p:nvSpPr>
        <p:spPr>
          <a:xfrm>
            <a:off x="9611321" y="1821105"/>
            <a:ext cx="1767913" cy="1762566"/>
          </a:xfrm>
          <a:prstGeom prst="roundRect">
            <a:avLst>
              <a:gd name="adj" fmla="val 5764"/>
            </a:avLst>
          </a:prstGeom>
          <a:solidFill>
            <a:srgbClr val="EEF1F5"/>
          </a:solidFill>
          <a:ln/>
        </p:spPr>
        <p:txBody>
          <a:bodyPr/>
          <a:lstStyle/>
          <a:p>
            <a:endParaRPr lang="es-ES_tradnl"/>
          </a:p>
        </p:txBody>
      </p:sp>
      <p:sp>
        <p:nvSpPr>
          <p:cNvPr id="25" name="Text 19"/>
          <p:cNvSpPr/>
          <p:nvPr/>
        </p:nvSpPr>
        <p:spPr>
          <a:xfrm>
            <a:off x="9789088" y="1998873"/>
            <a:ext cx="1463179" cy="23877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FB0"/>
                </a:solidFill>
                <a:latin typeface="IBM Plex Sans" pitchFamily="34" charset="0"/>
                <a:ea typeface="IBM Plex Sans" pitchFamily="34" charset="-122"/>
                <a:cs typeface="IBM Plex Sans" pitchFamily="34" charset="-120"/>
              </a:rPr>
              <a:t>§4</a:t>
            </a:r>
            <a:endParaRPr lang="en-US" sz="1200" dirty="0"/>
          </a:p>
        </p:txBody>
      </p:sp>
      <p:sp>
        <p:nvSpPr>
          <p:cNvPr id="26" name="Text 20"/>
          <p:cNvSpPr/>
          <p:nvPr/>
        </p:nvSpPr>
        <p:spPr>
          <a:xfrm>
            <a:off x="9789088" y="2275748"/>
            <a:ext cx="1463179"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Vote</a:t>
            </a:r>
            <a:endParaRPr lang="en-US" sz="1600" dirty="0"/>
          </a:p>
        </p:txBody>
      </p:sp>
      <p:sp>
        <p:nvSpPr>
          <p:cNvPr id="27" name="Text 21"/>
          <p:cNvSpPr/>
          <p:nvPr/>
        </p:nvSpPr>
        <p:spPr>
          <a:xfrm>
            <a:off x="9789088" y="2583050"/>
            <a:ext cx="1463179"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2 of 3 agree = high confidence; else no label</a:t>
            </a:r>
            <a:endParaRPr lang="en-US" sz="1200" dirty="0"/>
          </a:p>
        </p:txBody>
      </p:sp>
      <p:sp>
        <p:nvSpPr>
          <p:cNvPr id="28" name="Shape 22"/>
          <p:cNvSpPr/>
          <p:nvPr/>
        </p:nvSpPr>
        <p:spPr>
          <a:xfrm>
            <a:off x="812767" y="3837671"/>
            <a:ext cx="6248466" cy="1382227"/>
          </a:xfrm>
          <a:prstGeom prst="roundRect">
            <a:avLst>
              <a:gd name="adj" fmla="val 7350"/>
            </a:avLst>
          </a:prstGeom>
          <a:solidFill>
            <a:srgbClr val="FBEBDD"/>
          </a:solidFill>
          <a:ln/>
        </p:spPr>
        <p:txBody>
          <a:bodyPr/>
          <a:lstStyle/>
          <a:p>
            <a:endParaRPr lang="es-ES_tradnl"/>
          </a:p>
        </p:txBody>
      </p:sp>
      <p:sp>
        <p:nvSpPr>
          <p:cNvPr id="29" name="Shape 23"/>
          <p:cNvSpPr/>
          <p:nvPr/>
        </p:nvSpPr>
        <p:spPr>
          <a:xfrm>
            <a:off x="812767" y="3837671"/>
            <a:ext cx="6248466" cy="1382227"/>
          </a:xfrm>
          <a:custGeom>
            <a:avLst/>
            <a:gdLst/>
            <a:ahLst/>
            <a:cxnLst/>
            <a:rect l="l" t="t" r="r" b="b"/>
            <a:pathLst>
              <a:path w="6248466" h="1382227">
                <a:moveTo>
                  <a:pt x="101600" y="1382227"/>
                </a:moveTo>
                <a:lnTo>
                  <a:pt x="101600" y="1382227"/>
                </a:lnTo>
                <a:arcTo wR="101600" hR="101600" stAng="5400000" swAng="5400000"/>
                <a:lnTo>
                  <a:pt x="0" y="101600"/>
                </a:lnTo>
                <a:arcTo wR="101600" hR="101600" stAng="10800000" swAng="5400000"/>
                <a:lnTo>
                  <a:pt x="101600" y="0"/>
                </a:lnTo>
                <a:arcTo wR="50800" hR="101600" stAng="16200000" swAng="-5400000"/>
                <a:lnTo>
                  <a:pt x="50800" y="1280627"/>
                </a:lnTo>
                <a:arcTo wR="50800" hR="101600" stAng="10800000" swAng="-5400000"/>
                <a:close/>
              </a:path>
            </a:pathLst>
          </a:custGeom>
          <a:solidFill>
            <a:srgbClr val="B3621A"/>
          </a:solidFill>
          <a:ln/>
        </p:spPr>
        <p:txBody>
          <a:bodyPr/>
          <a:lstStyle/>
          <a:p>
            <a:endParaRPr lang="es-ES_tradnl"/>
          </a:p>
        </p:txBody>
      </p:sp>
      <p:sp>
        <p:nvSpPr>
          <p:cNvPr id="30" name="Text 24"/>
          <p:cNvSpPr/>
          <p:nvPr/>
        </p:nvSpPr>
        <p:spPr>
          <a:xfrm>
            <a:off x="1065334" y="4040849"/>
            <a:ext cx="5966503"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eval60, the referee (§9–10)</a:t>
            </a:r>
            <a:endParaRPr lang="en-US" sz="1600" dirty="0"/>
          </a:p>
        </p:txBody>
      </p:sp>
      <p:sp>
        <p:nvSpPr>
          <p:cNvPr id="31" name="Text 25"/>
          <p:cNvSpPr/>
          <p:nvPr/>
        </p:nvSpPr>
        <p:spPr>
          <a:xfrm>
            <a:off x="1065334" y="4348152"/>
            <a:ext cx="5966503" cy="693969"/>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4213D"/>
                </a:solidFill>
                <a:latin typeface="IBM Plex Sans" pitchFamily="34" charset="0"/>
                <a:ea typeface="IBM Plex Sans" pitchFamily="34" charset="-122"/>
                <a:cs typeface="IBM Plex Sans" pitchFamily="34" charset="-120"/>
              </a:rPr>
              <a:t>60 instances labeled by both teams decide which judges and which prompt we use. 10b scores the judges, 10d checks Gap, 10e checks the passages, 10f builds the adjudication sheet.</a:t>
            </a:r>
            <a:endParaRPr lang="en-US" sz="1300" dirty="0"/>
          </a:p>
        </p:txBody>
      </p:sp>
      <p:sp>
        <p:nvSpPr>
          <p:cNvPr id="32" name="Shape 26"/>
          <p:cNvSpPr/>
          <p:nvPr/>
        </p:nvSpPr>
        <p:spPr>
          <a:xfrm>
            <a:off x="7213589" y="3837671"/>
            <a:ext cx="4165644" cy="1382227"/>
          </a:xfrm>
          <a:prstGeom prst="roundRect">
            <a:avLst>
              <a:gd name="adj" fmla="val 7350"/>
            </a:avLst>
          </a:prstGeom>
          <a:solidFill>
            <a:srgbClr val="EEF1F5"/>
          </a:solidFill>
          <a:ln/>
        </p:spPr>
        <p:txBody>
          <a:bodyPr/>
          <a:lstStyle/>
          <a:p>
            <a:endParaRPr lang="es-ES_tradnl"/>
          </a:p>
        </p:txBody>
      </p:sp>
      <p:sp>
        <p:nvSpPr>
          <p:cNvPr id="33" name="Text 27"/>
          <p:cNvSpPr/>
          <p:nvPr/>
        </p:nvSpPr>
        <p:spPr>
          <a:xfrm>
            <a:off x="7416767" y="4040849"/>
            <a:ext cx="3872067"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Where labels go</a:t>
            </a:r>
            <a:endParaRPr lang="en-US" sz="1600" dirty="0"/>
          </a:p>
        </p:txBody>
      </p:sp>
      <p:sp>
        <p:nvSpPr>
          <p:cNvPr id="34" name="Text 28"/>
          <p:cNvSpPr/>
          <p:nvPr/>
        </p:nvSpPr>
        <p:spPr>
          <a:xfrm>
            <a:off x="7416767" y="4348152"/>
            <a:ext cx="3872067" cy="471113"/>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High confidence → A3 test sets (humans confirm each one) and A4 training data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5"/>
        </a:solidFill>
        <a:effectLst/>
      </p:bgPr>
    </p:bg>
    <p:spTree>
      <p:nvGrpSpPr>
        <p:cNvPr id="1" name=""/>
        <p:cNvGrpSpPr/>
        <p:nvPr/>
      </p:nvGrpSpPr>
      <p:grpSpPr>
        <a:xfrm>
          <a:off x="0" y="0"/>
          <a:ext cx="0" cy="0"/>
          <a:chOff x="0" y="0"/>
          <a:chExt cx="0" cy="0"/>
        </a:xfrm>
      </p:grpSpPr>
      <p:sp>
        <p:nvSpPr>
          <p:cNvPr id="2" name="Text 0"/>
          <p:cNvSpPr/>
          <p:nvPr/>
        </p:nvSpPr>
        <p:spPr>
          <a:xfrm>
            <a:off x="812767" y="812767"/>
            <a:ext cx="10883461" cy="256525"/>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2F6FB0"/>
                </a:solidFill>
                <a:latin typeface="IBM Plex Sans" pitchFamily="34" charset="0"/>
                <a:ea typeface="IBM Plex Sans" pitchFamily="34" charset="-122"/>
                <a:cs typeface="IBM Plex Sans" pitchFamily="34" charset="-120"/>
              </a:rPr>
              <a:t>HOW WE COMPARE THE TEAMS</a:t>
            </a:r>
            <a:endParaRPr lang="en-US" sz="1300" dirty="0"/>
          </a:p>
        </p:txBody>
      </p:sp>
      <p:sp>
        <p:nvSpPr>
          <p:cNvPr id="3" name="Text 1"/>
          <p:cNvSpPr>
            <a:spLocks noGrp="1"/>
          </p:cNvSpPr>
          <p:nvPr>
            <p:ph type="title"/>
          </p:nvPr>
        </p:nvSpPr>
        <p:spPr>
          <a:xfrm>
            <a:off x="812767" y="1120070"/>
            <a:ext cx="10883461" cy="47243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Scored cases, hard cases and Cohen's κ</a:t>
            </a:r>
            <a:endParaRPr lang="en-US" sz="3200" dirty="0"/>
          </a:p>
        </p:txBody>
      </p:sp>
      <p:sp>
        <p:nvSpPr>
          <p:cNvPr id="4" name="Shape 2"/>
          <p:cNvSpPr/>
          <p:nvPr/>
        </p:nvSpPr>
        <p:spPr>
          <a:xfrm>
            <a:off x="812767" y="1821106"/>
            <a:ext cx="3386667" cy="3154330"/>
          </a:xfrm>
          <a:prstGeom prst="roundRect">
            <a:avLst>
              <a:gd name="adj" fmla="val 3221"/>
            </a:avLst>
          </a:prstGeom>
          <a:solidFill>
            <a:srgbClr val="F7F6F2"/>
          </a:solidFill>
          <a:ln/>
        </p:spPr>
        <p:txBody>
          <a:bodyPr/>
          <a:lstStyle/>
          <a:p>
            <a:endParaRPr lang="es-ES_tradnl"/>
          </a:p>
        </p:txBody>
      </p:sp>
      <p:sp>
        <p:nvSpPr>
          <p:cNvPr id="5" name="Text 3"/>
          <p:cNvSpPr/>
          <p:nvPr/>
        </p:nvSpPr>
        <p:spPr>
          <a:xfrm>
            <a:off x="1041356" y="2049695"/>
            <a:ext cx="3017373"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Scored vs hard cases</a:t>
            </a:r>
            <a:endParaRPr lang="en-US" sz="1600" dirty="0"/>
          </a:p>
        </p:txBody>
      </p:sp>
      <p:sp>
        <p:nvSpPr>
          <p:cNvPr id="6" name="Text 4"/>
          <p:cNvSpPr/>
          <p:nvPr/>
        </p:nvSpPr>
        <p:spPr>
          <a:xfrm>
            <a:off x="1041356" y="2382354"/>
            <a:ext cx="3017373" cy="48764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Every instance has one label from team A and one from team B.</a:t>
            </a:r>
            <a:endParaRPr lang="en-US" sz="1300" dirty="0"/>
          </a:p>
        </p:txBody>
      </p:sp>
      <p:sp>
        <p:nvSpPr>
          <p:cNvPr id="7" name="Text 5"/>
          <p:cNvSpPr/>
          <p:nvPr/>
        </p:nvSpPr>
        <p:spPr>
          <a:xfrm>
            <a:off x="1041356" y="2933458"/>
            <a:ext cx="3017373" cy="71877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Same label → scored (41).</a:t>
            </a:r>
            <a:r>
              <a:rPr lang="en-US" sz="1300" dirty="0">
                <a:solidFill>
                  <a:srgbClr val="14213D"/>
                </a:solidFill>
                <a:latin typeface="IBM Plex Sans" pitchFamily="34" charset="0"/>
                <a:ea typeface="IBM Plex Sans" pitchFamily="34" charset="-122"/>
                <a:cs typeface="IBM Plex Sans" pitchFamily="34" charset="-120"/>
              </a:rPr>
              <a:t> It becomes the reference we grade the judges against.</a:t>
            </a:r>
            <a:endParaRPr lang="en-US" sz="1300" dirty="0"/>
          </a:p>
        </p:txBody>
      </p:sp>
      <p:sp>
        <p:nvSpPr>
          <p:cNvPr id="8" name="Text 6"/>
          <p:cNvSpPr/>
          <p:nvPr/>
        </p:nvSpPr>
        <p:spPr>
          <a:xfrm>
            <a:off x="1041356" y="3715688"/>
            <a:ext cx="3017373" cy="71877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Different labels → hard case (19).</a:t>
            </a:r>
            <a:r>
              <a:rPr lang="en-US" sz="1300" dirty="0">
                <a:solidFill>
                  <a:srgbClr val="14213D"/>
                </a:solidFill>
                <a:latin typeface="IBM Plex Sans" pitchFamily="34" charset="0"/>
                <a:ea typeface="IBM Plex Sans" pitchFamily="34" charset="-122"/>
                <a:cs typeface="IBM Plex Sans" pitchFamily="34" charset="-120"/>
              </a:rPr>
              <a:t> Not scored; the teams settle it by rule in the adjudication.</a:t>
            </a:r>
            <a:endParaRPr lang="en-US" sz="1300" dirty="0"/>
          </a:p>
        </p:txBody>
      </p:sp>
      <p:sp>
        <p:nvSpPr>
          <p:cNvPr id="9" name="Shape 7"/>
          <p:cNvSpPr/>
          <p:nvPr/>
        </p:nvSpPr>
        <p:spPr>
          <a:xfrm>
            <a:off x="4402612" y="1821106"/>
            <a:ext cx="3386722" cy="3154330"/>
          </a:xfrm>
          <a:prstGeom prst="roundRect">
            <a:avLst>
              <a:gd name="adj" fmla="val 3221"/>
            </a:avLst>
          </a:prstGeom>
          <a:solidFill>
            <a:srgbClr val="F7F6F2"/>
          </a:solidFill>
          <a:ln/>
        </p:spPr>
        <p:txBody>
          <a:bodyPr/>
          <a:lstStyle/>
          <a:p>
            <a:endParaRPr lang="es-ES_tradnl"/>
          </a:p>
        </p:txBody>
      </p:sp>
      <p:sp>
        <p:nvSpPr>
          <p:cNvPr id="10" name="Text 8"/>
          <p:cNvSpPr/>
          <p:nvPr/>
        </p:nvSpPr>
        <p:spPr>
          <a:xfrm>
            <a:off x="4631201" y="2049695"/>
            <a:ext cx="3017430"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Cohen's κ = 0.63</a:t>
            </a:r>
            <a:endParaRPr lang="en-US" sz="1600" dirty="0"/>
          </a:p>
        </p:txBody>
      </p:sp>
      <p:sp>
        <p:nvSpPr>
          <p:cNvPr id="11" name="Text 9"/>
          <p:cNvSpPr/>
          <p:nvPr/>
        </p:nvSpPr>
        <p:spPr>
          <a:xfrm>
            <a:off x="4631201" y="2382354"/>
            <a:ext cx="3017430"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Source Serif 4" pitchFamily="18" charset="0"/>
                <a:ea typeface="Source Serif 4" pitchFamily="18" charset="-122"/>
                <a:cs typeface="Source Serif 4" pitchFamily="18" charset="-120"/>
              </a:rPr>
              <a:t>κ = (p</a:t>
            </a:r>
            <a:r>
              <a:rPr lang="en-US" sz="1400" dirty="0">
                <a:solidFill>
                  <a:srgbClr val="2F6FB0"/>
                </a:solidFill>
                <a:latin typeface="Source Serif 4" pitchFamily="18" charset="0"/>
                <a:ea typeface="Source Serif 4" pitchFamily="18" charset="-122"/>
                <a:cs typeface="Source Serif 4" pitchFamily="18" charset="-120"/>
              </a:rPr>
              <a:t>o</a:t>
            </a:r>
            <a:r>
              <a:rPr lang="en-US" sz="1400" dirty="0">
                <a:solidFill>
                  <a:srgbClr val="14213D"/>
                </a:solidFill>
                <a:latin typeface="Source Serif 4" pitchFamily="18" charset="0"/>
                <a:ea typeface="Source Serif 4" pitchFamily="18" charset="-122"/>
                <a:cs typeface="Source Serif 4" pitchFamily="18" charset="-120"/>
              </a:rPr>
              <a:t> − p</a:t>
            </a:r>
            <a:r>
              <a:rPr lang="en-US" sz="1400" dirty="0">
                <a:solidFill>
                  <a:srgbClr val="2F6FB0"/>
                </a:solidFill>
                <a:latin typeface="Source Serif 4" pitchFamily="18" charset="0"/>
                <a:ea typeface="Source Serif 4" pitchFamily="18" charset="-122"/>
                <a:cs typeface="Source Serif 4" pitchFamily="18" charset="-120"/>
              </a:rPr>
              <a:t>e</a:t>
            </a:r>
            <a:r>
              <a:rPr lang="en-US" sz="1400" dirty="0">
                <a:solidFill>
                  <a:srgbClr val="14213D"/>
                </a:solidFill>
                <a:latin typeface="Source Serif 4" pitchFamily="18" charset="0"/>
                <a:ea typeface="Source Serif 4" pitchFamily="18" charset="-122"/>
                <a:cs typeface="Source Serif 4" pitchFamily="18" charset="-120"/>
              </a:rPr>
              <a:t>) / (1 − p</a:t>
            </a:r>
            <a:r>
              <a:rPr lang="en-US" sz="1400" dirty="0">
                <a:solidFill>
                  <a:srgbClr val="2F6FB0"/>
                </a:solidFill>
                <a:latin typeface="Source Serif 4" pitchFamily="18" charset="0"/>
                <a:ea typeface="Source Serif 4" pitchFamily="18" charset="-122"/>
                <a:cs typeface="Source Serif 4" pitchFamily="18" charset="-120"/>
              </a:rPr>
              <a:t>e</a:t>
            </a:r>
            <a:r>
              <a:rPr lang="en-US" sz="1400" dirty="0">
                <a:solidFill>
                  <a:srgbClr val="14213D"/>
                </a:solidFill>
                <a:latin typeface="Source Serif 4" pitchFamily="18" charset="0"/>
                <a:ea typeface="Source Serif 4" pitchFamily="18" charset="-122"/>
                <a:cs typeface="Source Serif 4" pitchFamily="18" charset="-120"/>
              </a:rPr>
              <a:t>)</a:t>
            </a:r>
            <a:endParaRPr lang="en-US" sz="1400" dirty="0"/>
          </a:p>
        </p:txBody>
      </p:sp>
      <p:sp>
        <p:nvSpPr>
          <p:cNvPr id="12" name="Text 10"/>
          <p:cNvSpPr/>
          <p:nvPr/>
        </p:nvSpPr>
        <p:spPr>
          <a:xfrm>
            <a:off x="4631201" y="2720138"/>
            <a:ext cx="3017430" cy="48764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p</a:t>
            </a:r>
            <a:r>
              <a:rPr lang="en-US" sz="1300" b="1" dirty="0">
                <a:solidFill>
                  <a:srgbClr val="2F6FB0"/>
                </a:solidFill>
                <a:latin typeface="IBM Plex Sans" pitchFamily="34" charset="0"/>
                <a:ea typeface="IBM Plex Sans" pitchFamily="34" charset="-122"/>
                <a:cs typeface="IBM Plex Sans" pitchFamily="34" charset="-120"/>
              </a:rPr>
              <a:t>o</a:t>
            </a:r>
            <a:r>
              <a:rPr lang="en-US" sz="1300" b="1" dirty="0">
                <a:solidFill>
                  <a:srgbClr val="4A5568"/>
                </a:solidFill>
                <a:latin typeface="IBM Plex Sans" pitchFamily="34" charset="0"/>
                <a:ea typeface="IBM Plex Sans" pitchFamily="34" charset="-122"/>
                <a:cs typeface="IBM Plex Sans" pitchFamily="34" charset="-120"/>
              </a:rPr>
              <a:t> = 41/60 = 0.683</a:t>
            </a:r>
            <a:r>
              <a:rPr lang="en-US" sz="1300" dirty="0">
                <a:solidFill>
                  <a:srgbClr val="4A5568"/>
                </a:solidFill>
                <a:latin typeface="IBM Plex Sans" pitchFamily="34" charset="0"/>
                <a:ea typeface="IBM Plex Sans" pitchFamily="34" charset="-122"/>
                <a:cs typeface="IBM Plex Sans" pitchFamily="34" charset="-120"/>
              </a:rPr>
              <a:t>, how often the teams agree</a:t>
            </a:r>
            <a:endParaRPr lang="en-US" sz="1300" dirty="0"/>
          </a:p>
        </p:txBody>
      </p:sp>
      <p:sp>
        <p:nvSpPr>
          <p:cNvPr id="13" name="Text 11"/>
          <p:cNvSpPr/>
          <p:nvPr/>
        </p:nvSpPr>
        <p:spPr>
          <a:xfrm>
            <a:off x="4631201" y="3271244"/>
            <a:ext cx="3017430" cy="949898"/>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p</a:t>
            </a:r>
            <a:r>
              <a:rPr lang="en-US" sz="1300" b="1" dirty="0">
                <a:solidFill>
                  <a:srgbClr val="2F6FB0"/>
                </a:solidFill>
                <a:latin typeface="IBM Plex Sans" pitchFamily="34" charset="0"/>
                <a:ea typeface="IBM Plex Sans" pitchFamily="34" charset="-122"/>
                <a:cs typeface="IBM Plex Sans" pitchFamily="34" charset="-120"/>
              </a:rPr>
              <a:t>e</a:t>
            </a:r>
            <a:r>
              <a:rPr lang="en-US" sz="1300" b="1" dirty="0">
                <a:solidFill>
                  <a:srgbClr val="4A5568"/>
                </a:solidFill>
                <a:latin typeface="IBM Plex Sans" pitchFamily="34" charset="0"/>
                <a:ea typeface="IBM Plex Sans" pitchFamily="34" charset="-122"/>
                <a:cs typeface="IBM Plex Sans" pitchFamily="34" charset="-120"/>
              </a:rPr>
              <a:t> = 0.144</a:t>
            </a:r>
            <a:r>
              <a:rPr lang="en-US" sz="1300" dirty="0">
                <a:solidFill>
                  <a:srgbClr val="4A5568"/>
                </a:solidFill>
                <a:latin typeface="IBM Plex Sans" pitchFamily="34" charset="0"/>
                <a:ea typeface="IBM Plex Sans" pitchFamily="34" charset="-122"/>
                <a:cs typeface="IBM Plex Sans" pitchFamily="34" charset="-120"/>
              </a:rPr>
              <a:t>, agreement expected by chance: for each category, A's share × B's share, summed (Background: 17/60 × 14/60)</a:t>
            </a:r>
            <a:endParaRPr lang="en-US" sz="1300" dirty="0"/>
          </a:p>
        </p:txBody>
      </p:sp>
      <p:sp>
        <p:nvSpPr>
          <p:cNvPr id="14" name="Text 12"/>
          <p:cNvSpPr/>
          <p:nvPr/>
        </p:nvSpPr>
        <p:spPr>
          <a:xfrm>
            <a:off x="4631201" y="4284597"/>
            <a:ext cx="3017430" cy="48764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IBM Plex Sans" pitchFamily="34" charset="0"/>
                <a:ea typeface="IBM Plex Sans" pitchFamily="34" charset="-122"/>
                <a:cs typeface="IBM Plex Sans" pitchFamily="34" charset="-120"/>
              </a:rPr>
              <a:t>(0.683 − 0.144) / 0.856 = </a:t>
            </a:r>
            <a:r>
              <a:rPr lang="en-US" sz="1300" b="1" dirty="0">
                <a:solidFill>
                  <a:srgbClr val="14213D"/>
                </a:solidFill>
                <a:latin typeface="IBM Plex Sans" pitchFamily="34" charset="0"/>
                <a:ea typeface="IBM Plex Sans" pitchFamily="34" charset="-122"/>
                <a:cs typeface="IBM Plex Sans" pitchFamily="34" charset="-120"/>
              </a:rPr>
              <a:t>0.63, "substantial"</a:t>
            </a:r>
            <a:r>
              <a:rPr lang="en-US" sz="1300" dirty="0">
                <a:solidFill>
                  <a:srgbClr val="14213D"/>
                </a:solidFill>
                <a:latin typeface="IBM Plex Sans" pitchFamily="34" charset="0"/>
                <a:ea typeface="IBM Plex Sans" pitchFamily="34" charset="-122"/>
                <a:cs typeface="IBM Plex Sans" pitchFamily="34" charset="-120"/>
              </a:rPr>
              <a:t> (0.61–0.80)</a:t>
            </a:r>
            <a:endParaRPr lang="en-US" sz="1300" dirty="0"/>
          </a:p>
        </p:txBody>
      </p:sp>
      <p:sp>
        <p:nvSpPr>
          <p:cNvPr id="15" name="Shape 13"/>
          <p:cNvSpPr/>
          <p:nvPr/>
        </p:nvSpPr>
        <p:spPr>
          <a:xfrm>
            <a:off x="7992511" y="1821106"/>
            <a:ext cx="3386722" cy="3154330"/>
          </a:xfrm>
          <a:prstGeom prst="roundRect">
            <a:avLst>
              <a:gd name="adj" fmla="val 3221"/>
            </a:avLst>
          </a:prstGeom>
          <a:solidFill>
            <a:srgbClr val="F7F6F2"/>
          </a:solidFill>
          <a:ln/>
        </p:spPr>
        <p:txBody>
          <a:bodyPr/>
          <a:lstStyle/>
          <a:p>
            <a:endParaRPr lang="es-ES_tradnl"/>
          </a:p>
        </p:txBody>
      </p:sp>
      <p:sp>
        <p:nvSpPr>
          <p:cNvPr id="16" name="Text 14"/>
          <p:cNvSpPr/>
          <p:nvPr/>
        </p:nvSpPr>
        <p:spPr>
          <a:xfrm>
            <a:off x="8221101" y="2049695"/>
            <a:ext cx="3017430"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Claude's reading</a:t>
            </a:r>
            <a:endParaRPr lang="en-US" sz="1600" dirty="0"/>
          </a:p>
        </p:txBody>
      </p:sp>
      <p:sp>
        <p:nvSpPr>
          <p:cNvPr id="17" name="Text 15"/>
          <p:cNvSpPr/>
          <p:nvPr/>
        </p:nvSpPr>
        <p:spPr>
          <a:xfrm>
            <a:off x="8221101" y="2382354"/>
            <a:ext cx="3017430" cy="94989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For the 19 hard cases, Claude read each instance against the guide and gave its own label, as a starting point for discussion.</a:t>
            </a:r>
            <a:endParaRPr lang="en-US" sz="1300" dirty="0"/>
          </a:p>
        </p:txBody>
      </p:sp>
      <p:sp>
        <p:nvSpPr>
          <p:cNvPr id="18" name="Text 16"/>
          <p:cNvSpPr/>
          <p:nvPr/>
        </p:nvSpPr>
        <p:spPr>
          <a:xfrm>
            <a:off x="8221101" y="3395707"/>
            <a:ext cx="3017430" cy="48764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IBM Plex Sans" pitchFamily="34" charset="0"/>
                <a:ea typeface="IBM Plex Sans" pitchFamily="34" charset="-122"/>
                <a:cs typeface="IBM Plex Sans" pitchFamily="34" charset="-120"/>
              </a:rPr>
              <a:t>It matches team B on 13, team A on 5, neither on 1 (E31).</a:t>
            </a:r>
            <a:endParaRPr lang="en-US" sz="1300" dirty="0"/>
          </a:p>
        </p:txBody>
      </p:sp>
      <p:sp>
        <p:nvSpPr>
          <p:cNvPr id="19" name="Text 17"/>
          <p:cNvSpPr/>
          <p:nvPr/>
        </p:nvSpPr>
        <p:spPr>
          <a:xfrm>
            <a:off x="8221101" y="3946812"/>
            <a:ext cx="3017430" cy="48764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One reviewer's opinion, not ground truth.</a:t>
            </a:r>
            <a:r>
              <a:rPr lang="en-US" sz="1300" dirty="0">
                <a:solidFill>
                  <a:srgbClr val="14213D"/>
                </a:solidFill>
                <a:latin typeface="IBM Plex Sans" pitchFamily="34" charset="0"/>
                <a:ea typeface="IBM Plex Sans" pitchFamily="34" charset="-122"/>
                <a:cs typeface="IBM Plex Sans" pitchFamily="34" charset="-120"/>
              </a:rPr>
              <a:t> The teams decide.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1" cy="256525"/>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2F6FB0"/>
                </a:solidFill>
                <a:latin typeface="IBM Plex Sans" pitchFamily="34" charset="0"/>
                <a:ea typeface="IBM Plex Sans" pitchFamily="34" charset="-122"/>
                <a:cs typeface="IBM Plex Sans" pitchFamily="34" charset="-120"/>
              </a:rPr>
              <a:t>TEAM RESULTS</a:t>
            </a:r>
            <a:endParaRPr lang="en-US" sz="1300" dirty="0"/>
          </a:p>
        </p:txBody>
      </p:sp>
      <p:sp>
        <p:nvSpPr>
          <p:cNvPr id="3" name="Text 1"/>
          <p:cNvSpPr>
            <a:spLocks noGrp="1"/>
          </p:cNvSpPr>
          <p:nvPr>
            <p:ph type="title"/>
          </p:nvPr>
        </p:nvSpPr>
        <p:spPr>
          <a:xfrm>
            <a:off x="812767" y="1120070"/>
            <a:ext cx="10883461" cy="47243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How the two teams compare on eval60</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2750853007"/>
              </p:ext>
            </p:extLst>
          </p:nvPr>
        </p:nvGraphicFramePr>
        <p:xfrm>
          <a:off x="823350" y="1831688"/>
          <a:ext cx="10555883" cy="3454794"/>
        </p:xfrm>
        <a:graphic>
          <a:graphicData uri="http://schemas.openxmlformats.org/drawingml/2006/table">
            <a:tbl>
              <a:tblPr/>
              <a:tblGrid>
                <a:gridCol w="5700177">
                  <a:extLst>
                    <a:ext uri="{9D8B030D-6E8A-4147-A177-3AD203B41FA5}">
                      <a16:colId xmlns:a16="http://schemas.microsoft.com/office/drawing/2014/main" val="20000"/>
                    </a:ext>
                  </a:extLst>
                </a:gridCol>
                <a:gridCol w="2427853">
                  <a:extLst>
                    <a:ext uri="{9D8B030D-6E8A-4147-A177-3AD203B41FA5}">
                      <a16:colId xmlns:a16="http://schemas.microsoft.com/office/drawing/2014/main" val="20001"/>
                    </a:ext>
                  </a:extLst>
                </a:gridCol>
                <a:gridCol w="2427853">
                  <a:extLst>
                    <a:ext uri="{9D8B030D-6E8A-4147-A177-3AD203B41FA5}">
                      <a16:colId xmlns:a16="http://schemas.microsoft.com/office/drawing/2014/main" val="20002"/>
                    </a:ext>
                  </a:extLst>
                </a:gridCol>
              </a:tblGrid>
              <a:tr h="383866">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Measure (60 instances, 4 members × 15 each)</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ct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Team A</a:t>
                      </a:r>
                      <a:endParaRPr lang="en-US" sz="1400" dirty="0">
                        <a:latin typeface="IBM Plex Sans" charset="0"/>
                        <a:ea typeface="IBM Plex Sans" charset="0"/>
                        <a:cs typeface="IBM Plex Sans" charset="0"/>
                      </a:endParaRPr>
                    </a:p>
                  </a:txBody>
                  <a:tcPr marL="62230" marR="62230" marT="62230" marB="6223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ct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Team B</a:t>
                      </a:r>
                      <a:endParaRPr lang="en-US" sz="1400" dirty="0">
                        <a:latin typeface="IBM Plex Sans" charset="0"/>
                        <a:ea typeface="IBM Plex Sans" charset="0"/>
                        <a:cs typeface="IBM Plex Sans" charset="0"/>
                      </a:endParaRPr>
                    </a:p>
                  </a:txBody>
                  <a:tcPr marL="62230" marR="62230" marT="62230" marB="6223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Agreement with the other team</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41</a:t>
                      </a:r>
                      <a:r>
                        <a:rPr lang="en-US" sz="1400" dirty="0">
                          <a:solidFill>
                            <a:srgbClr val="14213D"/>
                          </a:solidFill>
                          <a:latin typeface="IBM Plex Sans" pitchFamily="34" charset="0"/>
                          <a:ea typeface="IBM Plex Sans" pitchFamily="34" charset="-122"/>
                          <a:cs typeface="IBM Plex Sans" pitchFamily="34" charset="-120"/>
                        </a:rPr>
                        <a:t> / 60 · κ 0.63</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41 </a:t>
                      </a:r>
                      <a:r>
                        <a:rPr lang="en-US" sz="1400" dirty="0">
                          <a:solidFill>
                            <a:srgbClr val="14213D"/>
                          </a:solidFill>
                          <a:latin typeface="IBM Plex Sans" pitchFamily="34" charset="0"/>
                          <a:ea typeface="IBM Plex Sans" pitchFamily="34" charset="-122"/>
                          <a:cs typeface="IBM Plex Sans" pitchFamily="34" charset="-120"/>
                        </a:rPr>
                        <a:t>/ 60 · κ 0.63</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Labels marked high confidence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45</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36</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extLst>
                  <a:ext uri="{0D108BD9-81ED-4DB2-BD59-A6C34878D82A}">
                    <a16:rowId xmlns:a16="http://schemas.microsoft.com/office/drawing/2014/main" val="10002"/>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Notes written in the blind pass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56</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30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Typical time per instance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&lt; 1 min on 25 of 60</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median 5 min</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extLst>
                  <a:ext uri="{0D108BD9-81ED-4DB2-BD59-A6C34878D82A}">
                    <a16:rowId xmlns:a16="http://schemas.microsoft.com/office/drawing/2014/main" val="10004"/>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Same label as the chosen trio (all 60)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37</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37</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Hard cases where the team matches Claude's reading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gn="ct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5 / 19</a:t>
                      </a:r>
                      <a:endParaRPr lang="en-US" sz="1400" b="1"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gn="ct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13 / 19</a:t>
                      </a:r>
                      <a:endParaRPr lang="en-US" sz="1400" b="1"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extLst>
                  <a:ext uri="{0D108BD9-81ED-4DB2-BD59-A6C34878D82A}">
                    <a16:rowId xmlns:a16="http://schemas.microsoft.com/office/drawing/2014/main" val="10006"/>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Labels changed after seeing citing info</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10 (7 A03)</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7"/>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Same label as the trio after that second pass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32</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36</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extLst>
                  <a:ext uri="{0D108BD9-81ED-4DB2-BD59-A6C34878D82A}">
                    <a16:rowId xmlns:a16="http://schemas.microsoft.com/office/drawing/2014/main" val="10008"/>
                  </a:ext>
                </a:extLst>
              </a:tr>
            </a:tbl>
          </a:graphicData>
        </a:graphic>
      </p:graphicFrame>
      <p:sp>
        <p:nvSpPr>
          <p:cNvPr id="5" name="Text 2"/>
          <p:cNvSpPr/>
          <p:nvPr/>
        </p:nvSpPr>
        <p:spPr>
          <a:xfrm>
            <a:off x="812767" y="5540485"/>
            <a:ext cx="10883461" cy="48764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Second pass: after seeing the citing paper's title, abstract and section</a:t>
            </a:r>
            <a:r>
              <a:rPr lang="en-US" sz="1300" b="1" dirty="0">
                <a:solidFill>
                  <a:srgbClr val="4A5568"/>
                </a:solidFill>
                <a:latin typeface="IBM Plex Sans" pitchFamily="34" charset="0"/>
                <a:ea typeface="IBM Plex Sans" pitchFamily="34" charset="-122"/>
                <a:cs typeface="IBM Plex Sans" pitchFamily="34" charset="-120"/>
              </a:rPr>
              <a:t>, the teams agreed on 32 instead of 41. </a:t>
            </a:r>
            <a:r>
              <a:rPr lang="en-US" sz="1300" dirty="0">
                <a:solidFill>
                  <a:srgbClr val="4A5568"/>
                </a:solidFill>
                <a:latin typeface="IBM Plex Sans" pitchFamily="34" charset="0"/>
                <a:ea typeface="IBM Plex Sans" pitchFamily="34" charset="-122"/>
                <a:cs typeface="IBM Plex Sans" pitchFamily="34" charset="-120"/>
              </a:rPr>
              <a:t>Several changes followed the section heading, not the citation text.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5"/>
        </a:solidFill>
        <a:effectLst/>
      </p:bgPr>
    </p:bg>
    <p:spTree>
      <p:nvGrpSpPr>
        <p:cNvPr id="1" name=""/>
        <p:cNvGrpSpPr/>
        <p:nvPr/>
      </p:nvGrpSpPr>
      <p:grpSpPr>
        <a:xfrm>
          <a:off x="0" y="0"/>
          <a:ext cx="0" cy="0"/>
          <a:chOff x="0" y="0"/>
          <a:chExt cx="0" cy="0"/>
        </a:xfrm>
      </p:grpSpPr>
      <p:sp>
        <p:nvSpPr>
          <p:cNvPr id="2" name="Text 0"/>
          <p:cNvSpPr/>
          <p:nvPr/>
        </p:nvSpPr>
        <p:spPr>
          <a:xfrm>
            <a:off x="812767" y="812769"/>
            <a:ext cx="10883461" cy="256525"/>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2F6FB0"/>
                </a:solidFill>
                <a:latin typeface="IBM Plex Sans" pitchFamily="34" charset="0"/>
                <a:ea typeface="IBM Plex Sans" pitchFamily="34" charset="-122"/>
                <a:cs typeface="IBM Plex Sans" pitchFamily="34" charset="-120"/>
              </a:rPr>
              <a:t>HARD CASES</a:t>
            </a:r>
            <a:endParaRPr lang="en-US" sz="1300" dirty="0"/>
          </a:p>
        </p:txBody>
      </p:sp>
      <p:sp>
        <p:nvSpPr>
          <p:cNvPr id="3" name="Text 1"/>
          <p:cNvSpPr>
            <a:spLocks noGrp="1"/>
          </p:cNvSpPr>
          <p:nvPr>
            <p:ph type="title"/>
          </p:nvPr>
        </p:nvSpPr>
        <p:spPr>
          <a:xfrm>
            <a:off x="812767" y="1120071"/>
            <a:ext cx="10883461" cy="47243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The 19 disagreements fall on five boundaries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755457"/>
          <a:ext cx="10555883" cy="2836884"/>
        </p:xfrm>
        <a:graphic>
          <a:graphicData uri="http://schemas.openxmlformats.org/drawingml/2006/table">
            <a:tbl>
              <a:tblPr/>
              <a:tblGrid>
                <a:gridCol w="3166765">
                  <a:extLst>
                    <a:ext uri="{9D8B030D-6E8A-4147-A177-3AD203B41FA5}">
                      <a16:colId xmlns:a16="http://schemas.microsoft.com/office/drawing/2014/main" val="20000"/>
                    </a:ext>
                  </a:extLst>
                </a:gridCol>
                <a:gridCol w="2322294">
                  <a:extLst>
                    <a:ext uri="{9D8B030D-6E8A-4147-A177-3AD203B41FA5}">
                      <a16:colId xmlns:a16="http://schemas.microsoft.com/office/drawing/2014/main" val="20001"/>
                    </a:ext>
                  </a:extLst>
                </a:gridCol>
                <a:gridCol w="5066824">
                  <a:extLst>
                    <a:ext uri="{9D8B030D-6E8A-4147-A177-3AD203B41FA5}">
                      <a16:colId xmlns:a16="http://schemas.microsoft.com/office/drawing/2014/main" val="20002"/>
                    </a:ext>
                  </a:extLst>
                </a:gridCol>
              </a:tblGrid>
              <a:tr h="330564">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Boundary (labels the teams chose)</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Cases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The question the teams split on</a:t>
                      </a:r>
                      <a:endParaRPr lang="en-US" sz="1200" dirty="0">
                        <a:latin typeface="IBM Plex Sans" charset="0"/>
                        <a:ea typeface="IBM Plex Sans" charset="0"/>
                        <a:cs typeface="IBM Plex Sans" charset="0"/>
                      </a:endParaRPr>
                    </a:p>
                  </a:txBody>
                  <a:tcPr marL="53340" marR="53340" marT="53340" marB="53340">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extLst>
                  <a:ext uri="{0D108BD9-81ED-4DB2-BD59-A6C34878D82A}">
                    <a16:rowId xmlns:a16="http://schemas.microsoft.com/office/drawing/2014/main" val="10000"/>
                  </a:ext>
                </a:extLst>
              </a:tr>
              <a:tr h="543939">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Evidence vs Background / Application / Basis</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7: E01, E05, E10, E17, E31, E32, E43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Is the cited work support for the authors' claim, or only context or a tool they use?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extLst>
                  <a:ext uri="{0D108BD9-81ED-4DB2-BD59-A6C34878D82A}">
                    <a16:rowId xmlns:a16="http://schemas.microsoft.com/office/drawing/2014/main" val="10001"/>
                  </a:ext>
                </a:extLst>
              </a:tr>
              <a:tr h="543939">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Further Reading vs Background / Evidence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4: E08, E12, E30, E59</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Is "see [x] for …" a pointer to more reading, or support for the sentence?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2"/>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Comparison vs Background / Evidence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3: E42, E45, E56</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Does the text really compare works, or just mention them together?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extLst>
                  <a:ext uri="{0D108BD9-81ED-4DB2-BD59-A6C34878D82A}">
                    <a16:rowId xmlns:a16="http://schemas.microsoft.com/office/drawing/2014/main" val="10003"/>
                  </a:ext>
                </a:extLst>
              </a:tr>
              <a:tr h="543939">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Improvement/Modification vs Application / Comparison</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3: E06, E16, E48</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Does "we adapt [x]" mean they changed it, or just used it?</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4"/>
                  </a:ext>
                </a:extLst>
              </a:tr>
              <a:tr h="543939">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Gap vs Background</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2: E50, E52</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After "these methods fail", is each listed work Gap? Same pattern, opposite splits.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extLst>
                  <a:ext uri="{0D108BD9-81ED-4DB2-BD59-A6C34878D82A}">
                    <a16:rowId xmlns:a16="http://schemas.microsoft.com/office/drawing/2014/main" val="10005"/>
                  </a:ext>
                </a:extLst>
              </a:tr>
            </a:tbl>
          </a:graphicData>
        </a:graphic>
      </p:graphicFrame>
      <p:sp>
        <p:nvSpPr>
          <p:cNvPr id="5" name="Text 2"/>
          <p:cNvSpPr/>
          <p:nvPr/>
        </p:nvSpPr>
        <p:spPr>
          <a:xfrm>
            <a:off x="812767" y="4770109"/>
            <a:ext cx="10566467" cy="535836"/>
          </a:xfrm>
          <a:prstGeom prst="roundRect">
            <a:avLst>
              <a:gd name="adj" fmla="val 14221"/>
            </a:avLst>
          </a:prstGeom>
          <a:solidFill>
            <a:srgbClr val="F7F6F2"/>
          </a:solidFill>
          <a:ln/>
        </p:spPr>
        <p:txBody>
          <a:bodyPr wrap="square" lIns="180882" tIns="130082" rIns="0" bIns="104682" rtlCol="0" anchor="t">
            <a:normAutofit/>
          </a:bodyPr>
          <a:lstStyle/>
          <a:p>
            <a:pPr marL="0" indent="0" algn="l">
              <a:lnSpc>
                <a:spcPts val="1820"/>
              </a:lnSpc>
              <a:buNone/>
            </a:pPr>
            <a:r>
              <a:rPr lang="en-US" sz="1300" dirty="0">
                <a:solidFill>
                  <a:srgbClr val="14213D"/>
                </a:solidFill>
                <a:latin typeface="IBM Plex Sans" pitchFamily="34" charset="0"/>
                <a:ea typeface="IBM Plex Sans" pitchFamily="34" charset="-122"/>
                <a:cs typeface="IBM Plex Sans" pitchFamily="34" charset="-120"/>
              </a:rPr>
              <a:t>Each boundary needs </a:t>
            </a:r>
            <a:r>
              <a:rPr lang="en-US" sz="1300" b="1" dirty="0">
                <a:solidFill>
                  <a:srgbClr val="14213D"/>
                </a:solidFill>
                <a:latin typeface="IBM Plex Sans" pitchFamily="34" charset="0"/>
                <a:ea typeface="IBM Plex Sans" pitchFamily="34" charset="-122"/>
                <a:cs typeface="IBM Plex Sans" pitchFamily="34" charset="-120"/>
              </a:rPr>
              <a:t>one rule with one example</a:t>
            </a:r>
            <a:r>
              <a:rPr lang="en-US" sz="1300" dirty="0">
                <a:solidFill>
                  <a:srgbClr val="14213D"/>
                </a:solidFill>
                <a:latin typeface="IBM Plex Sans" pitchFamily="34" charset="0"/>
                <a:ea typeface="IBM Plex Sans" pitchFamily="34" charset="-122"/>
                <a:cs typeface="IBM Plex Sans" pitchFamily="34" charset="-120"/>
              </a:rPr>
              <a:t>, applied to all its cases at once.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1" cy="256525"/>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2F6FB0"/>
                </a:solidFill>
                <a:latin typeface="IBM Plex Sans" pitchFamily="34" charset="0"/>
                <a:ea typeface="IBM Plex Sans" pitchFamily="34" charset="-122"/>
                <a:cs typeface="IBM Plex Sans" pitchFamily="34" charset="-120"/>
              </a:rPr>
              <a:t>JUDGES</a:t>
            </a:r>
            <a:endParaRPr lang="en-US" sz="1300" dirty="0"/>
          </a:p>
        </p:txBody>
      </p:sp>
      <p:sp>
        <p:nvSpPr>
          <p:cNvPr id="3" name="Text 1"/>
          <p:cNvSpPr>
            <a:spLocks noGrp="1"/>
          </p:cNvSpPr>
          <p:nvPr>
            <p:ph type="title"/>
          </p:nvPr>
        </p:nvSpPr>
        <p:spPr>
          <a:xfrm>
            <a:off x="812767" y="1120068"/>
            <a:ext cx="10883461" cy="47243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Strong on most categories, blind to Gap</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831688"/>
          <a:ext cx="5120239" cy="2935991"/>
        </p:xfrm>
        <a:graphic>
          <a:graphicData uri="http://schemas.openxmlformats.org/drawingml/2006/table">
            <a:tbl>
              <a:tblPr/>
              <a:tblGrid>
                <a:gridCol w="3276953">
                  <a:extLst>
                    <a:ext uri="{9D8B030D-6E8A-4147-A177-3AD203B41FA5}">
                      <a16:colId xmlns:a16="http://schemas.microsoft.com/office/drawing/2014/main" val="20000"/>
                    </a:ext>
                  </a:extLst>
                </a:gridCol>
                <a:gridCol w="1843286">
                  <a:extLst>
                    <a:ext uri="{9D8B030D-6E8A-4147-A177-3AD203B41FA5}">
                      <a16:colId xmlns:a16="http://schemas.microsoft.com/office/drawing/2014/main" val="20001"/>
                    </a:ext>
                  </a:extLst>
                </a:gridCol>
              </a:tblGrid>
              <a:tr h="632795">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Correct on the 41 scored cases (filtered passages)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ct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Score</a:t>
                      </a:r>
                      <a:endParaRPr lang="en-US" sz="1400" dirty="0">
                        <a:latin typeface="IBM Plex Sans" charset="0"/>
                        <a:ea typeface="IBM Plex Sans" charset="0"/>
                        <a:cs typeface="IBM Plex Sans" charset="0"/>
                      </a:endParaRPr>
                    </a:p>
                  </a:txBody>
                  <a:tcPr marL="62230" marR="62230" marT="62230" marB="6223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Qwen3.8-27B</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33</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extLst>
                  <a:ext uri="{0D108BD9-81ED-4DB2-BD59-A6C34878D82A}">
                    <a16:rowId xmlns:a16="http://schemas.microsoft.com/office/drawing/2014/main" val="10001"/>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Gemma 4 26B</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30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Ministral 3 14B</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24</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extLst>
                  <a:ext uri="{0D108BD9-81ED-4DB2-BD59-A6C34878D82A}">
                    <a16:rowId xmlns:a16="http://schemas.microsoft.com/office/drawing/2014/main" val="10003"/>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Mistral Small 3.2 24B</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23</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Trio Qwen + Gemma + Ministral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30</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extLst>
                  <a:ext uri="{0D108BD9-81ED-4DB2-BD59-A6C34878D82A}">
                    <a16:rowId xmlns:a16="http://schemas.microsoft.com/office/drawing/2014/main" val="10005"/>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Old trio (7–8B, old passages)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13</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Shape 2"/>
          <p:cNvSpPr/>
          <p:nvPr/>
        </p:nvSpPr>
        <p:spPr>
          <a:xfrm>
            <a:off x="6248356" y="1821104"/>
            <a:ext cx="5130878" cy="1369494"/>
          </a:xfrm>
          <a:prstGeom prst="roundRect">
            <a:avLst>
              <a:gd name="adj" fmla="val 7419"/>
            </a:avLst>
          </a:prstGeom>
          <a:solidFill>
            <a:srgbClr val="EEF1F5"/>
          </a:solidFill>
          <a:ln/>
        </p:spPr>
        <p:txBody>
          <a:bodyPr/>
          <a:lstStyle/>
          <a:p>
            <a:endParaRPr lang="es-ES_tradnl"/>
          </a:p>
        </p:txBody>
      </p:sp>
      <p:sp>
        <p:nvSpPr>
          <p:cNvPr id="6" name="Text 3"/>
          <p:cNvSpPr/>
          <p:nvPr/>
        </p:nvSpPr>
        <p:spPr>
          <a:xfrm>
            <a:off x="6451534" y="2024283"/>
            <a:ext cx="4866257"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Why Ministral as the third judge</a:t>
            </a:r>
            <a:endParaRPr lang="en-US" sz="1600" dirty="0"/>
          </a:p>
        </p:txBody>
      </p:sp>
      <p:sp>
        <p:nvSpPr>
          <p:cNvPr id="7" name="Text 4"/>
          <p:cNvSpPr/>
          <p:nvPr/>
        </p:nvSpPr>
        <p:spPr>
          <a:xfrm>
            <a:off x="6451534" y="2318851"/>
            <a:ext cx="4866257" cy="693969"/>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Qwen and Gemma agree on 35 of 41. When they disagree, neither Mistral ever picks the right side, so the third judge rarely matters: we take the faster one.</a:t>
            </a:r>
            <a:endParaRPr lang="en-US" sz="1300" dirty="0"/>
          </a:p>
        </p:txBody>
      </p:sp>
      <p:sp>
        <p:nvSpPr>
          <p:cNvPr id="8" name="Shape 5"/>
          <p:cNvSpPr/>
          <p:nvPr/>
        </p:nvSpPr>
        <p:spPr>
          <a:xfrm>
            <a:off x="6248356" y="3342953"/>
            <a:ext cx="5130878" cy="1420261"/>
          </a:xfrm>
          <a:prstGeom prst="roundRect">
            <a:avLst>
              <a:gd name="adj" fmla="val 7154"/>
            </a:avLst>
          </a:prstGeom>
          <a:solidFill>
            <a:srgbClr val="EEF1F5"/>
          </a:solidFill>
          <a:ln/>
        </p:spPr>
        <p:txBody>
          <a:bodyPr/>
          <a:lstStyle/>
          <a:p>
            <a:endParaRPr lang="es-ES_tradnl"/>
          </a:p>
        </p:txBody>
      </p:sp>
      <p:sp>
        <p:nvSpPr>
          <p:cNvPr id="9" name="Text 6"/>
          <p:cNvSpPr/>
          <p:nvPr/>
        </p:nvSpPr>
        <p:spPr>
          <a:xfrm>
            <a:off x="6451534" y="3546131"/>
            <a:ext cx="4866257"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Trio, per category</a:t>
            </a:r>
            <a:endParaRPr lang="en-US" sz="1600" dirty="0"/>
          </a:p>
        </p:txBody>
      </p:sp>
      <p:sp>
        <p:nvSpPr>
          <p:cNvPr id="10" name="Text 7"/>
          <p:cNvSpPr/>
          <p:nvPr/>
        </p:nvSpPr>
        <p:spPr>
          <a:xfrm>
            <a:off x="6451534" y="3840702"/>
            <a:ext cx="4866257" cy="471113"/>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4213D"/>
                </a:solidFill>
                <a:latin typeface="IBM Plex Sans" pitchFamily="34" charset="0"/>
                <a:ea typeface="IBM Plex Sans" pitchFamily="34" charset="-122"/>
                <a:cs typeface="IBM Plex Sans" pitchFamily="34" charset="-120"/>
              </a:rPr>
              <a:t>Strong:</a:t>
            </a:r>
            <a:r>
              <a:rPr lang="en-US" sz="1300" dirty="0">
                <a:solidFill>
                  <a:srgbClr val="4A5568"/>
                </a:solidFill>
                <a:latin typeface="IBM Plex Sans" pitchFamily="34" charset="0"/>
                <a:ea typeface="IBM Plex Sans" pitchFamily="34" charset="-122"/>
                <a:cs typeface="IBM Plex Sans" pitchFamily="34" charset="-120"/>
              </a:rPr>
              <a:t> Background 11/11, Originator 5/5, Further Reading 5/6, Improvement/Modification 5/6</a:t>
            </a:r>
            <a:endParaRPr lang="en-US" sz="1300" dirty="0"/>
          </a:p>
        </p:txBody>
      </p:sp>
      <p:sp>
        <p:nvSpPr>
          <p:cNvPr id="11" name="Text 8"/>
          <p:cNvSpPr/>
          <p:nvPr/>
        </p:nvSpPr>
        <p:spPr>
          <a:xfrm>
            <a:off x="6451534" y="4337180"/>
            <a:ext cx="4866257" cy="24825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4213D"/>
                </a:solidFill>
                <a:latin typeface="IBM Plex Sans" pitchFamily="34" charset="0"/>
                <a:ea typeface="IBM Plex Sans" pitchFamily="34" charset="-122"/>
                <a:cs typeface="IBM Plex Sans" pitchFamily="34" charset="-120"/>
              </a:rPr>
              <a:t>Weak:</a:t>
            </a:r>
            <a:r>
              <a:rPr lang="en-US" sz="1300" dirty="0">
                <a:solidFill>
                  <a:srgbClr val="4A5568"/>
                </a:solidFill>
                <a:latin typeface="IBM Plex Sans" pitchFamily="34" charset="0"/>
                <a:ea typeface="IBM Plex Sans" pitchFamily="34" charset="-122"/>
                <a:cs typeface="IBM Plex Sans" pitchFamily="34" charset="-120"/>
              </a:rPr>
              <a:t> Gap 0/3, Application 0/2, Evidence 2/4</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1F5"/>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1" cy="256525"/>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2F6FB0"/>
                </a:solidFill>
                <a:latin typeface="IBM Plex Sans" pitchFamily="34" charset="0"/>
                <a:ea typeface="IBM Plex Sans" pitchFamily="34" charset="-122"/>
                <a:cs typeface="IBM Plex Sans" pitchFamily="34" charset="-120"/>
              </a:rPr>
              <a:t>THREE EXPERIMENTS</a:t>
            </a:r>
            <a:endParaRPr lang="en-US" sz="1300" dirty="0"/>
          </a:p>
        </p:txBody>
      </p:sp>
      <p:sp>
        <p:nvSpPr>
          <p:cNvPr id="3" name="Text 1"/>
          <p:cNvSpPr>
            <a:spLocks noGrp="1"/>
          </p:cNvSpPr>
          <p:nvPr>
            <p:ph type="title"/>
          </p:nvPr>
        </p:nvSpPr>
        <p:spPr>
          <a:xfrm>
            <a:off x="812767" y="1120068"/>
            <a:ext cx="10883461" cy="47243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What we tried, and what we keep</a:t>
            </a:r>
            <a:endParaRPr lang="en-US" sz="3200" dirty="0"/>
          </a:p>
        </p:txBody>
      </p:sp>
      <p:sp>
        <p:nvSpPr>
          <p:cNvPr id="4" name="Shape 2"/>
          <p:cNvSpPr/>
          <p:nvPr/>
        </p:nvSpPr>
        <p:spPr>
          <a:xfrm>
            <a:off x="812767" y="1821104"/>
            <a:ext cx="3386667" cy="3241752"/>
          </a:xfrm>
          <a:prstGeom prst="roundRect">
            <a:avLst>
              <a:gd name="adj" fmla="val 3134"/>
            </a:avLst>
          </a:prstGeom>
          <a:solidFill>
            <a:srgbClr val="F7F6F2"/>
          </a:solidFill>
          <a:ln/>
        </p:spPr>
        <p:txBody>
          <a:bodyPr/>
          <a:lstStyle/>
          <a:p>
            <a:endParaRPr lang="es-ES_tradnl"/>
          </a:p>
        </p:txBody>
      </p:sp>
      <p:sp>
        <p:nvSpPr>
          <p:cNvPr id="5" name="Shape 3"/>
          <p:cNvSpPr/>
          <p:nvPr/>
        </p:nvSpPr>
        <p:spPr>
          <a:xfrm>
            <a:off x="812767" y="1821104"/>
            <a:ext cx="3386667" cy="3241752"/>
          </a:xfrm>
          <a:custGeom>
            <a:avLst/>
            <a:gdLst/>
            <a:ahLst/>
            <a:cxnLst/>
            <a:rect l="l" t="t" r="r" b="b"/>
            <a:pathLst>
              <a:path w="3386667" h="3241752">
                <a:moveTo>
                  <a:pt x="0" y="101600"/>
                </a:moveTo>
                <a:lnTo>
                  <a:pt x="0" y="101600"/>
                </a:lnTo>
                <a:arcTo wR="101600" hR="101600" stAng="10800000" swAng="5400000"/>
                <a:lnTo>
                  <a:pt x="3285067" y="0"/>
                </a:lnTo>
                <a:arcTo wR="101600" hR="101600" stAng="16200000" swAng="5400000"/>
                <a:lnTo>
                  <a:pt x="3386667" y="101600"/>
                </a:lnTo>
                <a:arcTo wR="101600" hR="50800" stAng="0" swAng="-5400000"/>
                <a:lnTo>
                  <a:pt x="101600" y="50800"/>
                </a:lnTo>
                <a:arcTo wR="101600" hR="50800" stAng="16200000" swAng="-5400000"/>
                <a:close/>
              </a:path>
            </a:pathLst>
          </a:custGeom>
          <a:solidFill>
            <a:srgbClr val="B3621A"/>
          </a:solidFill>
          <a:ln/>
        </p:spPr>
        <p:txBody>
          <a:bodyPr/>
          <a:lstStyle/>
          <a:p>
            <a:endParaRPr lang="es-ES_tradnl"/>
          </a:p>
        </p:txBody>
      </p:sp>
      <p:sp>
        <p:nvSpPr>
          <p:cNvPr id="6" name="Text 4"/>
          <p:cNvSpPr/>
          <p:nvPr/>
        </p:nvSpPr>
        <p:spPr>
          <a:xfrm>
            <a:off x="1041356" y="2099081"/>
            <a:ext cx="3017373"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Gap rule (v10)</a:t>
            </a:r>
            <a:endParaRPr lang="en-US" sz="1600" dirty="0"/>
          </a:p>
        </p:txBody>
      </p:sp>
      <p:sp>
        <p:nvSpPr>
          <p:cNvPr id="7" name="Text 5"/>
          <p:cNvSpPr/>
          <p:nvPr/>
        </p:nvSpPr>
        <p:spPr>
          <a:xfrm>
            <a:off x="1041356" y="2419062"/>
            <a:ext cx="3017373" cy="84825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Tried:</a:t>
            </a:r>
            <a:r>
              <a:rPr lang="en-US" sz="1200" dirty="0">
                <a:solidFill>
                  <a:srgbClr val="4A5568"/>
                </a:solidFill>
                <a:latin typeface="IBM Plex Sans" pitchFamily="34" charset="0"/>
                <a:ea typeface="IBM Plex Sans" pitchFamily="34" charset="-122"/>
                <a:cs typeface="IBM Plex Sans" pitchFamily="34" charset="-120"/>
              </a:rPr>
              <a:t> "a limitation stated about all listed works makes each of them Gap". Gap labels rose from 19 to 111 on 300 Gap-cue instances.</a:t>
            </a:r>
            <a:endParaRPr lang="en-US" sz="1200" dirty="0"/>
          </a:p>
        </p:txBody>
      </p:sp>
      <p:sp>
        <p:nvSpPr>
          <p:cNvPr id="8" name="Text 6"/>
          <p:cNvSpPr/>
          <p:nvPr/>
        </p:nvSpPr>
        <p:spPr>
          <a:xfrm>
            <a:off x="1041356" y="3318095"/>
            <a:ext cx="3017373" cy="105396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But:</a:t>
            </a:r>
            <a:r>
              <a:rPr lang="en-US" sz="1200" dirty="0">
                <a:solidFill>
                  <a:srgbClr val="4A5568"/>
                </a:solidFill>
                <a:latin typeface="IBM Plex Sans" pitchFamily="34" charset="0"/>
                <a:ea typeface="IBM Plex Sans" pitchFamily="34" charset="-122"/>
                <a:cs typeface="IBM Plex Sans" pitchFamily="34" charset="-120"/>
              </a:rPr>
              <a:t> about 45% of the new ones are wrong, all the same way. In "multi-column networks have disadvantages, as demonstrated by Li et al. [x]", [x] only reports the problem: Evidence.</a:t>
            </a:r>
            <a:endParaRPr lang="en-US" sz="1200" dirty="0"/>
          </a:p>
        </p:txBody>
      </p:sp>
      <p:sp>
        <p:nvSpPr>
          <p:cNvPr id="9" name="Text 7"/>
          <p:cNvSpPr/>
          <p:nvPr/>
        </p:nvSpPr>
        <p:spPr>
          <a:xfrm>
            <a:off x="1041356" y="4422840"/>
            <a:ext cx="3017373" cy="43682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B3621A"/>
                </a:solidFill>
                <a:latin typeface="IBM Plex Sans" pitchFamily="34" charset="0"/>
                <a:ea typeface="IBM Plex Sans" pitchFamily="34" charset="-122"/>
                <a:cs typeface="IBM Plex Sans" pitchFamily="34" charset="-120"/>
              </a:rPr>
              <a:t>Keep:</a:t>
            </a:r>
            <a:r>
              <a:rPr lang="en-US" sz="1200" dirty="0">
                <a:solidFill>
                  <a:srgbClr val="B3621A"/>
                </a:solidFill>
                <a:latin typeface="IBM Plex Sans" pitchFamily="34" charset="0"/>
                <a:ea typeface="IBM Plex Sans" pitchFamily="34" charset="-122"/>
                <a:cs typeface="IBM Plex Sans" pitchFamily="34" charset="-120"/>
              </a:rPr>
              <a:t> the idea, plus "Gap is the work that has the limitation" (v11)</a:t>
            </a:r>
            <a:endParaRPr lang="en-US" sz="1200" dirty="0"/>
          </a:p>
        </p:txBody>
      </p:sp>
      <p:sp>
        <p:nvSpPr>
          <p:cNvPr id="10" name="Shape 8"/>
          <p:cNvSpPr/>
          <p:nvPr/>
        </p:nvSpPr>
        <p:spPr>
          <a:xfrm>
            <a:off x="4402612" y="1821104"/>
            <a:ext cx="3386722" cy="3241752"/>
          </a:xfrm>
          <a:prstGeom prst="roundRect">
            <a:avLst>
              <a:gd name="adj" fmla="val 3134"/>
            </a:avLst>
          </a:prstGeom>
          <a:solidFill>
            <a:srgbClr val="F7F6F2"/>
          </a:solidFill>
          <a:ln/>
        </p:spPr>
        <p:txBody>
          <a:bodyPr/>
          <a:lstStyle/>
          <a:p>
            <a:endParaRPr lang="es-ES_tradnl"/>
          </a:p>
        </p:txBody>
      </p:sp>
      <p:sp>
        <p:nvSpPr>
          <p:cNvPr id="11" name="Shape 9"/>
          <p:cNvSpPr/>
          <p:nvPr/>
        </p:nvSpPr>
        <p:spPr>
          <a:xfrm>
            <a:off x="4402612" y="1821104"/>
            <a:ext cx="3386722" cy="3241752"/>
          </a:xfrm>
          <a:custGeom>
            <a:avLst/>
            <a:gdLst/>
            <a:ahLst/>
            <a:cxnLst/>
            <a:rect l="l" t="t" r="r" b="b"/>
            <a:pathLst>
              <a:path w="3386722" h="3241752">
                <a:moveTo>
                  <a:pt x="0" y="101600"/>
                </a:moveTo>
                <a:lnTo>
                  <a:pt x="0" y="101600"/>
                </a:lnTo>
                <a:arcTo wR="101600" hR="101600" stAng="10800000" swAng="5400000"/>
                <a:lnTo>
                  <a:pt x="3285122" y="0"/>
                </a:lnTo>
                <a:arcTo wR="101600" hR="101600" stAng="16200000" swAng="5400000"/>
                <a:lnTo>
                  <a:pt x="3386722" y="101600"/>
                </a:lnTo>
                <a:arcTo wR="101600" hR="50800" stAng="0" swAng="-5400000"/>
                <a:lnTo>
                  <a:pt x="101600" y="50800"/>
                </a:lnTo>
                <a:arcTo wR="101600" hR="50800" stAng="16200000" swAng="-5400000"/>
                <a:close/>
              </a:path>
            </a:pathLst>
          </a:custGeom>
          <a:solidFill>
            <a:srgbClr val="2F6FB0"/>
          </a:solidFill>
          <a:ln/>
        </p:spPr>
        <p:txBody>
          <a:bodyPr/>
          <a:lstStyle/>
          <a:p>
            <a:endParaRPr lang="es-ES_tradnl"/>
          </a:p>
        </p:txBody>
      </p:sp>
      <p:sp>
        <p:nvSpPr>
          <p:cNvPr id="12" name="Text 10"/>
          <p:cNvSpPr/>
          <p:nvPr/>
        </p:nvSpPr>
        <p:spPr>
          <a:xfrm>
            <a:off x="4631201" y="2099081"/>
            <a:ext cx="3017430"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Citing info (v9)</a:t>
            </a:r>
            <a:endParaRPr lang="en-US" sz="1600" dirty="0"/>
          </a:p>
        </p:txBody>
      </p:sp>
      <p:sp>
        <p:nvSpPr>
          <p:cNvPr id="13" name="Text 11"/>
          <p:cNvSpPr/>
          <p:nvPr/>
        </p:nvSpPr>
        <p:spPr>
          <a:xfrm>
            <a:off x="4631201" y="2419062"/>
            <a:ext cx="3017430" cy="64254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Tried:</a:t>
            </a:r>
            <a:r>
              <a:rPr lang="en-US" sz="1200" dirty="0">
                <a:solidFill>
                  <a:srgbClr val="4A5568"/>
                </a:solidFill>
                <a:latin typeface="IBM Plex Sans" pitchFamily="34" charset="0"/>
                <a:ea typeface="IBM Plex Sans" pitchFamily="34" charset="-122"/>
                <a:cs typeface="IBM Plex Sans" pitchFamily="34" charset="-120"/>
              </a:rPr>
              <a:t> showing the citing paper's title, abstract and section, to judges and to both teams.</a:t>
            </a:r>
            <a:endParaRPr lang="en-US" sz="1200" dirty="0"/>
          </a:p>
        </p:txBody>
      </p:sp>
      <p:sp>
        <p:nvSpPr>
          <p:cNvPr id="14" name="Text 12"/>
          <p:cNvSpPr/>
          <p:nvPr/>
        </p:nvSpPr>
        <p:spPr>
          <a:xfrm>
            <a:off x="4631201" y="3112381"/>
            <a:ext cx="3017430" cy="84825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Result:</a:t>
            </a:r>
            <a:r>
              <a:rPr lang="en-US" sz="1200" dirty="0">
                <a:solidFill>
                  <a:srgbClr val="4A5568"/>
                </a:solidFill>
                <a:latin typeface="IBM Plex Sans" pitchFamily="34" charset="0"/>
                <a:ea typeface="IBM Plex Sans" pitchFamily="34" charset="-122"/>
                <a:cs typeface="IBM Plex Sans" pitchFamily="34" charset="-120"/>
              </a:rPr>
              <a:t> the trio lost 1 case. The teams changed 12 labels and agreed on 32 instead of 41, often following the section ("it's in Related Work, so Comparison").</a:t>
            </a:r>
            <a:endParaRPr lang="en-US" sz="1200" dirty="0"/>
          </a:p>
        </p:txBody>
      </p:sp>
      <p:sp>
        <p:nvSpPr>
          <p:cNvPr id="15" name="Text 13"/>
          <p:cNvSpPr/>
          <p:nvPr/>
        </p:nvSpPr>
        <p:spPr>
          <a:xfrm>
            <a:off x="4631201" y="4011414"/>
            <a:ext cx="3017430" cy="2311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2F6FB0"/>
                </a:solidFill>
                <a:latin typeface="IBM Plex Sans" pitchFamily="34" charset="0"/>
                <a:ea typeface="IBM Plex Sans" pitchFamily="34" charset="-122"/>
                <a:cs typeface="IBM Plex Sans" pitchFamily="34" charset="-120"/>
              </a:rPr>
              <a:t>Keep:</a:t>
            </a:r>
            <a:r>
              <a:rPr lang="en-US" sz="1200" dirty="0">
                <a:solidFill>
                  <a:srgbClr val="2F6FB0"/>
                </a:solidFill>
                <a:latin typeface="IBM Plex Sans" pitchFamily="34" charset="0"/>
                <a:ea typeface="IBM Plex Sans" pitchFamily="34" charset="-122"/>
                <a:cs typeface="IBM Plex Sans" pitchFamily="34" charset="-120"/>
              </a:rPr>
              <a:t> nothing. Nobody sees citing info.</a:t>
            </a:r>
            <a:endParaRPr lang="en-US" sz="1200" dirty="0"/>
          </a:p>
        </p:txBody>
      </p:sp>
      <p:sp>
        <p:nvSpPr>
          <p:cNvPr id="16" name="Shape 14"/>
          <p:cNvSpPr/>
          <p:nvPr/>
        </p:nvSpPr>
        <p:spPr>
          <a:xfrm>
            <a:off x="7992511" y="1821104"/>
            <a:ext cx="3386722" cy="3241752"/>
          </a:xfrm>
          <a:prstGeom prst="roundRect">
            <a:avLst>
              <a:gd name="adj" fmla="val 3134"/>
            </a:avLst>
          </a:prstGeom>
          <a:solidFill>
            <a:srgbClr val="F7F6F2"/>
          </a:solidFill>
          <a:ln/>
        </p:spPr>
        <p:txBody>
          <a:bodyPr/>
          <a:lstStyle/>
          <a:p>
            <a:endParaRPr lang="es-ES_tradnl"/>
          </a:p>
        </p:txBody>
      </p:sp>
      <p:sp>
        <p:nvSpPr>
          <p:cNvPr id="17" name="Shape 15"/>
          <p:cNvSpPr/>
          <p:nvPr/>
        </p:nvSpPr>
        <p:spPr>
          <a:xfrm>
            <a:off x="7992511" y="1821104"/>
            <a:ext cx="3386722" cy="3241752"/>
          </a:xfrm>
          <a:custGeom>
            <a:avLst/>
            <a:gdLst/>
            <a:ahLst/>
            <a:cxnLst/>
            <a:rect l="l" t="t" r="r" b="b"/>
            <a:pathLst>
              <a:path w="3386722" h="3241752">
                <a:moveTo>
                  <a:pt x="0" y="101600"/>
                </a:moveTo>
                <a:lnTo>
                  <a:pt x="0" y="101600"/>
                </a:lnTo>
                <a:arcTo wR="101600" hR="101600" stAng="10800000" swAng="5400000"/>
                <a:lnTo>
                  <a:pt x="3285122" y="0"/>
                </a:lnTo>
                <a:arcTo wR="101600" hR="101600" stAng="16200000" swAng="5400000"/>
                <a:lnTo>
                  <a:pt x="3386722" y="101600"/>
                </a:lnTo>
                <a:arcTo wR="101600" hR="50800" stAng="0" swAng="-5400000"/>
                <a:lnTo>
                  <a:pt x="101600" y="50800"/>
                </a:lnTo>
                <a:arcTo wR="101600" hR="50800" stAng="16200000" swAng="-5400000"/>
                <a:close/>
              </a:path>
            </a:pathLst>
          </a:custGeom>
          <a:solidFill>
            <a:srgbClr val="2F6FB0"/>
          </a:solidFill>
          <a:ln/>
        </p:spPr>
        <p:txBody>
          <a:bodyPr/>
          <a:lstStyle/>
          <a:p>
            <a:endParaRPr lang="es-ES_tradnl"/>
          </a:p>
        </p:txBody>
      </p:sp>
      <p:sp>
        <p:nvSpPr>
          <p:cNvPr id="18" name="Text 16"/>
          <p:cNvSpPr/>
          <p:nvPr/>
        </p:nvSpPr>
        <p:spPr>
          <a:xfrm>
            <a:off x="8221101" y="2099081"/>
            <a:ext cx="3017430"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Related-work passages</a:t>
            </a:r>
            <a:endParaRPr lang="en-US" sz="1600" dirty="0"/>
          </a:p>
        </p:txBody>
      </p:sp>
      <p:sp>
        <p:nvSpPr>
          <p:cNvPr id="19" name="Text 17"/>
          <p:cNvSpPr/>
          <p:nvPr/>
        </p:nvSpPr>
        <p:spPr>
          <a:xfrm>
            <a:off x="8221101" y="2419062"/>
            <a:ext cx="3017430" cy="84825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Problem:</a:t>
            </a:r>
            <a:r>
              <a:rPr lang="en-US" sz="1200" dirty="0">
                <a:solidFill>
                  <a:srgbClr val="4A5568"/>
                </a:solidFill>
                <a:latin typeface="IBM Plex Sans" pitchFamily="34" charset="0"/>
                <a:ea typeface="IBM Plex Sans" pitchFamily="34" charset="-122"/>
                <a:cs typeface="IBM Plex Sans" pitchFamily="34" charset="-120"/>
              </a:rPr>
              <a:t> 27% of the top passages came from the cited paper's related-work section, text about other papers (5.8× its share).</a:t>
            </a:r>
            <a:endParaRPr lang="en-US" sz="1200" dirty="0"/>
          </a:p>
        </p:txBody>
      </p:sp>
      <p:sp>
        <p:nvSpPr>
          <p:cNvPr id="20" name="Text 18"/>
          <p:cNvSpPr/>
          <p:nvPr/>
        </p:nvSpPr>
        <p:spPr>
          <a:xfrm>
            <a:off x="8221101" y="3318095"/>
            <a:ext cx="3017430" cy="43682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Tried:</a:t>
            </a:r>
            <a:r>
              <a:rPr lang="en-US" sz="1200" dirty="0">
                <a:solidFill>
                  <a:srgbClr val="4A5568"/>
                </a:solidFill>
                <a:latin typeface="IBM Plex Sans" pitchFamily="34" charset="0"/>
                <a:ea typeface="IBM Plex Sans" pitchFamily="34" charset="-122"/>
                <a:cs typeface="IBM Plex Sans" pitchFamily="34" charset="-120"/>
              </a:rPr>
              <a:t> excluding those passages. 1–6% of labels change; accuracy stays 30/41.</a:t>
            </a:r>
            <a:endParaRPr lang="en-US" sz="1200" dirty="0"/>
          </a:p>
        </p:txBody>
      </p:sp>
      <p:sp>
        <p:nvSpPr>
          <p:cNvPr id="21" name="Text 19"/>
          <p:cNvSpPr/>
          <p:nvPr/>
        </p:nvSpPr>
        <p:spPr>
          <a:xfrm>
            <a:off x="8221101" y="3805699"/>
            <a:ext cx="3017430" cy="43682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2F6FB0"/>
                </a:solidFill>
                <a:latin typeface="IBM Plex Sans" pitchFamily="34" charset="0"/>
                <a:ea typeface="IBM Plex Sans" pitchFamily="34" charset="-122"/>
                <a:cs typeface="IBM Plex Sans" pitchFamily="34" charset="-120"/>
              </a:rPr>
              <a:t>Keep:</a:t>
            </a:r>
            <a:r>
              <a:rPr lang="en-US" sz="1200" dirty="0">
                <a:solidFill>
                  <a:srgbClr val="2F6FB0"/>
                </a:solidFill>
                <a:latin typeface="IBM Plex Sans" pitchFamily="34" charset="0"/>
                <a:ea typeface="IBM Plex Sans" pitchFamily="34" charset="-122"/>
                <a:cs typeface="IBM Plex Sans" pitchFamily="34" charset="-120"/>
              </a:rPr>
              <a:t> the filtered passages for the re-judge.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1" cy="256525"/>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2F6FB0"/>
                </a:solidFill>
                <a:latin typeface="IBM Plex Sans" pitchFamily="34" charset="0"/>
                <a:ea typeface="IBM Plex Sans" pitchFamily="34" charset="-122"/>
                <a:cs typeface="IBM Plex Sans" pitchFamily="34" charset="-120"/>
              </a:rPr>
              <a:t>TO DECIDE TODAY</a:t>
            </a:r>
            <a:endParaRPr lang="en-US" sz="1300" dirty="0"/>
          </a:p>
        </p:txBody>
      </p:sp>
      <p:sp>
        <p:nvSpPr>
          <p:cNvPr id="3" name="Text 1"/>
          <p:cNvSpPr>
            <a:spLocks noGrp="1"/>
          </p:cNvSpPr>
          <p:nvPr>
            <p:ph type="title"/>
          </p:nvPr>
        </p:nvSpPr>
        <p:spPr>
          <a:xfrm>
            <a:off x="812767" y="1120068"/>
            <a:ext cx="10883461" cy="47243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Five candidate rules, one per boundary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780866"/>
          <a:ext cx="10555883" cy="2623509"/>
        </p:xfrm>
        <a:graphic>
          <a:graphicData uri="http://schemas.openxmlformats.org/drawingml/2006/table">
            <a:tbl>
              <a:tblPr/>
              <a:tblGrid>
                <a:gridCol w="3800118">
                  <a:extLst>
                    <a:ext uri="{9D8B030D-6E8A-4147-A177-3AD203B41FA5}">
                      <a16:colId xmlns:a16="http://schemas.microsoft.com/office/drawing/2014/main" val="20000"/>
                    </a:ext>
                  </a:extLst>
                </a:gridCol>
                <a:gridCol w="4855706">
                  <a:extLst>
                    <a:ext uri="{9D8B030D-6E8A-4147-A177-3AD203B41FA5}">
                      <a16:colId xmlns:a16="http://schemas.microsoft.com/office/drawing/2014/main" val="20001"/>
                    </a:ext>
                  </a:extLst>
                </a:gridCol>
                <a:gridCol w="1900059">
                  <a:extLst>
                    <a:ext uri="{9D8B030D-6E8A-4147-A177-3AD203B41FA5}">
                      <a16:colId xmlns:a16="http://schemas.microsoft.com/office/drawing/2014/main" val="20002"/>
                    </a:ext>
                  </a:extLst>
                </a:gridCol>
              </a:tblGrid>
              <a:tr h="330564">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Candidate rule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Example from eval60</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Settles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543939">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Evidence includes a source that reports another method's limits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"they suffer from several disadvantages, as demonstrated by Li et al. [x]" → Evidence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E01, E05, E17</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extLst>
                  <a:ext uri="{0D108BD9-81ED-4DB2-BD59-A6C34878D82A}">
                    <a16:rowId xmlns:a16="http://schemas.microsoft.com/office/drawing/2014/main" val="10001"/>
                  </a:ext>
                </a:extLst>
              </a:tr>
              <a:tr h="543939">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"We adapt" is Improvement/Modification only if a change is described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"We adapt the ResNet101 network [x] pre-trained on …", no change → Application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E06, E48 (E16 stays IM)</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"See [x] for …" is Further Reading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"We refer the reader to [x] for a thorough review" → Further Reading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E08, E12, E30, E59</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extLst>
                  <a:ext uri="{0D108BD9-81ED-4DB2-BD59-A6C34878D82A}">
                    <a16:rowId xmlns:a16="http://schemas.microsoft.com/office/drawing/2014/main" val="10003"/>
                  </a:ext>
                </a:extLst>
              </a:tr>
              <a:tr h="543939">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"These methods fail / need X" makes each listed work Gap</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 see [1, x, 3]. Nevertheless, these methods require a large amount of supervision" → Gap</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E50, E52</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Named only as context is Background</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"all trained on FlyingChairs and FlyingThings [x]" → Background</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E31, E32, E45</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extLst>
                  <a:ext uri="{0D108BD9-81ED-4DB2-BD59-A6C34878D82A}">
                    <a16:rowId xmlns:a16="http://schemas.microsoft.com/office/drawing/2014/main" val="10005"/>
                  </a:ext>
                </a:extLst>
              </a:tr>
            </a:tbl>
          </a:graphicData>
        </a:graphic>
      </p:graphicFrame>
      <p:sp>
        <p:nvSpPr>
          <p:cNvPr id="5" name="Text 2"/>
          <p:cNvSpPr/>
          <p:nvPr/>
        </p:nvSpPr>
        <p:spPr>
          <a:xfrm>
            <a:off x="812767" y="4607554"/>
            <a:ext cx="10566467" cy="535836"/>
          </a:xfrm>
          <a:prstGeom prst="roundRect">
            <a:avLst>
              <a:gd name="adj" fmla="val 14221"/>
            </a:avLst>
          </a:prstGeom>
          <a:solidFill>
            <a:srgbClr val="EEF1F5"/>
          </a:solidFill>
          <a:ln/>
        </p:spPr>
        <p:txBody>
          <a:bodyPr wrap="square" lIns="180882" tIns="130082" rIns="0" bIns="104682" rtlCol="0" anchor="t">
            <a:normAutofit/>
          </a:bodyPr>
          <a:lstStyle/>
          <a:p>
            <a:pPr marL="0" indent="0" algn="l">
              <a:lnSpc>
                <a:spcPts val="1820"/>
              </a:lnSpc>
              <a:buNone/>
            </a:pPr>
            <a:r>
              <a:rPr lang="en-US" sz="1300" dirty="0">
                <a:solidFill>
                  <a:srgbClr val="14213D"/>
                </a:solidFill>
                <a:latin typeface="IBM Plex Sans" pitchFamily="34" charset="0"/>
                <a:ea typeface="IBM Plex Sans" pitchFamily="34" charset="-122"/>
                <a:cs typeface="IBM Plex Sans" pitchFamily="34" charset="-120"/>
              </a:rPr>
              <a:t>For each: adopt, change or reject, then write it with its example in the "rules" tab of the adjudication sheet.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1F5"/>
        </a:solidFill>
        <a:effectLst/>
      </p:bgPr>
    </p:bg>
    <p:spTree>
      <p:nvGrpSpPr>
        <p:cNvPr id="1" name=""/>
        <p:cNvGrpSpPr/>
        <p:nvPr/>
      </p:nvGrpSpPr>
      <p:grpSpPr>
        <a:xfrm>
          <a:off x="0" y="0"/>
          <a:ext cx="0" cy="0"/>
          <a:chOff x="0" y="0"/>
          <a:chExt cx="0" cy="0"/>
        </a:xfrm>
      </p:grpSpPr>
      <p:sp>
        <p:nvSpPr>
          <p:cNvPr id="2" name="Text 0"/>
          <p:cNvSpPr/>
          <p:nvPr/>
        </p:nvSpPr>
        <p:spPr>
          <a:xfrm>
            <a:off x="812767" y="812769"/>
            <a:ext cx="10883461" cy="256525"/>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2F6FB0"/>
                </a:solidFill>
                <a:latin typeface="IBM Plex Sans" pitchFamily="34" charset="0"/>
                <a:ea typeface="IBM Plex Sans" pitchFamily="34" charset="-122"/>
                <a:cs typeface="IBM Plex Sans" pitchFamily="34" charset="-120"/>
              </a:rPr>
              <a:t>CORPUS EXTENSION · MEASURED, PAUSED</a:t>
            </a:r>
            <a:endParaRPr lang="en-US" sz="1300" dirty="0"/>
          </a:p>
        </p:txBody>
      </p:sp>
      <p:sp>
        <p:nvSpPr>
          <p:cNvPr id="3" name="Text 1"/>
          <p:cNvSpPr>
            <a:spLocks noGrp="1"/>
          </p:cNvSpPr>
          <p:nvPr>
            <p:ph type="title"/>
          </p:nvPr>
        </p:nvSpPr>
        <p:spPr>
          <a:xfrm>
            <a:off x="812767" y="1120074"/>
            <a:ext cx="10883461" cy="47243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More arXiv categories would help Further Reading</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831694"/>
          <a:ext cx="4653800" cy="2168259"/>
        </p:xfrm>
        <a:graphic>
          <a:graphicData uri="http://schemas.openxmlformats.org/drawingml/2006/table">
            <a:tbl>
              <a:tblPr/>
              <a:tblGrid>
                <a:gridCol w="2419976">
                  <a:extLst>
                    <a:ext uri="{9D8B030D-6E8A-4147-A177-3AD203B41FA5}">
                      <a16:colId xmlns:a16="http://schemas.microsoft.com/office/drawing/2014/main" val="20000"/>
                    </a:ext>
                  </a:extLst>
                </a:gridCol>
                <a:gridCol w="2233824">
                  <a:extLst>
                    <a:ext uri="{9D8B030D-6E8A-4147-A177-3AD203B41FA5}">
                      <a16:colId xmlns:a16="http://schemas.microsoft.com/office/drawing/2014/main" val="20001"/>
                    </a:ext>
                  </a:extLst>
                </a:gridCol>
              </a:tblGrid>
              <a:tr h="632795">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Citing papers in</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tc>
                  <a:txBody>
                    <a:bodyPr/>
                    <a:lstStyle/>
                    <a:p>
                      <a:pPr marL="0" indent="0" algn="ct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Further Reading cues per 10k citations</a:t>
                      </a:r>
                      <a:endParaRPr lang="en-US" sz="1400" dirty="0">
                        <a:latin typeface="IBM Plex Sans" charset="0"/>
                        <a:ea typeface="IBM Plex Sans" charset="0"/>
                        <a:cs typeface="IBM Plex Sans" charset="0"/>
                      </a:endParaRPr>
                    </a:p>
                  </a:txBody>
                  <a:tcPr marL="62230" marR="62230" marT="62230" marB="62230">
                    <a:lnL w="12700" cap="flat" cmpd="sng" algn="ctr">
                      <a:solidFill>
                        <a:srgbClr val="B1B2B5"/>
                      </a:solidFill>
                      <a:prstDash val="solid"/>
                      <a:round/>
                      <a:headEnd type="none" w="med" len="med"/>
                      <a:tailEnd type="none" w="med" len="med"/>
                    </a:lnL>
                    <a:lnR w="12700" cap="flat" cmpd="sng" algn="ctr">
                      <a:solidFill>
                        <a:srgbClr val="B1B2B5"/>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5"/>
                      </a:solidFill>
                      <a:prstDash val="solid"/>
                      <a:round/>
                      <a:headEnd type="none" w="med" len="med"/>
                      <a:tailEnd type="none" w="med" len="med"/>
                    </a:lnB>
                    <a:solidFill>
                      <a:srgbClr val="DDDFE3"/>
                    </a:solidFill>
                  </a:tcPr>
                </a:tc>
                <a:extLst>
                  <a:ext uri="{0D108BD9-81ED-4DB2-BD59-A6C34878D82A}">
                    <a16:rowId xmlns:a16="http://schemas.microsoft.com/office/drawing/2014/main" val="10000"/>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cs.CV (pilot)</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19.5</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1B2B5"/>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extLst>
                  <a:ext uri="{0D108BD9-81ED-4DB2-BD59-A6C34878D82A}">
                    <a16:rowId xmlns:a16="http://schemas.microsoft.com/office/drawing/2014/main" val="10001"/>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cs.CL</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39</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2"/>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cs.LG</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152</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extLst>
                  <a:ext uri="{0D108BD9-81ED-4DB2-BD59-A6C34878D82A}">
                    <a16:rowId xmlns:a16="http://schemas.microsoft.com/office/drawing/2014/main" val="10003"/>
                  </a:ext>
                </a:extLst>
              </a:tr>
              <a:tr h="383866">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cs.DS</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795*</a:t>
                      </a:r>
                      <a:endParaRPr lang="en-US" sz="1400" dirty="0">
                        <a:latin typeface="IBM Plex Sans" charset="0"/>
                        <a:ea typeface="IBM Plex Sans" charset="0"/>
                        <a:cs typeface="IBM Plex Sans" charset="0"/>
                      </a:endParaRPr>
                    </a:p>
                  </a:txBody>
                  <a:tcPr marL="62230" marR="62230" marT="62230" marB="6223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767" y="4126954"/>
            <a:ext cx="4804315" cy="8789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 92% are "see / cf." pointers, many to lists of papers, so the real yield is lower.</a:t>
            </a:r>
            <a:endParaRPr lang="en-US" sz="1200" dirty="0"/>
          </a:p>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Improvement/Modification: about 9 per 10k everywhere, so the extension cannot fix it.</a:t>
            </a:r>
            <a:endParaRPr lang="en-US" sz="1200" dirty="0"/>
          </a:p>
        </p:txBody>
      </p:sp>
      <p:sp>
        <p:nvSpPr>
          <p:cNvPr id="6" name="Shape 3"/>
          <p:cNvSpPr/>
          <p:nvPr/>
        </p:nvSpPr>
        <p:spPr>
          <a:xfrm>
            <a:off x="5781918" y="1821111"/>
            <a:ext cx="5597316" cy="3159346"/>
          </a:xfrm>
          <a:prstGeom prst="roundRect">
            <a:avLst>
              <a:gd name="adj" fmla="val 3216"/>
            </a:avLst>
          </a:prstGeom>
          <a:solidFill>
            <a:srgbClr val="F7F6F2"/>
          </a:solidFill>
          <a:ln/>
        </p:spPr>
        <p:txBody>
          <a:bodyPr/>
          <a:lstStyle/>
          <a:p>
            <a:endParaRPr lang="es-ES_tradnl"/>
          </a:p>
        </p:txBody>
      </p:sp>
      <p:sp>
        <p:nvSpPr>
          <p:cNvPr id="7" name="Text 4"/>
          <p:cNvSpPr/>
          <p:nvPr/>
        </p:nvSpPr>
        <p:spPr>
          <a:xfrm>
            <a:off x="6010507" y="2049698"/>
            <a:ext cx="5294342" cy="26920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How we would do it</a:t>
            </a:r>
            <a:endParaRPr lang="en-US" sz="1600" dirty="0"/>
          </a:p>
        </p:txBody>
      </p:sp>
      <p:sp>
        <p:nvSpPr>
          <p:cNvPr id="8" name="Text 5"/>
          <p:cNvSpPr/>
          <p:nvPr/>
        </p:nvSpPr>
        <p:spPr>
          <a:xfrm>
            <a:off x="6081503" y="2382354"/>
            <a:ext cx="5215725" cy="1362538"/>
          </a:xfrm>
          <a:prstGeom prst="rect">
            <a:avLst/>
          </a:prstGeom>
          <a:noFill/>
          <a:ln/>
        </p:spPr>
        <p:txBody>
          <a:bodyPr wrap="square" lIns="0" tIns="0" rIns="0" bIns="0" rtlCol="0" anchor="t">
            <a:normAutofit/>
          </a:bodyPr>
          <a:lstStyle/>
          <a:p>
            <a:pPr marL="183003" indent="-183003" algn="l">
              <a:lnSpc>
                <a:spcPts val="1755"/>
              </a:lnSpc>
              <a:buSzPct val="100000"/>
              <a:buFontTx/>
              <a:buAutoNum type="arabicPeriod"/>
            </a:pPr>
            <a:r>
              <a:rPr lang="en-US" sz="1300" dirty="0">
                <a:solidFill>
                  <a:srgbClr val="14213D"/>
                </a:solidFill>
                <a:latin typeface="IBM Plex Sans" pitchFamily="34" charset="0"/>
                <a:ea typeface="IBM Plex Sans" pitchFamily="34" charset="-122"/>
                <a:cs typeface="IBM Plex Sans" pitchFamily="34" charset="-120"/>
              </a:rPr>
              <a:t>Contexts extracted for cs.LG, cs.CL, cs.DS by primary category (done)</a:t>
            </a:r>
            <a:endParaRPr lang="en-US" sz="1300" dirty="0"/>
          </a:p>
          <a:p>
            <a:pPr marL="183003" indent="-183003" algn="l">
              <a:lnSpc>
                <a:spcPts val="1755"/>
              </a:lnSpc>
              <a:buSzPct val="100000"/>
              <a:buFontTx/>
              <a:buAutoNum type="arabicPeriod"/>
            </a:pPr>
            <a:r>
              <a:rPr lang="en-US" sz="1300" dirty="0">
                <a:solidFill>
                  <a:srgbClr val="14213D"/>
                </a:solidFill>
                <a:latin typeface="IBM Plex Sans" pitchFamily="34" charset="0"/>
                <a:ea typeface="IBM Plex Sans" pitchFamily="34" charset="-122"/>
                <a:cs typeface="IBM Plex Sans" pitchFamily="34" charset="-120"/>
              </a:rPr>
              <a:t>Chunk, clean and language-check the new cited papers</a:t>
            </a:r>
            <a:endParaRPr lang="en-US" sz="1300" dirty="0"/>
          </a:p>
          <a:p>
            <a:pPr marL="183003" indent="-183003" algn="l">
              <a:lnSpc>
                <a:spcPts val="1755"/>
              </a:lnSpc>
              <a:buSzPct val="100000"/>
              <a:buFontTx/>
              <a:buAutoNum type="arabicPeriod"/>
            </a:pPr>
            <a:r>
              <a:rPr lang="en-US" sz="1300" dirty="0">
                <a:solidFill>
                  <a:srgbClr val="14213D"/>
                </a:solidFill>
                <a:latin typeface="IBM Plex Sans" pitchFamily="34" charset="0"/>
                <a:ea typeface="IBM Plex Sans" pitchFamily="34" charset="-122"/>
                <a:cs typeface="IBM Plex Sans" pitchFamily="34" charset="-120"/>
              </a:rPr>
              <a:t>SciBERT embeddings and A1 Top-3, related-work filter on</a:t>
            </a:r>
            <a:endParaRPr lang="en-US" sz="1300" dirty="0"/>
          </a:p>
          <a:p>
            <a:pPr marL="183003" indent="-183003" algn="l">
              <a:lnSpc>
                <a:spcPts val="1755"/>
              </a:lnSpc>
              <a:buSzPct val="100000"/>
              <a:buFontTx/>
              <a:buAutoNum type="arabicPeriod"/>
            </a:pPr>
            <a:r>
              <a:rPr lang="en-US" sz="1300" dirty="0">
                <a:solidFill>
                  <a:srgbClr val="14213D"/>
                </a:solidFill>
                <a:latin typeface="IBM Plex Sans" pitchFamily="34" charset="0"/>
                <a:ea typeface="IBM Plex Sans" pitchFamily="34" charset="-122"/>
                <a:cs typeface="IBM Plex Sans" pitchFamily="34" charset="-120"/>
              </a:rPr>
              <a:t>Cue scan → cue batches → the frozen trio and prompt</a:t>
            </a:r>
            <a:endParaRPr lang="en-US" sz="1300" dirty="0"/>
          </a:p>
          <a:p>
            <a:pPr marL="183003" indent="-183003" algn="l">
              <a:lnSpc>
                <a:spcPts val="1755"/>
              </a:lnSpc>
              <a:buSzPct val="100000"/>
              <a:buFontTx/>
              <a:buAutoNum type="arabicPeriod"/>
            </a:pPr>
            <a:r>
              <a:rPr lang="en-US" sz="1300" dirty="0">
                <a:solidFill>
                  <a:srgbClr val="14213D"/>
                </a:solidFill>
                <a:latin typeface="IBM Plex Sans" pitchFamily="34" charset="0"/>
                <a:ea typeface="IBM Plex Sans" pitchFamily="34" charset="-122"/>
                <a:cs typeface="IBM Plex Sans" pitchFamily="34" charset="-120"/>
              </a:rPr>
              <a:t>Same licensing route: rebuilt from unarXive locators</a:t>
            </a:r>
            <a:endParaRPr lang="en-US" sz="1300" dirty="0"/>
          </a:p>
        </p:txBody>
      </p:sp>
      <p:sp>
        <p:nvSpPr>
          <p:cNvPr id="9" name="Text 6"/>
          <p:cNvSpPr/>
          <p:nvPr/>
        </p:nvSpPr>
        <p:spPr>
          <a:xfrm>
            <a:off x="6010507" y="3808350"/>
            <a:ext cx="5294342" cy="48764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3621A"/>
                </a:solidFill>
                <a:latin typeface="IBM Plex Sans" pitchFamily="34" charset="0"/>
                <a:ea typeface="IBM Plex Sans" pitchFamily="34" charset="-122"/>
                <a:cs typeface="IBM Plex Sans" pitchFamily="34" charset="-120"/>
              </a:rPr>
              <a:t>When:</a:t>
            </a:r>
            <a:r>
              <a:rPr lang="en-US" sz="1300" dirty="0">
                <a:solidFill>
                  <a:srgbClr val="B3621A"/>
                </a:solidFill>
                <a:latin typeface="IBM Plex Sans" pitchFamily="34" charset="0"/>
                <a:ea typeface="IBM Plex Sans" pitchFamily="34" charset="-122"/>
                <a:cs typeface="IBM Plex Sans" pitchFamily="34" charset="-120"/>
              </a:rPr>
              <a:t> after the pool re-judge, only if Further Reading is still short. Proposed order: cs.LG, then cs.DS; cs.CL is not worth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7" y="812769"/>
            <a:ext cx="10883461" cy="256525"/>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2F6FB0"/>
                </a:solidFill>
                <a:latin typeface="IBM Plex Sans" pitchFamily="34" charset="0"/>
                <a:ea typeface="IBM Plex Sans" pitchFamily="34" charset="-122"/>
                <a:cs typeface="IBM Plex Sans" pitchFamily="34" charset="-120"/>
              </a:rPr>
              <a:t>NEXT STEPS</a:t>
            </a:r>
            <a:endParaRPr lang="en-US" sz="1300" dirty="0"/>
          </a:p>
        </p:txBody>
      </p:sp>
      <p:sp>
        <p:nvSpPr>
          <p:cNvPr id="3" name="Text 1"/>
          <p:cNvSpPr>
            <a:spLocks noGrp="1"/>
          </p:cNvSpPr>
          <p:nvPr>
            <p:ph type="title"/>
          </p:nvPr>
        </p:nvSpPr>
        <p:spPr>
          <a:xfrm>
            <a:off x="812767" y="1120074"/>
            <a:ext cx="10883461" cy="47243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ource Serif 4" pitchFamily="18" charset="0"/>
                <a:ea typeface="Source Serif 4" pitchFamily="18" charset="-122"/>
                <a:cs typeface="Source Serif 4" pitchFamily="18" charset="-120"/>
              </a:rPr>
              <a:t>Rules, then freeze, then re-judge</a:t>
            </a:r>
            <a:endParaRPr lang="en-US" sz="3200" dirty="0"/>
          </a:p>
        </p:txBody>
      </p:sp>
      <p:sp>
        <p:nvSpPr>
          <p:cNvPr id="4" name="Text 2"/>
          <p:cNvSpPr/>
          <p:nvPr/>
        </p:nvSpPr>
        <p:spPr>
          <a:xfrm>
            <a:off x="812767" y="1770286"/>
            <a:ext cx="507978" cy="304811"/>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2F6FB0"/>
                </a:solidFill>
                <a:latin typeface="Source Serif 4" pitchFamily="18" charset="0"/>
                <a:ea typeface="Source Serif 4" pitchFamily="18" charset="-122"/>
                <a:cs typeface="Source Serif 4" pitchFamily="18" charset="-120"/>
              </a:rPr>
              <a:t>1</a:t>
            </a:r>
            <a:endParaRPr lang="en-US" sz="2200" dirty="0"/>
          </a:p>
        </p:txBody>
      </p:sp>
      <p:sp>
        <p:nvSpPr>
          <p:cNvPr id="5" name="Text 3"/>
          <p:cNvSpPr/>
          <p:nvPr/>
        </p:nvSpPr>
        <p:spPr>
          <a:xfrm>
            <a:off x="1422301" y="1770286"/>
            <a:ext cx="10255641" cy="24825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4213D"/>
                </a:solidFill>
                <a:latin typeface="IBM Plex Sans" pitchFamily="34" charset="0"/>
                <a:ea typeface="IBM Plex Sans" pitchFamily="34" charset="-122"/>
                <a:cs typeface="IBM Plex Sans" pitchFamily="34" charset="-120"/>
              </a:rPr>
              <a:t>Adjudicate.</a:t>
            </a:r>
            <a:r>
              <a:rPr lang="en-US" sz="1300" dirty="0">
                <a:solidFill>
                  <a:srgbClr val="14213D"/>
                </a:solidFill>
                <a:latin typeface="IBM Plex Sans" pitchFamily="34" charset="0"/>
                <a:ea typeface="IBM Plex Sans" pitchFamily="34" charset="-122"/>
                <a:cs typeface="IBM Plex Sans" pitchFamily="34" charset="-120"/>
              </a:rPr>
              <a:t> Teams fill the sheet boundary by boundary and agree the rules with group 8 (guide rev2).</a:t>
            </a:r>
            <a:endParaRPr lang="en-US" sz="1300" dirty="0"/>
          </a:p>
        </p:txBody>
      </p:sp>
      <p:sp>
        <p:nvSpPr>
          <p:cNvPr id="6" name="Text 4"/>
          <p:cNvSpPr/>
          <p:nvPr/>
        </p:nvSpPr>
        <p:spPr>
          <a:xfrm>
            <a:off x="812767" y="2151286"/>
            <a:ext cx="507978" cy="304811"/>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2F6FB0"/>
                </a:solidFill>
                <a:latin typeface="Source Serif 4" pitchFamily="18" charset="0"/>
                <a:ea typeface="Source Serif 4" pitchFamily="18" charset="-122"/>
                <a:cs typeface="Source Serif 4" pitchFamily="18" charset="-120"/>
              </a:rPr>
              <a:t>2</a:t>
            </a:r>
            <a:endParaRPr lang="en-US" sz="2200" dirty="0"/>
          </a:p>
        </p:txBody>
      </p:sp>
      <p:sp>
        <p:nvSpPr>
          <p:cNvPr id="7" name="Text 5"/>
          <p:cNvSpPr/>
          <p:nvPr/>
        </p:nvSpPr>
        <p:spPr>
          <a:xfrm>
            <a:off x="1422301" y="2151286"/>
            <a:ext cx="10255641" cy="471113"/>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4213D"/>
                </a:solidFill>
                <a:latin typeface="IBM Plex Sans" pitchFamily="34" charset="0"/>
                <a:ea typeface="IBM Plex Sans" pitchFamily="34" charset="-122"/>
                <a:cs typeface="IBM Plex Sans" pitchFamily="34" charset="-120"/>
              </a:rPr>
              <a:t>Prompt v11</a:t>
            </a:r>
            <a:r>
              <a:rPr lang="en-US" sz="1300" dirty="0">
                <a:solidFill>
                  <a:srgbClr val="14213D"/>
                </a:solidFill>
                <a:latin typeface="IBM Plex Sans" pitchFamily="34" charset="0"/>
                <a:ea typeface="IBM Plex Sans" pitchFamily="34" charset="-122"/>
                <a:cs typeface="IBM Plex Sans" pitchFamily="34" charset="-120"/>
              </a:rPr>
              <a:t> = current prompt + adopted rules + "Gap is the work that has the limitation". Test on eval60 and the Gap sample; keep it only if Gap improves and nothing else drops by more than 2 cases.</a:t>
            </a:r>
            <a:endParaRPr lang="en-US" sz="1300" dirty="0"/>
          </a:p>
        </p:txBody>
      </p:sp>
      <p:sp>
        <p:nvSpPr>
          <p:cNvPr id="8" name="Text 6"/>
          <p:cNvSpPr/>
          <p:nvPr/>
        </p:nvSpPr>
        <p:spPr>
          <a:xfrm>
            <a:off x="812767" y="2698589"/>
            <a:ext cx="507978" cy="304811"/>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2F6FB0"/>
                </a:solidFill>
                <a:latin typeface="Source Serif 4" pitchFamily="18" charset="0"/>
                <a:ea typeface="Source Serif 4" pitchFamily="18" charset="-122"/>
                <a:cs typeface="Source Serif 4" pitchFamily="18" charset="-120"/>
              </a:rPr>
              <a:t>3</a:t>
            </a:r>
            <a:endParaRPr lang="en-US" sz="2200" dirty="0"/>
          </a:p>
        </p:txBody>
      </p:sp>
      <p:sp>
        <p:nvSpPr>
          <p:cNvPr id="9" name="Text 7"/>
          <p:cNvSpPr/>
          <p:nvPr/>
        </p:nvSpPr>
        <p:spPr>
          <a:xfrm>
            <a:off x="1422301" y="2698589"/>
            <a:ext cx="10255641" cy="24825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4213D"/>
                </a:solidFill>
                <a:latin typeface="IBM Plex Sans" pitchFamily="34" charset="0"/>
                <a:ea typeface="IBM Plex Sans" pitchFamily="34" charset="-122"/>
                <a:cs typeface="IBM Plex Sans" pitchFamily="34" charset="-120"/>
              </a:rPr>
              <a:t>Freeze</a:t>
            </a:r>
            <a:r>
              <a:rPr lang="en-US" sz="1300" dirty="0">
                <a:solidFill>
                  <a:srgbClr val="14213D"/>
                </a:solidFill>
                <a:latin typeface="IBM Plex Sans" pitchFamily="34" charset="0"/>
                <a:ea typeface="IBM Plex Sans" pitchFamily="34" charset="-122"/>
                <a:cs typeface="IBM Plex Sans" pitchFamily="34" charset="-120"/>
              </a:rPr>
              <a:t> prompt, trio, library versions and passages in the contract; </a:t>
            </a:r>
            <a:endParaRPr lang="en-US" sz="1300" dirty="0"/>
          </a:p>
        </p:txBody>
      </p:sp>
      <p:sp>
        <p:nvSpPr>
          <p:cNvPr id="10" name="Text 8"/>
          <p:cNvSpPr/>
          <p:nvPr/>
        </p:nvSpPr>
        <p:spPr>
          <a:xfrm>
            <a:off x="812767" y="3079589"/>
            <a:ext cx="507978" cy="304811"/>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2F6FB0"/>
                </a:solidFill>
                <a:latin typeface="Source Serif 4" pitchFamily="18" charset="0"/>
                <a:ea typeface="Source Serif 4" pitchFamily="18" charset="-122"/>
                <a:cs typeface="Source Serif 4" pitchFamily="18" charset="-120"/>
              </a:rPr>
              <a:t>4</a:t>
            </a:r>
            <a:endParaRPr lang="en-US" sz="2200" dirty="0"/>
          </a:p>
        </p:txBody>
      </p:sp>
      <p:sp>
        <p:nvSpPr>
          <p:cNvPr id="11" name="Text 9"/>
          <p:cNvSpPr/>
          <p:nvPr/>
        </p:nvSpPr>
        <p:spPr>
          <a:xfrm>
            <a:off x="1422301" y="3079589"/>
            <a:ext cx="10255641" cy="24825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4213D"/>
                </a:solidFill>
                <a:latin typeface="IBM Plex Sans" pitchFamily="34" charset="0"/>
                <a:ea typeface="IBM Plex Sans" pitchFamily="34" charset="-122"/>
                <a:cs typeface="IBM Plex Sans" pitchFamily="34" charset="-120"/>
              </a:rPr>
              <a:t>Re-judge the pool</a:t>
            </a:r>
            <a:r>
              <a:rPr lang="en-US" sz="1300" dirty="0">
                <a:solidFill>
                  <a:srgbClr val="14213D"/>
                </a:solidFill>
                <a:latin typeface="IBM Plex Sans" pitchFamily="34" charset="0"/>
                <a:ea typeface="IBM Plex Sans" pitchFamily="34" charset="-122"/>
                <a:cs typeface="IBM Plex Sans" pitchFamily="34" charset="-120"/>
              </a:rPr>
              <a:t> (about 35,000 instances) with the frozen setup and recount every category.</a:t>
            </a:r>
            <a:endParaRPr lang="en-US" sz="1300" dirty="0"/>
          </a:p>
        </p:txBody>
      </p:sp>
      <p:sp>
        <p:nvSpPr>
          <p:cNvPr id="12" name="Text 10"/>
          <p:cNvSpPr/>
          <p:nvPr/>
        </p:nvSpPr>
        <p:spPr>
          <a:xfrm>
            <a:off x="812767" y="3460589"/>
            <a:ext cx="507978" cy="304811"/>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2F6FB0"/>
                </a:solidFill>
                <a:latin typeface="Source Serif 4" pitchFamily="18" charset="0"/>
                <a:ea typeface="Source Serif 4" pitchFamily="18" charset="-122"/>
                <a:cs typeface="Source Serif 4" pitchFamily="18" charset="-120"/>
              </a:rPr>
              <a:t>5</a:t>
            </a:r>
            <a:endParaRPr lang="en-US" sz="2200" dirty="0"/>
          </a:p>
        </p:txBody>
      </p:sp>
      <p:sp>
        <p:nvSpPr>
          <p:cNvPr id="13" name="Text 11"/>
          <p:cNvSpPr/>
          <p:nvPr/>
        </p:nvSpPr>
        <p:spPr>
          <a:xfrm>
            <a:off x="1422301" y="3460589"/>
            <a:ext cx="10255641" cy="24825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4213D"/>
                </a:solidFill>
                <a:latin typeface="IBM Plex Sans" pitchFamily="34" charset="0"/>
                <a:ea typeface="IBM Plex Sans" pitchFamily="34" charset="-122"/>
                <a:cs typeface="IBM Plex Sans" pitchFamily="34" charset="-120"/>
              </a:rPr>
              <a:t>Decide quotas</a:t>
            </a:r>
            <a:r>
              <a:rPr lang="en-US" sz="1300" dirty="0">
                <a:solidFill>
                  <a:srgbClr val="14213D"/>
                </a:solidFill>
                <a:latin typeface="IBM Plex Sans" pitchFamily="34" charset="0"/>
                <a:ea typeface="IBM Plex Sans" pitchFamily="34" charset="-122"/>
                <a:cs typeface="IBM Plex Sans" pitchFamily="34" charset="-120"/>
              </a:rPr>
              <a:t> for the short categories (corpus extension only if needed), then build the A3 test sets.</a:t>
            </a:r>
            <a:endParaRPr lang="en-US" sz="1300" dirty="0"/>
          </a:p>
        </p:txBody>
      </p:sp>
      <p:sp>
        <p:nvSpPr>
          <p:cNvPr id="14" name="Text 12"/>
          <p:cNvSpPr/>
          <p:nvPr/>
        </p:nvSpPr>
        <p:spPr>
          <a:xfrm>
            <a:off x="812767" y="3943176"/>
            <a:ext cx="10566467" cy="535836"/>
          </a:xfrm>
          <a:prstGeom prst="roundRect">
            <a:avLst>
              <a:gd name="adj" fmla="val 14221"/>
            </a:avLst>
          </a:prstGeom>
          <a:solidFill>
            <a:srgbClr val="FBEBDD"/>
          </a:solidFill>
          <a:ln/>
        </p:spPr>
        <p:txBody>
          <a:bodyPr wrap="square" lIns="180882" tIns="130082" rIns="0" bIns="104682"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Protocol for guide rev2:</a:t>
            </a:r>
            <a:r>
              <a:rPr lang="en-US" sz="1300" dirty="0">
                <a:solidFill>
                  <a:srgbClr val="14213D"/>
                </a:solidFill>
                <a:latin typeface="IBM Plex Sans" pitchFamily="34" charset="0"/>
                <a:ea typeface="IBM Plex Sans" pitchFamily="34" charset="-122"/>
                <a:cs typeface="IBM Plex Sans" pitchFamily="34" charset="-120"/>
              </a:rPr>
              <a:t> annotators see no citing-paper information, and declare any AI-tool use per instance (or don't use AI tools)</a:t>
            </a:r>
            <a:endParaRPr lang="en-US" sz="1300" dirty="0"/>
          </a:p>
        </p:txBody>
      </p:sp>
    </p:spTree>
  </p:cSld>
  <p:clrMapOvr>
    <a:masterClrMapping/>
  </p:clrMapOvr>
</p:sld>
</file>

<file path=ppt/theme/theme1.xml><?xml version="1.0" encoding="utf-8"?>
<a:theme xmlns:a="http://schemas.openxmlformats.org/drawingml/2006/main" name="eval60 Results Meeting">
  <a:themeElements>
    <a:clrScheme name="eval60 Results Meeting">
      <a:dk1>
        <a:srgbClr val="14213D"/>
      </a:dk1>
      <a:lt1>
        <a:srgbClr val="F7F6F2"/>
      </a:lt1>
      <a:dk2>
        <a:srgbClr val="4D566A"/>
      </a:dk2>
      <a:lt2>
        <a:srgbClr val="E0E1E0"/>
      </a:lt2>
      <a:accent1>
        <a:srgbClr val="2F6FB0"/>
      </a:accent1>
      <a:accent2>
        <a:srgbClr val="9CC3EC"/>
      </a:accent2>
      <a:accent3>
        <a:srgbClr val="B3621A"/>
      </a:accent3>
      <a:accent4>
        <a:srgbClr val="F0A35E"/>
      </a:accent4>
      <a:accent5>
        <a:srgbClr val="4A5568"/>
      </a:accent5>
      <a:accent6>
        <a:srgbClr val="C9D3E3"/>
      </a:accent6>
      <a:hlink>
        <a:srgbClr val="0563C1"/>
      </a:hlink>
      <a:folHlink>
        <a:srgbClr val="954F72"/>
      </a:folHlink>
    </a:clrScheme>
    <a:fontScheme name="eval60 Results Meet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3294</Words>
  <Application>Microsoft Macintosh PowerPoint</Application>
  <PresentationFormat>Widescreen</PresentationFormat>
  <Paragraphs>208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IBM Plex Sans</vt:lpstr>
      <vt:lpstr>Source Serif 4</vt:lpstr>
      <vt:lpstr>eval60 Results Meeting</vt:lpstr>
      <vt:lpstr>eval60: what the teams' labels told us</vt:lpstr>
      <vt:lpstr>From citations to pre-labels in five steps</vt:lpstr>
      <vt:lpstr>Scored cases, hard cases and Cohen's κ</vt:lpstr>
      <vt:lpstr>How the two teams compare on eval60</vt:lpstr>
      <vt:lpstr>The 19 disagreements fall on five boundaries</vt:lpstr>
      <vt:lpstr>Strong on most categories, blind to Gap</vt:lpstr>
      <vt:lpstr>What we tried, and what we keep</vt:lpstr>
      <vt:lpstr>Five candidate rules, one per boundary</vt:lpstr>
      <vt:lpstr>More arXiv categories would help Further Reading</vt:lpstr>
      <vt:lpstr>Rules, then freeze, then re-judge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eval60 Results Meeting</dc:title>
  <dc:subject/>
  <dc:creator/>
  <cp:lastModifiedBy>Alejandra Barbosa</cp:lastModifiedBy>
  <cp:revision>2</cp:revision>
  <dcterms:created xsi:type="dcterms:W3CDTF">2026-10-10T01:46:15Z</dcterms:created>
  <dcterms:modified xsi:type="dcterms:W3CDTF">2026-10-10T02:13:45Z</dcterms:modified>
</cp:coreProperties>
</file>