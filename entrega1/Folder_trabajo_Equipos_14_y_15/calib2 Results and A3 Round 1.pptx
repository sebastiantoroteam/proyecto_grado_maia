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embeddedFontLst>
    <p:embeddedFont>
      <p:font typeface="IBM Plex Sans"/>
      <p:regular r:id="rId19"/>
      <p:bold r:id="rId20"/>
      <p:italic r:id="rId21"/>
      <p:boldItalic r:id="rId22"/>
    </p:embeddedFont>
    <p:embeddedFont>
      <p:font typeface="Source Serif 4"/>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RigWE4XThSHZR9yp0soZpJKPC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84FDC9-25D0-4C6B-9016-B9FBCDE3210E}">
  <a:tblStyle styleId="{A084FDC9-25D0-4C6B-9016-B9FBCDE3210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SourceSerif4-bold.fntdata"/><Relationship Id="rId23" Type="http://schemas.openxmlformats.org/officeDocument/2006/relationships/font" Target="fonts/SourceSerif4-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erif4-boldItalic.fntdata"/><Relationship Id="rId25" Type="http://schemas.openxmlformats.org/officeDocument/2006/relationships/font" Target="fonts/SourceSerif4-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 close the second calibration with its results, turn them into a few working recommendations, and explain how round 1 is released in waves, including when the reserve is used. The last slide lists the next steps and the decisions still open.</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gate in the contract is Cohen’s kappa of at least 0.6 for every pair of annotators from different groups: 16 pairs. All 16 pass; the lowest is 0.71 and the mean 0.87. Fleiss’ kappa over the 8 annotators is 0.87. The calib30 figure of 0.47 came from a group session with an earlier version of the rules, so the two numbers are not directly comparable; the next slides explain why calib2 agreement is high. Time: five people logged minutes, between 30 and 76 for 27 items.</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Rows are group 14, columns group 15. These 16 cross-group pairs are the ones the contract counts, because every A3 package is annotated by one person from each group. The lowest column is the annotator who corrected the pre-label most often; lower agreement there reflects independent reading, not a problem. The three calibrations used different setups, so the trend is encouraging but not a like-for-like comparison: eval60 was blind, calib30 a group session, calib2 individual with the pre-label visible, exactly as A3 runs.</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pre-label had 3 items, so 24 answers. Background and Basis were corrected most, Comparison next; the other six were corrected at most once. The contract asks us to report kappa together with the correction rate, because both annotators see the same pre-label: a rate near zero in a category would mean confirmation rather than review. Two annotators corrected nothing in calib2; that is not wrong on 27 high-confidence items, but in A3 the rate is what tells us the review is real. The same rate, per set and category, decides the reserve release in round 1.</a:t>
            </a:r>
            <a:endParaRPr/>
          </a:p>
        </p:txBody>
      </p:sp>
      <p:sp>
        <p:nvSpPr>
          <p:cNvPr id="65" name="Google Shape;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only three items without a clear majority of 7 or 8, and they hold 11 of the 16 corrections: K04 gives Background 4 of its 5, K23 gives Basis 4 of its 5, and K13 all 3 of Comparison’s. The majority still matched the pre-label on all 27 items. All three fall on boundaries the guide already names. K04 split evenly between Background and Evidence: rule 10 asks what the citation supports. K23 spread across Basis, Improvement/Modification and Application: rules 3 and 5, build on versus adapt versus use. K13 drew two Background answers against five Comparison: rule 4, comparing versus grouping. Worth reopening these three items together in the debrief, with the rule text open. No item text appears on this slide, because the packages contain unarXive text that stays in the private Sheets.</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people logged their time for the 27 items: 30, 32, 45, 59 and 76 minutes, which is 1.1 to 2.8 minutes per package, median 1.7. Round 1 gives everyone 18 batches of 55, 990 packages, before any reserve: about 28 hours at the median pace, between 18 and 46 hours across the range. The contract assumed about a minute per package. calib2 was also the first time on the new Sheet layout, so A3 may well go faster; the minutes per batch will tell. Released reserve, if any, adds a little on top.</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the pre-label comes from at least two of three judges agreeing, so it is right most of the time, but the correction rate is how we show the review is real; Background and Basis were the most corrected in calib2. Two: the three disagreement items map to rules 10, 3 and 5, and 4; keep the instructions Sheet open next to the batch. Three: confidence was missing on some calib2 rows and three people logged no minutes; both feed the report. Four: the second annotation of every package must be independent of the first, so packages are not discussed until annotation closes; questions about the rules are fine, examples from your batch are not.</a:t>
            </a:r>
            <a:endParaRPr/>
          </a:p>
        </p:txBody>
      </p:sp>
      <p:sp>
        <p:nvSpPr>
          <p:cNvPr id="136" name="Google Shape;1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Round 1 covers the six categories with enough supply. Every citing paper is assigned to half A or half B from the published seed, so the two test sets share no papers. In each half and category we drew 360 packages at random: 330 are annotated now and 30 wait as reserve. Batches mix all six categories, nine or ten of each, and never hold two packages from the same citing paper. Batch names (L001 to L072) and package ids are shuffled across both sets, so neither reveals which set a batch belongs to. Basis, Improvement/Modification and Further Reading come in round 2.</a:t>
            </a:r>
            <a:endParaRPr/>
          </a:p>
        </p:txBody>
      </p:sp>
      <p:sp>
        <p:nvSpPr>
          <p:cNvPr id="160" name="Google Shape;16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Wave 1 is small on purpose: about 10% of each set, so we can measure the correction rate early. Everyone has one batch of each set in it. When wave 1 is complete, the check decides whether any reserve is needed; wave 2 is independent of that decision and carries the other 64 batches, 16 per person. If reserve is released, it comes as a separate wave R of extra batches, spread so nobody gets more than one batch beyond the others. Round 2 follows the same process for the three remaining categories once the pool has been extended and the quotas agreed with the director. Fill in the wave 2 date and the round-2 quota before sharing.</a:t>
            </a:r>
            <a:endParaRP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reserve exists so that each set keeps at least 300 instances per category after adjudication, because a package whose final label differs from its pre-label moves to another category. After wave 1 we compute, for each of the 12 set-and-category cells, the share of answers that changed the pre-label. Above 10%, that cell’s 30 reserve packages go into extra batches. We count answers rather than packages: if one annotator corrects and the other confirms, the package goes to adjudication and often keeps its category. The check also lists packages where either annotator corrected and where both did, so the team can see the decision before it is frozen.</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Nothing changes from calib2 except the size: 55 packages per batch instead of 27, and two batches per person in wave 1. The batch name is neutral on purpose, so nobody knows whether a batch is their own group’s test set or the other group’s. The main label is required on every row; confidence too. A note is required for unclear and recommended when you correct, naming the rule. Open the chunks only when the title and abstract are not enough, as in the guide. Log total minutes on the Resumen tab when you finish the batch.</a:t>
            </a:r>
            <a:endParaRPr/>
          </a:p>
        </p:txBody>
      </p:sp>
      <p:sp>
        <p:nvSpPr>
          <p:cNvPr id="236" name="Google Shape;23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director’s conditions: the full corpus may be used for training and testing as long as it is released as identifiers plus a reconstruction script, and each group meets its validation quota with its own samples. The exclusion list removes, for each group, every pool row whose citing paper is in its own test set. That is about 2,030 papers per group, roughly 10% of the 19,741 in the pool. Most of the rows lost are the test packages themselves; the extra cost is roughly 50 to 220 rows per covered category. Application is the lowest of the five covered categories at 2,833 for group 14. Originator ends near 1,300 per group and Basis, Improvement/Modification and Further Reading near 500, which is a supply problem for round 2, not an effect of the exclusion.</a:t>
            </a:r>
            <a:endParaRPr/>
          </a:p>
        </p:txBody>
      </p:sp>
      <p:sp>
        <p:nvSpPr>
          <p:cNvPr id="251" name="Google Shape;2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near-term steps are all about round 1: finish wave 1, run the reserve check, release wave 2, then close the round with the agreement report and adjudication. The open decisions are the ones still marked as pending in the contract. The metrics lead computes every agreement figure with one shared script so both groups report the same numbers. The adjudicating pair needs one person from each group, and not the sampling lead, who has access to every Sheet. Dates and the round-2 quotas need the director.</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5F0"/>
        </a:solidFill>
      </p:bgPr>
    </p:bg>
    <p:spTree>
      <p:nvGrpSpPr>
        <p:cNvPr id="12" name="Shape 12"/>
        <p:cNvGrpSpPr/>
        <p:nvPr/>
      </p:nvGrpSpPr>
      <p:grpSpPr>
        <a:xfrm>
          <a:off x="0" y="0"/>
          <a:ext cx="0" cy="0"/>
          <a:chOff x="0" y="0"/>
          <a:chExt cx="0" cy="0"/>
        </a:xfrm>
      </p:grpSpPr>
      <p:sp>
        <p:nvSpPr>
          <p:cNvPr id="13" name="Google Shape;13;p15"/>
          <p:cNvSpPr txBox="1"/>
          <p:nvPr>
            <p:ph type="title"/>
          </p:nvPr>
        </p:nvSpPr>
        <p:spPr>
          <a:xfrm>
            <a:off x="812800" y="1229320"/>
            <a:ext cx="10566400" cy="447014"/>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3A"/>
              </a:buClr>
              <a:buSzPts val="3200"/>
              <a:buFont typeface="Source Serif 4"/>
              <a:buNone/>
              <a:defRPr sz="3200">
                <a:solidFill>
                  <a:srgbClr val="1B2A3A"/>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5"/>
          <p:cNvSpPr txBox="1"/>
          <p:nvPr>
            <p:ph idx="1" type="body"/>
          </p:nvPr>
        </p:nvSpPr>
        <p:spPr>
          <a:xfrm>
            <a:off x="812800" y="1981134"/>
            <a:ext cx="10566400" cy="4064066"/>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3A"/>
              </a:buClr>
              <a:buSzPts val="1600"/>
              <a:buNone/>
              <a:defRPr sz="1600">
                <a:solidFill>
                  <a:srgbClr val="1B2A3A"/>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12800" y="1229320"/>
            <a:ext cx="10566400" cy="447014"/>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3A"/>
              </a:buClr>
              <a:buSzPts val="3200"/>
              <a:buFont typeface="Source Serif 4"/>
              <a:buNone/>
              <a:defRPr b="0" i="0" sz="3200" u="none" cap="none" strike="noStrike">
                <a:solidFill>
                  <a:srgbClr val="1B2A3A"/>
                </a:solidFill>
                <a:latin typeface="Source Serif 4"/>
                <a:ea typeface="Source Serif 4"/>
                <a:cs typeface="Source Serif 4"/>
                <a:sym typeface="Source Serif 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12800" y="1981134"/>
            <a:ext cx="10566400" cy="4064066"/>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3A"/>
              </a:buClr>
              <a:buSzPts val="1600"/>
              <a:buFont typeface="Arial"/>
              <a:buNone/>
              <a:defRPr b="0" i="0" sz="1600" u="none" cap="none" strike="noStrike">
                <a:solidFill>
                  <a:srgbClr val="1B2A3A"/>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3A"/>
        </a:solidFill>
      </p:bgPr>
    </p:bg>
    <p:spTree>
      <p:nvGrpSpPr>
        <p:cNvPr id="20" name="Shape 20"/>
        <p:cNvGrpSpPr/>
        <p:nvPr/>
      </p:nvGrpSpPr>
      <p:grpSpPr>
        <a:xfrm>
          <a:off x="0" y="0"/>
          <a:ext cx="0" cy="0"/>
          <a:chOff x="0" y="0"/>
          <a:chExt cx="0" cy="0"/>
        </a:xfrm>
      </p:grpSpPr>
      <p:sp>
        <p:nvSpPr>
          <p:cNvPr id="21" name="Google Shape;21;p1"/>
          <p:cNvSpPr/>
          <p:nvPr/>
        </p:nvSpPr>
        <p:spPr>
          <a:xfrm>
            <a:off x="812800" y="812800"/>
            <a:ext cx="10883392" cy="2743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A35E"/>
              </a:buClr>
              <a:buSzPts val="1400"/>
              <a:buFont typeface="IBM Plex Sans"/>
              <a:buNone/>
            </a:pPr>
            <a:r>
              <a:rPr b="1" i="0" lang="en-US" sz="1400" u="none" cap="none" strike="noStrike">
                <a:solidFill>
                  <a:srgbClr val="F0A35E"/>
                </a:solidFill>
                <a:latin typeface="IBM Plex Sans"/>
                <a:ea typeface="IBM Plex Sans"/>
                <a:cs typeface="IBM Plex Sans"/>
                <a:sym typeface="IBM Plex Sans"/>
              </a:rPr>
              <a:t>A3 · SECOND CALIBRATION · ROUND 1</a:t>
            </a:r>
            <a:endParaRPr b="0" i="0" sz="1400" u="none" cap="none" strike="noStrike">
              <a:solidFill>
                <a:schemeClr val="dk1"/>
              </a:solidFill>
              <a:latin typeface="IBM Plex Sans"/>
              <a:ea typeface="IBM Plex Sans"/>
              <a:cs typeface="IBM Plex Sans"/>
              <a:sym typeface="IBM Plex Sans"/>
            </a:endParaRPr>
          </a:p>
        </p:txBody>
      </p:sp>
      <p:sp>
        <p:nvSpPr>
          <p:cNvPr id="22" name="Google Shape;22;p1"/>
          <p:cNvSpPr txBox="1"/>
          <p:nvPr>
            <p:ph type="title"/>
          </p:nvPr>
        </p:nvSpPr>
        <p:spPr>
          <a:xfrm>
            <a:off x="812800" y="2268802"/>
            <a:ext cx="10883392" cy="1451769"/>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F7F5F0"/>
              </a:buClr>
              <a:buSzPts val="5200"/>
              <a:buFont typeface="Source Serif 4"/>
              <a:buNone/>
            </a:pPr>
            <a:r>
              <a:rPr b="1" i="0" lang="en-US" sz="5200">
                <a:solidFill>
                  <a:srgbClr val="F7F5F0"/>
                </a:solidFill>
                <a:latin typeface="Source Serif 4"/>
                <a:ea typeface="Source Serif 4"/>
                <a:cs typeface="Source Serif 4"/>
                <a:sym typeface="Source Serif 4"/>
              </a:rPr>
              <a:t>calib2 passed.</a:t>
            </a:r>
            <a:endParaRPr sz="5200"/>
          </a:p>
          <a:p>
            <a:pPr indent="0" lvl="0" marL="0" rtl="0" algn="l">
              <a:lnSpc>
                <a:spcPct val="108000"/>
              </a:lnSpc>
              <a:spcBef>
                <a:spcPts val="0"/>
              </a:spcBef>
              <a:spcAft>
                <a:spcPts val="0"/>
              </a:spcAft>
              <a:buClr>
                <a:srgbClr val="F7F5F0"/>
              </a:buClr>
              <a:buSzPts val="5200"/>
              <a:buFont typeface="Source Serif 4"/>
              <a:buNone/>
            </a:pPr>
            <a:r>
              <a:rPr b="1" i="0" lang="en-US" sz="5200">
                <a:solidFill>
                  <a:srgbClr val="F7F5F0"/>
                </a:solidFill>
                <a:latin typeface="Source Serif 4"/>
                <a:ea typeface="Source Serif 4"/>
                <a:cs typeface="Source Serif 4"/>
                <a:sym typeface="Source Serif 4"/>
              </a:rPr>
              <a:t>Round 1 starts now.</a:t>
            </a:r>
            <a:endParaRPr sz="5200"/>
          </a:p>
        </p:txBody>
      </p:sp>
      <p:sp>
        <p:nvSpPr>
          <p:cNvPr id="23" name="Google Shape;23;p1"/>
          <p:cNvSpPr/>
          <p:nvPr/>
        </p:nvSpPr>
        <p:spPr>
          <a:xfrm>
            <a:off x="812800" y="3949171"/>
            <a:ext cx="8502650" cy="6654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800"/>
              <a:buFont typeface="IBM Plex Sans"/>
              <a:buNone/>
            </a:pPr>
            <a:r>
              <a:rPr b="0" i="0" lang="en-US" sz="1800" u="none" cap="none" strike="noStrike">
                <a:solidFill>
                  <a:srgbClr val="C9D3DC"/>
                </a:solidFill>
                <a:latin typeface="IBM Plex Sans"/>
                <a:ea typeface="IBM Plex Sans"/>
                <a:cs typeface="IBM Plex Sans"/>
                <a:sym typeface="IBM Plex Sans"/>
              </a:rPr>
              <a:t>What the second calibration showed, what to watch in the A3 batches, and how the waves and the reserve are released from here.</a:t>
            </a:r>
            <a:endParaRPr b="0" i="0" sz="1800" u="none" cap="none" strike="noStrike">
              <a:solidFill>
                <a:schemeClr val="dk1"/>
              </a:solidFill>
              <a:latin typeface="IBM Plex Sans"/>
              <a:ea typeface="IBM Plex Sans"/>
              <a:cs typeface="IBM Plex Sans"/>
              <a:sym typeface="IBM Plex Sans"/>
            </a:endParaRPr>
          </a:p>
        </p:txBody>
      </p:sp>
      <p:sp>
        <p:nvSpPr>
          <p:cNvPr id="24" name="Google Shape;24;p1"/>
          <p:cNvSpPr/>
          <p:nvPr/>
        </p:nvSpPr>
        <p:spPr>
          <a:xfrm>
            <a:off x="812800" y="5796293"/>
            <a:ext cx="10883392" cy="2743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400"/>
              <a:buFont typeface="IBM Plex Sans"/>
              <a:buNone/>
            </a:pPr>
            <a:r>
              <a:rPr b="0" i="0" lang="en-US" sz="1400" u="none" cap="none" strike="noStrike">
                <a:solidFill>
                  <a:srgbClr val="C9D3DC"/>
                </a:solidFill>
                <a:latin typeface="IBM Plex Sans"/>
                <a:ea typeface="IBM Plex Sans"/>
                <a:cs typeface="IBM Plex Sans"/>
                <a:sym typeface="IBM Plex Sans"/>
              </a:rPr>
              <a:t>Groups 14 and 15 · extended team · 18 October 2026</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3A"/>
        </a:solidFill>
      </p:bgPr>
    </p:bg>
    <p:spTree>
      <p:nvGrpSpPr>
        <p:cNvPr id="29" name="Shape 29"/>
        <p:cNvGrpSpPr/>
        <p:nvPr/>
      </p:nvGrpSpPr>
      <p:grpSpPr>
        <a:xfrm>
          <a:off x="0" y="0"/>
          <a:ext cx="0" cy="0"/>
          <a:chOff x="0" y="0"/>
          <a:chExt cx="0" cy="0"/>
        </a:xfrm>
      </p:grpSpPr>
      <p:sp>
        <p:nvSpPr>
          <p:cNvPr id="30" name="Google Shape;30;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A35E"/>
              </a:buClr>
              <a:buSzPts val="1200"/>
              <a:buFont typeface="IBM Plex Sans"/>
              <a:buNone/>
            </a:pPr>
            <a:r>
              <a:rPr b="1" i="0" lang="en-US" sz="1200" u="none" cap="none" strike="noStrike">
                <a:solidFill>
                  <a:srgbClr val="F0A35E"/>
                </a:solidFill>
                <a:latin typeface="IBM Plex Sans"/>
                <a:ea typeface="IBM Plex Sans"/>
                <a:cs typeface="IBM Plex Sans"/>
                <a:sym typeface="IBM Plex Sans"/>
              </a:rPr>
              <a:t>CALIB2 · IN THREE NUMBERS</a:t>
            </a:r>
            <a:endParaRPr b="0" i="0" sz="1200" u="none" cap="none" strike="noStrike">
              <a:solidFill>
                <a:schemeClr val="dk1"/>
              </a:solidFill>
              <a:latin typeface="IBM Plex Sans"/>
              <a:ea typeface="IBM Plex Sans"/>
              <a:cs typeface="IBM Plex Sans"/>
              <a:sym typeface="IBM Plex Sans"/>
            </a:endParaRPr>
          </a:p>
        </p:txBody>
      </p:sp>
      <p:sp>
        <p:nvSpPr>
          <p:cNvPr id="31" name="Google Shape;31;p2"/>
          <p:cNvSpPr txBox="1"/>
          <p:nvPr>
            <p:ph type="title"/>
          </p:nvPr>
        </p:nvSpPr>
        <p:spPr>
          <a:xfrm>
            <a:off x="812800" y="13309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7F5F0"/>
              </a:buClr>
              <a:buSzPts val="3200"/>
              <a:buFont typeface="Source Serif 4"/>
              <a:buNone/>
            </a:pPr>
            <a:r>
              <a:rPr b="1" i="0" lang="en-US" sz="3200">
                <a:solidFill>
                  <a:srgbClr val="F7F5F0"/>
                </a:solidFill>
                <a:latin typeface="Source Serif 4"/>
                <a:ea typeface="Source Serif 4"/>
                <a:cs typeface="Source Serif 4"/>
                <a:sym typeface="Source Serif 4"/>
              </a:rPr>
              <a:t>Every cross-group pair cleared the gate</a:t>
            </a:r>
            <a:endParaRPr sz="3200"/>
          </a:p>
        </p:txBody>
      </p:sp>
      <p:sp>
        <p:nvSpPr>
          <p:cNvPr id="32" name="Google Shape;32;p2"/>
          <p:cNvSpPr/>
          <p:nvPr/>
        </p:nvSpPr>
        <p:spPr>
          <a:xfrm>
            <a:off x="812800" y="2082734"/>
            <a:ext cx="3386667" cy="2082734"/>
          </a:xfrm>
          <a:prstGeom prst="roundRect">
            <a:avLst>
              <a:gd fmla="val 4878" name="adj"/>
            </a:avLst>
          </a:prstGeom>
          <a:solidFill>
            <a:srgbClr val="243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066800" y="2336734"/>
            <a:ext cx="296502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0A35E"/>
              </a:buClr>
              <a:buSzPts val="4800"/>
              <a:buFont typeface="Source Serif 4"/>
              <a:buNone/>
            </a:pPr>
            <a:r>
              <a:rPr b="1" i="0" lang="en-US" sz="4800" u="none" cap="none" strike="noStrike">
                <a:solidFill>
                  <a:srgbClr val="F0A35E"/>
                </a:solidFill>
                <a:latin typeface="Source Serif 4"/>
                <a:ea typeface="Source Serif 4"/>
                <a:cs typeface="Source Serif 4"/>
                <a:sym typeface="Source Serif 4"/>
              </a:rPr>
              <a:t>16 / 16</a:t>
            </a:r>
            <a:endParaRPr b="0" i="0" sz="4800" u="none" cap="none" strike="noStrike">
              <a:solidFill>
                <a:schemeClr val="dk1"/>
              </a:solidFill>
              <a:latin typeface="IBM Plex Sans"/>
              <a:ea typeface="IBM Plex Sans"/>
              <a:cs typeface="IBM Plex Sans"/>
              <a:sym typeface="IBM Plex Sans"/>
            </a:endParaRPr>
          </a:p>
        </p:txBody>
      </p:sp>
      <p:sp>
        <p:nvSpPr>
          <p:cNvPr id="34" name="Google Shape;34;p2"/>
          <p:cNvSpPr/>
          <p:nvPr/>
        </p:nvSpPr>
        <p:spPr>
          <a:xfrm>
            <a:off x="1066800" y="3047934"/>
            <a:ext cx="2965027" cy="574014"/>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7F5F0"/>
              </a:buClr>
              <a:buSzPts val="1600"/>
              <a:buFont typeface="IBM Plex Sans"/>
              <a:buNone/>
            </a:pPr>
            <a:r>
              <a:rPr b="0" i="0" lang="en-US" sz="1600" u="none" cap="none" strike="noStrike">
                <a:solidFill>
                  <a:srgbClr val="F7F5F0"/>
                </a:solidFill>
                <a:latin typeface="IBM Plex Sans"/>
                <a:ea typeface="IBM Plex Sans"/>
                <a:cs typeface="IBM Plex Sans"/>
                <a:sym typeface="IBM Plex Sans"/>
              </a:rPr>
              <a:t>cross-group pairs at Cohen’s κ ≥ 0.6</a:t>
            </a:r>
            <a:endParaRPr b="0" i="0" sz="1600" u="none" cap="none" strike="noStrike">
              <a:solidFill>
                <a:schemeClr val="dk1"/>
              </a:solidFill>
              <a:latin typeface="IBM Plex Sans"/>
              <a:ea typeface="IBM Plex Sans"/>
              <a:cs typeface="IBM Plex Sans"/>
              <a:sym typeface="IBM Plex Sans"/>
            </a:endParaRPr>
          </a:p>
        </p:txBody>
      </p:sp>
      <p:sp>
        <p:nvSpPr>
          <p:cNvPr id="35" name="Google Shape;35;p2"/>
          <p:cNvSpPr/>
          <p:nvPr/>
        </p:nvSpPr>
        <p:spPr>
          <a:xfrm>
            <a:off x="1066800" y="3698148"/>
            <a:ext cx="296502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200"/>
              <a:buFont typeface="IBM Plex Sans"/>
              <a:buNone/>
            </a:pPr>
            <a:r>
              <a:rPr b="0" i="0" lang="en-US" sz="1200" u="none" cap="none" strike="noStrike">
                <a:solidFill>
                  <a:srgbClr val="C9D3DC"/>
                </a:solidFill>
                <a:latin typeface="IBM Plex Sans"/>
                <a:ea typeface="IBM Plex Sans"/>
                <a:cs typeface="IBM Plex Sans"/>
                <a:sym typeface="IBM Plex Sans"/>
              </a:rPr>
              <a:t>Lowest pair 0.71, mean 0.87</a:t>
            </a:r>
            <a:endParaRPr b="0" i="0" sz="1200" u="none" cap="none" strike="noStrike">
              <a:solidFill>
                <a:schemeClr val="dk1"/>
              </a:solidFill>
              <a:latin typeface="IBM Plex Sans"/>
              <a:ea typeface="IBM Plex Sans"/>
              <a:cs typeface="IBM Plex Sans"/>
              <a:sym typeface="IBM Plex Sans"/>
            </a:endParaRPr>
          </a:p>
        </p:txBody>
      </p:sp>
      <p:sp>
        <p:nvSpPr>
          <p:cNvPr id="36" name="Google Shape;36;p2"/>
          <p:cNvSpPr/>
          <p:nvPr/>
        </p:nvSpPr>
        <p:spPr>
          <a:xfrm>
            <a:off x="4402667" y="2082734"/>
            <a:ext cx="3386667" cy="2082734"/>
          </a:xfrm>
          <a:prstGeom prst="roundRect">
            <a:avLst>
              <a:gd fmla="val 4878" name="adj"/>
            </a:avLst>
          </a:prstGeom>
          <a:solidFill>
            <a:srgbClr val="243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656667" y="2336734"/>
            <a:ext cx="296502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0A35E"/>
              </a:buClr>
              <a:buSzPts val="4800"/>
              <a:buFont typeface="Source Serif 4"/>
              <a:buNone/>
            </a:pPr>
            <a:r>
              <a:rPr b="1" i="0" lang="en-US" sz="4800" u="none" cap="none" strike="noStrike">
                <a:solidFill>
                  <a:srgbClr val="F0A35E"/>
                </a:solidFill>
                <a:latin typeface="Source Serif 4"/>
                <a:ea typeface="Source Serif 4"/>
                <a:cs typeface="Source Serif 4"/>
                <a:sym typeface="Source Serif 4"/>
              </a:rPr>
              <a:t>0.87</a:t>
            </a:r>
            <a:endParaRPr b="0" i="0" sz="4800" u="none" cap="none" strike="noStrike">
              <a:solidFill>
                <a:schemeClr val="dk1"/>
              </a:solidFill>
              <a:latin typeface="IBM Plex Sans"/>
              <a:ea typeface="IBM Plex Sans"/>
              <a:cs typeface="IBM Plex Sans"/>
              <a:sym typeface="IBM Plex Sans"/>
            </a:endParaRPr>
          </a:p>
        </p:txBody>
      </p:sp>
      <p:sp>
        <p:nvSpPr>
          <p:cNvPr id="38" name="Google Shape;38;p2"/>
          <p:cNvSpPr/>
          <p:nvPr/>
        </p:nvSpPr>
        <p:spPr>
          <a:xfrm>
            <a:off x="4656667" y="3047934"/>
            <a:ext cx="2965027" cy="574014"/>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7F5F0"/>
              </a:buClr>
              <a:buSzPts val="1600"/>
              <a:buFont typeface="IBM Plex Sans"/>
              <a:buNone/>
            </a:pPr>
            <a:r>
              <a:rPr b="0" i="0" lang="en-US" sz="1600" u="none" cap="none" strike="noStrike">
                <a:solidFill>
                  <a:srgbClr val="F7F5F0"/>
                </a:solidFill>
                <a:latin typeface="IBM Plex Sans"/>
                <a:ea typeface="IBM Plex Sans"/>
                <a:cs typeface="IBM Plex Sans"/>
                <a:sym typeface="IBM Plex Sans"/>
              </a:rPr>
              <a:t>Fleiss’ κ, all 8 annotators, 27 items</a:t>
            </a:r>
            <a:endParaRPr b="0" i="0" sz="1600" u="none" cap="none" strike="noStrike">
              <a:solidFill>
                <a:schemeClr val="dk1"/>
              </a:solidFill>
              <a:latin typeface="IBM Plex Sans"/>
              <a:ea typeface="IBM Plex Sans"/>
              <a:cs typeface="IBM Plex Sans"/>
              <a:sym typeface="IBM Plex Sans"/>
            </a:endParaRPr>
          </a:p>
        </p:txBody>
      </p:sp>
      <p:sp>
        <p:nvSpPr>
          <p:cNvPr id="39" name="Google Shape;39;p2"/>
          <p:cNvSpPr/>
          <p:nvPr/>
        </p:nvSpPr>
        <p:spPr>
          <a:xfrm>
            <a:off x="4656667" y="3698148"/>
            <a:ext cx="296502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200"/>
              <a:buFont typeface="IBM Plex Sans"/>
              <a:buNone/>
            </a:pPr>
            <a:r>
              <a:rPr b="0" i="0" lang="en-US" sz="1200" u="none" cap="none" strike="noStrike">
                <a:solidFill>
                  <a:srgbClr val="C9D3DC"/>
                </a:solidFill>
                <a:latin typeface="IBM Plex Sans"/>
                <a:ea typeface="IBM Plex Sans"/>
                <a:cs typeface="IBM Plex Sans"/>
                <a:sym typeface="IBM Plex Sans"/>
              </a:rPr>
              <a:t>calib30 was 0.47, in a different setup</a:t>
            </a:r>
            <a:endParaRPr b="0" i="0" sz="1200" u="none" cap="none" strike="noStrike">
              <a:solidFill>
                <a:schemeClr val="dk1"/>
              </a:solidFill>
              <a:latin typeface="IBM Plex Sans"/>
              <a:ea typeface="IBM Plex Sans"/>
              <a:cs typeface="IBM Plex Sans"/>
              <a:sym typeface="IBM Plex Sans"/>
            </a:endParaRPr>
          </a:p>
        </p:txBody>
      </p:sp>
      <p:sp>
        <p:nvSpPr>
          <p:cNvPr id="40" name="Google Shape;40;p2"/>
          <p:cNvSpPr/>
          <p:nvPr/>
        </p:nvSpPr>
        <p:spPr>
          <a:xfrm>
            <a:off x="7992534" y="2082734"/>
            <a:ext cx="3386667" cy="2082734"/>
          </a:xfrm>
          <a:prstGeom prst="roundRect">
            <a:avLst>
              <a:gd fmla="val 4878" name="adj"/>
            </a:avLst>
          </a:prstGeom>
          <a:solidFill>
            <a:srgbClr val="243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246534" y="2336734"/>
            <a:ext cx="296502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0A35E"/>
              </a:buClr>
              <a:buSzPts val="4800"/>
              <a:buFont typeface="Source Serif 4"/>
              <a:buNone/>
            </a:pPr>
            <a:r>
              <a:rPr b="1" i="0" lang="en-US" sz="4800" u="none" cap="none" strike="noStrike">
                <a:solidFill>
                  <a:srgbClr val="F0A35E"/>
                </a:solidFill>
                <a:latin typeface="Source Serif 4"/>
                <a:ea typeface="Source Serif 4"/>
                <a:cs typeface="Source Serif 4"/>
                <a:sym typeface="Source Serif 4"/>
              </a:rPr>
              <a:t>1.7 min</a:t>
            </a:r>
            <a:endParaRPr b="0" i="0" sz="4800" u="none" cap="none" strike="noStrike">
              <a:solidFill>
                <a:schemeClr val="dk1"/>
              </a:solidFill>
              <a:latin typeface="IBM Plex Sans"/>
              <a:ea typeface="IBM Plex Sans"/>
              <a:cs typeface="IBM Plex Sans"/>
              <a:sym typeface="IBM Plex Sans"/>
            </a:endParaRPr>
          </a:p>
        </p:txBody>
      </p:sp>
      <p:sp>
        <p:nvSpPr>
          <p:cNvPr id="42" name="Google Shape;42;p2"/>
          <p:cNvSpPr/>
          <p:nvPr/>
        </p:nvSpPr>
        <p:spPr>
          <a:xfrm>
            <a:off x="8246534" y="3047934"/>
            <a:ext cx="2965027" cy="574014"/>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7F5F0"/>
              </a:buClr>
              <a:buSzPts val="1600"/>
              <a:buFont typeface="IBM Plex Sans"/>
              <a:buNone/>
            </a:pPr>
            <a:r>
              <a:rPr b="0" i="0" lang="en-US" sz="1600" u="none" cap="none" strike="noStrike">
                <a:solidFill>
                  <a:srgbClr val="F7F5F0"/>
                </a:solidFill>
                <a:latin typeface="IBM Plex Sans"/>
                <a:ea typeface="IBM Plex Sans"/>
                <a:cs typeface="IBM Plex Sans"/>
                <a:sym typeface="IBM Plex Sans"/>
              </a:rPr>
              <a:t>per package, median of those who logged time</a:t>
            </a:r>
            <a:endParaRPr b="0" i="0" sz="1600" u="none" cap="none" strike="noStrike">
              <a:solidFill>
                <a:schemeClr val="dk1"/>
              </a:solidFill>
              <a:latin typeface="IBM Plex Sans"/>
              <a:ea typeface="IBM Plex Sans"/>
              <a:cs typeface="IBM Plex Sans"/>
              <a:sym typeface="IBM Plex Sans"/>
            </a:endParaRPr>
          </a:p>
        </p:txBody>
      </p:sp>
      <p:sp>
        <p:nvSpPr>
          <p:cNvPr id="43" name="Google Shape;43;p2"/>
          <p:cNvSpPr/>
          <p:nvPr/>
        </p:nvSpPr>
        <p:spPr>
          <a:xfrm>
            <a:off x="8246534" y="3698148"/>
            <a:ext cx="296502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200"/>
              <a:buFont typeface="IBM Plex Sans"/>
              <a:buNone/>
            </a:pPr>
            <a:r>
              <a:rPr b="0" i="0" lang="en-US" sz="1200" u="none" cap="none" strike="noStrike">
                <a:solidFill>
                  <a:srgbClr val="C9D3DC"/>
                </a:solidFill>
                <a:latin typeface="IBM Plex Sans"/>
                <a:ea typeface="IBM Plex Sans"/>
                <a:cs typeface="IBM Plex Sans"/>
                <a:sym typeface="IBM Plex Sans"/>
              </a:rPr>
              <a:t>Range 1.1–2.8 min, 5 of 8 logged</a:t>
            </a:r>
            <a:endParaRPr b="0" i="0" sz="1200" u="none" cap="none" strike="noStrike">
              <a:solidFill>
                <a:schemeClr val="dk1"/>
              </a:solidFill>
              <a:latin typeface="IBM Plex Sans"/>
              <a:ea typeface="IBM Plex Sans"/>
              <a:cs typeface="IBM Plex Sans"/>
              <a:sym typeface="IBM Plex Sans"/>
            </a:endParaRPr>
          </a:p>
        </p:txBody>
      </p:sp>
      <p:sp>
        <p:nvSpPr>
          <p:cNvPr id="44" name="Google Shape;44;p2"/>
          <p:cNvSpPr/>
          <p:nvPr/>
        </p:nvSpPr>
        <p:spPr>
          <a:xfrm>
            <a:off x="812800" y="4470268"/>
            <a:ext cx="10883392" cy="3098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7F5F0"/>
              </a:buClr>
              <a:buSzPts val="1600"/>
              <a:buFont typeface="IBM Plex Sans"/>
              <a:buNone/>
            </a:pPr>
            <a:r>
              <a:rPr b="1" i="0" lang="en-US" sz="1600" u="none" cap="none" strike="noStrike">
                <a:solidFill>
                  <a:srgbClr val="F7F5F0"/>
                </a:solidFill>
                <a:latin typeface="IBM Plex Sans"/>
                <a:ea typeface="IBM Plex Sans"/>
                <a:cs typeface="IBM Plex Sans"/>
                <a:sym typeface="IBM Plex Sans"/>
              </a:rPr>
              <a:t>Decision:</a:t>
            </a:r>
            <a:r>
              <a:rPr b="0" i="0" lang="en-US" sz="1600" u="none" cap="none" strike="noStrike">
                <a:solidFill>
                  <a:srgbClr val="F7F5F0"/>
                </a:solidFill>
                <a:latin typeface="IBM Plex Sans"/>
                <a:ea typeface="IBM Plex Sans"/>
                <a:cs typeface="IBM Plex Sans"/>
                <a:sym typeface="IBM Plex Sans"/>
              </a:rPr>
              <a:t> A3 round 1 is open. Wave 1 is already in your folders.</a:t>
            </a:r>
            <a:endParaRPr b="0" i="0" sz="1600" u="none" cap="none" strike="noStrike">
              <a:solidFill>
                <a:schemeClr val="dk1"/>
              </a:solidFill>
              <a:latin typeface="IBM Plex Sans"/>
              <a:ea typeface="IBM Plex Sans"/>
              <a:cs typeface="IBM Plex Sans"/>
              <a:sym typeface="IBM Plex Sans"/>
            </a:endParaRPr>
          </a:p>
        </p:txBody>
      </p:sp>
      <p:sp>
        <p:nvSpPr>
          <p:cNvPr id="45" name="Google Shape;45;p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DC"/>
              </a:buClr>
              <a:buSzPts val="1200"/>
              <a:buFont typeface="IBM Plex Sans"/>
              <a:buNone/>
            </a:pPr>
            <a:r>
              <a:rPr b="0" i="0" lang="en-US" sz="1200" u="none" cap="none" strike="noStrike">
                <a:solidFill>
                  <a:srgbClr val="C9D3DC"/>
                </a:solidFill>
                <a:latin typeface="IBM Plex Sans"/>
                <a:ea typeface="IBM Plex Sans"/>
                <a:cs typeface="IBM Plex Sans"/>
                <a:sym typeface="IBM Plex Sans"/>
              </a:rPr>
              <a:t>calib2 and A3 round 1 · 2 · calib2_report.md, 8 of 8 complete</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50" name="Shape 50"/>
        <p:cNvGrpSpPr/>
        <p:nvPr/>
      </p:nvGrpSpPr>
      <p:grpSpPr>
        <a:xfrm>
          <a:off x="0" y="0"/>
          <a:ext cx="0" cy="0"/>
          <a:chOff x="0" y="0"/>
          <a:chExt cx="0" cy="0"/>
        </a:xfrm>
      </p:grpSpPr>
      <p:sp>
        <p:nvSpPr>
          <p:cNvPr id="51" name="Google Shape;51;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AGREEMENT · THE GATE</a:t>
            </a:r>
            <a:endParaRPr b="0" i="0" sz="1200" u="none" cap="none" strike="noStrike">
              <a:solidFill>
                <a:schemeClr val="dk1"/>
              </a:solidFill>
              <a:latin typeface="IBM Plex Sans"/>
              <a:ea typeface="IBM Plex Sans"/>
              <a:cs typeface="IBM Plex Sans"/>
              <a:sym typeface="IBM Plex Sans"/>
            </a:endParaRPr>
          </a:p>
        </p:txBody>
      </p:sp>
      <p:sp>
        <p:nvSpPr>
          <p:cNvPr id="52" name="Google Shape;52;p3"/>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Cohen’s κ for every G14–G15 pair</a:t>
            </a:r>
            <a:endParaRPr sz="3200"/>
          </a:p>
        </p:txBody>
      </p:sp>
      <p:graphicFrame>
        <p:nvGraphicFramePr>
          <p:cNvPr id="53" name="Google Shape;53;p3"/>
          <p:cNvGraphicFramePr/>
          <p:nvPr/>
        </p:nvGraphicFramePr>
        <p:xfrm>
          <a:off x="825500" y="1892235"/>
          <a:ext cx="3000000" cy="3000000"/>
        </p:xfrm>
        <a:graphic>
          <a:graphicData uri="http://schemas.openxmlformats.org/drawingml/2006/table">
            <a:tbl>
              <a:tblPr>
                <a:noFill/>
                <a:tableStyleId>{A084FDC9-25D0-4C6B-9016-B9FBCDE3210E}</a:tableStyleId>
              </a:tblPr>
              <a:tblGrid>
                <a:gridCol w="1514850"/>
                <a:gridCol w="1199250"/>
                <a:gridCol w="1199250"/>
                <a:gridCol w="1199250"/>
                <a:gridCol w="1199250"/>
              </a:tblGrid>
              <a:tr h="439350">
                <a:tc>
                  <a:txBody>
                    <a:bodyPr/>
                    <a:lstStyle/>
                    <a:p>
                      <a:pPr indent="0" lvl="0" marL="0" marR="0" rtl="0" algn="l">
                        <a:lnSpc>
                          <a:spcPct val="140000"/>
                        </a:lnSpc>
                        <a:spcBef>
                          <a:spcPts val="0"/>
                        </a:spcBef>
                        <a:spcAft>
                          <a:spcPts val="0"/>
                        </a:spcAft>
                        <a:buClr>
                          <a:srgbClr val="1B2A3A"/>
                        </a:buClr>
                        <a:buSzPts val="1600"/>
                        <a:buFont typeface="IBM Plex Sans"/>
                        <a:buNone/>
                      </a:pPr>
                      <a:r>
                        <a:rPr b="1" lang="en-US" sz="1600" u="none" cap="none" strike="noStrike">
                          <a:solidFill>
                            <a:srgbClr val="1B2A3A"/>
                          </a:solidFill>
                          <a:latin typeface="IBM Plex Sans"/>
                          <a:ea typeface="IBM Plex Sans"/>
                          <a:cs typeface="IBM Plex Sans"/>
                          <a:sym typeface="IBM Plex Sans"/>
                        </a:rPr>
                        <a:t>κ</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600"/>
                        <a:buFont typeface="IBM Plex Sans"/>
                        <a:buNone/>
                      </a:pPr>
                      <a:r>
                        <a:rPr b="1" lang="en-US" sz="1600" u="none" cap="none" strike="noStrike">
                          <a:solidFill>
                            <a:srgbClr val="1B2A3A"/>
                          </a:solidFill>
                          <a:latin typeface="IBM Plex Sans"/>
                          <a:ea typeface="IBM Plex Sans"/>
                          <a:cs typeface="IBM Plex Sans"/>
                          <a:sym typeface="IBM Plex Sans"/>
                        </a:rPr>
                        <a:t>G15-01</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600"/>
                        <a:buFont typeface="IBM Plex Sans"/>
                        <a:buNone/>
                      </a:pPr>
                      <a:r>
                        <a:rPr b="1" lang="en-US" sz="1600" u="none" cap="none" strike="noStrike">
                          <a:solidFill>
                            <a:srgbClr val="1B2A3A"/>
                          </a:solidFill>
                          <a:latin typeface="IBM Plex Sans"/>
                          <a:ea typeface="IBM Plex Sans"/>
                          <a:cs typeface="IBM Plex Sans"/>
                          <a:sym typeface="IBM Plex Sans"/>
                        </a:rPr>
                        <a:t>G15-02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600"/>
                        <a:buFont typeface="IBM Plex Sans"/>
                        <a:buNone/>
                      </a:pPr>
                      <a:r>
                        <a:rPr b="1" lang="en-US" sz="1600" u="none" cap="none" strike="noStrike">
                          <a:solidFill>
                            <a:srgbClr val="1B2A3A"/>
                          </a:solidFill>
                          <a:latin typeface="IBM Plex Sans"/>
                          <a:ea typeface="IBM Plex Sans"/>
                          <a:cs typeface="IBM Plex Sans"/>
                          <a:sym typeface="IBM Plex Sans"/>
                        </a:rPr>
                        <a:t>G15-03</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600"/>
                        <a:buFont typeface="IBM Plex Sans"/>
                        <a:buNone/>
                      </a:pPr>
                      <a:r>
                        <a:rPr b="1" lang="en-US" sz="1600" u="none" cap="none" strike="noStrike">
                          <a:solidFill>
                            <a:srgbClr val="1B2A3A"/>
                          </a:solidFill>
                          <a:latin typeface="IBM Plex Sans"/>
                          <a:ea typeface="IBM Plex Sans"/>
                          <a:cs typeface="IBM Plex Sans"/>
                          <a:sym typeface="IBM Plex Sans"/>
                        </a:rPr>
                        <a:t>G15-04</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r>
              <a:tr h="439350">
                <a:tc>
                  <a:txBody>
                    <a:bodyPr/>
                    <a:lstStyle/>
                    <a:p>
                      <a:pPr indent="0" lvl="0" marL="0" marR="0" rtl="0" algn="l">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G14-01</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0.96</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0.75</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1.00</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r>
              <a:tr h="439350">
                <a:tc>
                  <a:txBody>
                    <a:bodyPr/>
                    <a:lstStyle/>
                    <a:p>
                      <a:pPr indent="0" lvl="0" marL="0" marR="0" rtl="0" algn="l">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G14-02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0.79</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0.96</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r h="439350">
                <a:tc>
                  <a:txBody>
                    <a:bodyPr/>
                    <a:lstStyle/>
                    <a:p>
                      <a:pPr indent="0" lvl="0" marL="0" marR="0" rtl="0" algn="l">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G14-03</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0.88</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0.71</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0.83</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0.92</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r h="439350">
                <a:tc>
                  <a:txBody>
                    <a:bodyPr/>
                    <a:lstStyle/>
                    <a:p>
                      <a:pPr indent="0" lvl="0" marL="0" marR="0" rtl="0" algn="l">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G14-04</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0.88</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0.83</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0.87</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600"/>
                        <a:buFont typeface="IBM Plex Sans"/>
                        <a:buNone/>
                      </a:pPr>
                      <a:r>
                        <a:rPr lang="en-US" sz="1600" u="none" cap="none" strike="noStrike">
                          <a:solidFill>
                            <a:srgbClr val="1B2A3A"/>
                          </a:solidFill>
                          <a:latin typeface="IBM Plex Sans"/>
                          <a:ea typeface="IBM Plex Sans"/>
                          <a:cs typeface="IBM Plex Sans"/>
                          <a:sym typeface="IBM Plex Sans"/>
                        </a:rPr>
                        <a:t>0.83</a:t>
                      </a:r>
                      <a:endParaRPr sz="1600" u="none" cap="none" strike="noStrike">
                        <a:latin typeface="IBM Plex Sans"/>
                        <a:ea typeface="IBM Plex Sans"/>
                        <a:cs typeface="IBM Plex Sans"/>
                        <a:sym typeface="IBM Plex Sans"/>
                      </a:endParaRPr>
                    </a:p>
                  </a:txBody>
                  <a:tcPr marT="71125" marB="71125" marR="71125" marL="711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bl>
          </a:graphicData>
        </a:graphic>
      </p:graphicFrame>
      <p:sp>
        <p:nvSpPr>
          <p:cNvPr id="54" name="Google Shape;54;p3"/>
          <p:cNvSpPr/>
          <p:nvPr/>
        </p:nvSpPr>
        <p:spPr>
          <a:xfrm>
            <a:off x="812800" y="4215938"/>
            <a:ext cx="651433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Target 0.6 · every cell passes · same-group pairs 0.75–0.96</a:t>
            </a:r>
            <a:endParaRPr b="0" i="0" sz="1200" u="none" cap="none" strike="noStrike">
              <a:solidFill>
                <a:schemeClr val="dk1"/>
              </a:solidFill>
              <a:latin typeface="IBM Plex Sans"/>
              <a:ea typeface="IBM Plex Sans"/>
              <a:cs typeface="IBM Plex Sans"/>
              <a:sym typeface="IBM Plex Sans"/>
            </a:endParaRPr>
          </a:p>
        </p:txBody>
      </p:sp>
      <p:sp>
        <p:nvSpPr>
          <p:cNvPr id="55" name="Google Shape;55;p3"/>
          <p:cNvSpPr/>
          <p:nvPr/>
        </p:nvSpPr>
        <p:spPr>
          <a:xfrm>
            <a:off x="7445375" y="1882710"/>
            <a:ext cx="3930650" cy="2229512"/>
          </a:xfrm>
          <a:prstGeom prst="roundRect">
            <a:avLst>
              <a:gd fmla="val 4415"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7675034" y="2112367"/>
            <a:ext cx="3575473"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Three calibrations</a:t>
            </a:r>
            <a:endParaRPr b="0" i="0" sz="1600" u="none" cap="none" strike="noStrike">
              <a:solidFill>
                <a:schemeClr val="dk1"/>
              </a:solidFill>
              <a:latin typeface="IBM Plex Sans"/>
              <a:ea typeface="IBM Plex Sans"/>
              <a:cs typeface="IBM Plex Sans"/>
              <a:sym typeface="IBM Plex Sans"/>
            </a:endParaRPr>
          </a:p>
        </p:txBody>
      </p:sp>
      <p:sp>
        <p:nvSpPr>
          <p:cNvPr id="57" name="Google Shape;57;p3"/>
          <p:cNvSpPr/>
          <p:nvPr/>
        </p:nvSpPr>
        <p:spPr>
          <a:xfrm>
            <a:off x="7675034" y="2457782"/>
            <a:ext cx="3575473"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eval60</a:t>
            </a:r>
            <a:r>
              <a:rPr b="0" i="0" lang="en-US" sz="1300" u="none" cap="none" strike="noStrike">
                <a:solidFill>
                  <a:srgbClr val="1B2A3A"/>
                </a:solidFill>
                <a:latin typeface="IBM Plex Sans"/>
                <a:ea typeface="IBM Plex Sans"/>
                <a:cs typeface="IBM Plex Sans"/>
                <a:sym typeface="IBM Plex Sans"/>
              </a:rPr>
              <a:t> · Cohen 0.63 between the two groups</a:t>
            </a:r>
            <a:endParaRPr b="0" i="0" sz="1300" u="none" cap="none" strike="noStrike">
              <a:solidFill>
                <a:schemeClr val="dk1"/>
              </a:solidFill>
              <a:latin typeface="IBM Plex Sans"/>
              <a:ea typeface="IBM Plex Sans"/>
              <a:cs typeface="IBM Plex Sans"/>
              <a:sym typeface="IBM Plex Sans"/>
            </a:endParaRPr>
          </a:p>
        </p:txBody>
      </p:sp>
      <p:sp>
        <p:nvSpPr>
          <p:cNvPr id="58" name="Google Shape;58;p3"/>
          <p:cNvSpPr/>
          <p:nvPr/>
        </p:nvSpPr>
        <p:spPr>
          <a:xfrm>
            <a:off x="7675034" y="2790495"/>
            <a:ext cx="3575473"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calib30</a:t>
            </a:r>
            <a:r>
              <a:rPr b="0" i="0" lang="en-US" sz="1300" u="none" cap="none" strike="noStrike">
                <a:solidFill>
                  <a:srgbClr val="1B2A3A"/>
                </a:solidFill>
                <a:latin typeface="IBM Plex Sans"/>
                <a:ea typeface="IBM Plex Sans"/>
                <a:cs typeface="IBM Plex Sans"/>
                <a:sym typeface="IBM Plex Sans"/>
              </a:rPr>
              <a:t> · Fleiss 0.47; 3 of 21 pairs at 0.6</a:t>
            </a:r>
            <a:endParaRPr b="0" i="0" sz="1300" u="none" cap="none" strike="noStrike">
              <a:solidFill>
                <a:schemeClr val="dk1"/>
              </a:solidFill>
              <a:latin typeface="IBM Plex Sans"/>
              <a:ea typeface="IBM Plex Sans"/>
              <a:cs typeface="IBM Plex Sans"/>
              <a:sym typeface="IBM Plex Sans"/>
            </a:endParaRPr>
          </a:p>
        </p:txBody>
      </p:sp>
      <p:sp>
        <p:nvSpPr>
          <p:cNvPr id="59" name="Google Shape;59;p3"/>
          <p:cNvSpPr/>
          <p:nvPr/>
        </p:nvSpPr>
        <p:spPr>
          <a:xfrm>
            <a:off x="7675034" y="3123208"/>
            <a:ext cx="3575473"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calib2</a:t>
            </a:r>
            <a:r>
              <a:rPr b="0" i="0" lang="en-US" sz="1300" u="none" cap="none" strike="noStrike">
                <a:solidFill>
                  <a:srgbClr val="1B2A3A"/>
                </a:solidFill>
                <a:latin typeface="IBM Plex Sans"/>
                <a:ea typeface="IBM Plex Sans"/>
                <a:cs typeface="IBM Plex Sans"/>
                <a:sym typeface="IBM Plex Sans"/>
              </a:rPr>
              <a:t> · Fleiss 0.87; 16 of 16 cross pairs</a:t>
            </a:r>
            <a:endParaRPr b="0" i="0" sz="1300" u="none" cap="none" strike="noStrike">
              <a:solidFill>
                <a:schemeClr val="dk1"/>
              </a:solidFill>
              <a:latin typeface="IBM Plex Sans"/>
              <a:ea typeface="IBM Plex Sans"/>
              <a:cs typeface="IBM Plex Sans"/>
              <a:sym typeface="IBM Plex Sans"/>
            </a:endParaRPr>
          </a:p>
        </p:txBody>
      </p:sp>
      <p:sp>
        <p:nvSpPr>
          <p:cNvPr id="60" name="Google Shape;60;p3"/>
          <p:cNvSpPr/>
          <p:nvPr/>
        </p:nvSpPr>
        <p:spPr>
          <a:xfrm>
            <a:off x="7675034" y="3455922"/>
            <a:ext cx="357547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calib2 is the first with guide rev3.1, individual work and the pre-label shown, as in A3.</a:t>
            </a:r>
            <a:endParaRPr b="0" i="0" sz="1200" u="none" cap="none" strike="noStrike">
              <a:solidFill>
                <a:schemeClr val="dk1"/>
              </a:solidFill>
              <a:latin typeface="IBM Plex Sans"/>
              <a:ea typeface="IBM Plex Sans"/>
              <a:cs typeface="IBM Plex Sans"/>
              <a:sym typeface="IBM Plex Sans"/>
            </a:endParaRPr>
          </a:p>
        </p:txBody>
      </p:sp>
      <p:sp>
        <p:nvSpPr>
          <p:cNvPr id="61" name="Google Shape;61;p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3 · κ on the primary label, 27 items · contract §7, §9</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66" name="Shape 66"/>
        <p:cNvGrpSpPr/>
        <p:nvPr/>
      </p:nvGrpSpPr>
      <p:grpSpPr>
        <a:xfrm>
          <a:off x="0" y="0"/>
          <a:ext cx="0" cy="0"/>
          <a:chOff x="0" y="0"/>
          <a:chExt cx="0" cy="0"/>
        </a:xfrm>
      </p:grpSpPr>
      <p:sp>
        <p:nvSpPr>
          <p:cNvPr id="67" name="Google Shape;67;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CORRECTION RATE · READ IT WITH Κ</a:t>
            </a:r>
            <a:endParaRPr b="0" i="0" sz="1200" u="none" cap="none" strike="noStrike">
              <a:solidFill>
                <a:schemeClr val="dk1"/>
              </a:solidFill>
              <a:latin typeface="IBM Plex Sans"/>
              <a:ea typeface="IBM Plex Sans"/>
              <a:cs typeface="IBM Plex Sans"/>
              <a:sym typeface="IBM Plex Sans"/>
            </a:endParaRPr>
          </a:p>
        </p:txBody>
      </p:sp>
      <p:sp>
        <p:nvSpPr>
          <p:cNvPr id="68" name="Google Shape;68;p4"/>
          <p:cNvSpPr txBox="1"/>
          <p:nvPr>
            <p:ph type="title"/>
          </p:nvPr>
        </p:nvSpPr>
        <p:spPr>
          <a:xfrm>
            <a:off x="812800" y="12039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16 of 216 answers changed the pre-label</a:t>
            </a:r>
            <a:endParaRPr sz="3200"/>
          </a:p>
        </p:txBody>
      </p:sp>
      <p:sp>
        <p:nvSpPr>
          <p:cNvPr id="69" name="Google Shape;69;p4"/>
          <p:cNvSpPr/>
          <p:nvPr/>
        </p:nvSpPr>
        <p:spPr>
          <a:xfrm>
            <a:off x="812800" y="1828735"/>
            <a:ext cx="9810750"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Everyone saw the same pre-label on high-confidence items, so part of the agreement is shared confirmation. Per person the rate ranged from 0% to 22%.</a:t>
            </a:r>
            <a:endParaRPr b="0" i="0" sz="1300" u="none" cap="none" strike="noStrike">
              <a:solidFill>
                <a:schemeClr val="dk1"/>
              </a:solidFill>
              <a:latin typeface="IBM Plex Sans"/>
              <a:ea typeface="IBM Plex Sans"/>
              <a:cs typeface="IBM Plex Sans"/>
              <a:sym typeface="IBM Plex Sans"/>
            </a:endParaRPr>
          </a:p>
        </p:txBody>
      </p:sp>
      <p:sp>
        <p:nvSpPr>
          <p:cNvPr id="70" name="Google Shape;70;p4"/>
          <p:cNvSpPr/>
          <p:nvPr/>
        </p:nvSpPr>
        <p:spPr>
          <a:xfrm>
            <a:off x="713740" y="2468761"/>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Background</a:t>
            </a:r>
            <a:endParaRPr b="0" i="0" sz="1300" u="none" cap="none" strike="noStrike">
              <a:solidFill>
                <a:schemeClr val="dk1"/>
              </a:solidFill>
              <a:latin typeface="IBM Plex Sans"/>
              <a:ea typeface="IBM Plex Sans"/>
              <a:cs typeface="IBM Plex Sans"/>
              <a:sym typeface="IBM Plex Sans"/>
            </a:endParaRPr>
          </a:p>
        </p:txBody>
      </p:sp>
      <p:sp>
        <p:nvSpPr>
          <p:cNvPr id="71" name="Google Shape;71;p4"/>
          <p:cNvSpPr/>
          <p:nvPr/>
        </p:nvSpPr>
        <p:spPr>
          <a:xfrm>
            <a:off x="4267200" y="2470018"/>
            <a:ext cx="3733800" cy="228600"/>
          </a:xfrm>
          <a:prstGeom prst="roundRect">
            <a:avLst>
              <a:gd fmla="val 11111" name="adj"/>
            </a:avLst>
          </a:prstGeom>
          <a:solidFill>
            <a:srgbClr val="C257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9245600" y="2468761"/>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5 of 24 · 21%</a:t>
            </a:r>
            <a:endParaRPr b="0" i="0" sz="1300" u="none" cap="none" strike="noStrike">
              <a:solidFill>
                <a:schemeClr val="dk1"/>
              </a:solidFill>
              <a:latin typeface="IBM Plex Sans"/>
              <a:ea typeface="IBM Plex Sans"/>
              <a:cs typeface="IBM Plex Sans"/>
              <a:sym typeface="IBM Plex Sans"/>
            </a:endParaRPr>
          </a:p>
        </p:txBody>
      </p:sp>
      <p:sp>
        <p:nvSpPr>
          <p:cNvPr id="73" name="Google Shape;73;p4"/>
          <p:cNvSpPr/>
          <p:nvPr/>
        </p:nvSpPr>
        <p:spPr>
          <a:xfrm>
            <a:off x="713740" y="2763376"/>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Basis</a:t>
            </a:r>
            <a:endParaRPr b="0" i="0" sz="1300" u="none" cap="none" strike="noStrike">
              <a:solidFill>
                <a:schemeClr val="dk1"/>
              </a:solidFill>
              <a:latin typeface="IBM Plex Sans"/>
              <a:ea typeface="IBM Plex Sans"/>
              <a:cs typeface="IBM Plex Sans"/>
              <a:sym typeface="IBM Plex Sans"/>
            </a:endParaRPr>
          </a:p>
        </p:txBody>
      </p:sp>
      <p:sp>
        <p:nvSpPr>
          <p:cNvPr id="74" name="Google Shape;74;p4"/>
          <p:cNvSpPr/>
          <p:nvPr/>
        </p:nvSpPr>
        <p:spPr>
          <a:xfrm>
            <a:off x="4267200" y="2764631"/>
            <a:ext cx="3733800" cy="228600"/>
          </a:xfrm>
          <a:prstGeom prst="roundRect">
            <a:avLst>
              <a:gd fmla="val 11111" name="adj"/>
            </a:avLst>
          </a:prstGeom>
          <a:solidFill>
            <a:srgbClr val="C257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9245600" y="2763376"/>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5 of 24 · 21%</a:t>
            </a:r>
            <a:endParaRPr b="0" i="0" sz="1300" u="none" cap="none" strike="noStrike">
              <a:solidFill>
                <a:schemeClr val="dk1"/>
              </a:solidFill>
              <a:latin typeface="IBM Plex Sans"/>
              <a:ea typeface="IBM Plex Sans"/>
              <a:cs typeface="IBM Plex Sans"/>
              <a:sym typeface="IBM Plex Sans"/>
            </a:endParaRPr>
          </a:p>
        </p:txBody>
      </p:sp>
      <p:sp>
        <p:nvSpPr>
          <p:cNvPr id="76" name="Google Shape;76;p4"/>
          <p:cNvSpPr/>
          <p:nvPr/>
        </p:nvSpPr>
        <p:spPr>
          <a:xfrm>
            <a:off x="713740" y="3057989"/>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Comparison</a:t>
            </a:r>
            <a:endParaRPr b="0" i="0" sz="1300" u="none" cap="none" strike="noStrike">
              <a:solidFill>
                <a:schemeClr val="dk1"/>
              </a:solidFill>
              <a:latin typeface="IBM Plex Sans"/>
              <a:ea typeface="IBM Plex Sans"/>
              <a:cs typeface="IBM Plex Sans"/>
              <a:sym typeface="IBM Plex Sans"/>
            </a:endParaRPr>
          </a:p>
        </p:txBody>
      </p:sp>
      <p:sp>
        <p:nvSpPr>
          <p:cNvPr id="77" name="Google Shape;77;p4"/>
          <p:cNvSpPr/>
          <p:nvPr/>
        </p:nvSpPr>
        <p:spPr>
          <a:xfrm>
            <a:off x="4267200" y="3059246"/>
            <a:ext cx="2222500" cy="228600"/>
          </a:xfrm>
          <a:prstGeom prst="roundRect">
            <a:avLst>
              <a:gd fmla="val 11111" name="adj"/>
            </a:avLst>
          </a:prstGeom>
          <a:solidFill>
            <a:srgbClr val="C257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9245600" y="3057989"/>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3 of 24 · 12%</a:t>
            </a:r>
            <a:endParaRPr b="0" i="0" sz="1300" u="none" cap="none" strike="noStrike">
              <a:solidFill>
                <a:schemeClr val="dk1"/>
              </a:solidFill>
              <a:latin typeface="IBM Plex Sans"/>
              <a:ea typeface="IBM Plex Sans"/>
              <a:cs typeface="IBM Plex Sans"/>
              <a:sym typeface="IBM Plex Sans"/>
            </a:endParaRPr>
          </a:p>
        </p:txBody>
      </p:sp>
      <p:sp>
        <p:nvSpPr>
          <p:cNvPr id="79" name="Google Shape;79;p4"/>
          <p:cNvSpPr/>
          <p:nvPr/>
        </p:nvSpPr>
        <p:spPr>
          <a:xfrm>
            <a:off x="713740" y="3352602"/>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Application</a:t>
            </a:r>
            <a:endParaRPr b="0" i="0" sz="1300" u="none" cap="none" strike="noStrike">
              <a:solidFill>
                <a:schemeClr val="dk1"/>
              </a:solidFill>
              <a:latin typeface="IBM Plex Sans"/>
              <a:ea typeface="IBM Plex Sans"/>
              <a:cs typeface="IBM Plex Sans"/>
              <a:sym typeface="IBM Plex Sans"/>
            </a:endParaRPr>
          </a:p>
        </p:txBody>
      </p:sp>
      <p:sp>
        <p:nvSpPr>
          <p:cNvPr id="80" name="Google Shape;80;p4"/>
          <p:cNvSpPr/>
          <p:nvPr/>
        </p:nvSpPr>
        <p:spPr>
          <a:xfrm>
            <a:off x="4267200" y="3353859"/>
            <a:ext cx="742950" cy="228600"/>
          </a:xfrm>
          <a:prstGeom prst="roundRect">
            <a:avLst>
              <a:gd fmla="val 11111" name="adj"/>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9245600" y="3352602"/>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1 of 24 · 4%</a:t>
            </a:r>
            <a:endParaRPr b="0" i="0" sz="1300" u="none" cap="none" strike="noStrike">
              <a:solidFill>
                <a:schemeClr val="dk1"/>
              </a:solidFill>
              <a:latin typeface="IBM Plex Sans"/>
              <a:ea typeface="IBM Plex Sans"/>
              <a:cs typeface="IBM Plex Sans"/>
              <a:sym typeface="IBM Plex Sans"/>
            </a:endParaRPr>
          </a:p>
        </p:txBody>
      </p:sp>
      <p:sp>
        <p:nvSpPr>
          <p:cNvPr id="82" name="Google Shape;82;p4"/>
          <p:cNvSpPr/>
          <p:nvPr/>
        </p:nvSpPr>
        <p:spPr>
          <a:xfrm>
            <a:off x="713740" y="3647216"/>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Improvement/Modification</a:t>
            </a:r>
            <a:endParaRPr b="0" i="0" sz="1300" u="none" cap="none" strike="noStrike">
              <a:solidFill>
                <a:schemeClr val="dk1"/>
              </a:solidFill>
              <a:latin typeface="IBM Plex Sans"/>
              <a:ea typeface="IBM Plex Sans"/>
              <a:cs typeface="IBM Plex Sans"/>
              <a:sym typeface="IBM Plex Sans"/>
            </a:endParaRPr>
          </a:p>
        </p:txBody>
      </p:sp>
      <p:sp>
        <p:nvSpPr>
          <p:cNvPr id="83" name="Google Shape;83;p4"/>
          <p:cNvSpPr/>
          <p:nvPr/>
        </p:nvSpPr>
        <p:spPr>
          <a:xfrm>
            <a:off x="4267200" y="3648472"/>
            <a:ext cx="742950" cy="228600"/>
          </a:xfrm>
          <a:prstGeom prst="roundRect">
            <a:avLst>
              <a:gd fmla="val 11111" name="adj"/>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9245600" y="3647216"/>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1 of 24 · 4%</a:t>
            </a:r>
            <a:endParaRPr b="0" i="0" sz="1300" u="none" cap="none" strike="noStrike">
              <a:solidFill>
                <a:schemeClr val="dk1"/>
              </a:solidFill>
              <a:latin typeface="IBM Plex Sans"/>
              <a:ea typeface="IBM Plex Sans"/>
              <a:cs typeface="IBM Plex Sans"/>
              <a:sym typeface="IBM Plex Sans"/>
            </a:endParaRPr>
          </a:p>
        </p:txBody>
      </p:sp>
      <p:sp>
        <p:nvSpPr>
          <p:cNvPr id="85" name="Google Shape;85;p4"/>
          <p:cNvSpPr/>
          <p:nvPr/>
        </p:nvSpPr>
        <p:spPr>
          <a:xfrm>
            <a:off x="713740" y="3941829"/>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Evidence</a:t>
            </a:r>
            <a:endParaRPr b="0" i="0" sz="1300" u="none" cap="none" strike="noStrike">
              <a:solidFill>
                <a:schemeClr val="dk1"/>
              </a:solidFill>
              <a:latin typeface="IBM Plex Sans"/>
              <a:ea typeface="IBM Plex Sans"/>
              <a:cs typeface="IBM Plex Sans"/>
              <a:sym typeface="IBM Plex Sans"/>
            </a:endParaRPr>
          </a:p>
        </p:txBody>
      </p:sp>
      <p:sp>
        <p:nvSpPr>
          <p:cNvPr id="86" name="Google Shape;86;p4"/>
          <p:cNvSpPr/>
          <p:nvPr/>
        </p:nvSpPr>
        <p:spPr>
          <a:xfrm>
            <a:off x="4267200" y="3943086"/>
            <a:ext cx="742950" cy="228600"/>
          </a:xfrm>
          <a:prstGeom prst="roundRect">
            <a:avLst>
              <a:gd fmla="val 11111" name="adj"/>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9245600" y="3941829"/>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1 of 24 · 4%</a:t>
            </a:r>
            <a:endParaRPr b="0" i="0" sz="1300" u="none" cap="none" strike="noStrike">
              <a:solidFill>
                <a:schemeClr val="dk1"/>
              </a:solidFill>
              <a:latin typeface="IBM Plex Sans"/>
              <a:ea typeface="IBM Plex Sans"/>
              <a:cs typeface="IBM Plex Sans"/>
              <a:sym typeface="IBM Plex Sans"/>
            </a:endParaRPr>
          </a:p>
        </p:txBody>
      </p:sp>
      <p:sp>
        <p:nvSpPr>
          <p:cNvPr id="88" name="Google Shape;88;p4"/>
          <p:cNvSpPr/>
          <p:nvPr/>
        </p:nvSpPr>
        <p:spPr>
          <a:xfrm>
            <a:off x="713740" y="4236442"/>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Gap</a:t>
            </a:r>
            <a:endParaRPr b="0" i="0" sz="1300" u="none" cap="none" strike="noStrike">
              <a:solidFill>
                <a:schemeClr val="dk1"/>
              </a:solidFill>
              <a:latin typeface="IBM Plex Sans"/>
              <a:ea typeface="IBM Plex Sans"/>
              <a:cs typeface="IBM Plex Sans"/>
              <a:sym typeface="IBM Plex Sans"/>
            </a:endParaRPr>
          </a:p>
        </p:txBody>
      </p:sp>
      <p:sp>
        <p:nvSpPr>
          <p:cNvPr id="89" name="Google Shape;89;p4"/>
          <p:cNvSpPr/>
          <p:nvPr/>
        </p:nvSpPr>
        <p:spPr>
          <a:xfrm>
            <a:off x="4267200" y="4237699"/>
            <a:ext cx="25400" cy="228600"/>
          </a:xfrm>
          <a:prstGeom prst="rect">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9245600" y="4236442"/>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0 of 24 · 0%</a:t>
            </a:r>
            <a:endParaRPr b="0" i="0" sz="1300" u="none" cap="none" strike="noStrike">
              <a:solidFill>
                <a:schemeClr val="dk1"/>
              </a:solidFill>
              <a:latin typeface="IBM Plex Sans"/>
              <a:ea typeface="IBM Plex Sans"/>
              <a:cs typeface="IBM Plex Sans"/>
              <a:sym typeface="IBM Plex Sans"/>
            </a:endParaRPr>
          </a:p>
        </p:txBody>
      </p:sp>
      <p:sp>
        <p:nvSpPr>
          <p:cNvPr id="91" name="Google Shape;91;p4"/>
          <p:cNvSpPr/>
          <p:nvPr/>
        </p:nvSpPr>
        <p:spPr>
          <a:xfrm>
            <a:off x="713740" y="4531057"/>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Identification of the Originator</a:t>
            </a:r>
            <a:endParaRPr b="0" i="0" sz="1300" u="none" cap="none" strike="noStrike">
              <a:solidFill>
                <a:schemeClr val="dk1"/>
              </a:solidFill>
              <a:latin typeface="IBM Plex Sans"/>
              <a:ea typeface="IBM Plex Sans"/>
              <a:cs typeface="IBM Plex Sans"/>
              <a:sym typeface="IBM Plex Sans"/>
            </a:endParaRPr>
          </a:p>
        </p:txBody>
      </p:sp>
      <p:sp>
        <p:nvSpPr>
          <p:cNvPr id="92" name="Google Shape;92;p4"/>
          <p:cNvSpPr/>
          <p:nvPr/>
        </p:nvSpPr>
        <p:spPr>
          <a:xfrm>
            <a:off x="4267200" y="4532313"/>
            <a:ext cx="25400" cy="228600"/>
          </a:xfrm>
          <a:prstGeom prst="rect">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9245600" y="4531057"/>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0 of 24 · 0%</a:t>
            </a:r>
            <a:endParaRPr b="0" i="0" sz="1300" u="none" cap="none" strike="noStrike">
              <a:solidFill>
                <a:schemeClr val="dk1"/>
              </a:solidFill>
              <a:latin typeface="IBM Plex Sans"/>
              <a:ea typeface="IBM Plex Sans"/>
              <a:cs typeface="IBM Plex Sans"/>
              <a:sym typeface="IBM Plex Sans"/>
            </a:endParaRPr>
          </a:p>
        </p:txBody>
      </p:sp>
      <p:sp>
        <p:nvSpPr>
          <p:cNvPr id="94" name="Google Shape;94;p4"/>
          <p:cNvSpPr/>
          <p:nvPr/>
        </p:nvSpPr>
        <p:spPr>
          <a:xfrm>
            <a:off x="713740" y="4825670"/>
            <a:ext cx="340106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Further Reading</a:t>
            </a:r>
            <a:endParaRPr b="0" i="0" sz="1300" u="none" cap="none" strike="noStrike">
              <a:solidFill>
                <a:schemeClr val="dk1"/>
              </a:solidFill>
              <a:latin typeface="IBM Plex Sans"/>
              <a:ea typeface="IBM Plex Sans"/>
              <a:cs typeface="IBM Plex Sans"/>
              <a:sym typeface="IBM Plex Sans"/>
            </a:endParaRPr>
          </a:p>
        </p:txBody>
      </p:sp>
      <p:sp>
        <p:nvSpPr>
          <p:cNvPr id="95" name="Google Shape;95;p4"/>
          <p:cNvSpPr/>
          <p:nvPr/>
        </p:nvSpPr>
        <p:spPr>
          <a:xfrm>
            <a:off x="4267200" y="4826927"/>
            <a:ext cx="25400" cy="228600"/>
          </a:xfrm>
          <a:prstGeom prst="rect">
            <a:avLst/>
          </a:prstGeom>
          <a:solidFill>
            <a:srgbClr val="2F6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9245600" y="4825670"/>
            <a:ext cx="2092960"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0 of 24 · 0%</a:t>
            </a:r>
            <a:endParaRPr b="0" i="0" sz="1300" u="none" cap="none" strike="noStrike">
              <a:solidFill>
                <a:schemeClr val="dk1"/>
              </a:solidFill>
              <a:latin typeface="IBM Plex Sans"/>
              <a:ea typeface="IBM Plex Sans"/>
              <a:cs typeface="IBM Plex Sans"/>
              <a:sym typeface="IBM Plex Sans"/>
            </a:endParaRPr>
          </a:p>
        </p:txBody>
      </p:sp>
      <p:sp>
        <p:nvSpPr>
          <p:cNvPr id="97" name="Google Shape;97;p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4 · answers = 8 annotators × 3 items per pre-label · orange: over 10%</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4"/>
        </a:solidFill>
      </p:bgPr>
    </p:bg>
    <p:spTree>
      <p:nvGrpSpPr>
        <p:cNvPr id="102" name="Shape 102"/>
        <p:cNvGrpSpPr/>
        <p:nvPr/>
      </p:nvGrpSpPr>
      <p:grpSpPr>
        <a:xfrm>
          <a:off x="0" y="0"/>
          <a:ext cx="0" cy="0"/>
          <a:chOff x="0" y="0"/>
          <a:chExt cx="0" cy="0"/>
        </a:xfrm>
      </p:grpSpPr>
      <p:sp>
        <p:nvSpPr>
          <p:cNvPr id="103" name="Google Shape;103;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DEBRIEF · WHERE WE SPLIT</a:t>
            </a:r>
            <a:endParaRPr b="0" i="0" sz="1200" u="none" cap="none" strike="noStrike">
              <a:solidFill>
                <a:schemeClr val="dk1"/>
              </a:solidFill>
              <a:latin typeface="IBM Plex Sans"/>
              <a:ea typeface="IBM Plex Sans"/>
              <a:cs typeface="IBM Plex Sans"/>
              <a:sym typeface="IBM Plex Sans"/>
            </a:endParaRPr>
          </a:p>
        </p:txBody>
      </p:sp>
      <p:sp>
        <p:nvSpPr>
          <p:cNvPr id="104" name="Google Shape;104;p5"/>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Three items, three known boundaries</a:t>
            </a:r>
            <a:endParaRPr sz="3200"/>
          </a:p>
        </p:txBody>
      </p:sp>
      <p:sp>
        <p:nvSpPr>
          <p:cNvPr id="105" name="Google Shape;105;p5"/>
          <p:cNvSpPr/>
          <p:nvPr/>
        </p:nvSpPr>
        <p:spPr>
          <a:xfrm>
            <a:off x="812800" y="1879535"/>
            <a:ext cx="10883392"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400"/>
              <a:buFont typeface="IBM Plex Sans"/>
              <a:buNone/>
            </a:pPr>
            <a:r>
              <a:rPr b="0" i="0" lang="en-US" sz="1400" u="none" cap="none" strike="noStrike">
                <a:solidFill>
                  <a:srgbClr val="4A5563"/>
                </a:solidFill>
                <a:latin typeface="IBM Plex Sans"/>
                <a:ea typeface="IBM Plex Sans"/>
                <a:cs typeface="IBM Plex Sans"/>
                <a:sym typeface="IBM Plex Sans"/>
              </a:rPr>
              <a:t>On 24 of 27 items at least 7 of 8 annotators agreed. These three hold </a:t>
            </a:r>
            <a:r>
              <a:rPr b="1" i="0" lang="en-US" sz="1400" u="none" cap="none" strike="noStrike">
                <a:solidFill>
                  <a:srgbClr val="4A5563"/>
                </a:solidFill>
                <a:latin typeface="IBM Plex Sans"/>
                <a:ea typeface="IBM Plex Sans"/>
                <a:cs typeface="IBM Plex Sans"/>
                <a:sym typeface="IBM Plex Sans"/>
              </a:rPr>
              <a:t>11 of the 16 corrections</a:t>
            </a:r>
            <a:r>
              <a:rPr b="0" i="0" lang="en-US" sz="1400" u="none" cap="none" strike="noStrike">
                <a:solidFill>
                  <a:srgbClr val="4A5563"/>
                </a:solidFill>
                <a:latin typeface="IBM Plex Sans"/>
                <a:ea typeface="IBM Plex Sans"/>
                <a:cs typeface="IBM Plex Sans"/>
                <a:sym typeface="IBM Plex Sans"/>
              </a:rPr>
              <a:t> on slide 4: the orange bars come from them.</a:t>
            </a:r>
            <a:endParaRPr b="0" i="0" sz="1400" u="none" cap="none" strike="noStrike">
              <a:solidFill>
                <a:schemeClr val="dk1"/>
              </a:solidFill>
              <a:latin typeface="IBM Plex Sans"/>
              <a:ea typeface="IBM Plex Sans"/>
              <a:cs typeface="IBM Plex Sans"/>
              <a:sym typeface="IBM Plex Sans"/>
            </a:endParaRPr>
          </a:p>
        </p:txBody>
      </p:sp>
      <p:sp>
        <p:nvSpPr>
          <p:cNvPr id="106" name="Google Shape;106;p5"/>
          <p:cNvSpPr/>
          <p:nvPr/>
        </p:nvSpPr>
        <p:spPr>
          <a:xfrm>
            <a:off x="815975" y="2583724"/>
            <a:ext cx="3380317" cy="2152782"/>
          </a:xfrm>
          <a:prstGeom prst="roundRect">
            <a:avLst>
              <a:gd fmla="val 4572"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1045633" y="2813382"/>
            <a:ext cx="3008630" cy="29970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800"/>
              <a:buFont typeface="IBM Plex Sans"/>
              <a:buNone/>
            </a:pPr>
            <a:r>
              <a:rPr b="1" i="0" lang="en-US" sz="1800" u="none" cap="none" strike="noStrike">
                <a:solidFill>
                  <a:srgbClr val="2F6DB5"/>
                </a:solidFill>
                <a:latin typeface="IBM Plex Sans"/>
                <a:ea typeface="IBM Plex Sans"/>
                <a:cs typeface="IBM Plex Sans"/>
                <a:sym typeface="IBM Plex Sans"/>
              </a:rPr>
              <a:t>K04</a:t>
            </a:r>
            <a:endParaRPr b="0" i="0" sz="1800" u="none" cap="none" strike="noStrike">
              <a:solidFill>
                <a:schemeClr val="dk1"/>
              </a:solidFill>
              <a:latin typeface="IBM Plex Sans"/>
              <a:ea typeface="IBM Plex Sans"/>
              <a:cs typeface="IBM Plex Sans"/>
              <a:sym typeface="IBM Plex Sans"/>
            </a:endParaRPr>
          </a:p>
        </p:txBody>
      </p:sp>
      <p:sp>
        <p:nvSpPr>
          <p:cNvPr id="108" name="Google Shape;108;p5"/>
          <p:cNvSpPr/>
          <p:nvPr/>
        </p:nvSpPr>
        <p:spPr>
          <a:xfrm>
            <a:off x="1045633" y="3189288"/>
            <a:ext cx="3008630" cy="2743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Background 4 · Evidence 4</a:t>
            </a:r>
            <a:endParaRPr b="0" i="0" sz="1400" u="none" cap="none" strike="noStrike">
              <a:solidFill>
                <a:schemeClr val="dk1"/>
              </a:solidFill>
              <a:latin typeface="IBM Plex Sans"/>
              <a:ea typeface="IBM Plex Sans"/>
              <a:cs typeface="IBM Plex Sans"/>
              <a:sym typeface="IBM Plex Sans"/>
            </a:endParaRPr>
          </a:p>
        </p:txBody>
      </p:sp>
      <p:sp>
        <p:nvSpPr>
          <p:cNvPr id="109" name="Google Shape;109;p5"/>
          <p:cNvSpPr/>
          <p:nvPr/>
        </p:nvSpPr>
        <p:spPr>
          <a:xfrm>
            <a:off x="1045633" y="3539796"/>
            <a:ext cx="3008630" cy="982927"/>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Rule 10: does the citation back a claim, choice or result of the citing authors (Evidence), or describe prior work (Background)?</a:t>
            </a:r>
            <a:endParaRPr b="0" i="0" sz="1300" u="none" cap="none" strike="noStrike">
              <a:solidFill>
                <a:schemeClr val="dk1"/>
              </a:solidFill>
              <a:latin typeface="IBM Plex Sans"/>
              <a:ea typeface="IBM Plex Sans"/>
              <a:cs typeface="IBM Plex Sans"/>
              <a:sym typeface="IBM Plex Sans"/>
            </a:endParaRPr>
          </a:p>
        </p:txBody>
      </p:sp>
      <p:sp>
        <p:nvSpPr>
          <p:cNvPr id="110" name="Google Shape;110;p5"/>
          <p:cNvSpPr/>
          <p:nvPr/>
        </p:nvSpPr>
        <p:spPr>
          <a:xfrm>
            <a:off x="4405842" y="2583724"/>
            <a:ext cx="3380317" cy="2152782"/>
          </a:xfrm>
          <a:prstGeom prst="roundRect">
            <a:avLst>
              <a:gd fmla="val 4572"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4635500" y="2813382"/>
            <a:ext cx="3008630" cy="29970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800"/>
              <a:buFont typeface="IBM Plex Sans"/>
              <a:buNone/>
            </a:pPr>
            <a:r>
              <a:rPr b="1" i="0" lang="en-US" sz="1800" u="none" cap="none" strike="noStrike">
                <a:solidFill>
                  <a:srgbClr val="2F6DB5"/>
                </a:solidFill>
                <a:latin typeface="IBM Plex Sans"/>
                <a:ea typeface="IBM Plex Sans"/>
                <a:cs typeface="IBM Plex Sans"/>
                <a:sym typeface="IBM Plex Sans"/>
              </a:rPr>
              <a:t>K23</a:t>
            </a:r>
            <a:endParaRPr b="0" i="0" sz="1800" u="none" cap="none" strike="noStrike">
              <a:solidFill>
                <a:schemeClr val="dk1"/>
              </a:solidFill>
              <a:latin typeface="IBM Plex Sans"/>
              <a:ea typeface="IBM Plex Sans"/>
              <a:cs typeface="IBM Plex Sans"/>
              <a:sym typeface="IBM Plex Sans"/>
            </a:endParaRPr>
          </a:p>
        </p:txBody>
      </p:sp>
      <p:sp>
        <p:nvSpPr>
          <p:cNvPr id="112" name="Google Shape;112;p5"/>
          <p:cNvSpPr/>
          <p:nvPr/>
        </p:nvSpPr>
        <p:spPr>
          <a:xfrm>
            <a:off x="4635500" y="3189288"/>
            <a:ext cx="3008630"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Basis 4 · Improvement/ Modification 3 · Application 1</a:t>
            </a:r>
            <a:endParaRPr b="0" i="0" sz="1400" u="none" cap="none" strike="noStrike">
              <a:solidFill>
                <a:schemeClr val="dk1"/>
              </a:solidFill>
              <a:latin typeface="IBM Plex Sans"/>
              <a:ea typeface="IBM Plex Sans"/>
              <a:cs typeface="IBM Plex Sans"/>
              <a:sym typeface="IBM Plex Sans"/>
            </a:endParaRPr>
          </a:p>
        </p:txBody>
      </p:sp>
      <p:sp>
        <p:nvSpPr>
          <p:cNvPr id="113" name="Google Shape;113;p5"/>
          <p:cNvSpPr/>
          <p:nvPr/>
        </p:nvSpPr>
        <p:spPr>
          <a:xfrm>
            <a:off x="4635500" y="3788702"/>
            <a:ext cx="3008630"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Rules 3 and 5: does the current work build on it (Basis), adapt it (I/M) or use it unchanged (Application)?</a:t>
            </a:r>
            <a:endParaRPr b="0" i="0" sz="1300" u="none" cap="none" strike="noStrike">
              <a:solidFill>
                <a:schemeClr val="dk1"/>
              </a:solidFill>
              <a:latin typeface="IBM Plex Sans"/>
              <a:ea typeface="IBM Plex Sans"/>
              <a:cs typeface="IBM Plex Sans"/>
              <a:sym typeface="IBM Plex Sans"/>
            </a:endParaRPr>
          </a:p>
        </p:txBody>
      </p:sp>
      <p:sp>
        <p:nvSpPr>
          <p:cNvPr id="114" name="Google Shape;114;p5"/>
          <p:cNvSpPr/>
          <p:nvPr/>
        </p:nvSpPr>
        <p:spPr>
          <a:xfrm>
            <a:off x="7995709" y="2583724"/>
            <a:ext cx="3380317" cy="2152782"/>
          </a:xfrm>
          <a:prstGeom prst="roundRect">
            <a:avLst>
              <a:gd fmla="val 4572"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225367" y="2813382"/>
            <a:ext cx="3008630" cy="29970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800"/>
              <a:buFont typeface="IBM Plex Sans"/>
              <a:buNone/>
            </a:pPr>
            <a:r>
              <a:rPr b="1" i="0" lang="en-US" sz="1800" u="none" cap="none" strike="noStrike">
                <a:solidFill>
                  <a:srgbClr val="2F6DB5"/>
                </a:solidFill>
                <a:latin typeface="IBM Plex Sans"/>
                <a:ea typeface="IBM Plex Sans"/>
                <a:cs typeface="IBM Plex Sans"/>
                <a:sym typeface="IBM Plex Sans"/>
              </a:rPr>
              <a:t>K13</a:t>
            </a:r>
            <a:endParaRPr b="0" i="0" sz="1800" u="none" cap="none" strike="noStrike">
              <a:solidFill>
                <a:schemeClr val="dk1"/>
              </a:solidFill>
              <a:latin typeface="IBM Plex Sans"/>
              <a:ea typeface="IBM Plex Sans"/>
              <a:cs typeface="IBM Plex Sans"/>
              <a:sym typeface="IBM Plex Sans"/>
            </a:endParaRPr>
          </a:p>
        </p:txBody>
      </p:sp>
      <p:sp>
        <p:nvSpPr>
          <p:cNvPr id="116" name="Google Shape;116;p5"/>
          <p:cNvSpPr/>
          <p:nvPr/>
        </p:nvSpPr>
        <p:spPr>
          <a:xfrm>
            <a:off x="8225367" y="3189288"/>
            <a:ext cx="3008630"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Comparison 5 · Background 2 · Application 1</a:t>
            </a:r>
            <a:endParaRPr b="0" i="0" sz="1400" u="none" cap="none" strike="noStrike">
              <a:solidFill>
                <a:schemeClr val="dk1"/>
              </a:solidFill>
              <a:latin typeface="IBM Plex Sans"/>
              <a:ea typeface="IBM Plex Sans"/>
              <a:cs typeface="IBM Plex Sans"/>
              <a:sym typeface="IBM Plex Sans"/>
            </a:endParaRPr>
          </a:p>
        </p:txBody>
      </p:sp>
      <p:sp>
        <p:nvSpPr>
          <p:cNvPr id="117" name="Google Shape;117;p5"/>
          <p:cNvSpPr/>
          <p:nvPr/>
        </p:nvSpPr>
        <p:spPr>
          <a:xfrm>
            <a:off x="8225367" y="3788702"/>
            <a:ext cx="3008630"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Rule 4: does the text compare works with each other, or only list them under a shared topic?</a:t>
            </a:r>
            <a:endParaRPr b="0" i="0" sz="1300" u="none" cap="none" strike="noStrike">
              <a:solidFill>
                <a:schemeClr val="dk1"/>
              </a:solidFill>
              <a:latin typeface="IBM Plex Sans"/>
              <a:ea typeface="IBM Plex Sans"/>
              <a:cs typeface="IBM Plex Sans"/>
              <a:sym typeface="IBM Plex Sans"/>
            </a:endParaRPr>
          </a:p>
        </p:txBody>
      </p:sp>
      <p:sp>
        <p:nvSpPr>
          <p:cNvPr id="118" name="Google Shape;118;p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5 · per-item spread from calib2_report.md · rules as in guide rev3.1 §6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23" name="Shape 123"/>
        <p:cNvGrpSpPr/>
        <p:nvPr/>
      </p:nvGrpSpPr>
      <p:grpSpPr>
        <a:xfrm>
          <a:off x="0" y="0"/>
          <a:ext cx="0" cy="0"/>
          <a:chOff x="0" y="0"/>
          <a:chExt cx="0" cy="0"/>
        </a:xfrm>
      </p:grpSpPr>
      <p:sp>
        <p:nvSpPr>
          <p:cNvPr id="124" name="Google Shape;124;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TIME · THE WORKLOAD</a:t>
            </a:r>
            <a:endParaRPr b="0" i="0" sz="1200" u="none" cap="none" strike="noStrike">
              <a:solidFill>
                <a:schemeClr val="dk1"/>
              </a:solidFill>
              <a:latin typeface="IBM Plex Sans"/>
              <a:ea typeface="IBM Plex Sans"/>
              <a:cs typeface="IBM Plex Sans"/>
              <a:sym typeface="IBM Plex Sans"/>
            </a:endParaRPr>
          </a:p>
        </p:txBody>
      </p:sp>
      <p:sp>
        <p:nvSpPr>
          <p:cNvPr id="125" name="Google Shape;125;p6"/>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Round 1 is about 28 hours per person</a:t>
            </a:r>
            <a:endParaRPr sz="3200"/>
          </a:p>
        </p:txBody>
      </p:sp>
      <p:sp>
        <p:nvSpPr>
          <p:cNvPr id="126" name="Google Shape;126;p6"/>
          <p:cNvSpPr/>
          <p:nvPr/>
        </p:nvSpPr>
        <p:spPr>
          <a:xfrm>
            <a:off x="812800" y="1879535"/>
            <a:ext cx="6906768" cy="28317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B2A3A"/>
              </a:buClr>
              <a:buSzPts val="1400"/>
              <a:buFont typeface="IBM Plex Sans"/>
              <a:buNone/>
            </a:pPr>
            <a:r>
              <a:rPr b="0" i="0" lang="en-US" sz="1400" u="none" cap="none" strike="noStrike">
                <a:solidFill>
                  <a:srgbClr val="1B2A3A"/>
                </a:solidFill>
                <a:latin typeface="IBM Plex Sans"/>
                <a:ea typeface="IBM Plex Sans"/>
                <a:cs typeface="IBM Plex Sans"/>
                <a:sym typeface="IBM Plex Sans"/>
              </a:rPr>
              <a:t>Each person annotates </a:t>
            </a:r>
            <a:r>
              <a:rPr b="1" i="0" lang="en-US" sz="1400" u="none" cap="none" strike="noStrike">
                <a:solidFill>
                  <a:srgbClr val="1B2A3A"/>
                </a:solidFill>
                <a:latin typeface="IBM Plex Sans"/>
                <a:ea typeface="IBM Plex Sans"/>
                <a:cs typeface="IBM Plex Sans"/>
                <a:sym typeface="IBM Plex Sans"/>
              </a:rPr>
              <a:t>990 packages</a:t>
            </a:r>
            <a:r>
              <a:rPr b="0" i="0" lang="en-US" sz="1400" u="none" cap="none" strike="noStrike">
                <a:solidFill>
                  <a:srgbClr val="1B2A3A"/>
                </a:solidFill>
                <a:latin typeface="IBM Plex Sans"/>
                <a:ea typeface="IBM Plex Sans"/>
                <a:cs typeface="IBM Plex Sans"/>
                <a:sym typeface="IBM Plex Sans"/>
              </a:rPr>
              <a:t> in round 1: 18 batches of 55.</a:t>
            </a:r>
            <a:endParaRPr b="0" i="0" sz="1400" u="none" cap="none" strike="noStrike">
              <a:solidFill>
                <a:schemeClr val="dk1"/>
              </a:solidFill>
              <a:latin typeface="IBM Plex Sans"/>
              <a:ea typeface="IBM Plex Sans"/>
              <a:cs typeface="IBM Plex Sans"/>
              <a:sym typeface="IBM Plex Sans"/>
            </a:endParaRPr>
          </a:p>
        </p:txBody>
      </p:sp>
      <p:graphicFrame>
        <p:nvGraphicFramePr>
          <p:cNvPr id="127" name="Google Shape;127;p6"/>
          <p:cNvGraphicFramePr/>
          <p:nvPr/>
        </p:nvGraphicFramePr>
        <p:xfrm>
          <a:off x="825500" y="2302405"/>
          <a:ext cx="3000000" cy="3000000"/>
        </p:xfrm>
        <a:graphic>
          <a:graphicData uri="http://schemas.openxmlformats.org/drawingml/2006/table">
            <a:tbl>
              <a:tblPr>
                <a:noFill/>
                <a:tableStyleId>{A084FDC9-25D0-4C6B-9016-B9FBCDE3210E}</a:tableStyleId>
              </a:tblPr>
              <a:tblGrid>
                <a:gridCol w="3346450"/>
                <a:gridCol w="3346450"/>
              </a:tblGrid>
              <a:tr h="412750">
                <a:tc>
                  <a:txBody>
                    <a:bodyPr/>
                    <a:lstStyle/>
                    <a:p>
                      <a:pPr indent="0" lvl="0" marL="0" marR="0" rtl="0" algn="l">
                        <a:lnSpc>
                          <a:spcPct val="140000"/>
                        </a:lnSpc>
                        <a:spcBef>
                          <a:spcPts val="0"/>
                        </a:spcBef>
                        <a:spcAft>
                          <a:spcPts val="0"/>
                        </a:spcAft>
                        <a:buClr>
                          <a:srgbClr val="1B2A3A"/>
                        </a:buClr>
                        <a:buSzPts val="1500"/>
                        <a:buFont typeface="IBM Plex Sans"/>
                        <a:buNone/>
                      </a:pPr>
                      <a:r>
                        <a:rPr b="1" lang="en-US" sz="1500" u="none" cap="none" strike="noStrike">
                          <a:solidFill>
                            <a:srgbClr val="1B2A3A"/>
                          </a:solidFill>
                          <a:latin typeface="IBM Plex Sans"/>
                          <a:ea typeface="IBM Plex Sans"/>
                          <a:cs typeface="IBM Plex Sans"/>
                          <a:sym typeface="IBM Plex Sans"/>
                        </a:rPr>
                        <a:t>Pace per package</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500"/>
                        <a:buFont typeface="IBM Plex Sans"/>
                        <a:buNone/>
                      </a:pPr>
                      <a:r>
                        <a:rPr b="1" lang="en-US" sz="1500" u="none" cap="none" strike="noStrike">
                          <a:solidFill>
                            <a:srgbClr val="1B2A3A"/>
                          </a:solidFill>
                          <a:latin typeface="IBM Plex Sans"/>
                          <a:ea typeface="IBM Plex Sans"/>
                          <a:cs typeface="IBM Plex Sans"/>
                          <a:sym typeface="IBM Plex Sans"/>
                        </a:rPr>
                        <a:t>Hours for 990</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r>
              <a:tr h="412750">
                <a:tc>
                  <a:txBody>
                    <a:bodyPr/>
                    <a:lstStyle/>
                    <a:p>
                      <a:pPr indent="0" lvl="0" marL="0" marR="0" rtl="0" algn="l">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1.1 min · fastest</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18 h</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BF"/>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1.7 min · median</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c>
                  <a:txBody>
                    <a:bodyPr/>
                    <a:lstStyle/>
                    <a:p>
                      <a:pPr indent="0" lvl="0" marL="0" marR="0" rtl="0" algn="r">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28 h</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8BDB5"/>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r>
              <a:tr h="412750">
                <a:tc>
                  <a:txBody>
                    <a:bodyPr/>
                    <a:lstStyle/>
                    <a:p>
                      <a:pPr indent="0" lvl="0" marL="0" marR="0" rtl="0" algn="l">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2.8 min · slowest</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8BDB5"/>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500"/>
                        <a:buFont typeface="IBM Plex Sans"/>
                        <a:buNone/>
                      </a:pPr>
                      <a:r>
                        <a:rPr lang="en-US" sz="1500" u="none" cap="none" strike="noStrike">
                          <a:solidFill>
                            <a:srgbClr val="1B2A3A"/>
                          </a:solidFill>
                          <a:latin typeface="IBM Plex Sans"/>
                          <a:ea typeface="IBM Plex Sans"/>
                          <a:cs typeface="IBM Plex Sans"/>
                          <a:sym typeface="IBM Plex Sans"/>
                        </a:rPr>
                        <a:t>46 h</a:t>
                      </a:r>
                      <a:endParaRPr sz="1500" u="none" cap="none" strike="noStrike">
                        <a:latin typeface="IBM Plex Sans"/>
                        <a:ea typeface="IBM Plex Sans"/>
                        <a:cs typeface="IBM Plex Sans"/>
                        <a:sym typeface="IBM Plex Sans"/>
                      </a:endParaRPr>
                    </a:p>
                  </a:txBody>
                  <a:tcPr marT="66675" marB="66675" marR="66675" marL="6667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8BDB5"/>
                      </a:solidFill>
                      <a:prstDash val="solid"/>
                      <a:round/>
                      <a:headEnd len="sm" w="sm" type="none"/>
                      <a:tailEnd len="sm" w="sm" type="none"/>
                    </a:lnT>
                    <a:lnB cap="flat" cmpd="sng" w="12700">
                      <a:solidFill>
                        <a:srgbClr val="C5C4BF"/>
                      </a:solidFill>
                      <a:prstDash val="solid"/>
                      <a:round/>
                      <a:headEnd len="sm" w="sm" type="none"/>
                      <a:tailEnd len="sm" w="sm" type="none"/>
                    </a:lnB>
                  </a:tcPr>
                </a:tc>
              </a:tr>
            </a:tbl>
          </a:graphicData>
        </a:graphic>
      </p:graphicFrame>
      <p:sp>
        <p:nvSpPr>
          <p:cNvPr id="128" name="Google Shape;128;p6"/>
          <p:cNvSpPr/>
          <p:nvPr/>
        </p:nvSpPr>
        <p:spPr>
          <a:xfrm>
            <a:off x="812800" y="4105805"/>
            <a:ext cx="690676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The contract planned about 1 minute per package. calib2 included learning the new Sheet, so the pace may improve.</a:t>
            </a:r>
            <a:endParaRPr b="0" i="0" sz="1200" u="none" cap="none" strike="noStrike">
              <a:solidFill>
                <a:schemeClr val="dk1"/>
              </a:solidFill>
              <a:latin typeface="IBM Plex Sans"/>
              <a:ea typeface="IBM Plex Sans"/>
              <a:cs typeface="IBM Plex Sans"/>
              <a:sym typeface="IBM Plex Sans"/>
            </a:endParaRPr>
          </a:p>
        </p:txBody>
      </p:sp>
      <p:sp>
        <p:nvSpPr>
          <p:cNvPr id="129" name="Google Shape;129;p6"/>
          <p:cNvSpPr/>
          <p:nvPr/>
        </p:nvSpPr>
        <p:spPr>
          <a:xfrm>
            <a:off x="7823200" y="1879535"/>
            <a:ext cx="3556000" cy="1884495"/>
          </a:xfrm>
          <a:prstGeom prst="roundRect">
            <a:avLst>
              <a:gd fmla="val 5391" name="adj"/>
            </a:avLst>
          </a:prstGeom>
          <a:solidFill>
            <a:srgbClr val="1B2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8077200" y="2133535"/>
            <a:ext cx="313944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0A35E"/>
              </a:buClr>
              <a:buSzPts val="1600"/>
              <a:buFont typeface="IBM Plex Sans"/>
              <a:buNone/>
            </a:pPr>
            <a:r>
              <a:rPr b="1" i="0" lang="en-US" sz="1600" u="none" cap="none" strike="noStrike">
                <a:solidFill>
                  <a:srgbClr val="F0A35E"/>
                </a:solidFill>
                <a:latin typeface="IBM Plex Sans"/>
                <a:ea typeface="IBM Plex Sans"/>
                <a:cs typeface="IBM Plex Sans"/>
                <a:sym typeface="IBM Plex Sans"/>
              </a:rPr>
              <a:t>3 of 8 logged no minutes</a:t>
            </a:r>
            <a:endParaRPr b="0" i="0" sz="1600" u="none" cap="none" strike="noStrike">
              <a:solidFill>
                <a:schemeClr val="dk1"/>
              </a:solidFill>
              <a:latin typeface="IBM Plex Sans"/>
              <a:ea typeface="IBM Plex Sans"/>
              <a:cs typeface="IBM Plex Sans"/>
              <a:sym typeface="IBM Plex Sans"/>
            </a:endParaRPr>
          </a:p>
        </p:txBody>
      </p:sp>
      <p:sp>
        <p:nvSpPr>
          <p:cNvPr id="131" name="Google Shape;131;p6"/>
          <p:cNvSpPr/>
          <p:nvPr/>
        </p:nvSpPr>
        <p:spPr>
          <a:xfrm>
            <a:off x="8077200" y="2478949"/>
            <a:ext cx="3139440" cy="1056481"/>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F7F5F0"/>
              </a:buClr>
              <a:buSzPts val="1400"/>
              <a:buFont typeface="IBM Plex Sans"/>
              <a:buNone/>
            </a:pPr>
            <a:r>
              <a:rPr b="0" i="0" lang="en-US" sz="1400" u="none" cap="none" strike="noStrike">
                <a:solidFill>
                  <a:srgbClr val="F7F5F0"/>
                </a:solidFill>
                <a:latin typeface="IBM Plex Sans"/>
                <a:ea typeface="IBM Plex Sans"/>
                <a:cs typeface="IBM Plex Sans"/>
                <a:sym typeface="IBM Plex Sans"/>
              </a:rPr>
              <a:t>The Resumen tab of every batch has a cell for total minutes. Fill it in each batch: it is how we plan wave 2 dates and report the workload.</a:t>
            </a:r>
            <a:endParaRPr b="0" i="0" sz="1400" u="none" cap="none" strike="noStrike">
              <a:solidFill>
                <a:schemeClr val="dk1"/>
              </a:solidFill>
              <a:latin typeface="IBM Plex Sans"/>
              <a:ea typeface="IBM Plex Sans"/>
              <a:cs typeface="IBM Plex Sans"/>
              <a:sym typeface="IBM Plex Sans"/>
            </a:endParaRPr>
          </a:p>
        </p:txBody>
      </p:sp>
      <p:sp>
        <p:nvSpPr>
          <p:cNvPr id="132" name="Google Shape;132;p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6 · minutes for 27 items from 5 annotators: 30, 32, 45, 59, 76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37" name="Shape 137"/>
        <p:cNvGrpSpPr/>
        <p:nvPr/>
      </p:nvGrpSpPr>
      <p:grpSpPr>
        <a:xfrm>
          <a:off x="0" y="0"/>
          <a:ext cx="0" cy="0"/>
          <a:chOff x="0" y="0"/>
          <a:chExt cx="0" cy="0"/>
        </a:xfrm>
      </p:grpSpPr>
      <p:sp>
        <p:nvSpPr>
          <p:cNvPr id="138" name="Google Shape;138;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RECOMMENDATIONS · FOR EVERY BATCH</a:t>
            </a:r>
            <a:endParaRPr b="0" i="0" sz="1200" u="none" cap="none" strike="noStrike">
              <a:solidFill>
                <a:schemeClr val="dk1"/>
              </a:solidFill>
              <a:latin typeface="IBM Plex Sans"/>
              <a:ea typeface="IBM Plex Sans"/>
              <a:cs typeface="IBM Plex Sans"/>
              <a:sym typeface="IBM Plex Sans"/>
            </a:endParaRPr>
          </a:p>
        </p:txBody>
      </p:sp>
      <p:sp>
        <p:nvSpPr>
          <p:cNvPr id="139" name="Google Shape;139;p7"/>
          <p:cNvSpPr txBox="1"/>
          <p:nvPr>
            <p:ph type="title"/>
          </p:nvPr>
        </p:nvSpPr>
        <p:spPr>
          <a:xfrm>
            <a:off x="812800" y="12039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Four habits from calib2</a:t>
            </a:r>
            <a:endParaRPr sz="3200"/>
          </a:p>
        </p:txBody>
      </p:sp>
      <p:sp>
        <p:nvSpPr>
          <p:cNvPr id="140" name="Google Shape;140;p7"/>
          <p:cNvSpPr/>
          <p:nvPr/>
        </p:nvSpPr>
        <p:spPr>
          <a:xfrm>
            <a:off x="815975" y="1831910"/>
            <a:ext cx="10560050" cy="769144"/>
          </a:xfrm>
          <a:prstGeom prst="roundRect">
            <a:avLst>
              <a:gd fmla="val 12797"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1020233" y="1959967"/>
            <a:ext cx="457200" cy="33271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B4501A"/>
              </a:buClr>
              <a:buSzPts val="2200"/>
              <a:buFont typeface="Source Serif 4"/>
              <a:buNone/>
            </a:pPr>
            <a:r>
              <a:rPr b="1" i="0" lang="en-US" sz="2200" u="none" cap="none" strike="noStrike">
                <a:solidFill>
                  <a:srgbClr val="B4501A"/>
                </a:solidFill>
                <a:latin typeface="Source Serif 4"/>
                <a:ea typeface="Source Serif 4"/>
                <a:cs typeface="Source Serif 4"/>
                <a:sym typeface="Source Serif 4"/>
              </a:rPr>
              <a:t>1</a:t>
            </a:r>
            <a:endParaRPr b="0" i="0" sz="2200" u="none" cap="none" strike="noStrike">
              <a:solidFill>
                <a:schemeClr val="dk1"/>
              </a:solidFill>
              <a:latin typeface="IBM Plex Sans"/>
              <a:ea typeface="IBM Plex Sans"/>
              <a:cs typeface="IBM Plex Sans"/>
              <a:sym typeface="IBM Plex Sans"/>
            </a:endParaRPr>
          </a:p>
        </p:txBody>
      </p:sp>
      <p:sp>
        <p:nvSpPr>
          <p:cNvPr id="142" name="Google Shape;142;p7"/>
          <p:cNvSpPr/>
          <p:nvPr/>
        </p:nvSpPr>
        <p:spPr>
          <a:xfrm>
            <a:off x="1629833" y="1959967"/>
            <a:ext cx="9828192"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3A"/>
              </a:buClr>
              <a:buSzPts val="1600"/>
              <a:buFont typeface="IBM Plex Sans"/>
              <a:buNone/>
            </a:pPr>
            <a:r>
              <a:rPr b="1" i="0" lang="en-US" sz="1600" u="none" cap="none" strike="noStrike">
                <a:solidFill>
                  <a:srgbClr val="1B2A3A"/>
                </a:solidFill>
                <a:latin typeface="IBM Plex Sans"/>
                <a:ea typeface="IBM Plex Sans"/>
                <a:cs typeface="IBM Plex Sans"/>
                <a:sym typeface="IBM Plex Sans"/>
              </a:rPr>
              <a:t>Read before you confirm</a:t>
            </a:r>
            <a:endParaRPr b="0" i="0" sz="1600" u="none" cap="none" strike="noStrike">
              <a:solidFill>
                <a:schemeClr val="dk1"/>
              </a:solidFill>
              <a:latin typeface="IBM Plex Sans"/>
              <a:ea typeface="IBM Plex Sans"/>
              <a:cs typeface="IBM Plex Sans"/>
              <a:sym typeface="IBM Plex Sans"/>
            </a:endParaRPr>
          </a:p>
        </p:txBody>
      </p:sp>
      <p:sp>
        <p:nvSpPr>
          <p:cNvPr id="143" name="Google Shape;143;p7"/>
          <p:cNvSpPr/>
          <p:nvPr/>
        </p:nvSpPr>
        <p:spPr>
          <a:xfrm>
            <a:off x="1629833" y="2241882"/>
            <a:ext cx="9828192"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Usually right, not always. Background and Basis were corrected most.</a:t>
            </a:r>
            <a:endParaRPr b="0" i="0" sz="1300" u="none" cap="none" strike="noStrike">
              <a:solidFill>
                <a:schemeClr val="dk1"/>
              </a:solidFill>
              <a:latin typeface="IBM Plex Sans"/>
              <a:ea typeface="IBM Plex Sans"/>
              <a:cs typeface="IBM Plex Sans"/>
              <a:sym typeface="IBM Plex Sans"/>
            </a:endParaRPr>
          </a:p>
        </p:txBody>
      </p:sp>
      <p:sp>
        <p:nvSpPr>
          <p:cNvPr id="144" name="Google Shape;144;p7"/>
          <p:cNvSpPr/>
          <p:nvPr/>
        </p:nvSpPr>
        <p:spPr>
          <a:xfrm>
            <a:off x="815975" y="2709004"/>
            <a:ext cx="10560050" cy="1000257"/>
          </a:xfrm>
          <a:prstGeom prst="roundRect">
            <a:avLst>
              <a:gd fmla="val 9840"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1020233" y="2837061"/>
            <a:ext cx="457200" cy="33271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B4501A"/>
              </a:buClr>
              <a:buSzPts val="2200"/>
              <a:buFont typeface="Source Serif 4"/>
              <a:buNone/>
            </a:pPr>
            <a:r>
              <a:rPr b="1" i="0" lang="en-US" sz="2200" u="none" cap="none" strike="noStrike">
                <a:solidFill>
                  <a:srgbClr val="B4501A"/>
                </a:solidFill>
                <a:latin typeface="Source Serif 4"/>
                <a:ea typeface="Source Serif 4"/>
                <a:cs typeface="Source Serif 4"/>
                <a:sym typeface="Source Serif 4"/>
              </a:rPr>
              <a:t>2</a:t>
            </a:r>
            <a:endParaRPr b="0" i="0" sz="2200" u="none" cap="none" strike="noStrike">
              <a:solidFill>
                <a:schemeClr val="dk1"/>
              </a:solidFill>
              <a:latin typeface="IBM Plex Sans"/>
              <a:ea typeface="IBM Plex Sans"/>
              <a:cs typeface="IBM Plex Sans"/>
              <a:sym typeface="IBM Plex Sans"/>
            </a:endParaRPr>
          </a:p>
        </p:txBody>
      </p:sp>
      <p:sp>
        <p:nvSpPr>
          <p:cNvPr id="146" name="Google Shape;146;p7"/>
          <p:cNvSpPr/>
          <p:nvPr/>
        </p:nvSpPr>
        <p:spPr>
          <a:xfrm>
            <a:off x="1629833" y="2837061"/>
            <a:ext cx="9828192"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3A"/>
              </a:buClr>
              <a:buSzPts val="1600"/>
              <a:buFont typeface="IBM Plex Sans"/>
              <a:buNone/>
            </a:pPr>
            <a:r>
              <a:rPr b="1" i="0" lang="en-US" sz="1600" u="none" cap="none" strike="noStrike">
                <a:solidFill>
                  <a:srgbClr val="1B2A3A"/>
                </a:solidFill>
                <a:latin typeface="IBM Plex Sans"/>
                <a:ea typeface="IBM Plex Sans"/>
                <a:cs typeface="IBM Plex Sans"/>
                <a:sym typeface="IBM Plex Sans"/>
              </a:rPr>
              <a:t>Watch the three boundaries</a:t>
            </a:r>
            <a:endParaRPr b="0" i="0" sz="1600" u="none" cap="none" strike="noStrike">
              <a:solidFill>
                <a:schemeClr val="dk1"/>
              </a:solidFill>
              <a:latin typeface="IBM Plex Sans"/>
              <a:ea typeface="IBM Plex Sans"/>
              <a:cs typeface="IBM Plex Sans"/>
              <a:sym typeface="IBM Plex Sans"/>
            </a:endParaRPr>
          </a:p>
        </p:txBody>
      </p:sp>
      <p:sp>
        <p:nvSpPr>
          <p:cNvPr id="147" name="Google Shape;147;p7"/>
          <p:cNvSpPr/>
          <p:nvPr/>
        </p:nvSpPr>
        <p:spPr>
          <a:xfrm>
            <a:off x="1629833" y="3118976"/>
            <a:ext cx="9828192"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Background vs Evidence (rule 10) · Basis vs Improvement/Modification vs Application (rules 3, 5) · Comparison vs Background (rule 4)</a:t>
            </a:r>
            <a:endParaRPr b="0" i="0" sz="1300" u="none" cap="none" strike="noStrike">
              <a:solidFill>
                <a:schemeClr val="dk1"/>
              </a:solidFill>
              <a:latin typeface="IBM Plex Sans"/>
              <a:ea typeface="IBM Plex Sans"/>
              <a:cs typeface="IBM Plex Sans"/>
              <a:sym typeface="IBM Plex Sans"/>
            </a:endParaRPr>
          </a:p>
        </p:txBody>
      </p:sp>
      <p:sp>
        <p:nvSpPr>
          <p:cNvPr id="148" name="Google Shape;148;p7"/>
          <p:cNvSpPr/>
          <p:nvPr/>
        </p:nvSpPr>
        <p:spPr>
          <a:xfrm>
            <a:off x="815975" y="3817212"/>
            <a:ext cx="10560050" cy="769144"/>
          </a:xfrm>
          <a:prstGeom prst="roundRect">
            <a:avLst>
              <a:gd fmla="val 12797"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1020233" y="3945269"/>
            <a:ext cx="457200" cy="33271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B4501A"/>
              </a:buClr>
              <a:buSzPts val="2200"/>
              <a:buFont typeface="Source Serif 4"/>
              <a:buNone/>
            </a:pPr>
            <a:r>
              <a:rPr b="1" i="0" lang="en-US" sz="2200" u="none" cap="none" strike="noStrike">
                <a:solidFill>
                  <a:srgbClr val="B4501A"/>
                </a:solidFill>
                <a:latin typeface="Source Serif 4"/>
                <a:ea typeface="Source Serif 4"/>
                <a:cs typeface="Source Serif 4"/>
                <a:sym typeface="Source Serif 4"/>
              </a:rPr>
              <a:t>3</a:t>
            </a:r>
            <a:endParaRPr b="0" i="0" sz="2200" u="none" cap="none" strike="noStrike">
              <a:solidFill>
                <a:schemeClr val="dk1"/>
              </a:solidFill>
              <a:latin typeface="IBM Plex Sans"/>
              <a:ea typeface="IBM Plex Sans"/>
              <a:cs typeface="IBM Plex Sans"/>
              <a:sym typeface="IBM Plex Sans"/>
            </a:endParaRPr>
          </a:p>
        </p:txBody>
      </p:sp>
      <p:sp>
        <p:nvSpPr>
          <p:cNvPr id="150" name="Google Shape;150;p7"/>
          <p:cNvSpPr/>
          <p:nvPr/>
        </p:nvSpPr>
        <p:spPr>
          <a:xfrm>
            <a:off x="1629833" y="3945269"/>
            <a:ext cx="9828192"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3A"/>
              </a:buClr>
              <a:buSzPts val="1600"/>
              <a:buFont typeface="IBM Plex Sans"/>
              <a:buNone/>
            </a:pPr>
            <a:r>
              <a:rPr b="1" i="0" lang="en-US" sz="1600" u="none" cap="none" strike="noStrike">
                <a:solidFill>
                  <a:srgbClr val="1B2A3A"/>
                </a:solidFill>
                <a:latin typeface="IBM Plex Sans"/>
                <a:ea typeface="IBM Plex Sans"/>
                <a:cs typeface="IBM Plex Sans"/>
                <a:sym typeface="IBM Plex Sans"/>
              </a:rPr>
              <a:t>Fill every field</a:t>
            </a:r>
            <a:endParaRPr b="0" i="0" sz="1600" u="none" cap="none" strike="noStrike">
              <a:solidFill>
                <a:schemeClr val="dk1"/>
              </a:solidFill>
              <a:latin typeface="IBM Plex Sans"/>
              <a:ea typeface="IBM Plex Sans"/>
              <a:cs typeface="IBM Plex Sans"/>
              <a:sym typeface="IBM Plex Sans"/>
            </a:endParaRPr>
          </a:p>
        </p:txBody>
      </p:sp>
      <p:sp>
        <p:nvSpPr>
          <p:cNvPr id="151" name="Google Shape;151;p7"/>
          <p:cNvSpPr/>
          <p:nvPr/>
        </p:nvSpPr>
        <p:spPr>
          <a:xfrm>
            <a:off x="1629833" y="4227184"/>
            <a:ext cx="9828192"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Confianza on every row · a note with the rule when you correct · minutes on Resumen</a:t>
            </a:r>
            <a:endParaRPr b="0" i="0" sz="1300" u="none" cap="none" strike="noStrike">
              <a:solidFill>
                <a:schemeClr val="dk1"/>
              </a:solidFill>
              <a:latin typeface="IBM Plex Sans"/>
              <a:ea typeface="IBM Plex Sans"/>
              <a:cs typeface="IBM Plex Sans"/>
              <a:sym typeface="IBM Plex Sans"/>
            </a:endParaRPr>
          </a:p>
        </p:txBody>
      </p:sp>
      <p:sp>
        <p:nvSpPr>
          <p:cNvPr id="152" name="Google Shape;152;p7"/>
          <p:cNvSpPr/>
          <p:nvPr/>
        </p:nvSpPr>
        <p:spPr>
          <a:xfrm>
            <a:off x="815975" y="4694306"/>
            <a:ext cx="10560050" cy="769144"/>
          </a:xfrm>
          <a:prstGeom prst="roundRect">
            <a:avLst>
              <a:gd fmla="val 12797"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1020233" y="4822363"/>
            <a:ext cx="457200" cy="33271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B4501A"/>
              </a:buClr>
              <a:buSzPts val="2200"/>
              <a:buFont typeface="Source Serif 4"/>
              <a:buNone/>
            </a:pPr>
            <a:r>
              <a:rPr b="1" i="0" lang="en-US" sz="2200" u="none" cap="none" strike="noStrike">
                <a:solidFill>
                  <a:srgbClr val="B4501A"/>
                </a:solidFill>
                <a:latin typeface="Source Serif 4"/>
                <a:ea typeface="Source Serif 4"/>
                <a:cs typeface="Source Serif 4"/>
                <a:sym typeface="Source Serif 4"/>
              </a:rPr>
              <a:t>4</a:t>
            </a:r>
            <a:endParaRPr b="0" i="0" sz="2200" u="none" cap="none" strike="noStrike">
              <a:solidFill>
                <a:schemeClr val="dk1"/>
              </a:solidFill>
              <a:latin typeface="IBM Plex Sans"/>
              <a:ea typeface="IBM Plex Sans"/>
              <a:cs typeface="IBM Plex Sans"/>
              <a:sym typeface="IBM Plex Sans"/>
            </a:endParaRPr>
          </a:p>
        </p:txBody>
      </p:sp>
      <p:sp>
        <p:nvSpPr>
          <p:cNvPr id="154" name="Google Shape;154;p7"/>
          <p:cNvSpPr/>
          <p:nvPr/>
        </p:nvSpPr>
        <p:spPr>
          <a:xfrm>
            <a:off x="1629833" y="4822363"/>
            <a:ext cx="9828192"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3A"/>
              </a:buClr>
              <a:buSzPts val="1600"/>
              <a:buFont typeface="IBM Plex Sans"/>
              <a:buNone/>
            </a:pPr>
            <a:r>
              <a:rPr b="1" i="0" lang="en-US" sz="1600" u="none" cap="none" strike="noStrike">
                <a:solidFill>
                  <a:srgbClr val="1B2A3A"/>
                </a:solidFill>
                <a:latin typeface="IBM Plex Sans"/>
                <a:ea typeface="IBM Plex Sans"/>
                <a:cs typeface="IBM Plex Sans"/>
                <a:sym typeface="IBM Plex Sans"/>
              </a:rPr>
              <a:t>Work alone until annotation closes</a:t>
            </a:r>
            <a:endParaRPr b="0" i="0" sz="1600" u="none" cap="none" strike="noStrike">
              <a:solidFill>
                <a:schemeClr val="dk1"/>
              </a:solidFill>
              <a:latin typeface="IBM Plex Sans"/>
              <a:ea typeface="IBM Plex Sans"/>
              <a:cs typeface="IBM Plex Sans"/>
              <a:sym typeface="IBM Plex Sans"/>
            </a:endParaRPr>
          </a:p>
        </p:txBody>
      </p:sp>
      <p:sp>
        <p:nvSpPr>
          <p:cNvPr id="155" name="Google Shape;155;p7"/>
          <p:cNvSpPr/>
          <p:nvPr/>
        </p:nvSpPr>
        <p:spPr>
          <a:xfrm>
            <a:off x="1629833" y="5104278"/>
            <a:ext cx="9828192"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Don’t discuss packages: each one needs two independent answers.</a:t>
            </a:r>
            <a:endParaRPr b="0" i="0" sz="1300" u="none" cap="none" strike="noStrike">
              <a:solidFill>
                <a:schemeClr val="dk1"/>
              </a:solidFill>
              <a:latin typeface="IBM Plex Sans"/>
              <a:ea typeface="IBM Plex Sans"/>
              <a:cs typeface="IBM Plex Sans"/>
              <a:sym typeface="IBM Plex Sans"/>
            </a:endParaRPr>
          </a:p>
        </p:txBody>
      </p:sp>
      <p:sp>
        <p:nvSpPr>
          <p:cNvPr id="156" name="Google Shape;156;p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7 · guide rev3.1 and the instructions Sheet in the shared folder</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4"/>
        </a:solidFill>
      </p:bgPr>
    </p:bg>
    <p:spTree>
      <p:nvGrpSpPr>
        <p:cNvPr id="161" name="Shape 161"/>
        <p:cNvGrpSpPr/>
        <p:nvPr/>
      </p:nvGrpSpPr>
      <p:grpSpPr>
        <a:xfrm>
          <a:off x="0" y="0"/>
          <a:ext cx="0" cy="0"/>
          <a:chOff x="0" y="0"/>
          <a:chExt cx="0" cy="0"/>
        </a:xfrm>
      </p:grpSpPr>
      <p:sp>
        <p:nvSpPr>
          <p:cNvPr id="162" name="Google Shape;162;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ROUND 1 · WHAT WAS SAMPLED</a:t>
            </a:r>
            <a:endParaRPr b="0" i="0" sz="1200" u="none" cap="none" strike="noStrike">
              <a:solidFill>
                <a:schemeClr val="dk1"/>
              </a:solidFill>
              <a:latin typeface="IBM Plex Sans"/>
              <a:ea typeface="IBM Plex Sans"/>
              <a:cs typeface="IBM Plex Sans"/>
              <a:sym typeface="IBM Plex Sans"/>
            </a:endParaRPr>
          </a:p>
        </p:txBody>
      </p:sp>
      <p:sp>
        <p:nvSpPr>
          <p:cNvPr id="163" name="Google Shape;163;p8"/>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Two test sets, six categories, 72 batches</a:t>
            </a:r>
            <a:endParaRPr sz="3200"/>
          </a:p>
        </p:txBody>
      </p:sp>
      <p:sp>
        <p:nvSpPr>
          <p:cNvPr id="164" name="Google Shape;164;p8"/>
          <p:cNvSpPr/>
          <p:nvPr/>
        </p:nvSpPr>
        <p:spPr>
          <a:xfrm>
            <a:off x="815975" y="1882710"/>
            <a:ext cx="2520950" cy="1556544"/>
          </a:xfrm>
          <a:prstGeom prst="roundRect">
            <a:avLst>
              <a:gd fmla="val 6323"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020233" y="2086967"/>
            <a:ext cx="2175806"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6</a:t>
            </a:r>
            <a:endParaRPr b="0" i="0" sz="4800" u="none" cap="none" strike="noStrike">
              <a:solidFill>
                <a:schemeClr val="dk1"/>
              </a:solidFill>
              <a:latin typeface="IBM Plex Sans"/>
              <a:ea typeface="IBM Plex Sans"/>
              <a:cs typeface="IBM Plex Sans"/>
              <a:sym typeface="IBM Plex Sans"/>
            </a:endParaRPr>
          </a:p>
        </p:txBody>
      </p:sp>
      <p:sp>
        <p:nvSpPr>
          <p:cNvPr id="166" name="Google Shape;166;p8"/>
          <p:cNvSpPr/>
          <p:nvPr/>
        </p:nvSpPr>
        <p:spPr>
          <a:xfrm>
            <a:off x="1020233" y="2772767"/>
            <a:ext cx="2175806"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categories with enough supply</a:t>
            </a:r>
            <a:endParaRPr b="0" i="0" sz="1300" u="none" cap="none" strike="noStrike">
              <a:solidFill>
                <a:schemeClr val="dk1"/>
              </a:solidFill>
              <a:latin typeface="IBM Plex Sans"/>
              <a:ea typeface="IBM Plex Sans"/>
              <a:cs typeface="IBM Plex Sans"/>
              <a:sym typeface="IBM Plex Sans"/>
            </a:endParaRPr>
          </a:p>
        </p:txBody>
      </p:sp>
      <p:sp>
        <p:nvSpPr>
          <p:cNvPr id="167" name="Google Shape;167;p8"/>
          <p:cNvSpPr/>
          <p:nvPr/>
        </p:nvSpPr>
        <p:spPr>
          <a:xfrm>
            <a:off x="3495675" y="1882710"/>
            <a:ext cx="2520950" cy="1556544"/>
          </a:xfrm>
          <a:prstGeom prst="roundRect">
            <a:avLst>
              <a:gd fmla="val 6323"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3699933" y="2086967"/>
            <a:ext cx="2175806"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2</a:t>
            </a:r>
            <a:endParaRPr b="0" i="0" sz="4800" u="none" cap="none" strike="noStrike">
              <a:solidFill>
                <a:schemeClr val="dk1"/>
              </a:solidFill>
              <a:latin typeface="IBM Plex Sans"/>
              <a:ea typeface="IBM Plex Sans"/>
              <a:cs typeface="IBM Plex Sans"/>
              <a:sym typeface="IBM Plex Sans"/>
            </a:endParaRPr>
          </a:p>
        </p:txBody>
      </p:sp>
      <p:sp>
        <p:nvSpPr>
          <p:cNvPr id="169" name="Google Shape;169;p8"/>
          <p:cNvSpPr/>
          <p:nvPr/>
        </p:nvSpPr>
        <p:spPr>
          <a:xfrm>
            <a:off x="3699933" y="2772767"/>
            <a:ext cx="2175806"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test sets: T_A owned by G14, T_B owned by G15</a:t>
            </a:r>
            <a:endParaRPr b="0" i="0" sz="1300" u="none" cap="none" strike="noStrike">
              <a:solidFill>
                <a:schemeClr val="dk1"/>
              </a:solidFill>
              <a:latin typeface="IBM Plex Sans"/>
              <a:ea typeface="IBM Plex Sans"/>
              <a:cs typeface="IBM Plex Sans"/>
              <a:sym typeface="IBM Plex Sans"/>
            </a:endParaRPr>
          </a:p>
        </p:txBody>
      </p:sp>
      <p:sp>
        <p:nvSpPr>
          <p:cNvPr id="170" name="Google Shape;170;p8"/>
          <p:cNvSpPr/>
          <p:nvPr/>
        </p:nvSpPr>
        <p:spPr>
          <a:xfrm>
            <a:off x="6175375" y="1882710"/>
            <a:ext cx="2520950" cy="1556544"/>
          </a:xfrm>
          <a:prstGeom prst="roundRect">
            <a:avLst>
              <a:gd fmla="val 6323"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379633" y="2086967"/>
            <a:ext cx="2175806"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3,960</a:t>
            </a:r>
            <a:endParaRPr b="0" i="0" sz="4800" u="none" cap="none" strike="noStrike">
              <a:solidFill>
                <a:schemeClr val="dk1"/>
              </a:solidFill>
              <a:latin typeface="IBM Plex Sans"/>
              <a:ea typeface="IBM Plex Sans"/>
              <a:cs typeface="IBM Plex Sans"/>
              <a:sym typeface="IBM Plex Sans"/>
            </a:endParaRPr>
          </a:p>
        </p:txBody>
      </p:sp>
      <p:sp>
        <p:nvSpPr>
          <p:cNvPr id="172" name="Google Shape;172;p8"/>
          <p:cNvSpPr/>
          <p:nvPr/>
        </p:nvSpPr>
        <p:spPr>
          <a:xfrm>
            <a:off x="6379633" y="2772767"/>
            <a:ext cx="2175806"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active packages: 330 per set and category</a:t>
            </a:r>
            <a:endParaRPr b="0" i="0" sz="1300" u="none" cap="none" strike="noStrike">
              <a:solidFill>
                <a:schemeClr val="dk1"/>
              </a:solidFill>
              <a:latin typeface="IBM Plex Sans"/>
              <a:ea typeface="IBM Plex Sans"/>
              <a:cs typeface="IBM Plex Sans"/>
              <a:sym typeface="IBM Plex Sans"/>
            </a:endParaRPr>
          </a:p>
        </p:txBody>
      </p:sp>
      <p:sp>
        <p:nvSpPr>
          <p:cNvPr id="173" name="Google Shape;173;p8"/>
          <p:cNvSpPr/>
          <p:nvPr/>
        </p:nvSpPr>
        <p:spPr>
          <a:xfrm>
            <a:off x="8855075" y="1882710"/>
            <a:ext cx="2520950" cy="1556544"/>
          </a:xfrm>
          <a:prstGeom prst="roundRect">
            <a:avLst>
              <a:gd fmla="val 6323"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9059334" y="2086967"/>
            <a:ext cx="2175806"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72</a:t>
            </a:r>
            <a:endParaRPr b="0" i="0" sz="4800" u="none" cap="none" strike="noStrike">
              <a:solidFill>
                <a:schemeClr val="dk1"/>
              </a:solidFill>
              <a:latin typeface="IBM Plex Sans"/>
              <a:ea typeface="IBM Plex Sans"/>
              <a:cs typeface="IBM Plex Sans"/>
              <a:sym typeface="IBM Plex Sans"/>
            </a:endParaRPr>
          </a:p>
        </p:txBody>
      </p:sp>
      <p:sp>
        <p:nvSpPr>
          <p:cNvPr id="175" name="Google Shape;175;p8"/>
          <p:cNvSpPr/>
          <p:nvPr/>
        </p:nvSpPr>
        <p:spPr>
          <a:xfrm>
            <a:off x="9059334" y="2772767"/>
            <a:ext cx="2175806"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batches of 55, every category in every batch</a:t>
            </a:r>
            <a:endParaRPr b="0" i="0" sz="1300" u="none" cap="none" strike="noStrike">
              <a:solidFill>
                <a:schemeClr val="dk1"/>
              </a:solidFill>
              <a:latin typeface="IBM Plex Sans"/>
              <a:ea typeface="IBM Plex Sans"/>
              <a:cs typeface="IBM Plex Sans"/>
              <a:sym typeface="IBM Plex Sans"/>
            </a:endParaRPr>
          </a:p>
        </p:txBody>
      </p:sp>
      <p:sp>
        <p:nvSpPr>
          <p:cNvPr id="176" name="Google Shape;176;p8"/>
          <p:cNvSpPr/>
          <p:nvPr/>
        </p:nvSpPr>
        <p:spPr>
          <a:xfrm>
            <a:off x="815975" y="3648804"/>
            <a:ext cx="5200650" cy="1433976"/>
          </a:xfrm>
          <a:prstGeom prst="roundRect">
            <a:avLst>
              <a:gd fmla="val 6864"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1020233" y="3853061"/>
            <a:ext cx="4935897"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01A"/>
              </a:buClr>
              <a:buSzPts val="1600"/>
              <a:buFont typeface="IBM Plex Sans"/>
              <a:buNone/>
            </a:pPr>
            <a:r>
              <a:rPr b="1" i="0" lang="en-US" sz="1600" u="none" cap="none" strike="noStrike">
                <a:solidFill>
                  <a:srgbClr val="B4501A"/>
                </a:solidFill>
                <a:latin typeface="IBM Plex Sans"/>
                <a:ea typeface="IBM Plex Sans"/>
                <a:cs typeface="IBM Plex Sans"/>
                <a:sym typeface="IBM Plex Sans"/>
              </a:rPr>
              <a:t>Per person</a:t>
            </a:r>
            <a:endParaRPr b="0" i="0" sz="1600" u="none" cap="none" strike="noStrike">
              <a:solidFill>
                <a:schemeClr val="dk1"/>
              </a:solidFill>
              <a:latin typeface="IBM Plex Sans"/>
              <a:ea typeface="IBM Plex Sans"/>
              <a:cs typeface="IBM Plex Sans"/>
              <a:sym typeface="IBM Plex Sans"/>
            </a:endParaRPr>
          </a:p>
        </p:txBody>
      </p:sp>
      <p:sp>
        <p:nvSpPr>
          <p:cNvPr id="178" name="Google Shape;178;p8"/>
          <p:cNvSpPr/>
          <p:nvPr/>
        </p:nvSpPr>
        <p:spPr>
          <a:xfrm>
            <a:off x="1020233" y="4160379"/>
            <a:ext cx="4935897"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18 batches, 990 packages: 9 batches from your group’s set (validation) and 9 from the other set (second annotation). Every G14–G15 pair shares 4 or 5 batches.</a:t>
            </a:r>
            <a:endParaRPr b="0" i="0" sz="1300" u="none" cap="none" strike="noStrike">
              <a:solidFill>
                <a:schemeClr val="dk1"/>
              </a:solidFill>
              <a:latin typeface="IBM Plex Sans"/>
              <a:ea typeface="IBM Plex Sans"/>
              <a:cs typeface="IBM Plex Sans"/>
              <a:sym typeface="IBM Plex Sans"/>
            </a:endParaRPr>
          </a:p>
        </p:txBody>
      </p:sp>
      <p:sp>
        <p:nvSpPr>
          <p:cNvPr id="179" name="Google Shape;179;p8"/>
          <p:cNvSpPr/>
          <p:nvPr/>
        </p:nvSpPr>
        <p:spPr>
          <a:xfrm>
            <a:off x="6175375" y="3648804"/>
            <a:ext cx="5200650" cy="1433976"/>
          </a:xfrm>
          <a:prstGeom prst="roundRect">
            <a:avLst>
              <a:gd fmla="val 6864"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379633" y="3853061"/>
            <a:ext cx="4935897"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01A"/>
              </a:buClr>
              <a:buSzPts val="1600"/>
              <a:buFont typeface="IBM Plex Sans"/>
              <a:buNone/>
            </a:pPr>
            <a:r>
              <a:rPr b="1" i="0" lang="en-US" sz="1600" u="none" cap="none" strike="noStrike">
                <a:solidFill>
                  <a:srgbClr val="B4501A"/>
                </a:solidFill>
                <a:latin typeface="IBM Plex Sans"/>
                <a:ea typeface="IBM Plex Sans"/>
                <a:cs typeface="IBM Plex Sans"/>
                <a:sym typeface="IBM Plex Sans"/>
              </a:rPr>
              <a:t>Per set and category</a:t>
            </a:r>
            <a:endParaRPr b="0" i="0" sz="1600" u="none" cap="none" strike="noStrike">
              <a:solidFill>
                <a:schemeClr val="dk1"/>
              </a:solidFill>
              <a:latin typeface="IBM Plex Sans"/>
              <a:ea typeface="IBM Plex Sans"/>
              <a:cs typeface="IBM Plex Sans"/>
              <a:sym typeface="IBM Plex Sans"/>
            </a:endParaRPr>
          </a:p>
        </p:txBody>
      </p:sp>
      <p:sp>
        <p:nvSpPr>
          <p:cNvPr id="181" name="Google Shape;181;p8"/>
          <p:cNvSpPr/>
          <p:nvPr/>
        </p:nvSpPr>
        <p:spPr>
          <a:xfrm>
            <a:off x="6379633" y="4160379"/>
            <a:ext cx="4935897" cy="743545"/>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360 drawn: 330 active, 30 reserve. At most 2 per citing paper and 1 per citation group. All 12 drawn in full; Originator was tightest, 658 and 711 candidates.</a:t>
            </a:r>
            <a:endParaRPr b="0" i="0" sz="1300" u="none" cap="none" strike="noStrike">
              <a:solidFill>
                <a:schemeClr val="dk1"/>
              </a:solidFill>
              <a:latin typeface="IBM Plex Sans"/>
              <a:ea typeface="IBM Plex Sans"/>
              <a:cs typeface="IBM Plex Sans"/>
              <a:sym typeface="IBM Plex Sans"/>
            </a:endParaRPr>
          </a:p>
        </p:txBody>
      </p:sp>
      <p:sp>
        <p:nvSpPr>
          <p:cNvPr id="182" name="Google Shape;182;p8"/>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8 · seed LCR-G14G15-A3-2026 · halves by citing paper · contract §6, §7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87" name="Shape 187"/>
        <p:cNvGrpSpPr/>
        <p:nvPr/>
      </p:nvGrpSpPr>
      <p:grpSpPr>
        <a:xfrm>
          <a:off x="0" y="0"/>
          <a:ext cx="0" cy="0"/>
          <a:chOff x="0" y="0"/>
          <a:chExt cx="0" cy="0"/>
        </a:xfrm>
      </p:grpSpPr>
      <p:sp>
        <p:nvSpPr>
          <p:cNvPr id="188" name="Google Shape;188;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RELEASE PLAN · GOING FORWARD</a:t>
            </a:r>
            <a:endParaRPr b="0" i="0" sz="1200" u="none" cap="none" strike="noStrike">
              <a:solidFill>
                <a:schemeClr val="dk1"/>
              </a:solidFill>
              <a:latin typeface="IBM Plex Sans"/>
              <a:ea typeface="IBM Plex Sans"/>
              <a:cs typeface="IBM Plex Sans"/>
              <a:sym typeface="IBM Plex Sans"/>
            </a:endParaRPr>
          </a:p>
        </p:txBody>
      </p:sp>
      <p:sp>
        <p:nvSpPr>
          <p:cNvPr id="189" name="Google Shape;189;p9"/>
          <p:cNvSpPr txBox="1"/>
          <p:nvPr>
            <p:ph type="title"/>
          </p:nvPr>
        </p:nvSpPr>
        <p:spPr>
          <a:xfrm>
            <a:off x="812800" y="11785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How the batches reach your folder</a:t>
            </a:r>
            <a:endParaRPr sz="3200"/>
          </a:p>
        </p:txBody>
      </p:sp>
      <p:sp>
        <p:nvSpPr>
          <p:cNvPr id="190" name="Google Shape;190;p9"/>
          <p:cNvSpPr/>
          <p:nvPr/>
        </p:nvSpPr>
        <p:spPr>
          <a:xfrm>
            <a:off x="815975" y="1781113"/>
            <a:ext cx="10560050" cy="675151"/>
          </a:xfrm>
          <a:prstGeom prst="roundRect">
            <a:avLst>
              <a:gd fmla="val 1081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994833" y="1883767"/>
            <a:ext cx="248539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Wave 1</a:t>
            </a:r>
            <a:endParaRPr b="0" i="0" sz="1600" u="none" cap="none" strike="noStrike">
              <a:solidFill>
                <a:schemeClr val="dk1"/>
              </a:solidFill>
              <a:latin typeface="IBM Plex Sans"/>
              <a:ea typeface="IBM Plex Sans"/>
              <a:cs typeface="IBM Plex Sans"/>
              <a:sym typeface="IBM Plex Sans"/>
            </a:endParaRPr>
          </a:p>
        </p:txBody>
      </p:sp>
      <p:sp>
        <p:nvSpPr>
          <p:cNvPr id="192" name="Google Shape;192;p9"/>
          <p:cNvSpPr/>
          <p:nvPr/>
        </p:nvSpPr>
        <p:spPr>
          <a:xfrm>
            <a:off x="994833" y="2140285"/>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now</a:t>
            </a:r>
            <a:endParaRPr b="0" i="0" sz="1200" u="none" cap="none" strike="noStrike">
              <a:solidFill>
                <a:schemeClr val="dk1"/>
              </a:solidFill>
              <a:latin typeface="IBM Plex Sans"/>
              <a:ea typeface="IBM Plex Sans"/>
              <a:cs typeface="IBM Plex Sans"/>
              <a:sym typeface="IBM Plex Sans"/>
            </a:endParaRPr>
          </a:p>
        </p:txBody>
      </p:sp>
      <p:sp>
        <p:nvSpPr>
          <p:cNvPr id="193" name="Google Shape;193;p9"/>
          <p:cNvSpPr/>
          <p:nvPr/>
        </p:nvSpPr>
        <p:spPr>
          <a:xfrm>
            <a:off x="3611033" y="2003096"/>
            <a:ext cx="5903891"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8 batches, 4 per set. Everyone gets 2: one from each set.</a:t>
            </a:r>
            <a:endParaRPr b="0" i="0" sz="1300" u="none" cap="none" strike="noStrike">
              <a:solidFill>
                <a:schemeClr val="dk1"/>
              </a:solidFill>
              <a:latin typeface="IBM Plex Sans"/>
              <a:ea typeface="IBM Plex Sans"/>
              <a:cs typeface="IBM Plex Sans"/>
              <a:sym typeface="IBM Plex Sans"/>
            </a:endParaRPr>
          </a:p>
        </p:txBody>
      </p:sp>
      <p:sp>
        <p:nvSpPr>
          <p:cNvPr id="194" name="Google Shape;194;p9"/>
          <p:cNvSpPr/>
          <p:nvPr/>
        </p:nvSpPr>
        <p:spPr>
          <a:xfrm>
            <a:off x="9495367" y="2003096"/>
            <a:ext cx="170180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440 packages</a:t>
            </a:r>
            <a:endParaRPr b="0" i="0" sz="1300" u="none" cap="none" strike="noStrike">
              <a:solidFill>
                <a:schemeClr val="dk1"/>
              </a:solidFill>
              <a:latin typeface="IBM Plex Sans"/>
              <a:ea typeface="IBM Plex Sans"/>
              <a:cs typeface="IBM Plex Sans"/>
              <a:sym typeface="IBM Plex Sans"/>
            </a:endParaRPr>
          </a:p>
        </p:txBody>
      </p:sp>
      <p:sp>
        <p:nvSpPr>
          <p:cNvPr id="195" name="Google Shape;195;p9"/>
          <p:cNvSpPr/>
          <p:nvPr/>
        </p:nvSpPr>
        <p:spPr>
          <a:xfrm>
            <a:off x="815975" y="2538809"/>
            <a:ext cx="10560050" cy="675151"/>
          </a:xfrm>
          <a:prstGeom prst="roundRect">
            <a:avLst>
              <a:gd fmla="val 1081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994833" y="2641470"/>
            <a:ext cx="248539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01A"/>
              </a:buClr>
              <a:buSzPts val="1600"/>
              <a:buFont typeface="IBM Plex Sans"/>
              <a:buNone/>
            </a:pPr>
            <a:r>
              <a:rPr b="1" i="0" lang="en-US" sz="1600" u="none" cap="none" strike="noStrike">
                <a:solidFill>
                  <a:srgbClr val="B4501A"/>
                </a:solidFill>
                <a:latin typeface="IBM Plex Sans"/>
                <a:ea typeface="IBM Plex Sans"/>
                <a:cs typeface="IBM Plex Sans"/>
                <a:sym typeface="IBM Plex Sans"/>
              </a:rPr>
              <a:t>Check</a:t>
            </a:r>
            <a:endParaRPr b="0" i="0" sz="1600" u="none" cap="none" strike="noStrike">
              <a:solidFill>
                <a:schemeClr val="dk1"/>
              </a:solidFill>
              <a:latin typeface="IBM Plex Sans"/>
              <a:ea typeface="IBM Plex Sans"/>
              <a:cs typeface="IBM Plex Sans"/>
              <a:sym typeface="IBM Plex Sans"/>
            </a:endParaRPr>
          </a:p>
        </p:txBody>
      </p:sp>
      <p:sp>
        <p:nvSpPr>
          <p:cNvPr id="197" name="Google Shape;197;p9"/>
          <p:cNvSpPr/>
          <p:nvPr/>
        </p:nvSpPr>
        <p:spPr>
          <a:xfrm>
            <a:off x="994833" y="2897981"/>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when wave 1 is complete</a:t>
            </a:r>
            <a:endParaRPr b="0" i="0" sz="1200" u="none" cap="none" strike="noStrike">
              <a:solidFill>
                <a:schemeClr val="dk1"/>
              </a:solidFill>
              <a:latin typeface="IBM Plex Sans"/>
              <a:ea typeface="IBM Plex Sans"/>
              <a:cs typeface="IBM Plex Sans"/>
              <a:sym typeface="IBM Plex Sans"/>
            </a:endParaRPr>
          </a:p>
        </p:txBody>
      </p:sp>
      <p:sp>
        <p:nvSpPr>
          <p:cNvPr id="198" name="Google Shape;198;p9"/>
          <p:cNvSpPr/>
          <p:nvPr/>
        </p:nvSpPr>
        <p:spPr>
          <a:xfrm>
            <a:off x="3611033" y="2760799"/>
            <a:ext cx="5903891"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Correction rate per set and category decides the reserve (next slide).</a:t>
            </a:r>
            <a:endParaRPr b="0" i="0" sz="1300" u="none" cap="none" strike="noStrike">
              <a:solidFill>
                <a:schemeClr val="dk1"/>
              </a:solidFill>
              <a:latin typeface="IBM Plex Sans"/>
              <a:ea typeface="IBM Plex Sans"/>
              <a:cs typeface="IBM Plex Sans"/>
              <a:sym typeface="IBM Plex Sans"/>
            </a:endParaRPr>
          </a:p>
        </p:txBody>
      </p:sp>
      <p:sp>
        <p:nvSpPr>
          <p:cNvPr id="199" name="Google Shape;199;p9"/>
          <p:cNvSpPr/>
          <p:nvPr/>
        </p:nvSpPr>
        <p:spPr>
          <a:xfrm>
            <a:off x="9495367" y="2760799"/>
            <a:ext cx="170180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decision</a:t>
            </a:r>
            <a:endParaRPr b="0" i="0" sz="1300" u="none" cap="none" strike="noStrike">
              <a:solidFill>
                <a:schemeClr val="dk1"/>
              </a:solidFill>
              <a:latin typeface="IBM Plex Sans"/>
              <a:ea typeface="IBM Plex Sans"/>
              <a:cs typeface="IBM Plex Sans"/>
              <a:sym typeface="IBM Plex Sans"/>
            </a:endParaRPr>
          </a:p>
        </p:txBody>
      </p:sp>
      <p:sp>
        <p:nvSpPr>
          <p:cNvPr id="200" name="Google Shape;200;p9"/>
          <p:cNvSpPr/>
          <p:nvPr/>
        </p:nvSpPr>
        <p:spPr>
          <a:xfrm>
            <a:off x="815975" y="3296512"/>
            <a:ext cx="10560050" cy="675151"/>
          </a:xfrm>
          <a:prstGeom prst="roundRect">
            <a:avLst>
              <a:gd fmla="val 1081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994833" y="3399172"/>
            <a:ext cx="248539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Wave 2</a:t>
            </a:r>
            <a:endParaRPr b="0" i="0" sz="1600" u="none" cap="none" strike="noStrike">
              <a:solidFill>
                <a:schemeClr val="dk1"/>
              </a:solidFill>
              <a:latin typeface="IBM Plex Sans"/>
              <a:ea typeface="IBM Plex Sans"/>
              <a:cs typeface="IBM Plex Sans"/>
              <a:sym typeface="IBM Plex Sans"/>
            </a:endParaRPr>
          </a:p>
        </p:txBody>
      </p:sp>
      <p:sp>
        <p:nvSpPr>
          <p:cNvPr id="202" name="Google Shape;202;p9"/>
          <p:cNvSpPr/>
          <p:nvPr/>
        </p:nvSpPr>
        <p:spPr>
          <a:xfrm>
            <a:off x="994833" y="3655684"/>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19-10-26</a:t>
            </a:r>
            <a:endParaRPr b="0" i="0" sz="1200" u="none" cap="none" strike="noStrike">
              <a:solidFill>
                <a:schemeClr val="dk1"/>
              </a:solidFill>
              <a:latin typeface="IBM Plex Sans"/>
              <a:ea typeface="IBM Plex Sans"/>
              <a:cs typeface="IBM Plex Sans"/>
              <a:sym typeface="IBM Plex Sans"/>
            </a:endParaRPr>
          </a:p>
        </p:txBody>
      </p:sp>
      <p:sp>
        <p:nvSpPr>
          <p:cNvPr id="203" name="Google Shape;203;p9"/>
          <p:cNvSpPr/>
          <p:nvPr/>
        </p:nvSpPr>
        <p:spPr>
          <a:xfrm>
            <a:off x="3611033" y="3518495"/>
            <a:ext cx="5903891"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64 batches, 16 per person. Does not wait for the check.</a:t>
            </a:r>
            <a:endParaRPr b="0" i="0" sz="1300" u="none" cap="none" strike="noStrike">
              <a:solidFill>
                <a:schemeClr val="dk1"/>
              </a:solidFill>
              <a:latin typeface="IBM Plex Sans"/>
              <a:ea typeface="IBM Plex Sans"/>
              <a:cs typeface="IBM Plex Sans"/>
              <a:sym typeface="IBM Plex Sans"/>
            </a:endParaRPr>
          </a:p>
        </p:txBody>
      </p:sp>
      <p:sp>
        <p:nvSpPr>
          <p:cNvPr id="204" name="Google Shape;204;p9"/>
          <p:cNvSpPr/>
          <p:nvPr/>
        </p:nvSpPr>
        <p:spPr>
          <a:xfrm>
            <a:off x="9495367" y="3518495"/>
            <a:ext cx="170180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3,520 packages</a:t>
            </a:r>
            <a:endParaRPr b="0" i="0" sz="1300" u="none" cap="none" strike="noStrike">
              <a:solidFill>
                <a:schemeClr val="dk1"/>
              </a:solidFill>
              <a:latin typeface="IBM Plex Sans"/>
              <a:ea typeface="IBM Plex Sans"/>
              <a:cs typeface="IBM Plex Sans"/>
              <a:sym typeface="IBM Plex Sans"/>
            </a:endParaRPr>
          </a:p>
        </p:txBody>
      </p:sp>
      <p:sp>
        <p:nvSpPr>
          <p:cNvPr id="205" name="Google Shape;205;p9"/>
          <p:cNvSpPr/>
          <p:nvPr/>
        </p:nvSpPr>
        <p:spPr>
          <a:xfrm>
            <a:off x="815975" y="4054215"/>
            <a:ext cx="10560050" cy="675151"/>
          </a:xfrm>
          <a:prstGeom prst="roundRect">
            <a:avLst>
              <a:gd fmla="val 1081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994833" y="4156869"/>
            <a:ext cx="248539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Wave R</a:t>
            </a:r>
            <a:endParaRPr b="0" i="0" sz="1600" u="none" cap="none" strike="noStrike">
              <a:solidFill>
                <a:schemeClr val="dk1"/>
              </a:solidFill>
              <a:latin typeface="IBM Plex Sans"/>
              <a:ea typeface="IBM Plex Sans"/>
              <a:cs typeface="IBM Plex Sans"/>
              <a:sym typeface="IBM Plex Sans"/>
            </a:endParaRPr>
          </a:p>
        </p:txBody>
      </p:sp>
      <p:sp>
        <p:nvSpPr>
          <p:cNvPr id="207" name="Google Shape;207;p9"/>
          <p:cNvSpPr/>
          <p:nvPr/>
        </p:nvSpPr>
        <p:spPr>
          <a:xfrm>
            <a:off x="994833" y="4413386"/>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after the check, if any</a:t>
            </a:r>
            <a:endParaRPr b="0" i="0" sz="1200" u="none" cap="none" strike="noStrike">
              <a:solidFill>
                <a:schemeClr val="dk1"/>
              </a:solidFill>
              <a:latin typeface="IBM Plex Sans"/>
              <a:ea typeface="IBM Plex Sans"/>
              <a:cs typeface="IBM Plex Sans"/>
              <a:sym typeface="IBM Plex Sans"/>
            </a:endParaRPr>
          </a:p>
        </p:txBody>
      </p:sp>
      <p:sp>
        <p:nvSpPr>
          <p:cNvPr id="208" name="Google Shape;208;p9"/>
          <p:cNvSpPr/>
          <p:nvPr/>
        </p:nvSpPr>
        <p:spPr>
          <a:xfrm>
            <a:off x="3611033" y="4276198"/>
            <a:ext cx="5903891" cy="2565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Released reserve only, in extra batches shared evenly.</a:t>
            </a:r>
            <a:endParaRPr b="0" i="0" sz="1300" u="none" cap="none" strike="noStrike">
              <a:solidFill>
                <a:schemeClr val="dk1"/>
              </a:solidFill>
              <a:latin typeface="IBM Plex Sans"/>
              <a:ea typeface="IBM Plex Sans"/>
              <a:cs typeface="IBM Plex Sans"/>
              <a:sym typeface="IBM Plex Sans"/>
            </a:endParaRPr>
          </a:p>
        </p:txBody>
      </p:sp>
      <p:sp>
        <p:nvSpPr>
          <p:cNvPr id="209" name="Google Shape;209;p9"/>
          <p:cNvSpPr/>
          <p:nvPr/>
        </p:nvSpPr>
        <p:spPr>
          <a:xfrm>
            <a:off x="9495367" y="4276198"/>
            <a:ext cx="170180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0–720 packages</a:t>
            </a:r>
            <a:endParaRPr b="0" i="0" sz="1300" u="none" cap="none" strike="noStrike">
              <a:solidFill>
                <a:schemeClr val="dk1"/>
              </a:solidFill>
              <a:latin typeface="IBM Plex Sans"/>
              <a:ea typeface="IBM Plex Sans"/>
              <a:cs typeface="IBM Plex Sans"/>
              <a:sym typeface="IBM Plex Sans"/>
            </a:endParaRPr>
          </a:p>
        </p:txBody>
      </p:sp>
      <p:sp>
        <p:nvSpPr>
          <p:cNvPr id="210" name="Google Shape;210;p9"/>
          <p:cNvSpPr/>
          <p:nvPr/>
        </p:nvSpPr>
        <p:spPr>
          <a:xfrm>
            <a:off x="815975" y="4811911"/>
            <a:ext cx="10560050" cy="675151"/>
          </a:xfrm>
          <a:prstGeom prst="roundRect">
            <a:avLst>
              <a:gd fmla="val 1081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994833" y="4914571"/>
            <a:ext cx="2485390"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A6573"/>
              </a:buClr>
              <a:buSzPts val="1600"/>
              <a:buFont typeface="IBM Plex Sans"/>
              <a:buNone/>
            </a:pPr>
            <a:r>
              <a:rPr b="1" i="0" lang="en-US" sz="1600" u="none" cap="none" strike="noStrike">
                <a:solidFill>
                  <a:srgbClr val="5A6573"/>
                </a:solidFill>
                <a:latin typeface="IBM Plex Sans"/>
                <a:ea typeface="IBM Plex Sans"/>
                <a:cs typeface="IBM Plex Sans"/>
                <a:sym typeface="IBM Plex Sans"/>
              </a:rPr>
              <a:t>Round 2</a:t>
            </a:r>
            <a:endParaRPr b="0" i="0" sz="1600" u="none" cap="none" strike="noStrike">
              <a:solidFill>
                <a:schemeClr val="dk1"/>
              </a:solidFill>
              <a:latin typeface="IBM Plex Sans"/>
              <a:ea typeface="IBM Plex Sans"/>
              <a:cs typeface="IBM Plex Sans"/>
              <a:sym typeface="IBM Plex Sans"/>
            </a:endParaRPr>
          </a:p>
        </p:txBody>
      </p:sp>
      <p:sp>
        <p:nvSpPr>
          <p:cNvPr id="212" name="Google Shape;212;p9"/>
          <p:cNvSpPr/>
          <p:nvPr/>
        </p:nvSpPr>
        <p:spPr>
          <a:xfrm>
            <a:off x="994833" y="5171083"/>
            <a:ext cx="24853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after the pool extension</a:t>
            </a:r>
            <a:endParaRPr b="0" i="0" sz="1200" u="none" cap="none" strike="noStrike">
              <a:solidFill>
                <a:schemeClr val="dk1"/>
              </a:solidFill>
              <a:latin typeface="IBM Plex Sans"/>
              <a:ea typeface="IBM Plex Sans"/>
              <a:cs typeface="IBM Plex Sans"/>
              <a:sym typeface="IBM Plex Sans"/>
            </a:endParaRPr>
          </a:p>
        </p:txBody>
      </p:sp>
      <p:sp>
        <p:nvSpPr>
          <p:cNvPr id="213" name="Google Shape;213;p9"/>
          <p:cNvSpPr/>
          <p:nvPr/>
        </p:nvSpPr>
        <p:spPr>
          <a:xfrm>
            <a:off x="3611033" y="4918342"/>
            <a:ext cx="5903891"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300"/>
              <a:buFont typeface="IBM Plex Sans"/>
              <a:buNone/>
            </a:pPr>
            <a:r>
              <a:rPr b="0" i="0" lang="en-US" sz="1300" u="none" cap="none" strike="noStrike">
                <a:solidFill>
                  <a:srgbClr val="1B2A3A"/>
                </a:solidFill>
                <a:latin typeface="IBM Plex Sans"/>
                <a:ea typeface="IBM Plex Sans"/>
                <a:cs typeface="IBM Plex Sans"/>
                <a:sym typeface="IBM Plex Sans"/>
              </a:rPr>
              <a:t>Basis, Improvement/Modification, Further Reading</a:t>
            </a:r>
            <a:r>
              <a:rPr lang="en-US" sz="1300">
                <a:solidFill>
                  <a:srgbClr val="1B2A3A"/>
                </a:solidFill>
                <a:latin typeface="IBM Plex Sans"/>
                <a:ea typeface="IBM Plex Sans"/>
                <a:cs typeface="IBM Plex Sans"/>
                <a:sym typeface="IBM Plex Sans"/>
              </a:rPr>
              <a:t>.</a:t>
            </a:r>
            <a:endParaRPr b="0" i="0" sz="1300" u="none" cap="none" strike="noStrike">
              <a:solidFill>
                <a:schemeClr val="dk1"/>
              </a:solidFill>
              <a:latin typeface="IBM Plex Sans"/>
              <a:ea typeface="IBM Plex Sans"/>
              <a:cs typeface="IBM Plex Sans"/>
              <a:sym typeface="IBM Plex Sans"/>
            </a:endParaRPr>
          </a:p>
        </p:txBody>
      </p:sp>
      <p:sp>
        <p:nvSpPr>
          <p:cNvPr id="214" name="Google Shape;214;p9"/>
          <p:cNvSpPr/>
          <p:nvPr/>
        </p:nvSpPr>
        <p:spPr>
          <a:xfrm>
            <a:off x="9495367" y="5033900"/>
            <a:ext cx="1701800" cy="256514"/>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B2A3A"/>
              </a:buClr>
              <a:buSzPts val="1300"/>
              <a:buFont typeface="IBM Plex Sans"/>
              <a:buNone/>
            </a:pPr>
            <a:r>
              <a:rPr b="1" i="0" lang="en-US" sz="1300" u="none" cap="none" strike="noStrike">
                <a:solidFill>
                  <a:srgbClr val="1B2A3A"/>
                </a:solidFill>
                <a:latin typeface="IBM Plex Sans"/>
                <a:ea typeface="IBM Plex Sans"/>
                <a:cs typeface="IBM Plex Sans"/>
                <a:sym typeface="IBM Plex Sans"/>
              </a:rPr>
              <a:t>[quota]</a:t>
            </a:r>
            <a:endParaRPr b="0" i="0" sz="1300" u="none" cap="none" strike="noStrike">
              <a:solidFill>
                <a:schemeClr val="dk1"/>
              </a:solidFill>
              <a:latin typeface="IBM Plex Sans"/>
              <a:ea typeface="IBM Plex Sans"/>
              <a:cs typeface="IBM Plex Sans"/>
              <a:sym typeface="IBM Plex Sans"/>
            </a:endParaRPr>
          </a:p>
        </p:txBody>
      </p:sp>
      <p:sp>
        <p:nvSpPr>
          <p:cNvPr id="215" name="Google Shape;215;p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9 · Sheets appear in anotadores/&lt;your id&gt;/; no email per Sheet, we post when a wave is out</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20" name="Shape 220"/>
        <p:cNvGrpSpPr/>
        <p:nvPr/>
      </p:nvGrpSpPr>
      <p:grpSpPr>
        <a:xfrm>
          <a:off x="0" y="0"/>
          <a:ext cx="0" cy="0"/>
          <a:chOff x="0" y="0"/>
          <a:chExt cx="0" cy="0"/>
        </a:xfrm>
      </p:grpSpPr>
      <p:sp>
        <p:nvSpPr>
          <p:cNvPr id="221" name="Google Shape;221;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RESERVE · WHEN IT IS RELEASED</a:t>
            </a:r>
            <a:endParaRPr b="0" i="0" sz="1200" u="none" cap="none" strike="noStrike">
              <a:solidFill>
                <a:schemeClr val="dk1"/>
              </a:solidFill>
              <a:latin typeface="IBM Plex Sans"/>
              <a:ea typeface="IBM Plex Sans"/>
              <a:cs typeface="IBM Plex Sans"/>
              <a:sym typeface="IBM Plex Sans"/>
            </a:endParaRPr>
          </a:p>
        </p:txBody>
      </p:sp>
      <p:sp>
        <p:nvSpPr>
          <p:cNvPr id="222" name="Google Shape;222;p10"/>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Over 10% corrected: 30 more packages</a:t>
            </a:r>
            <a:endParaRPr sz="3200"/>
          </a:p>
        </p:txBody>
      </p:sp>
      <p:sp>
        <p:nvSpPr>
          <p:cNvPr id="223" name="Google Shape;223;p10"/>
          <p:cNvSpPr/>
          <p:nvPr/>
        </p:nvSpPr>
        <p:spPr>
          <a:xfrm>
            <a:off x="812800" y="1879538"/>
            <a:ext cx="61219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The rule</a:t>
            </a:r>
            <a:endParaRPr b="0" i="0" sz="1600" u="none" cap="none" strike="noStrike">
              <a:solidFill>
                <a:schemeClr val="dk1"/>
              </a:solidFill>
              <a:latin typeface="IBM Plex Sans"/>
              <a:ea typeface="IBM Plex Sans"/>
              <a:cs typeface="IBM Plex Sans"/>
              <a:sym typeface="IBM Plex Sans"/>
            </a:endParaRPr>
          </a:p>
        </p:txBody>
      </p:sp>
      <p:sp>
        <p:nvSpPr>
          <p:cNvPr id="224" name="Google Shape;224;p10"/>
          <p:cNvSpPr/>
          <p:nvPr/>
        </p:nvSpPr>
        <p:spPr>
          <a:xfrm>
            <a:off x="812800" y="2250349"/>
            <a:ext cx="6121908" cy="798711"/>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B2A3A"/>
              </a:buClr>
              <a:buSzPts val="1400"/>
              <a:buFont typeface="IBM Plex Sans"/>
              <a:buNone/>
            </a:pPr>
            <a:r>
              <a:rPr b="0" i="0" lang="en-US" sz="1400" u="none" cap="none" strike="noStrike">
                <a:solidFill>
                  <a:srgbClr val="1B2A3A"/>
                </a:solidFill>
                <a:latin typeface="IBM Plex Sans"/>
                <a:ea typeface="IBM Plex Sans"/>
                <a:cs typeface="IBM Plex Sans"/>
                <a:sym typeface="IBM Plex Sans"/>
              </a:rPr>
              <a:t>After wave 1, for each set and category: corrected answers ÷ all answers, both annotators counted. Above 10%, its 30 reserve packages are annotated too.</a:t>
            </a:r>
            <a:endParaRPr b="0" i="0" sz="1400" u="none" cap="none" strike="noStrike">
              <a:solidFill>
                <a:schemeClr val="dk1"/>
              </a:solidFill>
              <a:latin typeface="IBM Plex Sans"/>
              <a:ea typeface="IBM Plex Sans"/>
              <a:cs typeface="IBM Plex Sans"/>
              <a:sym typeface="IBM Plex Sans"/>
            </a:endParaRPr>
          </a:p>
        </p:txBody>
      </p:sp>
      <p:sp>
        <p:nvSpPr>
          <p:cNvPr id="225" name="Google Shape;225;p10"/>
          <p:cNvSpPr/>
          <p:nvPr/>
        </p:nvSpPr>
        <p:spPr>
          <a:xfrm>
            <a:off x="812800" y="3150660"/>
            <a:ext cx="6121908"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Why count answers</a:t>
            </a:r>
            <a:endParaRPr b="0" i="0" sz="1600" u="none" cap="none" strike="noStrike">
              <a:solidFill>
                <a:schemeClr val="dk1"/>
              </a:solidFill>
              <a:latin typeface="IBM Plex Sans"/>
              <a:ea typeface="IBM Plex Sans"/>
              <a:cs typeface="IBM Plex Sans"/>
              <a:sym typeface="IBM Plex Sans"/>
            </a:endParaRPr>
          </a:p>
        </p:txBody>
      </p:sp>
      <p:sp>
        <p:nvSpPr>
          <p:cNvPr id="226" name="Google Shape;226;p10"/>
          <p:cNvSpPr/>
          <p:nvPr/>
        </p:nvSpPr>
        <p:spPr>
          <a:xfrm>
            <a:off x="812800" y="3521472"/>
            <a:ext cx="6121908" cy="798711"/>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1B2A3A"/>
              </a:buClr>
              <a:buSzPts val="1400"/>
              <a:buFont typeface="IBM Plex Sans"/>
              <a:buNone/>
            </a:pPr>
            <a:r>
              <a:rPr b="0" i="0" lang="en-US" sz="1400" u="none" cap="none" strike="noStrike">
                <a:solidFill>
                  <a:srgbClr val="1B2A3A"/>
                </a:solidFill>
                <a:latin typeface="IBM Plex Sans"/>
                <a:ea typeface="IBM Plex Sans"/>
                <a:cs typeface="IBM Plex Sans"/>
                <a:sym typeface="IBM Plex Sans"/>
              </a:rPr>
              <a:t>A package leaves its category only if the final label changes. A correction by one person goes to adjudication and often stays; counting answers weighs both annotators.</a:t>
            </a:r>
            <a:endParaRPr b="0" i="0" sz="1400" u="none" cap="none" strike="noStrike">
              <a:solidFill>
                <a:schemeClr val="dk1"/>
              </a:solidFill>
              <a:latin typeface="IBM Plex Sans"/>
              <a:ea typeface="IBM Plex Sans"/>
              <a:cs typeface="IBM Plex Sans"/>
              <a:sym typeface="IBM Plex Sans"/>
            </a:endParaRPr>
          </a:p>
        </p:txBody>
      </p:sp>
      <p:sp>
        <p:nvSpPr>
          <p:cNvPr id="227" name="Google Shape;227;p10"/>
          <p:cNvSpPr/>
          <p:nvPr/>
        </p:nvSpPr>
        <p:spPr>
          <a:xfrm>
            <a:off x="7064375" y="1882713"/>
            <a:ext cx="4311650" cy="3143581"/>
          </a:xfrm>
          <a:prstGeom prst="roundRect">
            <a:avLst>
              <a:gd fmla="val 3131"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7294034" y="2112367"/>
            <a:ext cx="3967903"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01A"/>
              </a:buClr>
              <a:buSzPts val="1600"/>
              <a:buFont typeface="IBM Plex Sans"/>
              <a:buNone/>
            </a:pPr>
            <a:r>
              <a:rPr b="1" i="0" lang="en-US" sz="1600" u="none" cap="none" strike="noStrike">
                <a:solidFill>
                  <a:srgbClr val="B4501A"/>
                </a:solidFill>
                <a:latin typeface="IBM Plex Sans"/>
                <a:ea typeface="IBM Plex Sans"/>
                <a:cs typeface="IBM Plex Sans"/>
                <a:sym typeface="IBM Plex Sans"/>
              </a:rPr>
              <a:t>Example</a:t>
            </a:r>
            <a:endParaRPr b="0" i="0" sz="1600" u="none" cap="none" strike="noStrike">
              <a:solidFill>
                <a:schemeClr val="dk1"/>
              </a:solidFill>
              <a:latin typeface="IBM Plex Sans"/>
              <a:ea typeface="IBM Plex Sans"/>
              <a:cs typeface="IBM Plex Sans"/>
              <a:sym typeface="IBM Plex Sans"/>
            </a:endParaRPr>
          </a:p>
        </p:txBody>
      </p:sp>
      <p:sp>
        <p:nvSpPr>
          <p:cNvPr id="229" name="Google Shape;229;p10"/>
          <p:cNvSpPr/>
          <p:nvPr/>
        </p:nvSpPr>
        <p:spPr>
          <a:xfrm>
            <a:off x="7294034" y="2483185"/>
            <a:ext cx="3967903" cy="48762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About 37 packages per set and category in wave 1, so 74 answers.</a:t>
            </a:r>
            <a:endParaRPr b="0" i="0" sz="1300" u="none" cap="none" strike="noStrike">
              <a:solidFill>
                <a:schemeClr val="dk1"/>
              </a:solidFill>
              <a:latin typeface="IBM Plex Sans"/>
              <a:ea typeface="IBM Plex Sans"/>
              <a:cs typeface="IBM Plex Sans"/>
              <a:sym typeface="IBM Plex Sans"/>
            </a:endParaRPr>
          </a:p>
        </p:txBody>
      </p:sp>
      <p:graphicFrame>
        <p:nvGraphicFramePr>
          <p:cNvPr id="230" name="Google Shape;230;p10"/>
          <p:cNvGraphicFramePr/>
          <p:nvPr/>
        </p:nvGraphicFramePr>
        <p:xfrm>
          <a:off x="7306734" y="3085108"/>
          <a:ext cx="3000000" cy="3000000"/>
        </p:xfrm>
        <a:graphic>
          <a:graphicData uri="http://schemas.openxmlformats.org/drawingml/2006/table">
            <a:tbl>
              <a:tblPr>
                <a:noFill/>
                <a:tableStyleId>{A084FDC9-25D0-4C6B-9016-B9FBCDE3210E}</a:tableStyleId>
              </a:tblPr>
              <a:tblGrid>
                <a:gridCol w="1305475"/>
                <a:gridCol w="998300"/>
                <a:gridCol w="1535850"/>
              </a:tblGrid>
              <a:tr h="385950">
                <a:tc>
                  <a:txBody>
                    <a:bodyPr/>
                    <a:lstStyle/>
                    <a:p>
                      <a:pPr indent="0" lvl="0" marL="0" marR="0" rtl="0" algn="l">
                        <a:lnSpc>
                          <a:spcPct val="140000"/>
                        </a:lnSpc>
                        <a:spcBef>
                          <a:spcPts val="0"/>
                        </a:spcBef>
                        <a:spcAft>
                          <a:spcPts val="0"/>
                        </a:spcAft>
                        <a:buClr>
                          <a:srgbClr val="1B2A3A"/>
                        </a:buClr>
                        <a:buSzPts val="1400"/>
                        <a:buFont typeface="IBM Plex Sans"/>
                        <a:buNone/>
                      </a:pPr>
                      <a:r>
                        <a:rPr b="1" lang="en-US" sz="1400" u="none" cap="none" strike="noStrike">
                          <a:solidFill>
                            <a:srgbClr val="1B2A3A"/>
                          </a:solidFill>
                          <a:latin typeface="IBM Plex Sans"/>
                          <a:ea typeface="IBM Plex Sans"/>
                          <a:cs typeface="IBM Plex Sans"/>
                          <a:sym typeface="IBM Plex Sans"/>
                        </a:rPr>
                        <a:t>Corrected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400"/>
                        <a:buFont typeface="IBM Plex Sans"/>
                        <a:buNone/>
                      </a:pPr>
                      <a:r>
                        <a:rPr b="1" lang="en-US" sz="1400" u="none" cap="none" strike="noStrike">
                          <a:solidFill>
                            <a:srgbClr val="1B2A3A"/>
                          </a:solidFill>
                          <a:latin typeface="IBM Plex Sans"/>
                          <a:ea typeface="IBM Plex Sans"/>
                          <a:cs typeface="IBM Plex Sans"/>
                          <a:sym typeface="IBM Plex Sans"/>
                        </a:rPr>
                        <a:t>Rate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r">
                        <a:lnSpc>
                          <a:spcPct val="140000"/>
                        </a:lnSpc>
                        <a:spcBef>
                          <a:spcPts val="0"/>
                        </a:spcBef>
                        <a:spcAft>
                          <a:spcPts val="0"/>
                        </a:spcAft>
                        <a:buClr>
                          <a:srgbClr val="1B2A3A"/>
                        </a:buClr>
                        <a:buSzPts val="1400"/>
                        <a:buFont typeface="IBM Plex Sans"/>
                        <a:buNone/>
                      </a:pPr>
                      <a:r>
                        <a:rPr b="1" lang="en-US" sz="1400" u="none" cap="none" strike="noStrike">
                          <a:solidFill>
                            <a:srgbClr val="1B2A3A"/>
                          </a:solidFill>
                          <a:latin typeface="IBM Plex Sans"/>
                          <a:ea typeface="IBM Plex Sans"/>
                          <a:cs typeface="IBM Plex Sans"/>
                          <a:sym typeface="IBM Plex Sans"/>
                        </a:rPr>
                        <a:t>Reserve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r>
              <a:tr h="385950">
                <a:tc>
                  <a:txBody>
                    <a:bodyPr/>
                    <a:lstStyle/>
                    <a:p>
                      <a:pPr indent="0" lvl="0" marL="0" marR="0" rtl="0" algn="l">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7 of 74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9.5%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not released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BCBCB"/>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8 of 74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c>
                  <a:txBody>
                    <a:bodyPr/>
                    <a:lstStyle/>
                    <a:p>
                      <a:pPr indent="0" lvl="0" marL="0" marR="0" rtl="0" algn="r">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10.8%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DB5"/>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c>
                  <a:txBody>
                    <a:bodyPr/>
                    <a:lstStyle/>
                    <a:p>
                      <a:pPr indent="0" lvl="0" marL="0" marR="0" rtl="0" algn="r">
                        <a:lnSpc>
                          <a:spcPct val="140000"/>
                        </a:lnSpc>
                        <a:spcBef>
                          <a:spcPts val="0"/>
                        </a:spcBef>
                        <a:spcAft>
                          <a:spcPts val="0"/>
                        </a:spcAft>
                        <a:buClr>
                          <a:srgbClr val="1B2A3A"/>
                        </a:buClr>
                        <a:buSzPts val="1400"/>
                        <a:buFont typeface="IBM Plex Sans"/>
                        <a:buNone/>
                      </a:pPr>
                      <a:r>
                        <a:rPr lang="en-US" sz="1400" u="none" cap="none" strike="noStrike">
                          <a:solidFill>
                            <a:srgbClr val="1B2A3A"/>
                          </a:solidFill>
                          <a:latin typeface="IBM Plex Sans"/>
                          <a:ea typeface="IBM Plex Sans"/>
                          <a:cs typeface="IBM Plex Sans"/>
                          <a:sym typeface="IBM Plex Sans"/>
                        </a:rPr>
                        <a:t>released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DB5"/>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r>
            </a:tbl>
          </a:graphicData>
        </a:graphic>
      </p:graphicFrame>
      <p:sp>
        <p:nvSpPr>
          <p:cNvPr id="231" name="Google Shape;231;p10"/>
          <p:cNvSpPr/>
          <p:nvPr/>
        </p:nvSpPr>
        <p:spPr>
          <a:xfrm>
            <a:off x="7294034" y="4369991"/>
            <a:ext cx="3967903"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200"/>
              <a:buFont typeface="IBM Plex Sans"/>
              <a:buNone/>
            </a:pPr>
            <a:r>
              <a:rPr b="0" i="0" lang="en-US" sz="1200" u="none" cap="none" strike="noStrike">
                <a:solidFill>
                  <a:srgbClr val="4A5563"/>
                </a:solidFill>
                <a:latin typeface="IBM Plex Sans"/>
                <a:ea typeface="IBM Plex Sans"/>
                <a:cs typeface="IBM Plex Sans"/>
                <a:sym typeface="IBM Plex Sans"/>
              </a:rPr>
              <a:t>Each release adds 30 packages, 60 annotations. Once written, the decision is frozen.</a:t>
            </a:r>
            <a:endParaRPr b="0" i="0" sz="1200" u="none" cap="none" strike="noStrike">
              <a:solidFill>
                <a:schemeClr val="dk1"/>
              </a:solidFill>
              <a:latin typeface="IBM Plex Sans"/>
              <a:ea typeface="IBM Plex Sans"/>
              <a:cs typeface="IBM Plex Sans"/>
              <a:sym typeface="IBM Plex Sans"/>
            </a:endParaRPr>
          </a:p>
        </p:txBody>
      </p:sp>
      <p:sp>
        <p:nvSpPr>
          <p:cNvPr id="232" name="Google Shape;232;p1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10 · contract §6 · the check also shows packages with any and with both annotators correcting</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4"/>
        </a:solidFill>
      </p:bgPr>
    </p:bg>
    <p:spTree>
      <p:nvGrpSpPr>
        <p:cNvPr id="237" name="Shape 237"/>
        <p:cNvGrpSpPr/>
        <p:nvPr/>
      </p:nvGrpSpPr>
      <p:grpSpPr>
        <a:xfrm>
          <a:off x="0" y="0"/>
          <a:ext cx="0" cy="0"/>
          <a:chOff x="0" y="0"/>
          <a:chExt cx="0" cy="0"/>
        </a:xfrm>
      </p:grpSpPr>
      <p:sp>
        <p:nvSpPr>
          <p:cNvPr id="238" name="Google Shape;238;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YOUR BATCHES · SAME SHEET AS CALIB2</a:t>
            </a:r>
            <a:endParaRPr b="0" i="0" sz="1200" u="none" cap="none" strike="noStrike">
              <a:solidFill>
                <a:schemeClr val="dk1"/>
              </a:solidFill>
              <a:latin typeface="IBM Plex Sans"/>
              <a:ea typeface="IBM Plex Sans"/>
              <a:cs typeface="IBM Plex Sans"/>
              <a:sym typeface="IBM Plex Sans"/>
            </a:endParaRPr>
          </a:p>
        </p:txBody>
      </p:sp>
      <p:sp>
        <p:nvSpPr>
          <p:cNvPr id="239" name="Google Shape;239;p11"/>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Working through a batch</a:t>
            </a:r>
            <a:endParaRPr sz="3200"/>
          </a:p>
        </p:txBody>
      </p:sp>
      <p:sp>
        <p:nvSpPr>
          <p:cNvPr id="240" name="Google Shape;240;p11"/>
          <p:cNvSpPr/>
          <p:nvPr/>
        </p:nvSpPr>
        <p:spPr>
          <a:xfrm>
            <a:off x="812800" y="1879538"/>
            <a:ext cx="5650992"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Where:</a:t>
            </a:r>
            <a:r>
              <a:rPr b="0" i="0" lang="en-US" sz="1400" u="none" cap="none" strike="noStrike">
                <a:solidFill>
                  <a:srgbClr val="1B2A3A"/>
                </a:solidFill>
                <a:latin typeface="IBM Plex Sans"/>
                <a:ea typeface="IBM Plex Sans"/>
                <a:cs typeface="IBM Plex Sans"/>
                <a:sym typeface="IBM Plex Sans"/>
              </a:rPr>
              <a:t> anotadores/&lt;your id&gt;/, one Sheet per batch, named &lt;id&gt;_L0xx. The name does not say which test set it belongs to.</a:t>
            </a:r>
            <a:endParaRPr b="0" i="0" sz="1400" u="none" cap="none" strike="noStrike">
              <a:solidFill>
                <a:schemeClr val="dk1"/>
              </a:solidFill>
              <a:latin typeface="IBM Plex Sans"/>
              <a:ea typeface="IBM Plex Sans"/>
              <a:cs typeface="IBM Plex Sans"/>
              <a:sym typeface="IBM Plex Sans"/>
            </a:endParaRPr>
          </a:p>
        </p:txBody>
      </p:sp>
      <p:sp>
        <p:nvSpPr>
          <p:cNvPr id="241" name="Google Shape;241;p11"/>
          <p:cNvSpPr/>
          <p:nvPr/>
        </p:nvSpPr>
        <p:spPr>
          <a:xfrm>
            <a:off x="812800" y="2478949"/>
            <a:ext cx="5650992" cy="2743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Order:</a:t>
            </a:r>
            <a:r>
              <a:rPr b="0" i="0" lang="en-US" sz="1400" u="none" cap="none" strike="noStrike">
                <a:solidFill>
                  <a:srgbClr val="1B2A3A"/>
                </a:solidFill>
                <a:latin typeface="IBM Plex Sans"/>
                <a:ea typeface="IBM Plex Sans"/>
                <a:cs typeface="IBM Plex Sans"/>
                <a:sym typeface="IBM Plex Sans"/>
              </a:rPr>
              <a:t> one batch at a time; finish wave 1 first.</a:t>
            </a:r>
            <a:endParaRPr b="0" i="0" sz="1400" u="none" cap="none" strike="noStrike">
              <a:solidFill>
                <a:schemeClr val="dk1"/>
              </a:solidFill>
              <a:latin typeface="IBM Plex Sans"/>
              <a:ea typeface="IBM Plex Sans"/>
              <a:cs typeface="IBM Plex Sans"/>
              <a:sym typeface="IBM Plex Sans"/>
            </a:endParaRPr>
          </a:p>
        </p:txBody>
      </p:sp>
      <p:sp>
        <p:nvSpPr>
          <p:cNvPr id="242" name="Google Shape;242;p11"/>
          <p:cNvSpPr/>
          <p:nvPr/>
        </p:nvSpPr>
        <p:spPr>
          <a:xfrm>
            <a:off x="812800" y="2829458"/>
            <a:ext cx="5650992" cy="52321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Colours:</a:t>
            </a:r>
            <a:r>
              <a:rPr b="0" i="0" lang="en-US" sz="1400" u="none" cap="none" strike="noStrike">
                <a:solidFill>
                  <a:srgbClr val="1B2A3A"/>
                </a:solidFill>
                <a:latin typeface="IBM Plex Sans"/>
                <a:ea typeface="IBM Plex Sans"/>
                <a:cs typeface="IBM Plex Sans"/>
                <a:sym typeface="IBM Plex Sans"/>
              </a:rPr>
              <a:t> yellow pending · amber corrected · pink to fix (unclear without a note, repeated secondary).</a:t>
            </a:r>
            <a:endParaRPr b="0" i="0" sz="1400" u="none" cap="none" strike="noStrike">
              <a:solidFill>
                <a:schemeClr val="dk1"/>
              </a:solidFill>
              <a:latin typeface="IBM Plex Sans"/>
              <a:ea typeface="IBM Plex Sans"/>
              <a:cs typeface="IBM Plex Sans"/>
              <a:sym typeface="IBM Plex Sans"/>
            </a:endParaRPr>
          </a:p>
        </p:txBody>
      </p:sp>
      <p:sp>
        <p:nvSpPr>
          <p:cNvPr id="243" name="Google Shape;243;p11"/>
          <p:cNvSpPr/>
          <p:nvPr/>
        </p:nvSpPr>
        <p:spPr>
          <a:xfrm>
            <a:off x="812800" y="3428870"/>
            <a:ext cx="5650992" cy="27430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2A3A"/>
              </a:buClr>
              <a:buSzPts val="1400"/>
              <a:buFont typeface="IBM Plex Sans"/>
              <a:buNone/>
            </a:pPr>
            <a:r>
              <a:rPr b="1" i="0" lang="en-US" sz="1400" u="none" cap="none" strike="noStrike">
                <a:solidFill>
                  <a:srgbClr val="1B2A3A"/>
                </a:solidFill>
                <a:latin typeface="IBM Plex Sans"/>
                <a:ea typeface="IBM Plex Sans"/>
                <a:cs typeface="IBM Plex Sans"/>
                <a:sym typeface="IBM Plex Sans"/>
              </a:rPr>
              <a:t>Resumen tab:</a:t>
            </a:r>
            <a:r>
              <a:rPr b="0" i="0" lang="en-US" sz="1400" u="none" cap="none" strike="noStrike">
                <a:solidFill>
                  <a:srgbClr val="1B2A3A"/>
                </a:solidFill>
                <a:latin typeface="IBM Plex Sans"/>
                <a:ea typeface="IBM Plex Sans"/>
                <a:cs typeface="IBM Plex Sans"/>
                <a:sym typeface="IBM Plex Sans"/>
              </a:rPr>
              <a:t> total minutes and any comments on the batch.</a:t>
            </a:r>
            <a:endParaRPr b="0" i="0" sz="1400" u="none" cap="none" strike="noStrike">
              <a:solidFill>
                <a:schemeClr val="dk1"/>
              </a:solidFill>
              <a:latin typeface="IBM Plex Sans"/>
              <a:ea typeface="IBM Plex Sans"/>
              <a:cs typeface="IBM Plex Sans"/>
              <a:sym typeface="IBM Plex Sans"/>
            </a:endParaRPr>
          </a:p>
        </p:txBody>
      </p:sp>
      <p:sp>
        <p:nvSpPr>
          <p:cNvPr id="244" name="Google Shape;244;p11"/>
          <p:cNvSpPr/>
          <p:nvPr/>
        </p:nvSpPr>
        <p:spPr>
          <a:xfrm>
            <a:off x="6556375" y="1882713"/>
            <a:ext cx="4819650" cy="3128169"/>
          </a:xfrm>
          <a:prstGeom prst="roundRect">
            <a:avLst>
              <a:gd fmla="val 314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6760634" y="2086967"/>
            <a:ext cx="4543467"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The columns</a:t>
            </a:r>
            <a:endParaRPr b="0" i="0" sz="1600" u="none" cap="none" strike="noStrike">
              <a:solidFill>
                <a:schemeClr val="dk1"/>
              </a:solidFill>
              <a:latin typeface="IBM Plex Sans"/>
              <a:ea typeface="IBM Plex Sans"/>
              <a:cs typeface="IBM Plex Sans"/>
              <a:sym typeface="IBM Plex Sans"/>
            </a:endParaRPr>
          </a:p>
        </p:txBody>
      </p:sp>
      <p:graphicFrame>
        <p:nvGraphicFramePr>
          <p:cNvPr id="246" name="Google Shape;246;p11"/>
          <p:cNvGraphicFramePr/>
          <p:nvPr/>
        </p:nvGraphicFramePr>
        <p:xfrm>
          <a:off x="6773334" y="2419685"/>
          <a:ext cx="3000000" cy="3000000"/>
        </p:xfrm>
        <a:graphic>
          <a:graphicData uri="http://schemas.openxmlformats.org/drawingml/2006/table">
            <a:tbl>
              <a:tblPr>
                <a:noFill/>
                <a:tableStyleId>{A084FDC9-25D0-4C6B-9016-B9FBCDE3210E}</a:tableStyleId>
              </a:tblPr>
              <a:tblGrid>
                <a:gridCol w="879675"/>
                <a:gridCol w="3518750"/>
              </a:tblGrid>
              <a:tr h="359300">
                <a:tc>
                  <a:txBody>
                    <a:bodyPr/>
                    <a:lstStyle/>
                    <a:p>
                      <a:pPr indent="0" lvl="0" marL="0" marR="0" rtl="0" algn="l">
                        <a:lnSpc>
                          <a:spcPct val="140000"/>
                        </a:lnSpc>
                        <a:spcBef>
                          <a:spcPts val="0"/>
                        </a:spcBef>
                        <a:spcAft>
                          <a:spcPts val="0"/>
                        </a:spcAft>
                        <a:buClr>
                          <a:srgbClr val="1B2A3A"/>
                        </a:buClr>
                        <a:buSzPts val="1300"/>
                        <a:buFont typeface="IBM Plex Sans"/>
                        <a:buNone/>
                      </a:pPr>
                      <a:r>
                        <a:rPr b="1" lang="en-US" sz="1300" u="none" cap="none" strike="noStrike">
                          <a:solidFill>
                            <a:srgbClr val="1B2A3A"/>
                          </a:solidFill>
                          <a:latin typeface="IBM Plex Sans"/>
                          <a:ea typeface="IBM Plex Sans"/>
                          <a:cs typeface="IBM Plex Sans"/>
                          <a:sym typeface="IBM Plex Sans"/>
                        </a:rPr>
                        <a:t>Cols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c>
                  <a:txBody>
                    <a:bodyPr/>
                    <a:lstStyle/>
                    <a:p>
                      <a:pPr indent="0" lvl="0" marL="0" marR="0" rtl="0" algn="l">
                        <a:lnSpc>
                          <a:spcPct val="140000"/>
                        </a:lnSpc>
                        <a:spcBef>
                          <a:spcPts val="0"/>
                        </a:spcBef>
                        <a:spcAft>
                          <a:spcPts val="0"/>
                        </a:spcAft>
                        <a:buClr>
                          <a:srgbClr val="1B2A3A"/>
                        </a:buClr>
                        <a:buSzPts val="1300"/>
                        <a:buFont typeface="IBM Plex Sans"/>
                        <a:buNone/>
                      </a:pPr>
                      <a:r>
                        <a:rPr b="1" lang="en-US" sz="1300" u="none" cap="none" strike="noStrike">
                          <a:solidFill>
                            <a:srgbClr val="1B2A3A"/>
                          </a:solidFill>
                          <a:latin typeface="IBM Plex Sans"/>
                          <a:ea typeface="IBM Plex Sans"/>
                          <a:cs typeface="IBM Plex Sans"/>
                          <a:sym typeface="IBM Plex Sans"/>
                        </a:rPr>
                        <a:t>What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4"/>
                    </a:solidFill>
                  </a:tcPr>
                </a:tc>
              </a:tr>
              <a:tr h="359300">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A–C</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Package, target sentence, citing paragraph</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BCBCB"/>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Pre-label from the judges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r>
              <a:tr h="590425">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E–I</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Yours: main label, secondaries, confidence, notes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8BDB5"/>
                      </a:solidFill>
                      <a:prstDash val="solid"/>
                      <a:round/>
                      <a:headEnd len="sm" w="sm" type="none"/>
                      <a:tailEnd len="sm" w="sm" type="none"/>
                    </a:lnL>
                    <a:lnR cap="flat" cmpd="sng" w="12700">
                      <a:solidFill>
                        <a:srgbClr val="C8BDB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8BDB5"/>
                      </a:solidFill>
                      <a:prstDash val="solid"/>
                      <a:round/>
                      <a:headEnd len="sm" w="sm" type="none"/>
                      <a:tailEnd len="sm" w="sm" type="none"/>
                    </a:lnB>
                    <a:solidFill>
                      <a:srgbClr val="FBEDE3"/>
                    </a:solidFill>
                  </a:tcPr>
                </a:tc>
              </a:tr>
              <a:tr h="359300">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J–L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8BDB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Co-cited count, cited title, abstract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8BDB5"/>
                      </a:solidFill>
                      <a:prstDash val="solid"/>
                      <a:round/>
                      <a:headEnd len="sm" w="sm" type="none"/>
                      <a:tailEnd len="sm" w="sm" type="none"/>
                    </a:lnT>
                    <a:lnB cap="flat" cmpd="sng" w="12700">
                      <a:solidFill>
                        <a:srgbClr val="CBCBCB"/>
                      </a:solidFill>
                      <a:prstDash val="solid"/>
                      <a:round/>
                      <a:headEnd len="sm" w="sm" type="none"/>
                      <a:tailEnd len="sm" w="sm" type="none"/>
                    </a:lnB>
                  </a:tcPr>
                </a:tc>
              </a:tr>
              <a:tr h="359300">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M–O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3A"/>
                        </a:buClr>
                        <a:buSzPts val="1300"/>
                        <a:buFont typeface="IBM Plex Sans"/>
                        <a:buNone/>
                      </a:pPr>
                      <a:r>
                        <a:rPr lang="en-US" sz="1300" u="none" cap="none" strike="noStrike">
                          <a:solidFill>
                            <a:srgbClr val="1B2A3A"/>
                          </a:solidFill>
                          <a:latin typeface="IBM Plex Sans"/>
                          <a:ea typeface="IBM Plex Sans"/>
                          <a:cs typeface="IBM Plex Sans"/>
                          <a:sym typeface="IBM Plex Sans"/>
                        </a:rPr>
                        <a:t>Top-3 chunks, folded: open with +</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247" name="Google Shape;247;p11"/>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11 · only E–I are editable · secondaries only in extreme cases (guide rev3.1)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252" name="Shape 252"/>
        <p:cNvGrpSpPr/>
        <p:nvPr/>
      </p:nvGrpSpPr>
      <p:grpSpPr>
        <a:xfrm>
          <a:off x="0" y="0"/>
          <a:ext cx="0" cy="0"/>
          <a:chOff x="0" y="0"/>
          <a:chExt cx="0" cy="0"/>
        </a:xfrm>
      </p:grpSpPr>
      <p:sp>
        <p:nvSpPr>
          <p:cNvPr id="253" name="Google Shape;253;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TRAINING DATA · WHAT THE TEST SETS COST</a:t>
            </a:r>
            <a:endParaRPr b="0" i="0" sz="1200" u="none" cap="none" strike="noStrike">
              <a:solidFill>
                <a:schemeClr val="dk1"/>
              </a:solidFill>
              <a:latin typeface="IBM Plex Sans"/>
              <a:ea typeface="IBM Plex Sans"/>
              <a:cs typeface="IBM Plex Sans"/>
              <a:sym typeface="IBM Plex Sans"/>
            </a:endParaRPr>
          </a:p>
        </p:txBody>
      </p:sp>
      <p:sp>
        <p:nvSpPr>
          <p:cNvPr id="254" name="Google Shape;254;p12"/>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Each group gives up about 10% of citing papers</a:t>
            </a:r>
            <a:endParaRPr sz="3200"/>
          </a:p>
        </p:txBody>
      </p:sp>
      <p:sp>
        <p:nvSpPr>
          <p:cNvPr id="255" name="Google Shape;255;p12"/>
          <p:cNvSpPr/>
          <p:nvPr/>
        </p:nvSpPr>
        <p:spPr>
          <a:xfrm>
            <a:off x="815975" y="1882713"/>
            <a:ext cx="3414183" cy="1787657"/>
          </a:xfrm>
          <a:prstGeom prst="roundRect">
            <a:avLst>
              <a:gd fmla="val 550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p:nvPr/>
        </p:nvSpPr>
        <p:spPr>
          <a:xfrm>
            <a:off x="1020233" y="2086967"/>
            <a:ext cx="309583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≈10%</a:t>
            </a:r>
            <a:endParaRPr b="0" i="0" sz="4800" u="none" cap="none" strike="noStrike">
              <a:solidFill>
                <a:schemeClr val="dk1"/>
              </a:solidFill>
              <a:latin typeface="IBM Plex Sans"/>
              <a:ea typeface="IBM Plex Sans"/>
              <a:cs typeface="IBM Plex Sans"/>
              <a:sym typeface="IBM Plex Sans"/>
            </a:endParaRPr>
          </a:p>
        </p:txBody>
      </p:sp>
      <p:sp>
        <p:nvSpPr>
          <p:cNvPr id="257" name="Google Shape;257;p12"/>
          <p:cNvSpPr/>
          <p:nvPr/>
        </p:nvSpPr>
        <p:spPr>
          <a:xfrm>
            <a:off x="1020233" y="2772767"/>
            <a:ext cx="3095837" cy="7187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of citing papers out of each group’s training: 2,038 (G14) and 2,022 (G15) of 19,741</a:t>
            </a:r>
            <a:endParaRPr b="0" i="0" sz="1300" u="none" cap="none" strike="noStrike">
              <a:solidFill>
                <a:schemeClr val="dk1"/>
              </a:solidFill>
              <a:latin typeface="IBM Plex Sans"/>
              <a:ea typeface="IBM Plex Sans"/>
              <a:cs typeface="IBM Plex Sans"/>
              <a:sym typeface="IBM Plex Sans"/>
            </a:endParaRPr>
          </a:p>
        </p:txBody>
      </p:sp>
      <p:sp>
        <p:nvSpPr>
          <p:cNvPr id="258" name="Google Shape;258;p12"/>
          <p:cNvSpPr/>
          <p:nvPr/>
        </p:nvSpPr>
        <p:spPr>
          <a:xfrm>
            <a:off x="4388908" y="1882713"/>
            <a:ext cx="3414183" cy="1787657"/>
          </a:xfrm>
          <a:prstGeom prst="roundRect">
            <a:avLst>
              <a:gd fmla="val 550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
          <p:cNvSpPr/>
          <p:nvPr/>
        </p:nvSpPr>
        <p:spPr>
          <a:xfrm>
            <a:off x="4593167" y="2086967"/>
            <a:ext cx="309583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2,833</a:t>
            </a:r>
            <a:endParaRPr b="0" i="0" sz="4800" u="none" cap="none" strike="noStrike">
              <a:solidFill>
                <a:schemeClr val="dk1"/>
              </a:solidFill>
              <a:latin typeface="IBM Plex Sans"/>
              <a:ea typeface="IBM Plex Sans"/>
              <a:cs typeface="IBM Plex Sans"/>
              <a:sym typeface="IBM Plex Sans"/>
            </a:endParaRPr>
          </a:p>
        </p:txBody>
      </p:sp>
      <p:sp>
        <p:nvSpPr>
          <p:cNvPr id="260" name="Google Shape;260;p12"/>
          <p:cNvSpPr/>
          <p:nvPr/>
        </p:nvSpPr>
        <p:spPr>
          <a:xfrm>
            <a:off x="4593167" y="2772767"/>
            <a:ext cx="3095837" cy="7187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lowest train + test count of the five covered categories, either group; target 2,000</a:t>
            </a:r>
            <a:endParaRPr b="0" i="0" sz="1300" u="none" cap="none" strike="noStrike">
              <a:solidFill>
                <a:schemeClr val="dk1"/>
              </a:solidFill>
              <a:latin typeface="IBM Plex Sans"/>
              <a:ea typeface="IBM Plex Sans"/>
              <a:cs typeface="IBM Plex Sans"/>
              <a:sym typeface="IBM Plex Sans"/>
            </a:endParaRPr>
          </a:p>
        </p:txBody>
      </p:sp>
      <p:sp>
        <p:nvSpPr>
          <p:cNvPr id="261" name="Google Shape;261;p12"/>
          <p:cNvSpPr/>
          <p:nvPr/>
        </p:nvSpPr>
        <p:spPr>
          <a:xfrm>
            <a:off x="7961842" y="1882713"/>
            <a:ext cx="3414183" cy="1787657"/>
          </a:xfrm>
          <a:prstGeom prst="roundRect">
            <a:avLst>
              <a:gd fmla="val 5506"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8166100" y="2086967"/>
            <a:ext cx="3095837"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DB5"/>
              </a:buClr>
              <a:buSzPts val="4800"/>
              <a:buFont typeface="Source Serif 4"/>
              <a:buNone/>
            </a:pPr>
            <a:r>
              <a:rPr b="1" i="0" lang="en-US" sz="4800" u="none" cap="none" strike="noStrike">
                <a:solidFill>
                  <a:srgbClr val="2F6DB5"/>
                </a:solidFill>
                <a:latin typeface="Source Serif 4"/>
                <a:ea typeface="Source Serif 4"/>
                <a:cs typeface="Source Serif 4"/>
                <a:sym typeface="Source Serif 4"/>
              </a:rPr>
              <a:t>0</a:t>
            </a:r>
            <a:endParaRPr b="0" i="0" sz="4800" u="none" cap="none" strike="noStrike">
              <a:solidFill>
                <a:schemeClr val="dk1"/>
              </a:solidFill>
              <a:latin typeface="IBM Plex Sans"/>
              <a:ea typeface="IBM Plex Sans"/>
              <a:cs typeface="IBM Plex Sans"/>
              <a:sym typeface="IBM Plex Sans"/>
            </a:endParaRPr>
          </a:p>
        </p:txBody>
      </p:sp>
      <p:sp>
        <p:nvSpPr>
          <p:cNvPr id="263" name="Google Shape;263;p12"/>
          <p:cNvSpPr/>
          <p:nvPr/>
        </p:nvSpPr>
        <p:spPr>
          <a:xfrm>
            <a:off x="8166100" y="2772767"/>
            <a:ext cx="3095837" cy="7187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3"/>
              </a:buClr>
              <a:buSzPts val="1300"/>
              <a:buFont typeface="IBM Plex Sans"/>
              <a:buNone/>
            </a:pPr>
            <a:r>
              <a:rPr b="0" i="0" lang="en-US" sz="1300" u="none" cap="none" strike="noStrike">
                <a:solidFill>
                  <a:srgbClr val="4A5563"/>
                </a:solidFill>
                <a:latin typeface="IBM Plex Sans"/>
                <a:ea typeface="IBM Plex Sans"/>
                <a:cs typeface="IBM Plex Sans"/>
                <a:sym typeface="IBM Plex Sans"/>
              </a:rPr>
              <a:t>unarXive text in any shared file: identifiers only; text stays in the private Sheets</a:t>
            </a:r>
            <a:endParaRPr b="0" i="0" sz="1300" u="none" cap="none" strike="noStrike">
              <a:solidFill>
                <a:schemeClr val="dk1"/>
              </a:solidFill>
              <a:latin typeface="IBM Plex Sans"/>
              <a:ea typeface="IBM Plex Sans"/>
              <a:cs typeface="IBM Plex Sans"/>
              <a:sym typeface="IBM Plex Sans"/>
            </a:endParaRPr>
          </a:p>
        </p:txBody>
      </p:sp>
      <p:sp>
        <p:nvSpPr>
          <p:cNvPr id="264" name="Google Shape;264;p12"/>
          <p:cNvSpPr/>
          <p:nvPr/>
        </p:nvSpPr>
        <p:spPr>
          <a:xfrm>
            <a:off x="812800" y="3876743"/>
            <a:ext cx="10566400" cy="921941"/>
          </a:xfrm>
          <a:prstGeom prst="roundRect">
            <a:avLst>
              <a:gd fmla="val 11020" name="adj"/>
            </a:avLst>
          </a:prstGeom>
          <a:solidFill>
            <a:srgbClr val="1B2A3A"/>
          </a:solidFill>
          <a:ln>
            <a:noFill/>
          </a:ln>
        </p:spPr>
        <p:txBody>
          <a:bodyPr anchorCtr="0" anchor="t" bIns="148025" lIns="224225" spcFirstLastPara="1" rIns="0" wrap="square" tIns="173425">
            <a:normAutofit/>
          </a:bodyPr>
          <a:lstStyle/>
          <a:p>
            <a:pPr indent="0" lvl="0" marL="0" marR="0" rtl="0" algn="l">
              <a:lnSpc>
                <a:spcPct val="145000"/>
              </a:lnSpc>
              <a:spcBef>
                <a:spcPts val="0"/>
              </a:spcBef>
              <a:spcAft>
                <a:spcPts val="0"/>
              </a:spcAft>
              <a:buClr>
                <a:srgbClr val="F7F5F0"/>
              </a:buClr>
              <a:buSzPts val="1400"/>
              <a:buFont typeface="IBM Plex Sans"/>
              <a:buNone/>
            </a:pPr>
            <a:r>
              <a:rPr b="0" i="0" lang="en-US" sz="1400" u="none" cap="none" strike="noStrike">
                <a:solidFill>
                  <a:srgbClr val="F7F5F0"/>
                </a:solidFill>
                <a:latin typeface="IBM Plex Sans"/>
                <a:ea typeface="IBM Plex Sans"/>
                <a:cs typeface="IBM Plex Sans"/>
                <a:sym typeface="IBM Plex Sans"/>
              </a:rPr>
              <a:t>Each group trains on every paper except its own test set’s citing papers, </a:t>
            </a:r>
            <a:r>
              <a:rPr b="1" i="0" lang="en-US" sz="1400" u="none" cap="none" strike="noStrike">
                <a:solidFill>
                  <a:srgbClr val="F7F5F0"/>
                </a:solidFill>
                <a:latin typeface="IBM Plex Sans"/>
                <a:ea typeface="IBM Plex Sans"/>
                <a:cs typeface="IBM Plex Sans"/>
                <a:sym typeface="IBM Plex Sans"/>
              </a:rPr>
              <a:t>including the other group’s test set with gold labels</a:t>
            </a:r>
            <a:r>
              <a:rPr b="0" i="0" lang="en-US" sz="1400" u="none" cap="none" strike="noStrike">
                <a:solidFill>
                  <a:srgbClr val="F7F5F0"/>
                </a:solidFill>
                <a:latin typeface="IBM Plex Sans"/>
                <a:ea typeface="IBM Plex Sans"/>
                <a:cs typeface="IBM Plex Sans"/>
                <a:sym typeface="IBM Plex Sans"/>
              </a:rPr>
              <a:t>. Originator, Basis, Improvement/Modification and Further Reading stay short because of supply, not because of the test sets.</a:t>
            </a:r>
            <a:endParaRPr b="0" i="0" sz="1400" u="none" cap="none" strike="noStrike">
              <a:solidFill>
                <a:schemeClr val="dk1"/>
              </a:solidFill>
              <a:latin typeface="IBM Plex Sans"/>
              <a:ea typeface="IBM Plex Sans"/>
              <a:cs typeface="IBM Plex Sans"/>
              <a:sym typeface="IBM Plex Sans"/>
            </a:endParaRPr>
          </a:p>
        </p:txBody>
      </p:sp>
      <p:sp>
        <p:nvSpPr>
          <p:cNvPr id="265" name="Google Shape;265;p1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12 · sampler preview (8.1), 18 Oct · worst case, unused reserve still excluded · contract §10</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4"/>
        </a:solidFill>
      </p:bgPr>
    </p:bg>
    <p:spTree>
      <p:nvGrpSpPr>
        <p:cNvPr id="270" name="Shape 270"/>
        <p:cNvGrpSpPr/>
        <p:nvPr/>
      </p:nvGrpSpPr>
      <p:grpSpPr>
        <a:xfrm>
          <a:off x="0" y="0"/>
          <a:ext cx="0" cy="0"/>
          <a:chOff x="0" y="0"/>
          <a:chExt cx="0" cy="0"/>
        </a:xfrm>
      </p:grpSpPr>
      <p:sp>
        <p:nvSpPr>
          <p:cNvPr id="271" name="Google Shape;271;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A"/>
              </a:buClr>
              <a:buSzPts val="1200"/>
              <a:buFont typeface="IBM Plex Sans"/>
              <a:buNone/>
            </a:pPr>
            <a:r>
              <a:rPr b="1" i="0" lang="en-US" sz="1200" u="none" cap="none" strike="noStrike">
                <a:solidFill>
                  <a:srgbClr val="B4501A"/>
                </a:solidFill>
                <a:latin typeface="IBM Plex Sans"/>
                <a:ea typeface="IBM Plex Sans"/>
                <a:cs typeface="IBM Plex Sans"/>
                <a:sym typeface="IBM Plex Sans"/>
              </a:rPr>
              <a:t>NEXT STEPS · OPEN DECISIONS</a:t>
            </a:r>
            <a:endParaRPr b="0" i="0" sz="1200" u="none" cap="none" strike="noStrike">
              <a:solidFill>
                <a:schemeClr val="dk1"/>
              </a:solidFill>
              <a:latin typeface="IBM Plex Sans"/>
              <a:ea typeface="IBM Plex Sans"/>
              <a:cs typeface="IBM Plex Sans"/>
              <a:sym typeface="IBM Plex Sans"/>
            </a:endParaRPr>
          </a:p>
        </p:txBody>
      </p:sp>
      <p:sp>
        <p:nvSpPr>
          <p:cNvPr id="272" name="Google Shape;272;p13"/>
          <p:cNvSpPr txBox="1"/>
          <p:nvPr>
            <p:ph type="title"/>
          </p:nvPr>
        </p:nvSpPr>
        <p:spPr>
          <a:xfrm>
            <a:off x="812800" y="1229320"/>
            <a:ext cx="10883392" cy="47241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3A"/>
              </a:buClr>
              <a:buSzPts val="3200"/>
              <a:buFont typeface="Source Serif 4"/>
              <a:buNone/>
            </a:pPr>
            <a:r>
              <a:rPr b="1" i="0" lang="en-US" sz="3200">
                <a:solidFill>
                  <a:srgbClr val="1B2A3A"/>
                </a:solidFill>
                <a:latin typeface="Source Serif 4"/>
                <a:ea typeface="Source Serif 4"/>
                <a:cs typeface="Source Serif 4"/>
                <a:sym typeface="Source Serif 4"/>
              </a:rPr>
              <a:t>What happens next, and what we still need</a:t>
            </a:r>
            <a:endParaRPr sz="3200"/>
          </a:p>
        </p:txBody>
      </p:sp>
      <p:sp>
        <p:nvSpPr>
          <p:cNvPr id="273" name="Google Shape;273;p13"/>
          <p:cNvSpPr/>
          <p:nvPr/>
        </p:nvSpPr>
        <p:spPr>
          <a:xfrm>
            <a:off x="815975" y="1882713"/>
            <a:ext cx="5166783" cy="2404930"/>
          </a:xfrm>
          <a:prstGeom prst="roundRect">
            <a:avLst>
              <a:gd fmla="val 4093" name="adj"/>
            </a:avLst>
          </a:prstGeom>
          <a:solidFill>
            <a:srgbClr val="FFFFFF"/>
          </a:solidFill>
          <a:ln cap="flat" cmpd="sng" w="9525">
            <a:solidFill>
              <a:srgbClr val="D3D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1045633" y="2112367"/>
            <a:ext cx="4848691"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6DB5"/>
              </a:buClr>
              <a:buSzPts val="1600"/>
              <a:buFont typeface="IBM Plex Sans"/>
              <a:buNone/>
            </a:pPr>
            <a:r>
              <a:rPr b="1" i="0" lang="en-US" sz="1600" u="none" cap="none" strike="noStrike">
                <a:solidFill>
                  <a:srgbClr val="2F6DB5"/>
                </a:solidFill>
                <a:latin typeface="IBM Plex Sans"/>
                <a:ea typeface="IBM Plex Sans"/>
                <a:cs typeface="IBM Plex Sans"/>
                <a:sym typeface="IBM Plex Sans"/>
              </a:rPr>
              <a:t>Next steps</a:t>
            </a:r>
            <a:endParaRPr b="0" i="0" sz="1600" u="none" cap="none" strike="noStrike">
              <a:solidFill>
                <a:schemeClr val="dk1"/>
              </a:solidFill>
              <a:latin typeface="IBM Plex Sans"/>
              <a:ea typeface="IBM Plex Sans"/>
              <a:cs typeface="IBM Plex Sans"/>
              <a:sym typeface="IBM Plex Sans"/>
            </a:endParaRPr>
          </a:p>
        </p:txBody>
      </p:sp>
      <p:sp>
        <p:nvSpPr>
          <p:cNvPr id="275" name="Google Shape;275;p13"/>
          <p:cNvSpPr/>
          <p:nvPr/>
        </p:nvSpPr>
        <p:spPr>
          <a:xfrm>
            <a:off x="1102585" y="2457785"/>
            <a:ext cx="4784119" cy="1625600"/>
          </a:xfrm>
          <a:prstGeom prst="rect">
            <a:avLst/>
          </a:prstGeom>
          <a:noFill/>
          <a:ln>
            <a:noFill/>
          </a:ln>
        </p:spPr>
        <p:txBody>
          <a:bodyPr anchorCtr="0" anchor="t" bIns="0" lIns="0" spcFirstLastPara="1" rIns="0" wrap="square" tIns="0">
            <a:normAutofit/>
          </a:bodyPr>
          <a:lstStyle/>
          <a:p>
            <a:pPr indent="-197048" lvl="0" marL="197048" marR="0" rtl="0" algn="l">
              <a:lnSpc>
                <a:spcPct val="150000"/>
              </a:lnSpc>
              <a:spcBef>
                <a:spcPts val="0"/>
              </a:spcBef>
              <a:spcAft>
                <a:spcPts val="0"/>
              </a:spcAft>
              <a:buClr>
                <a:srgbClr val="1B2A3A"/>
              </a:buClr>
              <a:buSzPts val="1400"/>
              <a:buFont typeface="IBM Plex Sans"/>
              <a:buAutoNum type="arabicPeriod"/>
            </a:pPr>
            <a:r>
              <a:rPr b="0" i="0" lang="en-US" sz="1400" u="none" cap="none" strike="noStrike">
                <a:solidFill>
                  <a:srgbClr val="1B2A3A"/>
                </a:solidFill>
                <a:latin typeface="IBM Plex Sans"/>
                <a:ea typeface="IBM Plex Sans"/>
                <a:cs typeface="IBM Plex Sans"/>
                <a:sym typeface="IBM Plex Sans"/>
              </a:rPr>
              <a:t>Wave 1 complete by [19-10-26]: 2 batches each</a:t>
            </a:r>
            <a:endParaRPr b="0" i="0" sz="1400" u="none" cap="none" strike="noStrike">
              <a:solidFill>
                <a:schemeClr val="dk1"/>
              </a:solidFill>
              <a:latin typeface="IBM Plex Sans"/>
              <a:ea typeface="IBM Plex Sans"/>
              <a:cs typeface="IBM Plex Sans"/>
              <a:sym typeface="IBM Plex Sans"/>
            </a:endParaRPr>
          </a:p>
          <a:p>
            <a:pPr indent="-197048" lvl="0" marL="197048" marR="0" rtl="0" algn="l">
              <a:lnSpc>
                <a:spcPct val="150000"/>
              </a:lnSpc>
              <a:spcBef>
                <a:spcPts val="0"/>
              </a:spcBef>
              <a:spcAft>
                <a:spcPts val="0"/>
              </a:spcAft>
              <a:buClr>
                <a:srgbClr val="1B2A3A"/>
              </a:buClr>
              <a:buSzPts val="1400"/>
              <a:buFont typeface="IBM Plex Sans"/>
              <a:buAutoNum type="arabicPeriod"/>
            </a:pPr>
            <a:r>
              <a:rPr b="0" i="0" lang="en-US" sz="1400" u="none" cap="none" strike="noStrike">
                <a:solidFill>
                  <a:srgbClr val="1B2A3A"/>
                </a:solidFill>
                <a:latin typeface="IBM Plex Sans"/>
                <a:ea typeface="IBM Plex Sans"/>
                <a:cs typeface="IBM Plex Sans"/>
                <a:sym typeface="IBM Plex Sans"/>
              </a:rPr>
              <a:t>Check: reserve decision, shown to the team before it is frozen</a:t>
            </a:r>
            <a:endParaRPr b="0" i="0" sz="1400" u="none" cap="none" strike="noStrike">
              <a:solidFill>
                <a:schemeClr val="dk1"/>
              </a:solidFill>
              <a:latin typeface="IBM Plex Sans"/>
              <a:ea typeface="IBM Plex Sans"/>
              <a:cs typeface="IBM Plex Sans"/>
              <a:sym typeface="IBM Plex Sans"/>
            </a:endParaRPr>
          </a:p>
          <a:p>
            <a:pPr indent="-197048" lvl="0" marL="197048" marR="0" rtl="0" algn="l">
              <a:lnSpc>
                <a:spcPct val="150000"/>
              </a:lnSpc>
              <a:spcBef>
                <a:spcPts val="0"/>
              </a:spcBef>
              <a:spcAft>
                <a:spcPts val="0"/>
              </a:spcAft>
              <a:buClr>
                <a:srgbClr val="1B2A3A"/>
              </a:buClr>
              <a:buSzPts val="1400"/>
              <a:buFont typeface="IBM Plex Sans"/>
              <a:buAutoNum type="arabicPeriod"/>
            </a:pPr>
            <a:r>
              <a:rPr b="0" i="0" lang="en-US" sz="1400" u="none" cap="none" strike="noStrike">
                <a:solidFill>
                  <a:srgbClr val="1B2A3A"/>
                </a:solidFill>
                <a:latin typeface="IBM Plex Sans"/>
                <a:ea typeface="IBM Plex Sans"/>
                <a:cs typeface="IBM Plex Sans"/>
                <a:sym typeface="IBM Plex Sans"/>
              </a:rPr>
              <a:t>Wave 2 out [19-10-26]: 16 batches each</a:t>
            </a:r>
            <a:endParaRPr b="0" i="0" sz="1400" u="none" cap="none" strike="noStrike">
              <a:solidFill>
                <a:schemeClr val="dk1"/>
              </a:solidFill>
              <a:latin typeface="IBM Plex Sans"/>
              <a:ea typeface="IBM Plex Sans"/>
              <a:cs typeface="IBM Plex Sans"/>
              <a:sym typeface="IBM Plex Sans"/>
            </a:endParaRPr>
          </a:p>
          <a:p>
            <a:pPr indent="-197048" lvl="0" marL="197048" marR="0" rtl="0" algn="l">
              <a:lnSpc>
                <a:spcPct val="150000"/>
              </a:lnSpc>
              <a:spcBef>
                <a:spcPts val="0"/>
              </a:spcBef>
              <a:spcAft>
                <a:spcPts val="0"/>
              </a:spcAft>
              <a:buClr>
                <a:srgbClr val="1B2A3A"/>
              </a:buClr>
              <a:buSzPts val="1400"/>
              <a:buFont typeface="IBM Plex Sans"/>
              <a:buAutoNum type="arabicPeriod"/>
            </a:pPr>
            <a:r>
              <a:rPr b="0" i="0" lang="en-US" sz="1400" u="none" cap="none" strike="noStrike">
                <a:solidFill>
                  <a:srgbClr val="1B2A3A"/>
                </a:solidFill>
                <a:latin typeface="IBM Plex Sans"/>
                <a:ea typeface="IBM Plex Sans"/>
                <a:cs typeface="IBM Plex Sans"/>
                <a:sym typeface="IBM Plex Sans"/>
              </a:rPr>
              <a:t>Close round 1: κ and α report, adjudication, gold test sets</a:t>
            </a:r>
            <a:endParaRPr b="0" i="0" sz="1400" u="none" cap="none" strike="noStrike">
              <a:solidFill>
                <a:schemeClr val="dk1"/>
              </a:solidFill>
              <a:latin typeface="IBM Plex Sans"/>
              <a:ea typeface="IBM Plex Sans"/>
              <a:cs typeface="IBM Plex Sans"/>
              <a:sym typeface="IBM Plex Sans"/>
            </a:endParaRPr>
          </a:p>
        </p:txBody>
      </p:sp>
      <p:sp>
        <p:nvSpPr>
          <p:cNvPr id="276" name="Google Shape;276;p13"/>
          <p:cNvSpPr/>
          <p:nvPr/>
        </p:nvSpPr>
        <p:spPr>
          <a:xfrm>
            <a:off x="6195483" y="1885888"/>
            <a:ext cx="5177367" cy="2148814"/>
          </a:xfrm>
          <a:prstGeom prst="roundRect">
            <a:avLst>
              <a:gd fmla="val 4433" name="adj"/>
            </a:avLst>
          </a:prstGeom>
          <a:solidFill>
            <a:srgbClr val="FFFFFF"/>
          </a:solidFill>
          <a:ln cap="flat" cmpd="sng" w="12700">
            <a:solidFill>
              <a:srgbClr val="B450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6430433" y="2120838"/>
            <a:ext cx="4848691" cy="26921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01A"/>
              </a:buClr>
              <a:buSzPts val="1600"/>
              <a:buFont typeface="IBM Plex Sans"/>
              <a:buNone/>
            </a:pPr>
            <a:r>
              <a:rPr b="1" i="0" lang="en-US" sz="1600" u="none" cap="none" strike="noStrike">
                <a:solidFill>
                  <a:srgbClr val="B4501A"/>
                </a:solidFill>
                <a:latin typeface="IBM Plex Sans"/>
                <a:ea typeface="IBM Plex Sans"/>
                <a:cs typeface="IBM Plex Sans"/>
                <a:sym typeface="IBM Plex Sans"/>
              </a:rPr>
              <a:t>Open decisions</a:t>
            </a:r>
            <a:endParaRPr b="0" i="0" sz="1600" u="none" cap="none" strike="noStrike">
              <a:solidFill>
                <a:schemeClr val="dk1"/>
              </a:solidFill>
              <a:latin typeface="IBM Plex Sans"/>
              <a:ea typeface="IBM Plex Sans"/>
              <a:cs typeface="IBM Plex Sans"/>
              <a:sym typeface="IBM Plex Sans"/>
            </a:endParaRPr>
          </a:p>
        </p:txBody>
      </p:sp>
      <p:sp>
        <p:nvSpPr>
          <p:cNvPr id="278" name="Google Shape;278;p13"/>
          <p:cNvSpPr/>
          <p:nvPr/>
        </p:nvSpPr>
        <p:spPr>
          <a:xfrm>
            <a:off x="6508665" y="2466249"/>
            <a:ext cx="4762839" cy="1358900"/>
          </a:xfrm>
          <a:prstGeom prst="rect">
            <a:avLst/>
          </a:prstGeom>
          <a:noFill/>
          <a:ln>
            <a:noFill/>
          </a:ln>
        </p:spPr>
        <p:txBody>
          <a:bodyPr anchorCtr="0" anchor="t" bIns="0" lIns="0" spcFirstLastPara="1" rIns="0" wrap="square" tIns="0">
            <a:normAutofit/>
          </a:bodyPr>
          <a:lstStyle/>
          <a:p>
            <a:pPr indent="-175768" lvl="0" marL="175768" marR="0" rtl="0" algn="l">
              <a:lnSpc>
                <a:spcPct val="150000"/>
              </a:lnSpc>
              <a:spcBef>
                <a:spcPts val="0"/>
              </a:spcBef>
              <a:spcAft>
                <a:spcPts val="0"/>
              </a:spcAft>
              <a:buClr>
                <a:srgbClr val="1B2A3A"/>
              </a:buClr>
              <a:buSzPts val="1400"/>
              <a:buFont typeface="IBM Plex Sans"/>
              <a:buChar char="•"/>
            </a:pPr>
            <a:r>
              <a:rPr b="0" i="0" lang="en-US" sz="1400" u="none" cap="none" strike="noStrike">
                <a:solidFill>
                  <a:srgbClr val="1B2A3A"/>
                </a:solidFill>
                <a:latin typeface="IBM Plex Sans"/>
                <a:ea typeface="IBM Plex Sans"/>
                <a:cs typeface="IBM Plex Sans"/>
                <a:sym typeface="IBM Plex Sans"/>
              </a:rPr>
              <a:t>Metrics lead: one person computes every metric</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50000"/>
              </a:lnSpc>
              <a:spcBef>
                <a:spcPts val="0"/>
              </a:spcBef>
              <a:spcAft>
                <a:spcPts val="0"/>
              </a:spcAft>
              <a:buClr>
                <a:srgbClr val="1B2A3A"/>
              </a:buClr>
              <a:buSzPts val="1400"/>
              <a:buFont typeface="IBM Plex Sans"/>
              <a:buChar char="•"/>
            </a:pPr>
            <a:r>
              <a:rPr b="0" i="0" lang="en-US" sz="1400" u="none" cap="none" strike="noStrike">
                <a:solidFill>
                  <a:srgbClr val="1B2A3A"/>
                </a:solidFill>
                <a:latin typeface="IBM Plex Sans"/>
                <a:ea typeface="IBM Plex Sans"/>
                <a:cs typeface="IBM Plex Sans"/>
                <a:sym typeface="IBM Plex Sans"/>
              </a:rPr>
              <a:t>Adjudicating pair: one per group, not the sampling lead</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50000"/>
              </a:lnSpc>
              <a:spcBef>
                <a:spcPts val="0"/>
              </a:spcBef>
              <a:spcAft>
                <a:spcPts val="0"/>
              </a:spcAft>
              <a:buClr>
                <a:srgbClr val="1B2A3A"/>
              </a:buClr>
              <a:buSzPts val="1400"/>
              <a:buFont typeface="IBM Plex Sans"/>
              <a:buChar char="•"/>
            </a:pPr>
            <a:r>
              <a:rPr b="0" i="0" lang="en-US" sz="1400" u="none" cap="none" strike="noStrike">
                <a:solidFill>
                  <a:srgbClr val="1B2A3A"/>
                </a:solidFill>
                <a:latin typeface="IBM Plex Sans"/>
                <a:ea typeface="IBM Plex Sans"/>
                <a:cs typeface="IBM Plex Sans"/>
                <a:sym typeface="IBM Plex Sans"/>
              </a:rPr>
              <a:t>Dates</a:t>
            </a:r>
            <a:r>
              <a:rPr lang="en-US">
                <a:solidFill>
                  <a:srgbClr val="1B2A3A"/>
                </a:solidFill>
                <a:latin typeface="IBM Plex Sans"/>
                <a:ea typeface="IBM Plex Sans"/>
                <a:cs typeface="IBM Plex Sans"/>
                <a:sym typeface="IBM Plex Sans"/>
              </a:rPr>
              <a:t>!!!</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50000"/>
              </a:lnSpc>
              <a:spcBef>
                <a:spcPts val="0"/>
              </a:spcBef>
              <a:spcAft>
                <a:spcPts val="0"/>
              </a:spcAft>
              <a:buClr>
                <a:srgbClr val="1B2A3A"/>
              </a:buClr>
              <a:buSzPts val="1400"/>
              <a:buFont typeface="IBM Plex Sans"/>
              <a:buChar char="•"/>
            </a:pPr>
            <a:r>
              <a:rPr b="0" i="0" lang="en-US" sz="1400" u="none" cap="none" strike="noStrike">
                <a:solidFill>
                  <a:srgbClr val="1B2A3A"/>
                </a:solidFill>
                <a:latin typeface="IBM Plex Sans"/>
                <a:ea typeface="IBM Plex Sans"/>
                <a:cs typeface="IBM Plex Sans"/>
                <a:sym typeface="IBM Plex Sans"/>
              </a:rPr>
              <a:t>Round-2 quotas: Basis, Improvement/Modification, Further Reading</a:t>
            </a:r>
            <a:endParaRPr b="0" i="0" sz="1400" u="none" cap="none" strike="noStrike">
              <a:solidFill>
                <a:schemeClr val="dk1"/>
              </a:solidFill>
              <a:latin typeface="IBM Plex Sans"/>
              <a:ea typeface="IBM Plex Sans"/>
              <a:cs typeface="IBM Plex Sans"/>
              <a:sym typeface="IBM Plex Sans"/>
            </a:endParaRPr>
          </a:p>
        </p:txBody>
      </p:sp>
      <p:sp>
        <p:nvSpPr>
          <p:cNvPr id="279" name="Google Shape;279;p1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573"/>
              </a:buClr>
              <a:buSzPts val="1200"/>
              <a:buFont typeface="IBM Plex Sans"/>
              <a:buNone/>
            </a:pPr>
            <a:r>
              <a:rPr b="0" i="0" lang="en-US" sz="1200" u="none" cap="none" strike="noStrike">
                <a:solidFill>
                  <a:srgbClr val="5A6573"/>
                </a:solidFill>
                <a:latin typeface="IBM Plex Sans"/>
                <a:ea typeface="IBM Plex Sans"/>
                <a:cs typeface="IBM Plex Sans"/>
                <a:sym typeface="IBM Plex Sans"/>
              </a:rPr>
              <a:t>calib2 and A3 round 1 · 13 · contract §9, §11,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alib2 Results and A3 Round 1">
  <a:themeElements>
    <a:clrScheme name="calib2 Results and A3 Round 1">
      <a:dk1>
        <a:srgbClr val="1B2A3A"/>
      </a:dk1>
      <a:lt1>
        <a:srgbClr val="F7F5F0"/>
      </a:lt1>
      <a:dk2>
        <a:srgbClr val="525D68"/>
      </a:dk2>
      <a:lt2>
        <a:srgbClr val="E1E1DE"/>
      </a:lt2>
      <a:accent1>
        <a:srgbClr val="2F6DB5"/>
      </a:accent1>
      <a:accent2>
        <a:srgbClr val="B4501A"/>
      </a:accent2>
      <a:accent3>
        <a:srgbClr val="F0A35E"/>
      </a:accent3>
      <a:accent4>
        <a:srgbClr val="C2571A"/>
      </a:accent4>
      <a:accent5>
        <a:srgbClr val="4A5563"/>
      </a:accent5>
      <a:accent6>
        <a:srgbClr val="5A657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alib2 Results and A3 Round 1">
  <a:themeElements>
    <a:clrScheme name="calib2 Results and A3 Round 1">
      <a:dk1>
        <a:srgbClr val="1B2A3A"/>
      </a:dk1>
      <a:lt1>
        <a:srgbClr val="F7F5F0"/>
      </a:lt1>
      <a:dk2>
        <a:srgbClr val="525D68"/>
      </a:dk2>
      <a:lt2>
        <a:srgbClr val="E1E1DE"/>
      </a:lt2>
      <a:accent1>
        <a:srgbClr val="2F6DB5"/>
      </a:accent1>
      <a:accent2>
        <a:srgbClr val="B4501A"/>
      </a:accent2>
      <a:accent3>
        <a:srgbClr val="F0A35E"/>
      </a:accent3>
      <a:accent4>
        <a:srgbClr val="C2571A"/>
      </a:accent4>
      <a:accent5>
        <a:srgbClr val="4A5563"/>
      </a:accent5>
      <a:accent6>
        <a:srgbClr val="5A657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2026-10-19T01:32:54Z</dcterms:created>
</cp:coreProperties>
</file>