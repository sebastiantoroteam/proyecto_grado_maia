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28216"/>
  </p:normalViewPr>
  <p:slideViewPr>
    <p:cSldViewPr snapToGrid="0" snapToObjects="1">
      <p:cViewPr varScale="1">
        <p:scale>
          <a:sx n="30" d="100"/>
          <a:sy n="30" d="100"/>
        </p:scale>
        <p:origin x="42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0772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the state of the A2 pool after the extension, how the A3 annotation is organized in rounds, waves and batches, and a first look at the A4 training data.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points: the pool now covers all nine categories well enough to sample both test sets; the annotation runs in two rounds organized in waves of batches; and the A4 training set can be built now, because every package that could ever be annotated is already excluded from its owner's training.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 took 8 h 44 min on one A100 session, close to the 9 h estimate. Gemma is a mixture-of-experts model and ran four times faster than Qwen. The 30 failed answers are parse errors (bad_json or no_json), most likely an answer cut at the 160-token limit; greedy decoding would repeat them, so they were not retried. The merge treats them as non-votes. pool_cue_yield (900 instances) had been judged with the same setup before and was merged as it was.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 agreement is a property of the judges, not of the human labels: high confidence means at least two judges agree on the primary label. The consistency check repeats 300 instances from pilot_random_1500 judged in the validation runs; 294 of 300 got the same pre-label. pool_v11.1 is the round-1 sampling frame and is never rewritten: the extended pool starts with it line for line. Caveat for the report: the multi-label signal is 19.9%, driven by Gemma, which adds secondary labels to 44% of instances (Qwen 3.5%).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random yields come from pool_single_7000 (7,000 single citations): Basis 185, Application 1,874, Improvement/Modification 98, Further Reading 20, Originator 81 high-confidence labels. Instances to judge = the gap divided by the yield; GPU time at the full-trio rate measured in the production run. The cue yields come from pool_cue_rare. The next slide shows what the targeted batches added.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batches were judged by the same three judges, pinned to the same revisions, with prompt v11.1 and vLLM 0.29.0, so the extended pool is one consistent pool. The extension copies pool_v11.1 byte for byte and appends the new records. Improvement/Modification cue phrases are rare everywhere (about 9 hits per 10,000 pairs in every subcategory measured), which is why IM stays the scarcest category. Demo-eligible instances (both papers under a permissive license): 521, of which Originator 11 and IM 16.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are high-confidence instances whose citing paper is test-eligible (not a calibration paper). Basis went from 502 to 3,206 with its cue batch. Further Reading and Originator are now close to 2,000; Improvement/Modification stays under 1,000. Every cell of both test sets could still be filled: Improvement/Modification had 481 and 475 candidates per half for the 390 it needs. Training targets for the three short categories are the available supply (about 1,776, 1,786 and 958).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judge entry is {model, prompt_version, labels}, with the judge's primary label first and its secondary labels after it, plus an error or abstain field when the judge did not vote. high_confidence means at least 2 of 3 judges gave the same primary label; unanimous means 3 of 3. test_eligible is false for every row of the 117 calibration citing papers (eval60, calib30, calib2). demo_eligible is true only when both papers are CC BY or CC0: 521 instances in the extended pool. A release is identifiers plus a reconstruction script.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record per annotator and package, read from the Google Sheets by the collector. primary_label is both the label for Cohen's kappa and the label that goes to adjudication. pre_label_decision compares primary_label with the pre-label. Gold: when the two annotators' primary labels agree, that is the gold label; otherwise a pair assigned to that package, one member per group, decides. Confidence orders the adjudication queue but never decides.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keeps only high-confidence instances whose citing paper is not a calibration paper. Step 2 assigns every citing paper to half A (test set of group 14) or half B (group 15) with the published seed, so the two test sets share no instances and no citing papers. Step 3 takes, in a fixed hash order per cell (set by category), 330 active packages, 30 reserve and a further 30 buffer, filling the scarcest categories first. Step 6: Cohen's kappa on primary_label before adjudication; disagreements and unclear cases go to a pair assigned per package; after adjudication, each cell's valid gold is counted and any deficit is topped up from its reserve, then its buffer, in a later wave.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package shown is a mock-up with an invented sentence, not unarXive text. Each annotator gets one native Google Sheet per batch in a private folder: the package text is read-only, the input columns have dropdowns with the valid labels, and colours flag pending rows, corrections and rows to fix. The instructions Sheet stays open beside the batch. Both annotators see the same pre-label, so the report shows kappa together with the correction rate per cell and per annotator; a rate near zero would flag click-through confirmation.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2's wave 3 bins are already drawn and numbered; they are batched only after round 1 is adjudicated, together with the round-1 packages released by the top-up, so released packages are mixed with round-2 categories from the start. Wave 1 of round 1, by cell: corrections ranged from 0.0% (A, Evidence) to 22.2% (B, Gap); by category, Gap 15.8%, Comparison 12.3% and Background 10.8% are changed most, Evidence 2.1% and Originator 2.8% least. Expected adjudication load: about 10–13% of packages.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Package ids are given at draw time to active and reserve packages alike, in random order over both sets, so neither the id nor the batch name tells the set or the status. Buffer packages get an id only if a top-up releases them, after the last id used. In round 2, wave 1 gives each person one batch from their own set and one from the other; wave 2 three and three. The plan, the samples and the assignment are written once; any later run recomputes them and stops if anything differs.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group owns a test set of at least 2,700 final instances (300 per category), annotated with a 10% active margin: 2,970 packages per set. Each package gets one annotator from each group, so each group annotates its own set (its validation) and the other group's set (the second annotation). Round 2 is expected to need more adjudication: only 42% of the new Improvement/Modification pre-labels are unanimous, and Basis versus Application is the judges' main disagreement.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group excludes from its own training and validation what its own test set uses: V0 the citing papers of its test packages (active, reserve and buffer, both rounds) plus the 117 calibration papers; V1 also every row whose cited paper is cited by one of its test packages; V2 also rows where a test paper appears in the other role. The two groups lose almost the same: G14 14,567 and G15 14,701 high-confidence rows beyond V0 under V1, with the same papers on top (ResNet about 965 rows each). The top 10 papers explain only about 20% of that loss. V2 adds about 1,200 rows to V1. Under V1 and V2 the train/validation split must follow the same rule, which costs another 15–20% of training rows. The targets for the three short categories equal the pool's whole supply, so every variant leaves them below.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set v1 is the extended pool's high-confidence rows (a pre-label with at least 2 of 3 votes) minus everything the group's exclusion list removes; the 1,520 ties have no label and are left out. Because active, reserve and buffer packages of both rounds are excluded from the owner's training from the start, no top-up and no adjudication ever changes the rows of v1. A test package is "seen" when its cited paper is also the cited paper of a training row; reporting Macro F1 separately for seen and unseen packages measures how much familiarity with the cited paper helps. With about 20 unseen packages, per-category unseen scores for Application and Originator are too noisy to read alone.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guide is the single source of the category definitions and decision rules; annotators work from the instructions Sheet, which summarizes it, and the guide prevails if they differ. The contract describes the process as it runs: pools, sampling and the deferred top-up, the protocol, the record, agreement and adjudication, isolation and the exclusion lists, deliverables and the timeline.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4 can run in parallel: A4 needs only each group's training set v1, which does not depend on the annotation. Step 5 starts when round 1's wave 2 is collected; its top-up goes into round 2's wave 3, mixed with round-2 packages. Remaining dates are placeholders until the plan is set.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2" y="1305582"/>
            <a:ext cx="10566436" cy="447026"/>
          </a:xfrm>
          <a:prstGeom prst="rect">
            <a:avLst/>
          </a:prstGeom>
          <a:noFill/>
          <a:ln/>
        </p:spPr>
        <p:txBody>
          <a:bodyPr wrap="square" lIns="0" tIns="0" rIns="0" bIns="0" rtlCol="0" anchor="t"/>
          <a:lstStyle>
            <a:lvl1pPr marL="0" indent="0" algn="l">
              <a:lnSpc>
                <a:spcPct val="115000"/>
              </a:lnSpc>
              <a:buNone/>
              <a:defRPr lang="en-US" sz="3200" dirty="0">
                <a:solidFill>
                  <a:srgbClr val="1B2A3A"/>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2" y="2057408"/>
            <a:ext cx="10566418" cy="3987792"/>
          </a:xfrm>
          <a:prstGeom prst="rect">
            <a:avLst/>
          </a:prstGeom>
          <a:noFill/>
          <a:ln/>
        </p:spPr>
        <p:txBody>
          <a:bodyPr wrap="square" lIns="0" tIns="0" rIns="0" bIns="0" rtlCol="0" anchor="t"/>
          <a:lstStyle>
            <a:lvl1pPr marL="0" indent="0" algn="l">
              <a:lnSpc>
                <a:spcPct val="140000"/>
              </a:lnSpc>
              <a:buNone/>
              <a:defRPr lang="en-US" sz="1600" dirty="0">
                <a:solidFill>
                  <a:srgbClr val="1B2A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2" y="1305582"/>
            <a:ext cx="10566436" cy="447026"/>
          </a:xfrm>
          <a:prstGeom prst="rect">
            <a:avLst/>
          </a:prstGeom>
          <a:noFill/>
          <a:ln/>
        </p:spPr>
        <p:txBody>
          <a:bodyPr wrap="square" lIns="0" tIns="0" rIns="0" bIns="0" rtlCol="0" anchor="t"/>
          <a:lstStyle>
            <a:lvl1pPr marL="0" indent="0" algn="l">
              <a:lnSpc>
                <a:spcPct val="115000"/>
              </a:lnSpc>
              <a:buNone/>
              <a:defRPr lang="en-US" sz="3200" dirty="0">
                <a:solidFill>
                  <a:srgbClr val="1B2A3A"/>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2" y="2057408"/>
            <a:ext cx="10566418" cy="3987792"/>
          </a:xfrm>
          <a:prstGeom prst="rect">
            <a:avLst/>
          </a:prstGeom>
          <a:noFill/>
          <a:ln/>
        </p:spPr>
        <p:txBody>
          <a:bodyPr wrap="square" lIns="0" tIns="0" rIns="0" bIns="0" rtlCol="0" anchor="t"/>
          <a:lstStyle>
            <a:lvl1pPr marL="0" indent="0" algn="l">
              <a:lnSpc>
                <a:spcPct val="140000"/>
              </a:lnSpc>
              <a:buNone/>
              <a:defRPr lang="en-US" sz="1600" dirty="0">
                <a:solidFill>
                  <a:srgbClr val="1B2A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A"/>
        </a:solidFill>
        <a:effectLst/>
      </p:bgPr>
    </p:bg>
    <p:spTree>
      <p:nvGrpSpPr>
        <p:cNvPr id="1" name=""/>
        <p:cNvGrpSpPr/>
        <p:nvPr/>
      </p:nvGrpSpPr>
      <p:grpSpPr>
        <a:xfrm>
          <a:off x="0" y="0"/>
          <a:ext cx="0" cy="0"/>
          <a:chOff x="0" y="0"/>
          <a:chExt cx="0" cy="0"/>
        </a:xfrm>
      </p:grpSpPr>
      <p:sp>
        <p:nvSpPr>
          <p:cNvPr id="2" name="Text 0"/>
          <p:cNvSpPr/>
          <p:nvPr/>
        </p:nvSpPr>
        <p:spPr>
          <a:xfrm>
            <a:off x="812782" y="812782"/>
            <a:ext cx="10883429" cy="274259"/>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0A35E"/>
                </a:solidFill>
                <a:latin typeface="IBM Plex Sans" pitchFamily="34" charset="0"/>
                <a:ea typeface="IBM Plex Sans" pitchFamily="34" charset="-122"/>
                <a:cs typeface="IBM Plex Sans" pitchFamily="34" charset="-120"/>
              </a:rPr>
              <a:t>A2 POOL · A3 ROUNDS AND WAVES · A4 FIRST LOOK</a:t>
            </a:r>
            <a:endParaRPr lang="en-US" sz="1400" dirty="0"/>
          </a:p>
        </p:txBody>
      </p:sp>
      <p:sp>
        <p:nvSpPr>
          <p:cNvPr id="3" name="Text 1"/>
          <p:cNvSpPr>
            <a:spLocks noGrp="1"/>
          </p:cNvSpPr>
          <p:nvPr>
            <p:ph type="title"/>
          </p:nvPr>
        </p:nvSpPr>
        <p:spPr>
          <a:xfrm>
            <a:off x="812782" y="2268862"/>
            <a:ext cx="10883429" cy="1451805"/>
          </a:xfrm>
          <a:prstGeom prst="rect">
            <a:avLst/>
          </a:prstGeom>
          <a:noFill/>
          <a:ln/>
        </p:spPr>
        <p:txBody>
          <a:bodyPr wrap="square" lIns="0" tIns="0" rIns="0" bIns="0" rtlCol="0" anchor="t">
            <a:normAutofit/>
          </a:bodyPr>
          <a:lstStyle/>
          <a:p>
            <a:pPr marL="0" indent="0" algn="l">
              <a:lnSpc>
                <a:spcPts val="5616"/>
              </a:lnSpc>
              <a:buNone/>
            </a:pPr>
            <a:r>
              <a:rPr lang="en-US" sz="5200" b="1" i="0" dirty="0">
                <a:solidFill>
                  <a:srgbClr val="F7F5F0"/>
                </a:solidFill>
                <a:latin typeface="Source Serif 4" pitchFamily="18" charset="0"/>
                <a:ea typeface="Source Serif 4" pitchFamily="18" charset="-122"/>
                <a:cs typeface="Source Serif 4" pitchFamily="18" charset="-120"/>
              </a:rPr>
              <a:t>The pool is extended.</a:t>
            </a:r>
            <a:endParaRPr lang="en-US" sz="5200" dirty="0"/>
          </a:p>
          <a:p>
            <a:pPr marL="0" indent="0" algn="l">
              <a:lnSpc>
                <a:spcPts val="5616"/>
              </a:lnSpc>
              <a:buNone/>
            </a:pPr>
            <a:r>
              <a:rPr lang="en-US" sz="5200" b="1" i="0" dirty="0">
                <a:solidFill>
                  <a:srgbClr val="F7F5F0"/>
                </a:solidFill>
                <a:latin typeface="Source Serif 4" pitchFamily="18" charset="0"/>
                <a:ea typeface="Source Serif 4" pitchFamily="18" charset="-122"/>
                <a:cs typeface="Source Serif 4" pitchFamily="18" charset="-120"/>
              </a:rPr>
              <a:t>A3 runs in waves.</a:t>
            </a:r>
            <a:endParaRPr lang="en-US" sz="5200" dirty="0"/>
          </a:p>
        </p:txBody>
      </p:sp>
      <p:sp>
        <p:nvSpPr>
          <p:cNvPr id="4" name="Text 2"/>
          <p:cNvSpPr/>
          <p:nvPr/>
        </p:nvSpPr>
        <p:spPr>
          <a:xfrm>
            <a:off x="812782" y="3949267"/>
            <a:ext cx="8502650" cy="66527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3DC"/>
                </a:solidFill>
                <a:latin typeface="IBM Plex Sans" pitchFamily="34" charset="0"/>
                <a:ea typeface="IBM Plex Sans" pitchFamily="34" charset="-122"/>
                <a:cs typeface="IBM Plex Sans" pitchFamily="34" charset="-120"/>
              </a:rPr>
              <a:t>37,254 high-confidence pre-labels, two test sets sampled in two rounds, and what training set v1 looks like for A4.</a:t>
            </a:r>
            <a:endParaRPr lang="en-US" sz="1800" dirty="0"/>
          </a:p>
        </p:txBody>
      </p:sp>
      <p:sp>
        <p:nvSpPr>
          <p:cNvPr id="5" name="Text 3"/>
          <p:cNvSpPr/>
          <p:nvPr/>
        </p:nvSpPr>
        <p:spPr>
          <a:xfrm>
            <a:off x="812782" y="5796359"/>
            <a:ext cx="10883429" cy="27425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DC"/>
                </a:solidFill>
                <a:latin typeface="IBM Plex Sans" pitchFamily="34" charset="0"/>
                <a:ea typeface="IBM Plex Sans" pitchFamily="34" charset="-122"/>
                <a:cs typeface="IBM Plex Sans" pitchFamily="34" charset="-120"/>
              </a:rPr>
              <a:t>Groups 14 and 15 · extended team · 23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A"/>
                </a:solidFill>
                <a:latin typeface="IBM Plex Sans" pitchFamily="34" charset="0"/>
                <a:ea typeface="IBM Plex Sans" pitchFamily="34" charset="-122"/>
                <a:cs typeface="IBM Plex Sans" pitchFamily="34" charset="-120"/>
              </a:rPr>
              <a:t>IN ONE SLIDE</a:t>
            </a:r>
            <a:endParaRPr lang="en-US" sz="1200" dirty="0"/>
          </a:p>
        </p:txBody>
      </p:sp>
      <p:sp>
        <p:nvSpPr>
          <p:cNvPr id="3" name="Text 1"/>
          <p:cNvSpPr>
            <a:spLocks noGrp="1"/>
          </p:cNvSpPr>
          <p:nvPr>
            <p:ph type="title"/>
          </p:nvPr>
        </p:nvSpPr>
        <p:spPr>
          <a:xfrm>
            <a:off x="812782" y="1381756"/>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Where A2, A3 and A4 stand</a:t>
            </a:r>
            <a:endParaRPr lang="en-US" sz="3200" dirty="0"/>
          </a:p>
        </p:txBody>
      </p:sp>
      <p:sp>
        <p:nvSpPr>
          <p:cNvPr id="4" name="Shape 2"/>
          <p:cNvSpPr/>
          <p:nvPr/>
        </p:nvSpPr>
        <p:spPr>
          <a:xfrm>
            <a:off x="815957" y="2187521"/>
            <a:ext cx="3380347" cy="3651304"/>
          </a:xfrm>
          <a:prstGeom prst="roundRect">
            <a:avLst>
              <a:gd name="adj" fmla="val 2912"/>
            </a:avLst>
          </a:prstGeom>
          <a:solidFill>
            <a:srgbClr val="FFFFFF"/>
          </a:solidFill>
          <a:ln w="6350">
            <a:solidFill>
              <a:srgbClr val="DCD8CE"/>
            </a:solidFill>
            <a:prstDash val="solid"/>
          </a:ln>
        </p:spPr>
        <p:txBody>
          <a:bodyPr/>
          <a:lstStyle/>
          <a:p>
            <a:endParaRPr lang="es-ES_tradnl"/>
          </a:p>
        </p:txBody>
      </p:sp>
      <p:sp>
        <p:nvSpPr>
          <p:cNvPr id="5" name="Text 3"/>
          <p:cNvSpPr/>
          <p:nvPr/>
        </p:nvSpPr>
        <p:spPr>
          <a:xfrm>
            <a:off x="1123337" y="2494900"/>
            <a:ext cx="2848555" cy="23881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B5"/>
                </a:solidFill>
                <a:latin typeface="IBM Plex Sans" pitchFamily="34" charset="0"/>
                <a:ea typeface="IBM Plex Sans" pitchFamily="34" charset="-122"/>
                <a:cs typeface="IBM Plex Sans" pitchFamily="34" charset="-120"/>
              </a:rPr>
              <a:t>1 · THE POOL</a:t>
            </a:r>
            <a:endParaRPr lang="en-US" sz="1200" dirty="0"/>
          </a:p>
        </p:txBody>
      </p:sp>
      <p:sp>
        <p:nvSpPr>
          <p:cNvPr id="6" name="Text 4"/>
          <p:cNvSpPr/>
          <p:nvPr/>
        </p:nvSpPr>
        <p:spPr>
          <a:xfrm>
            <a:off x="1123337" y="2835311"/>
            <a:ext cx="2848555" cy="63496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2A3A"/>
                </a:solidFill>
                <a:latin typeface="IBM Plex Sans" pitchFamily="34" charset="0"/>
                <a:ea typeface="IBM Plex Sans" pitchFamily="34" charset="-122"/>
                <a:cs typeface="IBM Plex Sans" pitchFamily="34" charset="-120"/>
              </a:rPr>
              <a:t>38,780 instances, 96% high confidence</a:t>
            </a:r>
            <a:endParaRPr lang="en-US" sz="2000" dirty="0"/>
          </a:p>
        </p:txBody>
      </p:sp>
      <p:sp>
        <p:nvSpPr>
          <p:cNvPr id="7" name="Text 5"/>
          <p:cNvSpPr/>
          <p:nvPr/>
        </p:nvSpPr>
        <p:spPr>
          <a:xfrm>
            <a:off x="1123337" y="3571875"/>
            <a:ext cx="2848555" cy="1056193"/>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3"/>
                </a:solidFill>
                <a:latin typeface="IBM Plex Sans" pitchFamily="34" charset="0"/>
                <a:ea typeface="IBM Plex Sans" pitchFamily="34" charset="-122"/>
                <a:cs typeface="IBM Plex Sans" pitchFamily="34" charset="-120"/>
              </a:rPr>
              <a:t>The round-1 pool plus a Basis cue batch and a rare-category extension, all judged with the same frozen setup.</a:t>
            </a:r>
            <a:endParaRPr lang="en-US" sz="1400" dirty="0"/>
          </a:p>
        </p:txBody>
      </p:sp>
      <p:sp>
        <p:nvSpPr>
          <p:cNvPr id="8" name="Shape 6"/>
          <p:cNvSpPr/>
          <p:nvPr/>
        </p:nvSpPr>
        <p:spPr>
          <a:xfrm>
            <a:off x="4405781" y="2187521"/>
            <a:ext cx="3380437" cy="3651304"/>
          </a:xfrm>
          <a:prstGeom prst="roundRect">
            <a:avLst>
              <a:gd name="adj" fmla="val 2912"/>
            </a:avLst>
          </a:prstGeom>
          <a:solidFill>
            <a:srgbClr val="FFFFFF"/>
          </a:solidFill>
          <a:ln w="6350">
            <a:solidFill>
              <a:srgbClr val="DCD8CE"/>
            </a:solidFill>
            <a:prstDash val="solid"/>
          </a:ln>
        </p:spPr>
        <p:txBody>
          <a:bodyPr/>
          <a:lstStyle/>
          <a:p>
            <a:endParaRPr lang="es-ES_tradnl"/>
          </a:p>
        </p:txBody>
      </p:sp>
      <p:sp>
        <p:nvSpPr>
          <p:cNvPr id="9" name="Text 7"/>
          <p:cNvSpPr/>
          <p:nvPr/>
        </p:nvSpPr>
        <p:spPr>
          <a:xfrm>
            <a:off x="4713161" y="2494900"/>
            <a:ext cx="2848648" cy="23881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B5"/>
                </a:solidFill>
                <a:latin typeface="IBM Plex Sans" pitchFamily="34" charset="0"/>
                <a:ea typeface="IBM Plex Sans" pitchFamily="34" charset="-122"/>
                <a:cs typeface="IBM Plex Sans" pitchFamily="34" charset="-120"/>
              </a:rPr>
              <a:t>2 · THE TEST SETS</a:t>
            </a:r>
            <a:endParaRPr lang="en-US" sz="1200" dirty="0"/>
          </a:p>
        </p:txBody>
      </p:sp>
      <p:sp>
        <p:nvSpPr>
          <p:cNvPr id="10" name="Text 8"/>
          <p:cNvSpPr/>
          <p:nvPr/>
        </p:nvSpPr>
        <p:spPr>
          <a:xfrm>
            <a:off x="4713161" y="2835311"/>
            <a:ext cx="2848648" cy="63496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2A3A"/>
                </a:solidFill>
                <a:latin typeface="IBM Plex Sans" pitchFamily="34" charset="0"/>
                <a:ea typeface="IBM Plex Sans" pitchFamily="34" charset="-122"/>
                <a:cs typeface="IBM Plex Sans" pitchFamily="34" charset="-120"/>
              </a:rPr>
              <a:t>5,940 active packages in two rounds</a:t>
            </a:r>
            <a:endParaRPr lang="en-US" sz="2000" dirty="0"/>
          </a:p>
        </p:txBody>
      </p:sp>
      <p:sp>
        <p:nvSpPr>
          <p:cNvPr id="11" name="Text 9"/>
          <p:cNvSpPr/>
          <p:nvPr/>
        </p:nvSpPr>
        <p:spPr>
          <a:xfrm>
            <a:off x="4713161" y="3571875"/>
            <a:ext cx="2848648" cy="1056193"/>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3"/>
                </a:solidFill>
                <a:latin typeface="IBM Plex Sans" pitchFamily="34" charset="0"/>
                <a:ea typeface="IBM Plex Sans" pitchFamily="34" charset="-122"/>
                <a:cs typeface="IBM Plex Sans" pitchFamily="34" charset="-120"/>
              </a:rPr>
              <a:t>Round 1 (six categories) is being annotated; round 2 (Basis, IM, Further Reading) is sampled and split into waves.</a:t>
            </a:r>
            <a:endParaRPr lang="en-US" sz="1400" dirty="0"/>
          </a:p>
        </p:txBody>
      </p:sp>
      <p:sp>
        <p:nvSpPr>
          <p:cNvPr id="12" name="Shape 10"/>
          <p:cNvSpPr/>
          <p:nvPr/>
        </p:nvSpPr>
        <p:spPr>
          <a:xfrm>
            <a:off x="7995696" y="2187521"/>
            <a:ext cx="3380347" cy="3651304"/>
          </a:xfrm>
          <a:prstGeom prst="roundRect">
            <a:avLst>
              <a:gd name="adj" fmla="val 2912"/>
            </a:avLst>
          </a:prstGeom>
          <a:solidFill>
            <a:srgbClr val="FFFFFF"/>
          </a:solidFill>
          <a:ln w="6350">
            <a:solidFill>
              <a:srgbClr val="DCD8CE"/>
            </a:solidFill>
            <a:prstDash val="solid"/>
          </a:ln>
        </p:spPr>
        <p:txBody>
          <a:bodyPr/>
          <a:lstStyle/>
          <a:p>
            <a:endParaRPr lang="es-ES_tradnl"/>
          </a:p>
        </p:txBody>
      </p:sp>
      <p:sp>
        <p:nvSpPr>
          <p:cNvPr id="13" name="Text 11"/>
          <p:cNvSpPr/>
          <p:nvPr/>
        </p:nvSpPr>
        <p:spPr>
          <a:xfrm>
            <a:off x="8303075" y="2494900"/>
            <a:ext cx="2848555" cy="23881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A"/>
                </a:solidFill>
                <a:latin typeface="IBM Plex Sans" pitchFamily="34" charset="0"/>
                <a:ea typeface="IBM Plex Sans" pitchFamily="34" charset="-122"/>
                <a:cs typeface="IBM Plex Sans" pitchFamily="34" charset="-120"/>
              </a:rPr>
              <a:t>3 · A4</a:t>
            </a:r>
            <a:endParaRPr lang="en-US" sz="1200" dirty="0"/>
          </a:p>
        </p:txBody>
      </p:sp>
      <p:sp>
        <p:nvSpPr>
          <p:cNvPr id="14" name="Text 12"/>
          <p:cNvSpPr/>
          <p:nvPr/>
        </p:nvSpPr>
        <p:spPr>
          <a:xfrm>
            <a:off x="8303075" y="2835311"/>
            <a:ext cx="2848555" cy="634964"/>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B2A3A"/>
                </a:solidFill>
                <a:latin typeface="IBM Plex Sans" pitchFamily="34" charset="0"/>
                <a:ea typeface="IBM Plex Sans" pitchFamily="34" charset="-122"/>
                <a:cs typeface="IBM Plex Sans" pitchFamily="34" charset="-120"/>
              </a:rPr>
              <a:t>Training data ready before annotation ends</a:t>
            </a:r>
            <a:endParaRPr lang="en-US" sz="2000" dirty="0"/>
          </a:p>
        </p:txBody>
      </p:sp>
      <p:sp>
        <p:nvSpPr>
          <p:cNvPr id="15" name="Text 13"/>
          <p:cNvSpPr/>
          <p:nvPr/>
        </p:nvSpPr>
        <p:spPr>
          <a:xfrm>
            <a:off x="8303075" y="3571875"/>
            <a:ext cx="2848555" cy="1056193"/>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3"/>
                </a:solidFill>
                <a:latin typeface="IBM Plex Sans" pitchFamily="34" charset="0"/>
                <a:ea typeface="IBM Plex Sans" pitchFamily="34" charset="-122"/>
                <a:cs typeface="IBM Plex Sans" pitchFamily="34" charset="-120"/>
              </a:rPr>
              <a:t>Each group trains on the pool minus its own test set's papers; annotation changes labels, never rows.</a:t>
            </a:r>
            <a:endParaRPr lang="en-US" sz="1400" dirty="0"/>
          </a:p>
        </p:txBody>
      </p:sp>
      <p:sp>
        <p:nvSpPr>
          <p:cNvPr id="16" name="Text 14"/>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A"/>
                </a:solidFill>
                <a:latin typeface="IBM Plex Sans" pitchFamily="34" charset="0"/>
                <a:ea typeface="IBM Plex Sans" pitchFamily="34" charset="-122"/>
                <a:cs typeface="IBM Plex Sans" pitchFamily="34" charset="-120"/>
              </a:rPr>
              <a:t>RESULTS · THE PRODUCTION RUN</a:t>
            </a:r>
            <a:endParaRPr lang="en-US" sz="1200" dirty="0"/>
          </a:p>
        </p:txBody>
      </p:sp>
      <p:sp>
        <p:nvSpPr>
          <p:cNvPr id="3" name="Text 1"/>
          <p:cNvSpPr>
            <a:spLocks noGrp="1"/>
          </p:cNvSpPr>
          <p:nvPr>
            <p:ph type="title"/>
          </p:nvPr>
        </p:nvSpPr>
        <p:spPr>
          <a:xfrm>
            <a:off x="812782" y="1330975"/>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Three judges, 28,553 instances, 8 h 44 min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2094327"/>
          <a:ext cx="10554800" cy="2057435"/>
        </p:xfrm>
        <a:graphic>
          <a:graphicData uri="http://schemas.openxmlformats.org/drawingml/2006/table">
            <a:tbl>
              <a:tblPr/>
              <a:tblGrid>
                <a:gridCol w="4221920">
                  <a:extLst>
                    <a:ext uri="{9D8B030D-6E8A-4147-A177-3AD203B41FA5}">
                      <a16:colId xmlns:a16="http://schemas.microsoft.com/office/drawing/2014/main" val="20000"/>
                    </a:ext>
                  </a:extLst>
                </a:gridCol>
                <a:gridCol w="1899864">
                  <a:extLst>
                    <a:ext uri="{9D8B030D-6E8A-4147-A177-3AD203B41FA5}">
                      <a16:colId xmlns:a16="http://schemas.microsoft.com/office/drawing/2014/main" val="20001"/>
                    </a:ext>
                  </a:extLst>
                </a:gridCol>
                <a:gridCol w="2110960">
                  <a:extLst>
                    <a:ext uri="{9D8B030D-6E8A-4147-A177-3AD203B41FA5}">
                      <a16:colId xmlns:a16="http://schemas.microsoft.com/office/drawing/2014/main" val="20002"/>
                    </a:ext>
                  </a:extLst>
                </a:gridCol>
                <a:gridCol w="2322056">
                  <a:extLst>
                    <a:ext uri="{9D8B030D-6E8A-4147-A177-3AD203B41FA5}">
                      <a16:colId xmlns:a16="http://schemas.microsoft.com/office/drawing/2014/main" val="20003"/>
                    </a:ext>
                  </a:extLst>
                </a:gridCol>
              </a:tblGrid>
              <a:tr h="411487">
                <a:tc>
                  <a:txBody>
                    <a:bodyPr/>
                    <a:lstStyle/>
                    <a:p>
                      <a:pPr marL="0" indent="0">
                        <a:lnSpc>
                          <a:spcPts val="2100"/>
                        </a:lnSpc>
                        <a:buNone/>
                      </a:pPr>
                      <a:r>
                        <a:rPr lang="en-US" sz="1500" b="1" dirty="0">
                          <a:solidFill>
                            <a:srgbClr val="1B2A3A"/>
                          </a:solidFill>
                          <a:latin typeface="IBM Plex Sans" pitchFamily="34" charset="0"/>
                          <a:ea typeface="IBM Plex Sans" pitchFamily="34" charset="-122"/>
                          <a:cs typeface="IBM Plex Sans" pitchFamily="34" charset="-120"/>
                        </a:rPr>
                        <a:t>Judge (pinned revision)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gn="r">
                        <a:lnSpc>
                          <a:spcPts val="2100"/>
                        </a:lnSpc>
                        <a:buNone/>
                      </a:pPr>
                      <a:r>
                        <a:rPr lang="en-US" sz="1500" b="1" dirty="0">
                          <a:solidFill>
                            <a:srgbClr val="1B2A3A"/>
                          </a:solidFill>
                          <a:latin typeface="IBM Plex Sans" pitchFamily="34" charset="0"/>
                          <a:ea typeface="IBM Plex Sans" pitchFamily="34" charset="-122"/>
                          <a:cs typeface="IBM Plex Sans" pitchFamily="34" charset="-120"/>
                        </a:rPr>
                        <a:t>Time</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gn="r">
                        <a:lnSpc>
                          <a:spcPts val="2100"/>
                        </a:lnSpc>
                        <a:buNone/>
                      </a:pPr>
                      <a:r>
                        <a:rPr lang="en-US" sz="1500" b="1" dirty="0">
                          <a:solidFill>
                            <a:srgbClr val="1B2A3A"/>
                          </a:solidFill>
                          <a:latin typeface="IBM Plex Sans" pitchFamily="34" charset="0"/>
                          <a:ea typeface="IBM Plex Sans" pitchFamily="34" charset="-122"/>
                          <a:cs typeface="IBM Plex Sans" pitchFamily="34" charset="-120"/>
                        </a:rPr>
                        <a:t>Speed</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gn="r">
                        <a:lnSpc>
                          <a:spcPts val="2100"/>
                        </a:lnSpc>
                        <a:buNone/>
                      </a:pPr>
                      <a:r>
                        <a:rPr lang="en-US" sz="1500" b="1" dirty="0">
                          <a:solidFill>
                            <a:srgbClr val="1B2A3A"/>
                          </a:solidFill>
                          <a:latin typeface="IBM Plex Sans" pitchFamily="34" charset="0"/>
                          <a:ea typeface="IBM Plex Sans" pitchFamily="34" charset="-122"/>
                          <a:cs typeface="IBM Plex Sans" pitchFamily="34" charset="-120"/>
                        </a:rPr>
                        <a:t>Failed answers</a:t>
                      </a:r>
                      <a:endParaRPr lang="en-US" sz="1500" dirty="0">
                        <a:latin typeface="IBM Plex Sans" charset="0"/>
                        <a:ea typeface="IBM Plex Sans" charset="0"/>
                        <a:cs typeface="IBM Plex Sans" charset="0"/>
                      </a:endParaRPr>
                    </a:p>
                  </a:txBody>
                  <a:tcPr marL="66675" marR="66675" marT="66675" marB="6667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411487">
                <a:tc>
                  <a:txBody>
                    <a:bodyPr/>
                    <a:lstStyle/>
                    <a:p>
                      <a:pPr marL="0" indent="0">
                        <a:lnSpc>
                          <a:spcPts val="2100"/>
                        </a:lnSpc>
                        <a:buNone/>
                      </a:pPr>
                      <a:r>
                        <a:rPr lang="en-US" sz="1500" dirty="0">
                          <a:solidFill>
                            <a:srgbClr val="1B2A3A"/>
                          </a:solidFill>
                          <a:latin typeface="IBM Plex Sans" pitchFamily="34" charset="0"/>
                          <a:ea typeface="IBM Plex Sans" pitchFamily="34" charset="-122"/>
                          <a:cs typeface="IBM Plex Sans" pitchFamily="34" charset="-120"/>
                        </a:rPr>
                        <a:t>Qwen3.8-27B (1d4bf0f2ff)</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100"/>
                        </a:lnSpc>
                        <a:buNone/>
                      </a:pPr>
                      <a:r>
                        <a:rPr lang="en-US" sz="1500" dirty="0">
                          <a:solidFill>
                            <a:srgbClr val="1B2A3A"/>
                          </a:solidFill>
                          <a:latin typeface="IBM Plex Sans" pitchFamily="34" charset="0"/>
                          <a:ea typeface="IBM Plex Sans" pitchFamily="34" charset="-122"/>
                          <a:cs typeface="IBM Plex Sans" pitchFamily="34" charset="-120"/>
                        </a:rPr>
                        <a:t>4 h 40 min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100"/>
                        </a:lnSpc>
                        <a:buNone/>
                      </a:pPr>
                      <a:r>
                        <a:rPr lang="en-US" sz="1500" dirty="0">
                          <a:solidFill>
                            <a:srgbClr val="1B2A3A"/>
                          </a:solidFill>
                          <a:latin typeface="IBM Plex Sans" pitchFamily="34" charset="0"/>
                          <a:ea typeface="IBM Plex Sans" pitchFamily="34" charset="-122"/>
                          <a:cs typeface="IBM Plex Sans" pitchFamily="34" charset="-120"/>
                        </a:rPr>
                        <a:t>1.8 inst/s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100"/>
                        </a:lnSpc>
                        <a:buNone/>
                      </a:pPr>
                      <a:r>
                        <a:rPr lang="en-US" sz="1500" dirty="0">
                          <a:solidFill>
                            <a:srgbClr val="1B2A3A"/>
                          </a:solidFill>
                          <a:latin typeface="IBM Plex Sans" pitchFamily="34" charset="0"/>
                          <a:ea typeface="IBM Plex Sans" pitchFamily="34" charset="-122"/>
                          <a:cs typeface="IBM Plex Sans" pitchFamily="34" charset="-120"/>
                        </a:rPr>
                        <a:t>0</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11487">
                <a:tc>
                  <a:txBody>
                    <a:bodyPr/>
                    <a:lstStyle/>
                    <a:p>
                      <a:pPr marL="0" indent="0">
                        <a:lnSpc>
                          <a:spcPts val="2100"/>
                        </a:lnSpc>
                        <a:buNone/>
                      </a:pPr>
                      <a:r>
                        <a:rPr lang="en-US" sz="1500" dirty="0">
                          <a:solidFill>
                            <a:srgbClr val="1B2A3A"/>
                          </a:solidFill>
                          <a:latin typeface="IBM Plex Sans" pitchFamily="34" charset="0"/>
                          <a:ea typeface="IBM Plex Sans" pitchFamily="34" charset="-122"/>
                          <a:cs typeface="IBM Plex Sans" pitchFamily="34" charset="-120"/>
                        </a:rPr>
                        <a:t>Gemma 4 26B-A4B (4d7ae4984b)</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100"/>
                        </a:lnSpc>
                        <a:buNone/>
                      </a:pPr>
                      <a:r>
                        <a:rPr lang="en-US" sz="1500" dirty="0">
                          <a:solidFill>
                            <a:srgbClr val="1B2A3A"/>
                          </a:solidFill>
                          <a:latin typeface="IBM Plex Sans" pitchFamily="34" charset="0"/>
                          <a:ea typeface="IBM Plex Sans" pitchFamily="34" charset="-122"/>
                          <a:cs typeface="IBM Plex Sans" pitchFamily="34" charset="-120"/>
                        </a:rPr>
                        <a:t>1 h 14 min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100"/>
                        </a:lnSpc>
                        <a:buNone/>
                      </a:pPr>
                      <a:r>
                        <a:rPr lang="en-US" sz="1500" dirty="0">
                          <a:solidFill>
                            <a:srgbClr val="1B2A3A"/>
                          </a:solidFill>
                          <a:latin typeface="IBM Plex Sans" pitchFamily="34" charset="0"/>
                          <a:ea typeface="IBM Plex Sans" pitchFamily="34" charset="-122"/>
                          <a:cs typeface="IBM Plex Sans" pitchFamily="34" charset="-120"/>
                        </a:rPr>
                        <a:t>8.0 inst/s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100"/>
                        </a:lnSpc>
                        <a:buNone/>
                      </a:pPr>
                      <a:r>
                        <a:rPr lang="en-US" sz="1500" dirty="0">
                          <a:solidFill>
                            <a:srgbClr val="1B2A3A"/>
                          </a:solidFill>
                          <a:latin typeface="IBM Plex Sans" pitchFamily="34" charset="0"/>
                          <a:ea typeface="IBM Plex Sans" pitchFamily="34" charset="-122"/>
                          <a:cs typeface="IBM Plex Sans" pitchFamily="34" charset="-120"/>
                        </a:rPr>
                        <a:t>23</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11487">
                <a:tc>
                  <a:txBody>
                    <a:bodyPr/>
                    <a:lstStyle/>
                    <a:p>
                      <a:pPr marL="0" indent="0">
                        <a:lnSpc>
                          <a:spcPts val="2100"/>
                        </a:lnSpc>
                        <a:buNone/>
                      </a:pPr>
                      <a:r>
                        <a:rPr lang="en-US" sz="1500" dirty="0">
                          <a:solidFill>
                            <a:srgbClr val="1B2A3A"/>
                          </a:solidFill>
                          <a:latin typeface="IBM Plex Sans" pitchFamily="34" charset="0"/>
                          <a:ea typeface="IBM Plex Sans" pitchFamily="34" charset="-122"/>
                          <a:cs typeface="IBM Plex Sans" pitchFamily="34" charset="-120"/>
                        </a:rPr>
                        <a:t>Mistral Small 3.2 24B (95a6d26c4b)</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100"/>
                        </a:lnSpc>
                        <a:buNone/>
                      </a:pPr>
                      <a:r>
                        <a:rPr lang="en-US" sz="1500" dirty="0">
                          <a:solidFill>
                            <a:srgbClr val="1B2A3A"/>
                          </a:solidFill>
                          <a:latin typeface="IBM Plex Sans" pitchFamily="34" charset="0"/>
                          <a:ea typeface="IBM Plex Sans" pitchFamily="34" charset="-122"/>
                          <a:cs typeface="IBM Plex Sans" pitchFamily="34" charset="-120"/>
                        </a:rPr>
                        <a:t>2 h 49 min</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100"/>
                        </a:lnSpc>
                        <a:buNone/>
                      </a:pPr>
                      <a:r>
                        <a:rPr lang="en-US" sz="1500" dirty="0">
                          <a:solidFill>
                            <a:srgbClr val="1B2A3A"/>
                          </a:solidFill>
                          <a:latin typeface="IBM Plex Sans" pitchFamily="34" charset="0"/>
                          <a:ea typeface="IBM Plex Sans" pitchFamily="34" charset="-122"/>
                          <a:cs typeface="IBM Plex Sans" pitchFamily="34" charset="-120"/>
                        </a:rPr>
                        <a:t>2.9 inst/s</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2100"/>
                        </a:lnSpc>
                        <a:buNone/>
                      </a:pPr>
                      <a:r>
                        <a:rPr lang="en-US" sz="1500" dirty="0">
                          <a:solidFill>
                            <a:srgbClr val="1B2A3A"/>
                          </a:solidFill>
                          <a:latin typeface="IBM Plex Sans" pitchFamily="34" charset="0"/>
                          <a:ea typeface="IBM Plex Sans" pitchFamily="34" charset="-122"/>
                          <a:cs typeface="IBM Plex Sans" pitchFamily="34" charset="-120"/>
                        </a:rPr>
                        <a:t>7</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411487">
                <a:tc>
                  <a:txBody>
                    <a:bodyPr/>
                    <a:lstStyle/>
                    <a:p>
                      <a:pPr marL="0" indent="0">
                        <a:lnSpc>
                          <a:spcPts val="2100"/>
                        </a:lnSpc>
                        <a:buNone/>
                      </a:pPr>
                      <a:r>
                        <a:rPr lang="en-US" sz="1500" dirty="0">
                          <a:solidFill>
                            <a:srgbClr val="1B2A3A"/>
                          </a:solidFill>
                          <a:latin typeface="IBM Plex Sans" pitchFamily="34" charset="0"/>
                          <a:ea typeface="IBM Plex Sans" pitchFamily="34" charset="-122"/>
                          <a:cs typeface="IBM Plex Sans" pitchFamily="34" charset="-120"/>
                        </a:rPr>
                        <a:t>All three</a:t>
                      </a:r>
                      <a:endParaRPr lang="en-US" sz="1500" dirty="0">
                        <a:latin typeface="IBM Plex Sans" charset="0"/>
                        <a:ea typeface="IBM Plex Sans" charset="0"/>
                        <a:cs typeface="IBM Plex Sans" charset="0"/>
                      </a:endParaRPr>
                    </a:p>
                  </a:txBody>
                  <a:tcPr marL="66675" marR="66675" marT="66675" marB="66675">
                    <a:lnL w="12700" cap="flat" cmpd="sng" algn="ctr">
                      <a:solidFill>
                        <a:srgbClr val="C5C4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r">
                        <a:lnSpc>
                          <a:spcPts val="2100"/>
                        </a:lnSpc>
                        <a:buNone/>
                      </a:pPr>
                      <a:r>
                        <a:rPr lang="en-US" sz="1500" dirty="0">
                          <a:solidFill>
                            <a:srgbClr val="1B2A3A"/>
                          </a:solidFill>
                          <a:latin typeface="IBM Plex Sans" pitchFamily="34" charset="0"/>
                          <a:ea typeface="IBM Plex Sans" pitchFamily="34" charset="-122"/>
                          <a:cs typeface="IBM Plex Sans" pitchFamily="34" charset="-120"/>
                        </a:rPr>
                        <a:t>8 h 44 min</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r">
                        <a:lnSpc>
                          <a:spcPts val="2100"/>
                        </a:lnSpc>
                        <a:buNone/>
                      </a:pPr>
                      <a:r>
                        <a:rPr lang="en-US" sz="1500" dirty="0">
                          <a:solidFill>
                            <a:srgbClr val="1B2A3A"/>
                          </a:solidFill>
                          <a:latin typeface="IBM Plex Sans" pitchFamily="34" charset="0"/>
                          <a:ea typeface="IBM Plex Sans" pitchFamily="34" charset="-122"/>
                          <a:cs typeface="IBM Plex Sans" pitchFamily="34" charset="-120"/>
                        </a:rPr>
                        <a:t>A100, one session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r">
                        <a:lnSpc>
                          <a:spcPts val="2100"/>
                        </a:lnSpc>
                        <a:buNone/>
                      </a:pPr>
                      <a:r>
                        <a:rPr lang="en-US" sz="1500" dirty="0">
                          <a:solidFill>
                            <a:srgbClr val="1B2A3A"/>
                          </a:solidFill>
                          <a:latin typeface="IBM Plex Sans" pitchFamily="34" charset="0"/>
                          <a:ea typeface="IBM Plex Sans" pitchFamily="34" charset="-122"/>
                          <a:cs typeface="IBM Plex Sans" pitchFamily="34" charset="-120"/>
                        </a:rPr>
                        <a:t>30 of 85,659</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4"/>
                  </a:ext>
                </a:extLst>
              </a:tr>
            </a:tbl>
          </a:graphicData>
        </a:graphic>
      </p:graphicFrame>
      <p:sp>
        <p:nvSpPr>
          <p:cNvPr id="5" name="Text 2"/>
          <p:cNvSpPr/>
          <p:nvPr/>
        </p:nvSpPr>
        <p:spPr>
          <a:xfrm>
            <a:off x="812782" y="4456545"/>
            <a:ext cx="9810750" cy="540796"/>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3"/>
                </a:solidFill>
                <a:latin typeface="IBM Plex Sans" pitchFamily="34" charset="0"/>
                <a:ea typeface="IBM Plex Sans" pitchFamily="34" charset="-122"/>
                <a:cs typeface="IBM Plex Sans" pitchFamily="34" charset="-120"/>
              </a:rPr>
              <a:t>Frozen setup unchanged: prompt v11.1 with the Top-3 chunks, greedy decoding, JSON schema, vLLM 0.29.0. No prompt was too long. A failed answer (invalid JSON) does not vote, so at most 30 instances are decided by two judges.</a:t>
            </a:r>
            <a:endParaRPr lang="en-US" sz="1400" dirty="0"/>
          </a:p>
        </p:txBody>
      </p:sp>
      <p:sp>
        <p:nvSpPr>
          <p:cNvPr id="6" name="Text 3"/>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3 · re-judge of pool_cue_eg, pool_cue_cmp, pool_cue_rare, pilot_random_1500, pool_single_7000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A"/>
                </a:solidFill>
                <a:latin typeface="IBM Plex Sans" pitchFamily="34" charset="0"/>
                <a:ea typeface="IBM Plex Sans" pitchFamily="34" charset="-122"/>
                <a:cs typeface="IBM Plex Sans" pitchFamily="34" charset="-120"/>
              </a:rPr>
              <a:t>RESULTS · THE ROUND-1 POOL</a:t>
            </a:r>
            <a:endParaRPr lang="en-US" sz="1200" dirty="0"/>
          </a:p>
        </p:txBody>
      </p:sp>
      <p:sp>
        <p:nvSpPr>
          <p:cNvPr id="3" name="Text 1"/>
          <p:cNvSpPr>
            <a:spLocks noGrp="1"/>
          </p:cNvSpPr>
          <p:nvPr>
            <p:ph type="title"/>
          </p:nvPr>
        </p:nvSpPr>
        <p:spPr>
          <a:xfrm>
            <a:off x="812782" y="1330973"/>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A large, stable pool of pre-labels</a:t>
            </a:r>
            <a:endParaRPr lang="en-US" sz="3200" dirty="0"/>
          </a:p>
        </p:txBody>
      </p:sp>
      <p:sp>
        <p:nvSpPr>
          <p:cNvPr id="4" name="Shape 2"/>
          <p:cNvSpPr/>
          <p:nvPr/>
        </p:nvSpPr>
        <p:spPr>
          <a:xfrm>
            <a:off x="815957" y="2085956"/>
            <a:ext cx="3380347" cy="1869245"/>
          </a:xfrm>
          <a:prstGeom prst="roundRect">
            <a:avLst>
              <a:gd name="adj" fmla="val 5265"/>
            </a:avLst>
          </a:prstGeom>
          <a:solidFill>
            <a:srgbClr val="FFFFFF"/>
          </a:solidFill>
          <a:ln w="6350">
            <a:solidFill>
              <a:srgbClr val="DCD8CE"/>
            </a:solidFill>
            <a:prstDash val="solid"/>
          </a:ln>
        </p:spPr>
        <p:txBody>
          <a:bodyPr/>
          <a:lstStyle/>
          <a:p>
            <a:endParaRPr lang="es-ES_tradnl"/>
          </a:p>
        </p:txBody>
      </p:sp>
      <p:sp>
        <p:nvSpPr>
          <p:cNvPr id="5" name="Text 3"/>
          <p:cNvSpPr/>
          <p:nvPr/>
        </p:nvSpPr>
        <p:spPr>
          <a:xfrm>
            <a:off x="1072555" y="2342553"/>
            <a:ext cx="2953166" cy="558746"/>
          </a:xfrm>
          <a:prstGeom prst="rect">
            <a:avLst/>
          </a:prstGeom>
          <a:noFill/>
          <a:ln/>
        </p:spPr>
        <p:txBody>
          <a:bodyPr wrap="square" lIns="0" tIns="0" rIns="0" bIns="0" rtlCol="0" anchor="t">
            <a:normAutofit/>
          </a:bodyPr>
          <a:lstStyle/>
          <a:p>
            <a:pPr marL="0" indent="0" algn="l">
              <a:lnSpc>
                <a:spcPts val="4200"/>
              </a:lnSpc>
              <a:buNone/>
            </a:pPr>
            <a:r>
              <a:rPr lang="en-US" sz="4000" b="1" dirty="0">
                <a:solidFill>
                  <a:srgbClr val="2F6DB5"/>
                </a:solidFill>
                <a:latin typeface="Source Serif 4" pitchFamily="18" charset="0"/>
                <a:ea typeface="Source Serif 4" pitchFamily="18" charset="-122"/>
                <a:cs typeface="Source Serif 4" pitchFamily="18" charset="-120"/>
              </a:rPr>
              <a:t>29,336</a:t>
            </a:r>
            <a:endParaRPr lang="en-US" sz="4000" dirty="0"/>
          </a:p>
        </p:txBody>
      </p:sp>
      <p:sp>
        <p:nvSpPr>
          <p:cNvPr id="6" name="Text 4"/>
          <p:cNvSpPr/>
          <p:nvPr/>
        </p:nvSpPr>
        <p:spPr>
          <a:xfrm>
            <a:off x="1072555" y="2952028"/>
            <a:ext cx="2953166" cy="77197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instances in pool_v11.1, after dropping the 117 eval60, calib30 and calib2 items</a:t>
            </a:r>
            <a:endParaRPr lang="en-US" sz="1400" dirty="0"/>
          </a:p>
        </p:txBody>
      </p:sp>
      <p:sp>
        <p:nvSpPr>
          <p:cNvPr id="7" name="Shape 5"/>
          <p:cNvSpPr/>
          <p:nvPr/>
        </p:nvSpPr>
        <p:spPr>
          <a:xfrm>
            <a:off x="4405781" y="2085956"/>
            <a:ext cx="3380347" cy="1869245"/>
          </a:xfrm>
          <a:prstGeom prst="roundRect">
            <a:avLst>
              <a:gd name="adj" fmla="val 5265"/>
            </a:avLst>
          </a:prstGeom>
          <a:solidFill>
            <a:srgbClr val="FFFFFF"/>
          </a:solidFill>
          <a:ln w="6350">
            <a:solidFill>
              <a:srgbClr val="DCD8CE"/>
            </a:solidFill>
            <a:prstDash val="solid"/>
          </a:ln>
        </p:spPr>
        <p:txBody>
          <a:bodyPr/>
          <a:lstStyle/>
          <a:p>
            <a:endParaRPr lang="es-ES_tradnl"/>
          </a:p>
        </p:txBody>
      </p:sp>
      <p:sp>
        <p:nvSpPr>
          <p:cNvPr id="8" name="Text 6"/>
          <p:cNvSpPr/>
          <p:nvPr/>
        </p:nvSpPr>
        <p:spPr>
          <a:xfrm>
            <a:off x="4662379" y="2342553"/>
            <a:ext cx="2953166" cy="558746"/>
          </a:xfrm>
          <a:prstGeom prst="rect">
            <a:avLst/>
          </a:prstGeom>
          <a:noFill/>
          <a:ln/>
        </p:spPr>
        <p:txBody>
          <a:bodyPr wrap="square" lIns="0" tIns="0" rIns="0" bIns="0" rtlCol="0" anchor="t">
            <a:normAutofit/>
          </a:bodyPr>
          <a:lstStyle/>
          <a:p>
            <a:pPr marL="0" indent="0" algn="l">
              <a:lnSpc>
                <a:spcPts val="4200"/>
              </a:lnSpc>
              <a:buNone/>
            </a:pPr>
            <a:r>
              <a:rPr lang="en-US" sz="4000" b="1" dirty="0">
                <a:solidFill>
                  <a:srgbClr val="2F6DB5"/>
                </a:solidFill>
                <a:latin typeface="Source Serif 4" pitchFamily="18" charset="0"/>
                <a:ea typeface="Source Serif 4" pitchFamily="18" charset="-122"/>
                <a:cs typeface="Source Serif 4" pitchFamily="18" charset="-120"/>
              </a:rPr>
              <a:t>96%</a:t>
            </a:r>
            <a:endParaRPr lang="en-US" sz="4000" dirty="0"/>
          </a:p>
        </p:txBody>
      </p:sp>
      <p:sp>
        <p:nvSpPr>
          <p:cNvPr id="9" name="Text 7"/>
          <p:cNvSpPr/>
          <p:nvPr/>
        </p:nvSpPr>
        <p:spPr>
          <a:xfrm>
            <a:off x="4662379" y="2952028"/>
            <a:ext cx="2953166" cy="77197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high confidence (28,185): at least 2 of 3 judges agree; 1,145 ties get no pre-label</a:t>
            </a:r>
            <a:endParaRPr lang="en-US" sz="1400" dirty="0"/>
          </a:p>
        </p:txBody>
      </p:sp>
      <p:sp>
        <p:nvSpPr>
          <p:cNvPr id="10" name="Shape 8"/>
          <p:cNvSpPr/>
          <p:nvPr/>
        </p:nvSpPr>
        <p:spPr>
          <a:xfrm>
            <a:off x="7995606" y="2085956"/>
            <a:ext cx="3380347" cy="1869245"/>
          </a:xfrm>
          <a:prstGeom prst="roundRect">
            <a:avLst>
              <a:gd name="adj" fmla="val 5265"/>
            </a:avLst>
          </a:prstGeom>
          <a:solidFill>
            <a:srgbClr val="FFFFFF"/>
          </a:solidFill>
          <a:ln w="6350">
            <a:solidFill>
              <a:srgbClr val="DCD8CE"/>
            </a:solidFill>
            <a:prstDash val="solid"/>
          </a:ln>
        </p:spPr>
        <p:txBody>
          <a:bodyPr/>
          <a:lstStyle/>
          <a:p>
            <a:endParaRPr lang="es-ES_tradnl"/>
          </a:p>
        </p:txBody>
      </p:sp>
      <p:sp>
        <p:nvSpPr>
          <p:cNvPr id="11" name="Text 9"/>
          <p:cNvSpPr/>
          <p:nvPr/>
        </p:nvSpPr>
        <p:spPr>
          <a:xfrm>
            <a:off x="8252203" y="2342553"/>
            <a:ext cx="2953166" cy="558746"/>
          </a:xfrm>
          <a:prstGeom prst="rect">
            <a:avLst/>
          </a:prstGeom>
          <a:noFill/>
          <a:ln/>
        </p:spPr>
        <p:txBody>
          <a:bodyPr wrap="square" lIns="0" tIns="0" rIns="0" bIns="0" rtlCol="0" anchor="t">
            <a:normAutofit/>
          </a:bodyPr>
          <a:lstStyle/>
          <a:p>
            <a:pPr marL="0" indent="0" algn="l">
              <a:lnSpc>
                <a:spcPts val="4200"/>
              </a:lnSpc>
              <a:buNone/>
            </a:pPr>
            <a:r>
              <a:rPr lang="en-US" sz="4000" b="1" dirty="0">
                <a:solidFill>
                  <a:srgbClr val="2F6DB5"/>
                </a:solidFill>
                <a:latin typeface="Source Serif 4" pitchFamily="18" charset="0"/>
                <a:ea typeface="Source Serif 4" pitchFamily="18" charset="-122"/>
                <a:cs typeface="Source Serif 4" pitchFamily="18" charset="-120"/>
              </a:rPr>
              <a:t>294/300</a:t>
            </a:r>
            <a:endParaRPr lang="en-US" sz="4000" dirty="0"/>
          </a:p>
        </p:txBody>
      </p:sp>
      <p:sp>
        <p:nvSpPr>
          <p:cNvPr id="12" name="Text 10"/>
          <p:cNvSpPr/>
          <p:nvPr/>
        </p:nvSpPr>
        <p:spPr>
          <a:xfrm>
            <a:off x="8252203" y="2952028"/>
            <a:ext cx="2953166" cy="771976"/>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same pre-label when 300 instances were judged twice with the same setup (98%)</a:t>
            </a:r>
            <a:endParaRPr lang="en-US" sz="1400" dirty="0"/>
          </a:p>
        </p:txBody>
      </p:sp>
      <p:sp>
        <p:nvSpPr>
          <p:cNvPr id="13" name="Text 11"/>
          <p:cNvSpPr/>
          <p:nvPr/>
        </p:nvSpPr>
        <p:spPr>
          <a:xfrm>
            <a:off x="812782" y="4263158"/>
            <a:ext cx="5337103" cy="798494"/>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B2A3A"/>
                </a:solidFill>
                <a:latin typeface="IBM Plex Sans" pitchFamily="34" charset="0"/>
                <a:ea typeface="IBM Plex Sans" pitchFamily="34" charset="-122"/>
                <a:cs typeface="IBM Plex Sans" pitchFamily="34" charset="-120"/>
              </a:rPr>
              <a:t>Judge agreement.</a:t>
            </a:r>
            <a:r>
              <a:rPr lang="en-US" sz="1400" dirty="0">
                <a:solidFill>
                  <a:srgbClr val="4A5563"/>
                </a:solidFill>
                <a:latin typeface="IBM Plex Sans" pitchFamily="34" charset="0"/>
                <a:ea typeface="IBM Plex Sans" pitchFamily="34" charset="-122"/>
                <a:cs typeface="IBM Plex Sans" pitchFamily="34" charset="-120"/>
              </a:rPr>
              <a:t> Fleiss κ 0.67 on the re-judge; all three agree on 63%. Pairwise κ: Qwen–Gemma 0.76, Qwen–Mistral 0.61, Gemma–Mistral 0.63.</a:t>
            </a:r>
            <a:endParaRPr lang="en-US" sz="1400" dirty="0"/>
          </a:p>
        </p:txBody>
      </p:sp>
      <p:sp>
        <p:nvSpPr>
          <p:cNvPr id="14" name="Text 12"/>
          <p:cNvSpPr/>
          <p:nvPr/>
        </p:nvSpPr>
        <p:spPr>
          <a:xfrm>
            <a:off x="6197564" y="4263158"/>
            <a:ext cx="5337103" cy="798494"/>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B2A3A"/>
                </a:solidFill>
                <a:latin typeface="IBM Plex Sans" pitchFamily="34" charset="0"/>
                <a:ea typeface="IBM Plex Sans" pitchFamily="34" charset="-122"/>
                <a:cs typeface="IBM Plex Sans" pitchFamily="34" charset="-120"/>
              </a:rPr>
              <a:t>Grounding.</a:t>
            </a:r>
            <a:r>
              <a:rPr lang="en-US" sz="1400" dirty="0">
                <a:solidFill>
                  <a:srgbClr val="4A5563"/>
                </a:solidFill>
                <a:latin typeface="IBM Plex Sans" pitchFamily="34" charset="0"/>
                <a:ea typeface="IBM Plex Sans" pitchFamily="34" charset="-122"/>
                <a:cs typeface="IBM Plex Sans" pitchFamily="34" charset="-120"/>
              </a:rPr>
              <a:t> Over 99% of evidence quotes come from the citing paragraph; 56 answers quoted elsewhere and abstained. The pool files hold identifiers only, no unarXive text.</a:t>
            </a:r>
            <a:endParaRPr lang="en-US" sz="1400" dirty="0"/>
          </a:p>
        </p:txBody>
      </p:sp>
      <p:sp>
        <p:nvSpPr>
          <p:cNvPr id="15" name="Text 13"/>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4 · pool_v11.1/pool_summary.json, a2_merge.py reports · pool_v11.1 is frozen (sha256 in manifest_round1.json)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A"/>
                </a:solidFill>
                <a:latin typeface="IBM Plex Sans" pitchFamily="34" charset="0"/>
                <a:ea typeface="IBM Plex Sans" pitchFamily="34" charset="-122"/>
                <a:cs typeface="IBM Plex Sans" pitchFamily="34" charset="-120"/>
              </a:rPr>
              <a:t>SUPPLY · WHY RANDOM SAMPLING WON’T DO</a:t>
            </a:r>
            <a:endParaRPr lang="en-US" sz="1200" dirty="0"/>
          </a:p>
        </p:txBody>
      </p:sp>
      <p:sp>
        <p:nvSpPr>
          <p:cNvPr id="3" name="Text 1"/>
          <p:cNvSpPr>
            <a:spLocks noGrp="1"/>
          </p:cNvSpPr>
          <p:nvPr>
            <p:ph type="title"/>
          </p:nvPr>
        </p:nvSpPr>
        <p:spPr>
          <a:xfrm>
            <a:off x="812782" y="1330973"/>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The short categories need targeted sampling</a:t>
            </a:r>
            <a:endParaRPr lang="en-US" sz="3200" dirty="0"/>
          </a:p>
        </p:txBody>
      </p:sp>
      <p:sp>
        <p:nvSpPr>
          <p:cNvPr id="4" name="Text 2"/>
          <p:cNvSpPr/>
          <p:nvPr/>
        </p:nvSpPr>
        <p:spPr>
          <a:xfrm>
            <a:off x="812782" y="2082781"/>
            <a:ext cx="6020605" cy="26920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Random sampling, at the rates of pool_single_7000</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327" y="2465135"/>
          <a:ext cx="5833701" cy="1923490"/>
        </p:xfrm>
        <a:graphic>
          <a:graphicData uri="http://schemas.openxmlformats.org/drawingml/2006/table">
            <a:tbl>
              <a:tblPr/>
              <a:tblGrid>
                <a:gridCol w="2333481">
                  <a:extLst>
                    <a:ext uri="{9D8B030D-6E8A-4147-A177-3AD203B41FA5}">
                      <a16:colId xmlns:a16="http://schemas.microsoft.com/office/drawing/2014/main" val="20000"/>
                    </a:ext>
                  </a:extLst>
                </a:gridCol>
                <a:gridCol w="1050066">
                  <a:extLst>
                    <a:ext uri="{9D8B030D-6E8A-4147-A177-3AD203B41FA5}">
                      <a16:colId xmlns:a16="http://schemas.microsoft.com/office/drawing/2014/main" val="20001"/>
                    </a:ext>
                  </a:extLst>
                </a:gridCol>
                <a:gridCol w="1400088">
                  <a:extLst>
                    <a:ext uri="{9D8B030D-6E8A-4147-A177-3AD203B41FA5}">
                      <a16:colId xmlns:a16="http://schemas.microsoft.com/office/drawing/2014/main" val="20002"/>
                    </a:ext>
                  </a:extLst>
                </a:gridCol>
                <a:gridCol w="1050066">
                  <a:extLst>
                    <a:ext uri="{9D8B030D-6E8A-4147-A177-3AD203B41FA5}">
                      <a16:colId xmlns:a16="http://schemas.microsoft.com/office/drawing/2014/main" val="20003"/>
                    </a:ext>
                  </a:extLst>
                </a:gridCol>
              </a:tblGrid>
              <a:tr h="384698">
                <a:tc>
                  <a:txBody>
                    <a:bodyPr/>
                    <a:lstStyle/>
                    <a:p>
                      <a:pPr marL="0" indent="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Category</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gn="r">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Yield</a:t>
                      </a:r>
                      <a:endParaRPr lang="en-US" sz="1400" dirty="0">
                        <a:latin typeface="IBM Plex Sans" charset="0"/>
                        <a:ea typeface="IBM Plex Sans" charset="0"/>
                        <a:cs typeface="IBM Plex Sans" charset="0"/>
                      </a:endParaRPr>
                    </a:p>
                  </a:txBody>
                  <a:tcPr marL="62230" marR="62230" marT="62230" marB="6223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gn="r">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To judge</a:t>
                      </a:r>
                      <a:endParaRPr lang="en-US" sz="1400" dirty="0">
                        <a:latin typeface="IBM Plex Sans" charset="0"/>
                        <a:ea typeface="IBM Plex Sans" charset="0"/>
                        <a:cs typeface="IBM Plex Sans" charset="0"/>
                      </a:endParaRPr>
                    </a:p>
                  </a:txBody>
                  <a:tcPr marL="62230" marR="62230" marT="62230" marB="6223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gn="r">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GPU</a:t>
                      </a:r>
                      <a:endParaRPr lang="en-US" sz="1400" dirty="0">
                        <a:latin typeface="IBM Plex Sans" charset="0"/>
                        <a:ea typeface="IBM Plex Sans" charset="0"/>
                        <a:cs typeface="IBM Plex Sans" charset="0"/>
                      </a:endParaRPr>
                    </a:p>
                  </a:txBody>
                  <a:tcPr marL="62230" marR="62230" marT="62230" marB="62230">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384698">
                <a:tc>
                  <a:txBody>
                    <a:bodyPr/>
                    <a:lstStyle/>
                    <a:p>
                      <a:pPr marL="0" indent="0">
                        <a:lnSpc>
                          <a:spcPts val="1960"/>
                        </a:lnSpc>
                        <a:buNone/>
                      </a:pPr>
                      <a:r>
                        <a:rPr lang="en-US" sz="1400" dirty="0">
                          <a:solidFill>
                            <a:srgbClr val="1B2A3A"/>
                          </a:solidFill>
                          <a:latin typeface="IBM Plex Sans" pitchFamily="34" charset="0"/>
                          <a:ea typeface="IBM Plex Sans" pitchFamily="34" charset="-122"/>
                          <a:cs typeface="IBM Plex Sans" pitchFamily="34" charset="-120"/>
                        </a:rPr>
                        <a:t>Basis</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B2A3A"/>
                          </a:solidFill>
                          <a:latin typeface="IBM Plex Sans" pitchFamily="34" charset="0"/>
                          <a:ea typeface="IBM Plex Sans" pitchFamily="34" charset="-122"/>
                          <a:cs typeface="IBM Plex Sans" pitchFamily="34" charset="-120"/>
                        </a:rPr>
                        <a:t>2.6%</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B2A3A"/>
                          </a:solidFill>
                          <a:latin typeface="IBM Plex Sans" pitchFamily="34" charset="0"/>
                          <a:ea typeface="IBM Plex Sans" pitchFamily="34" charset="-122"/>
                          <a:cs typeface="IBM Plex Sans" pitchFamily="34" charset="-120"/>
                        </a:rPr>
                        <a:t>≈58,000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B2A3A"/>
                          </a:solidFill>
                          <a:latin typeface="IBM Plex Sans" pitchFamily="34" charset="0"/>
                          <a:ea typeface="IBM Plex Sans" pitchFamily="34" charset="-122"/>
                          <a:cs typeface="IBM Plex Sans" pitchFamily="34" charset="-120"/>
                        </a:rPr>
                        <a:t>≈17 h</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84698">
                <a:tc>
                  <a:txBody>
                    <a:bodyPr/>
                    <a:lstStyle/>
                    <a:p>
                      <a:pPr marL="0" indent="0">
                        <a:lnSpc>
                          <a:spcPts val="1960"/>
                        </a:lnSpc>
                        <a:buNone/>
                      </a:pPr>
                      <a:r>
                        <a:rPr lang="en-US" sz="1400" dirty="0">
                          <a:solidFill>
                            <a:srgbClr val="1B2A3A"/>
                          </a:solidFill>
                          <a:latin typeface="IBM Plex Sans" pitchFamily="34" charset="0"/>
                          <a:ea typeface="IBM Plex Sans" pitchFamily="34" charset="-122"/>
                          <a:cs typeface="IBM Plex Sans" pitchFamily="34" charset="-120"/>
                        </a:rPr>
                        <a:t>Originator</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B2A3A"/>
                          </a:solidFill>
                          <a:latin typeface="IBM Plex Sans" pitchFamily="34" charset="0"/>
                          <a:ea typeface="IBM Plex Sans" pitchFamily="34" charset="-122"/>
                          <a:cs typeface="IBM Plex Sans" pitchFamily="34" charset="-120"/>
                        </a:rPr>
                        <a:t>1.2%</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B2A3A"/>
                          </a:solidFill>
                          <a:latin typeface="IBM Plex Sans" pitchFamily="34" charset="0"/>
                          <a:ea typeface="IBM Plex Sans" pitchFamily="34" charset="-122"/>
                          <a:cs typeface="IBM Plex Sans" pitchFamily="34" charset="-120"/>
                        </a:rPr>
                        <a:t>≈53,000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B2A3A"/>
                          </a:solidFill>
                          <a:latin typeface="IBM Plex Sans" pitchFamily="34" charset="0"/>
                          <a:ea typeface="IBM Plex Sans" pitchFamily="34" charset="-122"/>
                          <a:cs typeface="IBM Plex Sans" pitchFamily="34" charset="-120"/>
                        </a:rPr>
                        <a:t>≈16 h</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384698">
                <a:tc>
                  <a:txBody>
                    <a:bodyPr/>
                    <a:lstStyle/>
                    <a:p>
                      <a:pPr marL="0" indent="0">
                        <a:lnSpc>
                          <a:spcPts val="1960"/>
                        </a:lnSpc>
                        <a:buNone/>
                      </a:pPr>
                      <a:r>
                        <a:rPr lang="en-US" sz="1400" dirty="0">
                          <a:solidFill>
                            <a:srgbClr val="1B2A3A"/>
                          </a:solidFill>
                          <a:latin typeface="IBM Plex Sans" pitchFamily="34" charset="0"/>
                          <a:ea typeface="IBM Plex Sans" pitchFamily="34" charset="-122"/>
                          <a:cs typeface="IBM Plex Sans" pitchFamily="34" charset="-120"/>
                        </a:rPr>
                        <a:t>Improvement/Mod.</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B2A3A"/>
                          </a:solidFill>
                          <a:latin typeface="IBM Plex Sans" pitchFamily="34" charset="0"/>
                          <a:ea typeface="IBM Plex Sans" pitchFamily="34" charset="-122"/>
                          <a:cs typeface="IBM Plex Sans" pitchFamily="34" charset="-120"/>
                        </a:rPr>
                        <a:t>1.4%</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B2A3A"/>
                          </a:solidFill>
                          <a:latin typeface="IBM Plex Sans" pitchFamily="34" charset="0"/>
                          <a:ea typeface="IBM Plex Sans" pitchFamily="34" charset="-122"/>
                          <a:cs typeface="IBM Plex Sans" pitchFamily="34" charset="-120"/>
                        </a:rPr>
                        <a:t>≈102,000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B2A3A"/>
                          </a:solidFill>
                          <a:latin typeface="IBM Plex Sans" pitchFamily="34" charset="0"/>
                          <a:ea typeface="IBM Plex Sans" pitchFamily="34" charset="-122"/>
                          <a:cs typeface="IBM Plex Sans" pitchFamily="34" charset="-120"/>
                        </a:rPr>
                        <a:t>≈31 h</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84698">
                <a:tc>
                  <a:txBody>
                    <a:bodyPr/>
                    <a:lstStyle/>
                    <a:p>
                      <a:pPr marL="0" indent="0">
                        <a:lnSpc>
                          <a:spcPts val="1960"/>
                        </a:lnSpc>
                        <a:buNone/>
                      </a:pPr>
                      <a:r>
                        <a:rPr lang="en-US" sz="1400" dirty="0">
                          <a:solidFill>
                            <a:srgbClr val="1B2A3A"/>
                          </a:solidFill>
                          <a:latin typeface="IBM Plex Sans" pitchFamily="34" charset="0"/>
                          <a:ea typeface="IBM Plex Sans" pitchFamily="34" charset="-122"/>
                          <a:cs typeface="IBM Plex Sans" pitchFamily="34" charset="-120"/>
                        </a:rPr>
                        <a:t>Further Reading</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B2A3A"/>
                          </a:solidFill>
                          <a:latin typeface="IBM Plex Sans" pitchFamily="34" charset="0"/>
                          <a:ea typeface="IBM Plex Sans" pitchFamily="34" charset="-122"/>
                          <a:cs typeface="IBM Plex Sans" pitchFamily="34" charset="-120"/>
                        </a:rPr>
                        <a:t>0.3%</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B2A3A"/>
                          </a:solidFill>
                          <a:latin typeface="IBM Plex Sans" pitchFamily="34" charset="0"/>
                          <a:ea typeface="IBM Plex Sans" pitchFamily="34" charset="-122"/>
                          <a:cs typeface="IBM Plex Sans" pitchFamily="34" charset="-120"/>
                        </a:rPr>
                        <a:t>≈490,000</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960"/>
                        </a:lnSpc>
                        <a:buNone/>
                      </a:pPr>
                      <a:r>
                        <a:rPr lang="en-US" sz="1400" dirty="0">
                          <a:solidFill>
                            <a:srgbClr val="1B2A3A"/>
                          </a:solidFill>
                          <a:latin typeface="IBM Plex Sans" pitchFamily="34" charset="0"/>
                          <a:ea typeface="IBM Plex Sans" pitchFamily="34" charset="-122"/>
                          <a:cs typeface="IBM Plex Sans" pitchFamily="34" charset="-120"/>
                        </a:rPr>
                        <a:t>not viable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6965986" y="2085956"/>
            <a:ext cx="4410057" cy="2557192"/>
          </a:xfrm>
          <a:prstGeom prst="roundRect">
            <a:avLst>
              <a:gd name="adj" fmla="val 3849"/>
            </a:avLst>
          </a:prstGeom>
          <a:solidFill>
            <a:srgbClr val="FFFFFF"/>
          </a:solidFill>
          <a:ln w="6350">
            <a:solidFill>
              <a:srgbClr val="DCD8CE"/>
            </a:solidFill>
            <a:prstDash val="solid"/>
          </a:ln>
        </p:spPr>
        <p:txBody>
          <a:bodyPr/>
          <a:lstStyle/>
          <a:p>
            <a:endParaRPr lang="es-ES_tradnl"/>
          </a:p>
        </p:txBody>
      </p:sp>
      <p:sp>
        <p:nvSpPr>
          <p:cNvPr id="7" name="Text 4"/>
          <p:cNvSpPr/>
          <p:nvPr/>
        </p:nvSpPr>
        <p:spPr>
          <a:xfrm>
            <a:off x="7222583" y="2342555"/>
            <a:ext cx="4013767" cy="26920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Cue phrases work</a:t>
            </a:r>
            <a:endParaRPr lang="en-US" sz="1600" dirty="0"/>
          </a:p>
        </p:txBody>
      </p:sp>
      <p:sp>
        <p:nvSpPr>
          <p:cNvPr id="8" name="Text 5"/>
          <p:cNvSpPr/>
          <p:nvPr/>
        </p:nvSpPr>
        <p:spPr>
          <a:xfrm>
            <a:off x="7222583" y="2713360"/>
            <a:ext cx="4013767" cy="798494"/>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3"/>
                </a:solidFill>
                <a:latin typeface="IBM Plex Sans" pitchFamily="34" charset="0"/>
                <a:ea typeface="IBM Plex Sans" pitchFamily="34" charset="-122"/>
                <a:cs typeface="IBM Plex Sans" pitchFamily="34" charset="-120"/>
              </a:rPr>
              <a:t>Hits in their own category: Improvement/Modification 73%, Originator 67%, Further Reading 55%.</a:t>
            </a:r>
            <a:endParaRPr lang="en-US" sz="1400" dirty="0"/>
          </a:p>
        </p:txBody>
      </p:sp>
      <p:sp>
        <p:nvSpPr>
          <p:cNvPr id="9" name="Text 6"/>
          <p:cNvSpPr/>
          <p:nvPr/>
        </p:nvSpPr>
        <p:spPr>
          <a:xfrm>
            <a:off x="7222583" y="3613457"/>
            <a:ext cx="4013767" cy="798494"/>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3"/>
                </a:solidFill>
                <a:latin typeface="IBM Plex Sans" pitchFamily="34" charset="0"/>
                <a:ea typeface="IBM Plex Sans" pitchFamily="34" charset="-122"/>
                <a:cs typeface="IBM Plex Sans" pitchFamily="34" charset="-120"/>
              </a:rPr>
              <a:t>The pilot corpus’s hits were used up, so the extension scanned </a:t>
            </a:r>
            <a:r>
              <a:rPr lang="en-US" sz="1400" b="1" dirty="0">
                <a:solidFill>
                  <a:srgbClr val="1B2A3A"/>
                </a:solidFill>
                <a:latin typeface="IBM Plex Sans" pitchFamily="34" charset="0"/>
                <a:ea typeface="IBM Plex Sans" pitchFamily="34" charset="-122"/>
                <a:cs typeface="IBM Plex Sans" pitchFamily="34" charset="-120"/>
              </a:rPr>
              <a:t>new subcategories</a:t>
            </a:r>
            <a:r>
              <a:rPr lang="en-US" sz="1400" dirty="0">
                <a:solidFill>
                  <a:srgbClr val="4A5563"/>
                </a:solidFill>
                <a:latin typeface="IBM Plex Sans" pitchFamily="34" charset="0"/>
                <a:ea typeface="IBM Plex Sans" pitchFamily="34" charset="-122"/>
                <a:cs typeface="IBM Plex Sans" pitchFamily="34" charset="-120"/>
              </a:rPr>
              <a:t>, and Basis got its own cue batch.</a:t>
            </a:r>
            <a:endParaRPr lang="en-US" sz="1400" dirty="0"/>
          </a:p>
        </p:txBody>
      </p:sp>
      <p:sp>
        <p:nvSpPr>
          <p:cNvPr id="10" name="Text 7"/>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5 · random yields measured on the round-1 pool; GPU time at ≈3,300 instances per hour for the trio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A"/>
                </a:solidFill>
                <a:latin typeface="IBM Plex Sans" pitchFamily="34" charset="0"/>
                <a:ea typeface="IBM Plex Sans" pitchFamily="34" charset="-122"/>
                <a:cs typeface="IBM Plex Sans" pitchFamily="34" charset="-120"/>
              </a:rPr>
              <a:t>SUPPLY · THE EXTENSION</a:t>
            </a:r>
            <a:endParaRPr lang="en-US" sz="1200" dirty="0"/>
          </a:p>
        </p:txBody>
      </p:sp>
      <p:sp>
        <p:nvSpPr>
          <p:cNvPr id="3" name="Text 1"/>
          <p:cNvSpPr>
            <a:spLocks noGrp="1"/>
          </p:cNvSpPr>
          <p:nvPr>
            <p:ph type="title"/>
          </p:nvPr>
        </p:nvSpPr>
        <p:spPr>
          <a:xfrm>
            <a:off x="812782" y="1280192"/>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Two new batches, judged with the frozen setup</a:t>
            </a:r>
            <a:endParaRPr lang="en-US" sz="3200" dirty="0"/>
          </a:p>
        </p:txBody>
      </p:sp>
      <p:sp>
        <p:nvSpPr>
          <p:cNvPr id="4" name="Shape 2"/>
          <p:cNvSpPr/>
          <p:nvPr/>
        </p:nvSpPr>
        <p:spPr>
          <a:xfrm>
            <a:off x="815957" y="1984391"/>
            <a:ext cx="5175304" cy="2336295"/>
          </a:xfrm>
          <a:prstGeom prst="roundRect">
            <a:avLst>
              <a:gd name="adj" fmla="val 4213"/>
            </a:avLst>
          </a:prstGeom>
          <a:solidFill>
            <a:srgbClr val="FFFFFF"/>
          </a:solidFill>
          <a:ln w="6350">
            <a:solidFill>
              <a:srgbClr val="DCD8CE"/>
            </a:solidFill>
            <a:prstDash val="solid"/>
          </a:ln>
        </p:spPr>
        <p:txBody>
          <a:bodyPr/>
          <a:lstStyle/>
          <a:p>
            <a:endParaRPr lang="es-ES_tradnl"/>
          </a:p>
        </p:txBody>
      </p:sp>
      <p:sp>
        <p:nvSpPr>
          <p:cNvPr id="5" name="Text 3"/>
          <p:cNvSpPr/>
          <p:nvPr/>
        </p:nvSpPr>
        <p:spPr>
          <a:xfrm>
            <a:off x="1072555" y="2240989"/>
            <a:ext cx="4801972" cy="23881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B5"/>
                </a:solidFill>
                <a:latin typeface="IBM Plex Sans" pitchFamily="34" charset="0"/>
                <a:ea typeface="IBM Plex Sans" pitchFamily="34" charset="-122"/>
                <a:cs typeface="IBM Plex Sans" pitchFamily="34" charset="-120"/>
              </a:rPr>
              <a:t>POOL_CUE_BASIS</a:t>
            </a:r>
            <a:endParaRPr lang="en-US" sz="1200" dirty="0"/>
          </a:p>
        </p:txBody>
      </p:sp>
      <p:sp>
        <p:nvSpPr>
          <p:cNvPr id="6" name="Text 4"/>
          <p:cNvSpPr/>
          <p:nvPr/>
        </p:nvSpPr>
        <p:spPr>
          <a:xfrm>
            <a:off x="1072555" y="2555965"/>
            <a:ext cx="4801972"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A3A"/>
                </a:solidFill>
                <a:latin typeface="IBM Plex Sans" pitchFamily="34" charset="0"/>
                <a:ea typeface="IBM Plex Sans" pitchFamily="34" charset="-122"/>
                <a:cs typeface="IBM Plex Sans" pitchFamily="34" charset="-120"/>
              </a:rPr>
              <a:t>5,539 Basis cue hits</a:t>
            </a:r>
            <a:endParaRPr lang="en-US" sz="1800" dirty="0"/>
          </a:p>
        </p:txBody>
      </p:sp>
      <p:sp>
        <p:nvSpPr>
          <p:cNvPr id="7" name="Text 5"/>
          <p:cNvSpPr/>
          <p:nvPr/>
        </p:nvSpPr>
        <p:spPr>
          <a:xfrm>
            <a:off x="1072555" y="2931731"/>
            <a:ext cx="4801972" cy="540796"/>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3"/>
                </a:solidFill>
                <a:latin typeface="IBM Plex Sans" pitchFamily="34" charset="0"/>
                <a:ea typeface="IBM Plex Sans" pitchFamily="34" charset="-122"/>
                <a:cs typeface="IBM Plex Sans" pitchFamily="34" charset="-120"/>
              </a:rPr>
              <a:t>Phrases such as “following [x]”, “we build on [x]”, “we extend [x]” in the current contexts.</a:t>
            </a:r>
            <a:endParaRPr lang="en-US" sz="1400" dirty="0"/>
          </a:p>
        </p:txBody>
      </p:sp>
      <p:sp>
        <p:nvSpPr>
          <p:cNvPr id="8" name="Text 6"/>
          <p:cNvSpPr/>
          <p:nvPr/>
        </p:nvSpPr>
        <p:spPr>
          <a:xfrm>
            <a:off x="1072555" y="3548692"/>
            <a:ext cx="4801972" cy="540796"/>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3"/>
                </a:solidFill>
                <a:latin typeface="IBM Plex Sans" pitchFamily="34" charset="0"/>
                <a:ea typeface="IBM Plex Sans" pitchFamily="34" charset="-122"/>
                <a:cs typeface="IBM Plex Sans" pitchFamily="34" charset="-120"/>
              </a:rPr>
              <a:t>High confidence: </a:t>
            </a:r>
            <a:r>
              <a:rPr lang="en-US" sz="1400" b="1" dirty="0">
                <a:solidFill>
                  <a:srgbClr val="1B2A3A"/>
                </a:solidFill>
                <a:latin typeface="IBM Plex Sans" pitchFamily="34" charset="0"/>
                <a:ea typeface="IBM Plex Sans" pitchFamily="34" charset="-122"/>
                <a:cs typeface="IBM Plex Sans" pitchFamily="34" charset="-120"/>
              </a:rPr>
              <a:t>Basis 2,655</a:t>
            </a:r>
            <a:r>
              <a:rPr lang="en-US" sz="1400" dirty="0">
                <a:solidFill>
                  <a:srgbClr val="4A5563"/>
                </a:solidFill>
                <a:latin typeface="IBM Plex Sans" pitchFamily="34" charset="0"/>
                <a:ea typeface="IBM Plex Sans" pitchFamily="34" charset="-122"/>
                <a:cs typeface="IBM Plex Sans" pitchFamily="34" charset="-120"/>
              </a:rPr>
              <a:t>, Application 1,886, Background 376, IM 261.</a:t>
            </a:r>
            <a:endParaRPr lang="en-US" sz="1400" dirty="0"/>
          </a:p>
        </p:txBody>
      </p:sp>
      <p:sp>
        <p:nvSpPr>
          <p:cNvPr id="9" name="Shape 7"/>
          <p:cNvSpPr/>
          <p:nvPr/>
        </p:nvSpPr>
        <p:spPr>
          <a:xfrm>
            <a:off x="6200739" y="1984391"/>
            <a:ext cx="5175304" cy="2336295"/>
          </a:xfrm>
          <a:prstGeom prst="roundRect">
            <a:avLst>
              <a:gd name="adj" fmla="val 4213"/>
            </a:avLst>
          </a:prstGeom>
          <a:solidFill>
            <a:srgbClr val="FFFFFF"/>
          </a:solidFill>
          <a:ln w="6350">
            <a:solidFill>
              <a:srgbClr val="DCD8CE"/>
            </a:solidFill>
            <a:prstDash val="solid"/>
          </a:ln>
        </p:spPr>
        <p:txBody>
          <a:bodyPr/>
          <a:lstStyle/>
          <a:p>
            <a:endParaRPr lang="es-ES_tradnl"/>
          </a:p>
        </p:txBody>
      </p:sp>
      <p:sp>
        <p:nvSpPr>
          <p:cNvPr id="10" name="Text 8"/>
          <p:cNvSpPr/>
          <p:nvPr/>
        </p:nvSpPr>
        <p:spPr>
          <a:xfrm>
            <a:off x="6457336" y="2240989"/>
            <a:ext cx="4801972" cy="23881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B5"/>
                </a:solidFill>
                <a:latin typeface="IBM Plex Sans" pitchFamily="34" charset="0"/>
                <a:ea typeface="IBM Plex Sans" pitchFamily="34" charset="-122"/>
                <a:cs typeface="IBM Plex Sans" pitchFamily="34" charset="-120"/>
              </a:rPr>
              <a:t>POOL_EXT_CUE_RARE</a:t>
            </a:r>
            <a:endParaRPr lang="en-US" sz="1200" dirty="0"/>
          </a:p>
        </p:txBody>
      </p:sp>
      <p:sp>
        <p:nvSpPr>
          <p:cNvPr id="11" name="Text 9"/>
          <p:cNvSpPr/>
          <p:nvPr/>
        </p:nvSpPr>
        <p:spPr>
          <a:xfrm>
            <a:off x="6457336" y="2555965"/>
            <a:ext cx="4801972"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A3A"/>
                </a:solidFill>
                <a:latin typeface="IBM Plex Sans" pitchFamily="34" charset="0"/>
                <a:ea typeface="IBM Plex Sans" pitchFamily="34" charset="-122"/>
                <a:cs typeface="IBM Plex Sans" pitchFamily="34" charset="-120"/>
              </a:rPr>
              <a:t>3,905 rare-category hits</a:t>
            </a:r>
            <a:endParaRPr lang="en-US" sz="1800" dirty="0"/>
          </a:p>
        </p:txBody>
      </p:sp>
      <p:sp>
        <p:nvSpPr>
          <p:cNvPr id="12" name="Text 10"/>
          <p:cNvSpPr/>
          <p:nvPr/>
        </p:nvSpPr>
        <p:spPr>
          <a:xfrm>
            <a:off x="6457336" y="2931731"/>
            <a:ext cx="4801972" cy="540796"/>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3"/>
                </a:solidFill>
                <a:latin typeface="IBM Plex Sans" pitchFamily="34" charset="0"/>
                <a:ea typeface="IBM Plex Sans" pitchFamily="34" charset="-122"/>
                <a:cs typeface="IBM Plex Sans" pitchFamily="34" charset="-120"/>
              </a:rPr>
              <a:t>Cue scan of new subcategories cs.LG, cs.CL and cs.DS, through the same A1 and A2 pipeline.</a:t>
            </a:r>
            <a:endParaRPr lang="en-US" sz="1400" dirty="0"/>
          </a:p>
        </p:txBody>
      </p:sp>
      <p:sp>
        <p:nvSpPr>
          <p:cNvPr id="13" name="Text 11"/>
          <p:cNvSpPr/>
          <p:nvPr/>
        </p:nvSpPr>
        <p:spPr>
          <a:xfrm>
            <a:off x="6457336" y="3548692"/>
            <a:ext cx="4801972" cy="540796"/>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3"/>
                </a:solidFill>
                <a:latin typeface="IBM Plex Sans" pitchFamily="34" charset="0"/>
                <a:ea typeface="IBM Plex Sans" pitchFamily="34" charset="-122"/>
                <a:cs typeface="IBM Plex Sans" pitchFamily="34" charset="-120"/>
              </a:rPr>
              <a:t>High confidence: </a:t>
            </a:r>
            <a:r>
              <a:rPr lang="en-US" sz="1400" b="1" dirty="0">
                <a:solidFill>
                  <a:srgbClr val="1B2A3A"/>
                </a:solidFill>
                <a:latin typeface="IBM Plex Sans" pitchFamily="34" charset="0"/>
                <a:ea typeface="IBM Plex Sans" pitchFamily="34" charset="-122"/>
                <a:cs typeface="IBM Plex Sans" pitchFamily="34" charset="-120"/>
              </a:rPr>
              <a:t>Further Reading 1,203</a:t>
            </a:r>
            <a:r>
              <a:rPr lang="en-US" sz="1400" dirty="0">
                <a:solidFill>
                  <a:srgbClr val="4A5563"/>
                </a:solidFill>
                <a:latin typeface="IBM Plex Sans" pitchFamily="34" charset="0"/>
                <a:ea typeface="IBM Plex Sans" pitchFamily="34" charset="-122"/>
                <a:cs typeface="IBM Plex Sans" pitchFamily="34" charset="-120"/>
              </a:rPr>
              <a:t>, Originator 392, IM 131.</a:t>
            </a:r>
            <a:endParaRPr lang="en-US" sz="1400" dirty="0"/>
          </a:p>
        </p:txBody>
      </p:sp>
      <p:sp>
        <p:nvSpPr>
          <p:cNvPr id="14" name="Text 12"/>
          <p:cNvSpPr/>
          <p:nvPr/>
        </p:nvSpPr>
        <p:spPr>
          <a:xfrm>
            <a:off x="812782" y="4577860"/>
            <a:ext cx="10566436" cy="921652"/>
          </a:xfrm>
          <a:prstGeom prst="roundRect">
            <a:avLst>
              <a:gd name="adj" fmla="val 11024"/>
            </a:avLst>
          </a:prstGeom>
          <a:solidFill>
            <a:srgbClr val="1B2A3A"/>
          </a:solidFill>
          <a:ln/>
        </p:spPr>
        <p:txBody>
          <a:bodyPr wrap="square" lIns="224242" tIns="173442" rIns="0" bIns="147898" rtlCol="0" anchor="t">
            <a:normAutofit/>
          </a:bodyPr>
          <a:lstStyle/>
          <a:p>
            <a:pPr marL="0" indent="0" algn="l">
              <a:lnSpc>
                <a:spcPts val="2030"/>
              </a:lnSpc>
              <a:buNone/>
            </a:pPr>
            <a:r>
              <a:rPr lang="en-US" sz="1400" b="1" dirty="0">
                <a:solidFill>
                  <a:srgbClr val="F7F5F0"/>
                </a:solidFill>
                <a:latin typeface="IBM Plex Sans" pitchFamily="34" charset="0"/>
                <a:ea typeface="IBM Plex Sans" pitchFamily="34" charset="-122"/>
                <a:cs typeface="IBM Plex Sans" pitchFamily="34" charset="-120"/>
              </a:rPr>
              <a:t>pool_v11.1_ext:</a:t>
            </a:r>
            <a:r>
              <a:rPr lang="en-US" sz="1400" dirty="0">
                <a:solidFill>
                  <a:srgbClr val="F7F5F0"/>
                </a:solidFill>
                <a:latin typeface="IBM Plex Sans" pitchFamily="34" charset="0"/>
                <a:ea typeface="IBM Plex Sans" pitchFamily="34" charset="-122"/>
                <a:cs typeface="IBM Plex Sans" pitchFamily="34" charset="-120"/>
              </a:rPr>
              <a:t> 38,780 instances (29,336 + 9,444); 37,254 high confidence; 1,520 ties. Only 42% of the new IM pre-labels are unanimous.</a:t>
            </a:r>
            <a:endParaRPr lang="en-US" sz="1400" dirty="0"/>
          </a:p>
        </p:txBody>
      </p:sp>
      <p:sp>
        <p:nvSpPr>
          <p:cNvPr id="15" name="Text 13"/>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6 · pool_v11.1_ext/pool_summary.json, counts_ext.md (22 Oct) · sha256 8fff518f…98c14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A"/>
                </a:solidFill>
                <a:latin typeface="IBM Plex Sans" pitchFamily="34" charset="0"/>
                <a:ea typeface="IBM Plex Sans" pitchFamily="34" charset="-122"/>
                <a:cs typeface="IBM Plex Sans" pitchFamily="34" charset="-120"/>
              </a:rPr>
              <a:t>SUPPLY · PER CATEGORY, EXTENDED POOL</a:t>
            </a:r>
            <a:endParaRPr lang="en-US" sz="1200" dirty="0"/>
          </a:p>
        </p:txBody>
      </p:sp>
      <p:sp>
        <p:nvSpPr>
          <p:cNvPr id="3" name="Text 1"/>
          <p:cNvSpPr>
            <a:spLocks noGrp="1"/>
          </p:cNvSpPr>
          <p:nvPr>
            <p:ph type="title"/>
          </p:nvPr>
        </p:nvSpPr>
        <p:spPr>
          <a:xfrm>
            <a:off x="812782" y="1229320"/>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Six categories reach 2,000; three remain short</a:t>
            </a:r>
            <a:endParaRPr lang="en-US" sz="3200" dirty="0"/>
          </a:p>
        </p:txBody>
      </p:sp>
      <p:sp>
        <p:nvSpPr>
          <p:cNvPr id="4" name="Text 2"/>
          <p:cNvSpPr/>
          <p:nvPr/>
        </p:nvSpPr>
        <p:spPr>
          <a:xfrm>
            <a:off x="812782" y="1879473"/>
            <a:ext cx="10883429"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Bars: high-confidence, test-eligible instances. Dark line: the 2,000 target. Bars over 4,000 are cut.</a:t>
            </a:r>
            <a:endParaRPr lang="en-US" sz="1200" dirty="0"/>
          </a:p>
        </p:txBody>
      </p:sp>
      <p:sp>
        <p:nvSpPr>
          <p:cNvPr id="5" name="Text 3"/>
          <p:cNvSpPr/>
          <p:nvPr/>
        </p:nvSpPr>
        <p:spPr>
          <a:xfrm>
            <a:off x="713722" y="2307465"/>
            <a:ext cx="3401060" cy="256489"/>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1B2A3A"/>
                </a:solidFill>
                <a:latin typeface="IBM Plex Sans" pitchFamily="34" charset="0"/>
                <a:ea typeface="IBM Plex Sans" pitchFamily="34" charset="-122"/>
                <a:cs typeface="IBM Plex Sans" pitchFamily="34" charset="-120"/>
              </a:rPr>
              <a:t>Background</a:t>
            </a:r>
            <a:endParaRPr lang="en-US" sz="1300" dirty="0"/>
          </a:p>
        </p:txBody>
      </p:sp>
      <p:sp>
        <p:nvSpPr>
          <p:cNvPr id="6" name="Shape 4"/>
          <p:cNvSpPr/>
          <p:nvPr/>
        </p:nvSpPr>
        <p:spPr>
          <a:xfrm>
            <a:off x="4267128" y="2296012"/>
            <a:ext cx="5207000" cy="254000"/>
          </a:xfrm>
          <a:prstGeom prst="roundRect">
            <a:avLst>
              <a:gd name="adj" fmla="val 10000"/>
            </a:avLst>
          </a:prstGeom>
          <a:solidFill>
            <a:srgbClr val="2F6DB5"/>
          </a:solidFill>
          <a:ln/>
        </p:spPr>
        <p:txBody>
          <a:bodyPr/>
          <a:lstStyle/>
          <a:p>
            <a:endParaRPr lang="es-ES_tradnl"/>
          </a:p>
        </p:txBody>
      </p:sp>
      <p:sp>
        <p:nvSpPr>
          <p:cNvPr id="7" name="Shape 5"/>
          <p:cNvSpPr/>
          <p:nvPr/>
        </p:nvSpPr>
        <p:spPr>
          <a:xfrm>
            <a:off x="6870628" y="2296012"/>
            <a:ext cx="25346" cy="254000"/>
          </a:xfrm>
          <a:prstGeom prst="rect">
            <a:avLst/>
          </a:prstGeom>
          <a:solidFill>
            <a:srgbClr val="1B2A3A"/>
          </a:solidFill>
          <a:ln/>
        </p:spPr>
        <p:txBody>
          <a:bodyPr/>
          <a:lstStyle/>
          <a:p>
            <a:endParaRPr lang="es-ES_tradnl"/>
          </a:p>
        </p:txBody>
      </p:sp>
      <p:sp>
        <p:nvSpPr>
          <p:cNvPr id="8" name="Text 6"/>
          <p:cNvSpPr/>
          <p:nvPr/>
        </p:nvSpPr>
        <p:spPr>
          <a:xfrm>
            <a:off x="9626474" y="2307465"/>
            <a:ext cx="1805141"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A3A"/>
                </a:solidFill>
                <a:latin typeface="IBM Plex Sans" pitchFamily="34" charset="0"/>
                <a:ea typeface="IBM Plex Sans" pitchFamily="34" charset="-122"/>
                <a:cs typeface="IBM Plex Sans" pitchFamily="34" charset="-120"/>
              </a:rPr>
              <a:t>13,581 · covered</a:t>
            </a:r>
            <a:endParaRPr lang="en-US" sz="1300" dirty="0"/>
          </a:p>
        </p:txBody>
      </p:sp>
      <p:sp>
        <p:nvSpPr>
          <p:cNvPr id="9" name="Text 7"/>
          <p:cNvSpPr/>
          <p:nvPr/>
        </p:nvSpPr>
        <p:spPr>
          <a:xfrm>
            <a:off x="713722" y="2637594"/>
            <a:ext cx="3401060" cy="256489"/>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1B2A3A"/>
                </a:solidFill>
                <a:latin typeface="IBM Plex Sans" pitchFamily="34" charset="0"/>
                <a:ea typeface="IBM Plex Sans" pitchFamily="34" charset="-122"/>
                <a:cs typeface="IBM Plex Sans" pitchFamily="34" charset="-120"/>
              </a:rPr>
              <a:t>Application</a:t>
            </a:r>
            <a:endParaRPr lang="en-US" sz="1300" dirty="0"/>
          </a:p>
        </p:txBody>
      </p:sp>
      <p:sp>
        <p:nvSpPr>
          <p:cNvPr id="10" name="Shape 8"/>
          <p:cNvSpPr/>
          <p:nvPr/>
        </p:nvSpPr>
        <p:spPr>
          <a:xfrm>
            <a:off x="4267128" y="2626137"/>
            <a:ext cx="5207000" cy="254000"/>
          </a:xfrm>
          <a:prstGeom prst="roundRect">
            <a:avLst>
              <a:gd name="adj" fmla="val 10000"/>
            </a:avLst>
          </a:prstGeom>
          <a:solidFill>
            <a:srgbClr val="2F6DB5"/>
          </a:solidFill>
          <a:ln/>
        </p:spPr>
        <p:txBody>
          <a:bodyPr/>
          <a:lstStyle/>
          <a:p>
            <a:endParaRPr lang="es-ES_tradnl"/>
          </a:p>
        </p:txBody>
      </p:sp>
      <p:sp>
        <p:nvSpPr>
          <p:cNvPr id="11" name="Shape 9"/>
          <p:cNvSpPr/>
          <p:nvPr/>
        </p:nvSpPr>
        <p:spPr>
          <a:xfrm>
            <a:off x="6870628" y="2626137"/>
            <a:ext cx="25346" cy="254000"/>
          </a:xfrm>
          <a:prstGeom prst="rect">
            <a:avLst/>
          </a:prstGeom>
          <a:solidFill>
            <a:srgbClr val="1B2A3A"/>
          </a:solidFill>
          <a:ln/>
        </p:spPr>
        <p:txBody>
          <a:bodyPr/>
          <a:lstStyle/>
          <a:p>
            <a:endParaRPr lang="es-ES_tradnl"/>
          </a:p>
        </p:txBody>
      </p:sp>
      <p:sp>
        <p:nvSpPr>
          <p:cNvPr id="12" name="Text 10"/>
          <p:cNvSpPr/>
          <p:nvPr/>
        </p:nvSpPr>
        <p:spPr>
          <a:xfrm>
            <a:off x="9626474" y="2637594"/>
            <a:ext cx="1805141"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A3A"/>
                </a:solidFill>
                <a:latin typeface="IBM Plex Sans" pitchFamily="34" charset="0"/>
                <a:ea typeface="IBM Plex Sans" pitchFamily="34" charset="-122"/>
                <a:cs typeface="IBM Plex Sans" pitchFamily="34" charset="-120"/>
              </a:rPr>
              <a:t>4,959 · covered</a:t>
            </a:r>
            <a:endParaRPr lang="en-US" sz="1300" dirty="0"/>
          </a:p>
        </p:txBody>
      </p:sp>
      <p:sp>
        <p:nvSpPr>
          <p:cNvPr id="13" name="Text 11"/>
          <p:cNvSpPr/>
          <p:nvPr/>
        </p:nvSpPr>
        <p:spPr>
          <a:xfrm>
            <a:off x="713722" y="2967723"/>
            <a:ext cx="3401060" cy="256489"/>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1B2A3A"/>
                </a:solidFill>
                <a:latin typeface="IBM Plex Sans" pitchFamily="34" charset="0"/>
                <a:ea typeface="IBM Plex Sans" pitchFamily="34" charset="-122"/>
                <a:cs typeface="IBM Plex Sans" pitchFamily="34" charset="-120"/>
              </a:rPr>
              <a:t>Comparison</a:t>
            </a:r>
            <a:endParaRPr lang="en-US" sz="1300" dirty="0"/>
          </a:p>
        </p:txBody>
      </p:sp>
      <p:sp>
        <p:nvSpPr>
          <p:cNvPr id="14" name="Shape 12"/>
          <p:cNvSpPr/>
          <p:nvPr/>
        </p:nvSpPr>
        <p:spPr>
          <a:xfrm>
            <a:off x="4267128" y="2956266"/>
            <a:ext cx="4940282" cy="254000"/>
          </a:xfrm>
          <a:prstGeom prst="roundRect">
            <a:avLst>
              <a:gd name="adj" fmla="val 10000"/>
            </a:avLst>
          </a:prstGeom>
          <a:solidFill>
            <a:srgbClr val="2F6DB5"/>
          </a:solidFill>
          <a:ln/>
        </p:spPr>
        <p:txBody>
          <a:bodyPr/>
          <a:lstStyle/>
          <a:p>
            <a:endParaRPr lang="es-ES_tradnl"/>
          </a:p>
        </p:txBody>
      </p:sp>
      <p:sp>
        <p:nvSpPr>
          <p:cNvPr id="15" name="Shape 13"/>
          <p:cNvSpPr/>
          <p:nvPr/>
        </p:nvSpPr>
        <p:spPr>
          <a:xfrm>
            <a:off x="6870628" y="2956266"/>
            <a:ext cx="25346" cy="254000"/>
          </a:xfrm>
          <a:prstGeom prst="rect">
            <a:avLst/>
          </a:prstGeom>
          <a:solidFill>
            <a:srgbClr val="1B2A3A"/>
          </a:solidFill>
          <a:ln/>
        </p:spPr>
        <p:txBody>
          <a:bodyPr/>
          <a:lstStyle/>
          <a:p>
            <a:endParaRPr lang="es-ES_tradnl"/>
          </a:p>
        </p:txBody>
      </p:sp>
      <p:sp>
        <p:nvSpPr>
          <p:cNvPr id="16" name="Text 14"/>
          <p:cNvSpPr/>
          <p:nvPr/>
        </p:nvSpPr>
        <p:spPr>
          <a:xfrm>
            <a:off x="9626474" y="2967723"/>
            <a:ext cx="1805141"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A3A"/>
                </a:solidFill>
                <a:latin typeface="IBM Plex Sans" pitchFamily="34" charset="0"/>
                <a:ea typeface="IBM Plex Sans" pitchFamily="34" charset="-122"/>
                <a:cs typeface="IBM Plex Sans" pitchFamily="34" charset="-120"/>
              </a:rPr>
              <a:t>3,793 · covered</a:t>
            </a:r>
            <a:endParaRPr lang="en-US" sz="1300" dirty="0"/>
          </a:p>
        </p:txBody>
      </p:sp>
      <p:sp>
        <p:nvSpPr>
          <p:cNvPr id="17" name="Text 15"/>
          <p:cNvSpPr/>
          <p:nvPr/>
        </p:nvSpPr>
        <p:spPr>
          <a:xfrm>
            <a:off x="713722" y="3297848"/>
            <a:ext cx="3401060" cy="256489"/>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1B2A3A"/>
                </a:solidFill>
                <a:latin typeface="IBM Plex Sans" pitchFamily="34" charset="0"/>
                <a:ea typeface="IBM Plex Sans" pitchFamily="34" charset="-122"/>
                <a:cs typeface="IBM Plex Sans" pitchFamily="34" charset="-120"/>
              </a:rPr>
              <a:t>Evidence</a:t>
            </a:r>
            <a:endParaRPr lang="en-US" sz="1300" dirty="0"/>
          </a:p>
        </p:txBody>
      </p:sp>
      <p:sp>
        <p:nvSpPr>
          <p:cNvPr id="18" name="Shape 16"/>
          <p:cNvSpPr/>
          <p:nvPr/>
        </p:nvSpPr>
        <p:spPr>
          <a:xfrm>
            <a:off x="4267128" y="3286395"/>
            <a:ext cx="4692596" cy="254000"/>
          </a:xfrm>
          <a:prstGeom prst="roundRect">
            <a:avLst>
              <a:gd name="adj" fmla="val 10000"/>
            </a:avLst>
          </a:prstGeom>
          <a:solidFill>
            <a:srgbClr val="2F6DB5"/>
          </a:solidFill>
          <a:ln/>
        </p:spPr>
        <p:txBody>
          <a:bodyPr/>
          <a:lstStyle/>
          <a:p>
            <a:endParaRPr lang="es-ES_tradnl"/>
          </a:p>
        </p:txBody>
      </p:sp>
      <p:sp>
        <p:nvSpPr>
          <p:cNvPr id="19" name="Shape 17"/>
          <p:cNvSpPr/>
          <p:nvPr/>
        </p:nvSpPr>
        <p:spPr>
          <a:xfrm>
            <a:off x="6870628" y="3286395"/>
            <a:ext cx="25346" cy="254000"/>
          </a:xfrm>
          <a:prstGeom prst="rect">
            <a:avLst/>
          </a:prstGeom>
          <a:solidFill>
            <a:srgbClr val="1B2A3A"/>
          </a:solidFill>
          <a:ln/>
        </p:spPr>
        <p:txBody>
          <a:bodyPr/>
          <a:lstStyle/>
          <a:p>
            <a:endParaRPr lang="es-ES_tradnl"/>
          </a:p>
        </p:txBody>
      </p:sp>
      <p:sp>
        <p:nvSpPr>
          <p:cNvPr id="20" name="Text 18"/>
          <p:cNvSpPr/>
          <p:nvPr/>
        </p:nvSpPr>
        <p:spPr>
          <a:xfrm>
            <a:off x="9626474" y="3297848"/>
            <a:ext cx="1805141"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A3A"/>
                </a:solidFill>
                <a:latin typeface="IBM Plex Sans" pitchFamily="34" charset="0"/>
                <a:ea typeface="IBM Plex Sans" pitchFamily="34" charset="-122"/>
                <a:cs typeface="IBM Plex Sans" pitchFamily="34" charset="-120"/>
              </a:rPr>
              <a:t>3,605 · covered</a:t>
            </a:r>
            <a:endParaRPr lang="en-US" sz="1300" dirty="0"/>
          </a:p>
        </p:txBody>
      </p:sp>
      <p:sp>
        <p:nvSpPr>
          <p:cNvPr id="21" name="Text 19"/>
          <p:cNvSpPr/>
          <p:nvPr/>
        </p:nvSpPr>
        <p:spPr>
          <a:xfrm>
            <a:off x="713722" y="3627977"/>
            <a:ext cx="3401060" cy="256489"/>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1B2A3A"/>
                </a:solidFill>
                <a:latin typeface="IBM Plex Sans" pitchFamily="34" charset="0"/>
                <a:ea typeface="IBM Plex Sans" pitchFamily="34" charset="-122"/>
                <a:cs typeface="IBM Plex Sans" pitchFamily="34" charset="-120"/>
              </a:rPr>
              <a:t>Gap</a:t>
            </a:r>
            <a:endParaRPr lang="en-US" sz="1300" dirty="0"/>
          </a:p>
        </p:txBody>
      </p:sp>
      <p:sp>
        <p:nvSpPr>
          <p:cNvPr id="22" name="Shape 20"/>
          <p:cNvSpPr/>
          <p:nvPr/>
        </p:nvSpPr>
        <p:spPr>
          <a:xfrm>
            <a:off x="4267128" y="3616520"/>
            <a:ext cx="4508500" cy="254000"/>
          </a:xfrm>
          <a:prstGeom prst="roundRect">
            <a:avLst>
              <a:gd name="adj" fmla="val 10000"/>
            </a:avLst>
          </a:prstGeom>
          <a:solidFill>
            <a:srgbClr val="2F6DB5"/>
          </a:solidFill>
          <a:ln/>
        </p:spPr>
        <p:txBody>
          <a:bodyPr/>
          <a:lstStyle/>
          <a:p>
            <a:endParaRPr lang="es-ES_tradnl"/>
          </a:p>
        </p:txBody>
      </p:sp>
      <p:sp>
        <p:nvSpPr>
          <p:cNvPr id="23" name="Shape 21"/>
          <p:cNvSpPr/>
          <p:nvPr/>
        </p:nvSpPr>
        <p:spPr>
          <a:xfrm>
            <a:off x="6870628" y="3616520"/>
            <a:ext cx="25346" cy="254000"/>
          </a:xfrm>
          <a:prstGeom prst="rect">
            <a:avLst/>
          </a:prstGeom>
          <a:solidFill>
            <a:srgbClr val="1B2A3A"/>
          </a:solidFill>
          <a:ln/>
        </p:spPr>
        <p:txBody>
          <a:bodyPr/>
          <a:lstStyle/>
          <a:p>
            <a:endParaRPr lang="es-ES_tradnl"/>
          </a:p>
        </p:txBody>
      </p:sp>
      <p:sp>
        <p:nvSpPr>
          <p:cNvPr id="24" name="Text 22"/>
          <p:cNvSpPr/>
          <p:nvPr/>
        </p:nvSpPr>
        <p:spPr>
          <a:xfrm>
            <a:off x="9626474" y="3627977"/>
            <a:ext cx="1805141"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A3A"/>
                </a:solidFill>
                <a:latin typeface="IBM Plex Sans" pitchFamily="34" charset="0"/>
                <a:ea typeface="IBM Plex Sans" pitchFamily="34" charset="-122"/>
                <a:cs typeface="IBM Plex Sans" pitchFamily="34" charset="-120"/>
              </a:rPr>
              <a:t>3,463 · covered</a:t>
            </a:r>
            <a:endParaRPr lang="en-US" sz="1300" dirty="0"/>
          </a:p>
        </p:txBody>
      </p:sp>
      <p:sp>
        <p:nvSpPr>
          <p:cNvPr id="25" name="Text 23"/>
          <p:cNvSpPr/>
          <p:nvPr/>
        </p:nvSpPr>
        <p:spPr>
          <a:xfrm>
            <a:off x="713722" y="3958106"/>
            <a:ext cx="3401060" cy="256489"/>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1B2A3A"/>
                </a:solidFill>
                <a:latin typeface="IBM Plex Sans" pitchFamily="34" charset="0"/>
                <a:ea typeface="IBM Plex Sans" pitchFamily="34" charset="-122"/>
                <a:cs typeface="IBM Plex Sans" pitchFamily="34" charset="-120"/>
              </a:rPr>
              <a:t>Basis</a:t>
            </a:r>
            <a:endParaRPr lang="en-US" sz="1300" dirty="0"/>
          </a:p>
        </p:txBody>
      </p:sp>
      <p:sp>
        <p:nvSpPr>
          <p:cNvPr id="26" name="Shape 24"/>
          <p:cNvSpPr/>
          <p:nvPr/>
        </p:nvSpPr>
        <p:spPr>
          <a:xfrm>
            <a:off x="4267128" y="3946649"/>
            <a:ext cx="4171878" cy="254000"/>
          </a:xfrm>
          <a:prstGeom prst="roundRect">
            <a:avLst>
              <a:gd name="adj" fmla="val 10000"/>
            </a:avLst>
          </a:prstGeom>
          <a:solidFill>
            <a:srgbClr val="2F6DB5"/>
          </a:solidFill>
          <a:ln/>
        </p:spPr>
        <p:txBody>
          <a:bodyPr/>
          <a:lstStyle/>
          <a:p>
            <a:endParaRPr lang="es-ES_tradnl"/>
          </a:p>
        </p:txBody>
      </p:sp>
      <p:sp>
        <p:nvSpPr>
          <p:cNvPr id="27" name="Shape 25"/>
          <p:cNvSpPr/>
          <p:nvPr/>
        </p:nvSpPr>
        <p:spPr>
          <a:xfrm>
            <a:off x="6870628" y="3946649"/>
            <a:ext cx="25346" cy="254000"/>
          </a:xfrm>
          <a:prstGeom prst="rect">
            <a:avLst/>
          </a:prstGeom>
          <a:solidFill>
            <a:srgbClr val="1B2A3A"/>
          </a:solidFill>
          <a:ln/>
        </p:spPr>
        <p:txBody>
          <a:bodyPr/>
          <a:lstStyle/>
          <a:p>
            <a:endParaRPr lang="es-ES_tradnl"/>
          </a:p>
        </p:txBody>
      </p:sp>
      <p:sp>
        <p:nvSpPr>
          <p:cNvPr id="28" name="Text 26"/>
          <p:cNvSpPr/>
          <p:nvPr/>
        </p:nvSpPr>
        <p:spPr>
          <a:xfrm>
            <a:off x="9626474" y="3958106"/>
            <a:ext cx="1805141"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A3A"/>
                </a:solidFill>
                <a:latin typeface="IBM Plex Sans" pitchFamily="34" charset="0"/>
                <a:ea typeface="IBM Plex Sans" pitchFamily="34" charset="-122"/>
                <a:cs typeface="IBM Plex Sans" pitchFamily="34" charset="-120"/>
              </a:rPr>
              <a:t>3,206 · covered</a:t>
            </a:r>
            <a:endParaRPr lang="en-US" sz="1300" dirty="0"/>
          </a:p>
        </p:txBody>
      </p:sp>
      <p:sp>
        <p:nvSpPr>
          <p:cNvPr id="29" name="Text 27"/>
          <p:cNvSpPr/>
          <p:nvPr/>
        </p:nvSpPr>
        <p:spPr>
          <a:xfrm>
            <a:off x="713722" y="4288231"/>
            <a:ext cx="3401060" cy="256489"/>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1B2A3A"/>
                </a:solidFill>
                <a:latin typeface="IBM Plex Sans" pitchFamily="34" charset="0"/>
                <a:ea typeface="IBM Plex Sans" pitchFamily="34" charset="-122"/>
                <a:cs typeface="IBM Plex Sans" pitchFamily="34" charset="-120"/>
              </a:rPr>
              <a:t>Identification of the Originator</a:t>
            </a:r>
            <a:endParaRPr lang="en-US" sz="1300" dirty="0"/>
          </a:p>
        </p:txBody>
      </p:sp>
      <p:sp>
        <p:nvSpPr>
          <p:cNvPr id="30" name="Shape 28"/>
          <p:cNvSpPr/>
          <p:nvPr/>
        </p:nvSpPr>
        <p:spPr>
          <a:xfrm>
            <a:off x="4267128" y="4276778"/>
            <a:ext cx="2311346" cy="254000"/>
          </a:xfrm>
          <a:prstGeom prst="roundRect">
            <a:avLst>
              <a:gd name="adj" fmla="val 10000"/>
            </a:avLst>
          </a:prstGeom>
          <a:solidFill>
            <a:srgbClr val="C2571A"/>
          </a:solidFill>
          <a:ln/>
        </p:spPr>
        <p:txBody>
          <a:bodyPr/>
          <a:lstStyle/>
          <a:p>
            <a:endParaRPr lang="es-ES_tradnl"/>
          </a:p>
        </p:txBody>
      </p:sp>
      <p:sp>
        <p:nvSpPr>
          <p:cNvPr id="31" name="Shape 29"/>
          <p:cNvSpPr/>
          <p:nvPr/>
        </p:nvSpPr>
        <p:spPr>
          <a:xfrm>
            <a:off x="6870628" y="4276778"/>
            <a:ext cx="25346" cy="254000"/>
          </a:xfrm>
          <a:prstGeom prst="rect">
            <a:avLst/>
          </a:prstGeom>
          <a:solidFill>
            <a:srgbClr val="1B2A3A"/>
          </a:solidFill>
          <a:ln/>
        </p:spPr>
        <p:txBody>
          <a:bodyPr/>
          <a:lstStyle/>
          <a:p>
            <a:endParaRPr lang="es-ES_tradnl"/>
          </a:p>
        </p:txBody>
      </p:sp>
      <p:sp>
        <p:nvSpPr>
          <p:cNvPr id="32" name="Text 30"/>
          <p:cNvSpPr/>
          <p:nvPr/>
        </p:nvSpPr>
        <p:spPr>
          <a:xfrm>
            <a:off x="9626474" y="4288231"/>
            <a:ext cx="1805141"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A3A"/>
                </a:solidFill>
                <a:latin typeface="IBM Plex Sans" pitchFamily="34" charset="0"/>
                <a:ea typeface="IBM Plex Sans" pitchFamily="34" charset="-122"/>
                <a:cs typeface="IBM Plex Sans" pitchFamily="34" charset="-120"/>
              </a:rPr>
              <a:t>1,776 · short 224</a:t>
            </a:r>
            <a:endParaRPr lang="en-US" sz="1300" dirty="0"/>
          </a:p>
        </p:txBody>
      </p:sp>
      <p:sp>
        <p:nvSpPr>
          <p:cNvPr id="33" name="Text 31"/>
          <p:cNvSpPr/>
          <p:nvPr/>
        </p:nvSpPr>
        <p:spPr>
          <a:xfrm>
            <a:off x="713722" y="4618360"/>
            <a:ext cx="3401060" cy="256489"/>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1B2A3A"/>
                </a:solidFill>
                <a:latin typeface="IBM Plex Sans" pitchFamily="34" charset="0"/>
                <a:ea typeface="IBM Plex Sans" pitchFamily="34" charset="-122"/>
                <a:cs typeface="IBM Plex Sans" pitchFamily="34" charset="-120"/>
              </a:rPr>
              <a:t>Further Reading</a:t>
            </a:r>
            <a:endParaRPr lang="en-US" sz="1300" dirty="0"/>
          </a:p>
        </p:txBody>
      </p:sp>
      <p:sp>
        <p:nvSpPr>
          <p:cNvPr id="34" name="Shape 32"/>
          <p:cNvSpPr/>
          <p:nvPr/>
        </p:nvSpPr>
        <p:spPr>
          <a:xfrm>
            <a:off x="4267128" y="4606906"/>
            <a:ext cx="2305032" cy="254000"/>
          </a:xfrm>
          <a:prstGeom prst="roundRect">
            <a:avLst>
              <a:gd name="adj" fmla="val 10000"/>
            </a:avLst>
          </a:prstGeom>
          <a:solidFill>
            <a:srgbClr val="C2571A"/>
          </a:solidFill>
          <a:ln/>
        </p:spPr>
        <p:txBody>
          <a:bodyPr/>
          <a:lstStyle/>
          <a:p>
            <a:endParaRPr lang="es-ES_tradnl"/>
          </a:p>
        </p:txBody>
      </p:sp>
      <p:sp>
        <p:nvSpPr>
          <p:cNvPr id="35" name="Shape 33"/>
          <p:cNvSpPr/>
          <p:nvPr/>
        </p:nvSpPr>
        <p:spPr>
          <a:xfrm>
            <a:off x="6870628" y="4606906"/>
            <a:ext cx="25346" cy="254000"/>
          </a:xfrm>
          <a:prstGeom prst="rect">
            <a:avLst/>
          </a:prstGeom>
          <a:solidFill>
            <a:srgbClr val="1B2A3A"/>
          </a:solidFill>
          <a:ln/>
        </p:spPr>
        <p:txBody>
          <a:bodyPr/>
          <a:lstStyle/>
          <a:p>
            <a:endParaRPr lang="es-ES_tradnl"/>
          </a:p>
        </p:txBody>
      </p:sp>
      <p:sp>
        <p:nvSpPr>
          <p:cNvPr id="36" name="Text 34"/>
          <p:cNvSpPr/>
          <p:nvPr/>
        </p:nvSpPr>
        <p:spPr>
          <a:xfrm>
            <a:off x="9626474" y="4618360"/>
            <a:ext cx="1805141"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A3A"/>
                </a:solidFill>
                <a:latin typeface="IBM Plex Sans" pitchFamily="34" charset="0"/>
                <a:ea typeface="IBM Plex Sans" pitchFamily="34" charset="-122"/>
                <a:cs typeface="IBM Plex Sans" pitchFamily="34" charset="-120"/>
              </a:rPr>
              <a:t>1,773 · short 227</a:t>
            </a:r>
            <a:endParaRPr lang="en-US" sz="1300" dirty="0"/>
          </a:p>
        </p:txBody>
      </p:sp>
      <p:sp>
        <p:nvSpPr>
          <p:cNvPr id="37" name="Text 35"/>
          <p:cNvSpPr/>
          <p:nvPr/>
        </p:nvSpPr>
        <p:spPr>
          <a:xfrm>
            <a:off x="713722" y="4948489"/>
            <a:ext cx="3401060" cy="256489"/>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1B2A3A"/>
                </a:solidFill>
                <a:latin typeface="IBM Plex Sans" pitchFamily="34" charset="0"/>
                <a:ea typeface="IBM Plex Sans" pitchFamily="34" charset="-122"/>
                <a:cs typeface="IBM Plex Sans" pitchFamily="34" charset="-120"/>
              </a:rPr>
              <a:t>Improvement/Modification</a:t>
            </a:r>
            <a:endParaRPr lang="en-US" sz="1300" dirty="0"/>
          </a:p>
        </p:txBody>
      </p:sp>
      <p:sp>
        <p:nvSpPr>
          <p:cNvPr id="38" name="Shape 36"/>
          <p:cNvSpPr/>
          <p:nvPr/>
        </p:nvSpPr>
        <p:spPr>
          <a:xfrm>
            <a:off x="4267128" y="4937032"/>
            <a:ext cx="1244564" cy="254000"/>
          </a:xfrm>
          <a:prstGeom prst="roundRect">
            <a:avLst>
              <a:gd name="adj" fmla="val 10000"/>
            </a:avLst>
          </a:prstGeom>
          <a:solidFill>
            <a:srgbClr val="C2571A"/>
          </a:solidFill>
          <a:ln/>
        </p:spPr>
        <p:txBody>
          <a:bodyPr/>
          <a:lstStyle/>
          <a:p>
            <a:endParaRPr lang="es-ES_tradnl"/>
          </a:p>
        </p:txBody>
      </p:sp>
      <p:sp>
        <p:nvSpPr>
          <p:cNvPr id="39" name="Shape 37"/>
          <p:cNvSpPr/>
          <p:nvPr/>
        </p:nvSpPr>
        <p:spPr>
          <a:xfrm>
            <a:off x="6870628" y="4937032"/>
            <a:ext cx="25346" cy="254000"/>
          </a:xfrm>
          <a:prstGeom prst="rect">
            <a:avLst/>
          </a:prstGeom>
          <a:solidFill>
            <a:srgbClr val="1B2A3A"/>
          </a:solidFill>
          <a:ln/>
        </p:spPr>
        <p:txBody>
          <a:bodyPr/>
          <a:lstStyle/>
          <a:p>
            <a:endParaRPr lang="es-ES_tradnl"/>
          </a:p>
        </p:txBody>
      </p:sp>
      <p:sp>
        <p:nvSpPr>
          <p:cNvPr id="40" name="Text 38"/>
          <p:cNvSpPr/>
          <p:nvPr/>
        </p:nvSpPr>
        <p:spPr>
          <a:xfrm>
            <a:off x="9626474" y="4948489"/>
            <a:ext cx="1805141" cy="2564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A3A"/>
                </a:solidFill>
                <a:latin typeface="IBM Plex Sans" pitchFamily="34" charset="0"/>
                <a:ea typeface="IBM Plex Sans" pitchFamily="34" charset="-122"/>
                <a:cs typeface="IBM Plex Sans" pitchFamily="34" charset="-120"/>
              </a:rPr>
              <a:t>956 · short 1,044</a:t>
            </a:r>
            <a:endParaRPr lang="en-US" sz="1300" dirty="0"/>
          </a:p>
        </p:txBody>
      </p:sp>
      <p:sp>
        <p:nvSpPr>
          <p:cNvPr id="41" name="Text 39"/>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7 · counts_ext.md, 22 Oct 2026 · the test sets take 390 per category and half (330 active, 30 reserve, 30 buffer)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4"/>
        </a:solidFill>
        <a:effectLst/>
      </p:bgPr>
    </p:bg>
    <p:spTree>
      <p:nvGrpSpPr>
        <p:cNvPr id="1" name=""/>
        <p:cNvGrpSpPr/>
        <p:nvPr/>
      </p:nvGrpSpPr>
      <p:grpSpPr>
        <a:xfrm>
          <a:off x="0" y="0"/>
          <a:ext cx="0" cy="0"/>
          <a:chOff x="0" y="0"/>
          <a:chExt cx="0" cy="0"/>
        </a:xfrm>
      </p:grpSpPr>
      <p:sp>
        <p:nvSpPr>
          <p:cNvPr id="2" name="Text 0"/>
          <p:cNvSpPr/>
          <p:nvPr/>
        </p:nvSpPr>
        <p:spPr>
          <a:xfrm>
            <a:off x="812782" y="812784"/>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A"/>
                </a:solidFill>
                <a:latin typeface="IBM Plex Sans" pitchFamily="34" charset="0"/>
                <a:ea typeface="IBM Plex Sans" pitchFamily="34" charset="-122"/>
                <a:cs typeface="IBM Plex Sans" pitchFamily="34" charset="-120"/>
              </a:rPr>
              <a:t>OUTPUT · A2 POOL SCHEMA</a:t>
            </a:r>
            <a:endParaRPr lang="en-US" sz="1200" dirty="0"/>
          </a:p>
        </p:txBody>
      </p:sp>
      <p:sp>
        <p:nvSpPr>
          <p:cNvPr id="3" name="Text 1"/>
          <p:cNvSpPr>
            <a:spLocks noGrp="1"/>
          </p:cNvSpPr>
          <p:nvPr>
            <p:ph type="title"/>
          </p:nvPr>
        </p:nvSpPr>
        <p:spPr>
          <a:xfrm>
            <a:off x="812782" y="1229320"/>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One record per instance, identifiers only</a:t>
            </a:r>
            <a:endParaRPr lang="en-US" sz="3200" dirty="0"/>
          </a:p>
        </p:txBody>
      </p:sp>
      <p:sp>
        <p:nvSpPr>
          <p:cNvPr id="4" name="Shape 2"/>
          <p:cNvSpPr/>
          <p:nvPr/>
        </p:nvSpPr>
        <p:spPr>
          <a:xfrm>
            <a:off x="815957" y="1882651"/>
            <a:ext cx="2520932" cy="2898143"/>
          </a:xfrm>
          <a:prstGeom prst="roundRect">
            <a:avLst>
              <a:gd name="adj" fmla="val 3904"/>
            </a:avLst>
          </a:prstGeom>
          <a:solidFill>
            <a:srgbClr val="FFFFFF"/>
          </a:solidFill>
          <a:ln w="6350">
            <a:solidFill>
              <a:srgbClr val="D3D9DF"/>
            </a:solidFill>
            <a:prstDash val="solid"/>
          </a:ln>
        </p:spPr>
        <p:txBody>
          <a:bodyPr/>
          <a:lstStyle/>
          <a:p>
            <a:endParaRPr lang="es-ES_tradnl"/>
          </a:p>
        </p:txBody>
      </p:sp>
      <p:sp>
        <p:nvSpPr>
          <p:cNvPr id="5" name="Text 3"/>
          <p:cNvSpPr/>
          <p:nvPr/>
        </p:nvSpPr>
        <p:spPr>
          <a:xfrm>
            <a:off x="1021683" y="2088375"/>
            <a:ext cx="2172765"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Identity</a:t>
            </a:r>
            <a:endParaRPr lang="en-US" sz="1500" dirty="0"/>
          </a:p>
        </p:txBody>
      </p:sp>
      <p:sp>
        <p:nvSpPr>
          <p:cNvPr id="6" name="Text 4"/>
          <p:cNvSpPr/>
          <p:nvPr/>
        </p:nvSpPr>
        <p:spPr>
          <a:xfrm>
            <a:off x="1021683" y="2405785"/>
            <a:ext cx="2172765" cy="1442785"/>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inst_key</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group_key</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source_team</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source_batch</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stratum</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prompt_version</a:t>
            </a:r>
            <a:endParaRPr lang="en-US" sz="1200" dirty="0"/>
          </a:p>
        </p:txBody>
      </p:sp>
      <p:sp>
        <p:nvSpPr>
          <p:cNvPr id="7" name="Text 5"/>
          <p:cNvSpPr/>
          <p:nvPr/>
        </p:nvSpPr>
        <p:spPr>
          <a:xfrm>
            <a:off x="1021683" y="3912015"/>
            <a:ext cx="2172765" cy="45222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Joins with A1; sampling by batch or stratum</a:t>
            </a:r>
            <a:endParaRPr lang="en-US" sz="1200" dirty="0"/>
          </a:p>
        </p:txBody>
      </p:sp>
      <p:sp>
        <p:nvSpPr>
          <p:cNvPr id="8" name="Shape 6"/>
          <p:cNvSpPr/>
          <p:nvPr/>
        </p:nvSpPr>
        <p:spPr>
          <a:xfrm>
            <a:off x="3495585" y="1882651"/>
            <a:ext cx="2521022" cy="2898143"/>
          </a:xfrm>
          <a:prstGeom prst="roundRect">
            <a:avLst>
              <a:gd name="adj" fmla="val 3904"/>
            </a:avLst>
          </a:prstGeom>
          <a:solidFill>
            <a:srgbClr val="FFFFFF"/>
          </a:solidFill>
          <a:ln w="6350">
            <a:solidFill>
              <a:srgbClr val="D3D9DF"/>
            </a:solidFill>
            <a:prstDash val="solid"/>
          </a:ln>
        </p:spPr>
        <p:txBody>
          <a:bodyPr/>
          <a:lstStyle/>
          <a:p>
            <a:endParaRPr lang="es-ES_tradnl"/>
          </a:p>
        </p:txBody>
      </p:sp>
      <p:sp>
        <p:nvSpPr>
          <p:cNvPr id="9" name="Text 7"/>
          <p:cNvSpPr/>
          <p:nvPr/>
        </p:nvSpPr>
        <p:spPr>
          <a:xfrm>
            <a:off x="3701310" y="2088375"/>
            <a:ext cx="2172858"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Judges and vote</a:t>
            </a:r>
            <a:endParaRPr lang="en-US" sz="1500" dirty="0"/>
          </a:p>
        </p:txBody>
      </p:sp>
      <p:sp>
        <p:nvSpPr>
          <p:cNvPr id="10" name="Text 8"/>
          <p:cNvSpPr/>
          <p:nvPr/>
        </p:nvSpPr>
        <p:spPr>
          <a:xfrm>
            <a:off x="3701310" y="2405785"/>
            <a:ext cx="2172858" cy="1679016"/>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judges[].labels</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votes</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primary_pre_label</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tied_labels</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high_confidence</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unanimous</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n_valid_judges</a:t>
            </a:r>
            <a:endParaRPr lang="en-US" sz="1200" dirty="0"/>
          </a:p>
        </p:txBody>
      </p:sp>
      <p:sp>
        <p:nvSpPr>
          <p:cNvPr id="11" name="Text 9"/>
          <p:cNvSpPr/>
          <p:nvPr/>
        </p:nvSpPr>
        <p:spPr>
          <a:xfrm>
            <a:off x="3701310" y="4148246"/>
            <a:ext cx="2172858" cy="45222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Pre-label shown in A3; strata for sampling</a:t>
            </a:r>
            <a:endParaRPr lang="en-US" sz="1200" dirty="0"/>
          </a:p>
        </p:txBody>
      </p:sp>
      <p:sp>
        <p:nvSpPr>
          <p:cNvPr id="12" name="Shape 10"/>
          <p:cNvSpPr/>
          <p:nvPr/>
        </p:nvSpPr>
        <p:spPr>
          <a:xfrm>
            <a:off x="6175303" y="1882651"/>
            <a:ext cx="2521022" cy="2898143"/>
          </a:xfrm>
          <a:prstGeom prst="roundRect">
            <a:avLst>
              <a:gd name="adj" fmla="val 3904"/>
            </a:avLst>
          </a:prstGeom>
          <a:solidFill>
            <a:srgbClr val="FFFFFF"/>
          </a:solidFill>
          <a:ln w="6350">
            <a:solidFill>
              <a:srgbClr val="D3D9DF"/>
            </a:solidFill>
            <a:prstDash val="solid"/>
          </a:ln>
        </p:spPr>
        <p:txBody>
          <a:bodyPr/>
          <a:lstStyle/>
          <a:p>
            <a:endParaRPr lang="es-ES_tradnl"/>
          </a:p>
        </p:txBody>
      </p:sp>
      <p:sp>
        <p:nvSpPr>
          <p:cNvPr id="13" name="Text 11"/>
          <p:cNvSpPr/>
          <p:nvPr/>
        </p:nvSpPr>
        <p:spPr>
          <a:xfrm>
            <a:off x="6381028" y="2088375"/>
            <a:ext cx="2172858"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Locators</a:t>
            </a:r>
            <a:endParaRPr lang="en-US" sz="1500" dirty="0"/>
          </a:p>
        </p:txBody>
      </p:sp>
      <p:sp>
        <p:nvSpPr>
          <p:cNvPr id="14" name="Text 12"/>
          <p:cNvSpPr/>
          <p:nvPr/>
        </p:nvSpPr>
        <p:spPr>
          <a:xfrm>
            <a:off x="6381028" y="2405785"/>
            <a:ext cx="2172858" cy="1442785"/>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citing_paper_id</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citing_para_idx</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marker_span</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cited_paper_id</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group_size</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top3[].chunk_key</a:t>
            </a:r>
            <a:endParaRPr lang="en-US" sz="1200" dirty="0"/>
          </a:p>
        </p:txBody>
      </p:sp>
      <p:sp>
        <p:nvSpPr>
          <p:cNvPr id="15" name="Text 13"/>
          <p:cNvSpPr/>
          <p:nvPr/>
        </p:nvSpPr>
        <p:spPr>
          <a:xfrm>
            <a:off x="6381028" y="3912015"/>
            <a:ext cx="2172858" cy="45222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Rebuild the text and the packages; split by citing paper</a:t>
            </a:r>
            <a:endParaRPr lang="en-US" sz="1200" dirty="0"/>
          </a:p>
        </p:txBody>
      </p:sp>
      <p:sp>
        <p:nvSpPr>
          <p:cNvPr id="16" name="Shape 14"/>
          <p:cNvSpPr/>
          <p:nvPr/>
        </p:nvSpPr>
        <p:spPr>
          <a:xfrm>
            <a:off x="8855021" y="1882651"/>
            <a:ext cx="2521022" cy="2898143"/>
          </a:xfrm>
          <a:prstGeom prst="roundRect">
            <a:avLst>
              <a:gd name="adj" fmla="val 3904"/>
            </a:avLst>
          </a:prstGeom>
          <a:solidFill>
            <a:srgbClr val="FFFFFF"/>
          </a:solidFill>
          <a:ln w="6350">
            <a:solidFill>
              <a:srgbClr val="D3D9DF"/>
            </a:solidFill>
            <a:prstDash val="solid"/>
          </a:ln>
        </p:spPr>
        <p:txBody>
          <a:bodyPr/>
          <a:lstStyle/>
          <a:p>
            <a:endParaRPr lang="es-ES_tradnl"/>
          </a:p>
        </p:txBody>
      </p:sp>
      <p:sp>
        <p:nvSpPr>
          <p:cNvPr id="17" name="Text 15"/>
          <p:cNvSpPr/>
          <p:nvPr/>
        </p:nvSpPr>
        <p:spPr>
          <a:xfrm>
            <a:off x="9060746" y="2088375"/>
            <a:ext cx="2172858" cy="25396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Flags</a:t>
            </a:r>
            <a:endParaRPr lang="en-US" sz="1500" dirty="0"/>
          </a:p>
        </p:txBody>
      </p:sp>
      <p:sp>
        <p:nvSpPr>
          <p:cNvPr id="18" name="Text 16"/>
          <p:cNvSpPr/>
          <p:nvPr/>
        </p:nvSpPr>
        <p:spPr>
          <a:xfrm>
            <a:off x="9060746" y="2405785"/>
            <a:ext cx="2172858" cy="970323"/>
          </a:xfrm>
          <a:prstGeom prst="rect">
            <a:avLst/>
          </a:prstGeom>
          <a:noFill/>
          <a:ln/>
        </p:spPr>
        <p:txBody>
          <a:bodyPr wrap="square" lIns="0" tIns="0" rIns="0" bIns="0" rtlCol="0" anchor="t">
            <a:normAutofit/>
          </a:bodyPr>
          <a:lstStyle/>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test_eligible</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citing_license</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cited_license</a:t>
            </a:r>
            <a:endParaRPr lang="en-US" sz="1200" dirty="0"/>
          </a:p>
          <a:p>
            <a:pPr marL="0" indent="0" algn="l">
              <a:lnSpc>
                <a:spcPts val="1860"/>
              </a:lnSpc>
              <a:buNone/>
            </a:pPr>
            <a:r>
              <a:rPr lang="en-US" sz="1200" dirty="0">
                <a:solidFill>
                  <a:srgbClr val="2F6DB5"/>
                </a:solidFill>
                <a:latin typeface="IBM Plex Mono" pitchFamily="49" charset="0"/>
                <a:ea typeface="IBM Plex Mono" pitchFamily="49" charset="-122"/>
                <a:cs typeface="IBM Plex Mono" pitchFamily="49" charset="-120"/>
              </a:rPr>
              <a:t>demo_eligible</a:t>
            </a:r>
            <a:endParaRPr lang="en-US" sz="1200" dirty="0"/>
          </a:p>
        </p:txBody>
      </p:sp>
      <p:sp>
        <p:nvSpPr>
          <p:cNvPr id="19" name="Text 17"/>
          <p:cNvSpPr/>
          <p:nvPr/>
        </p:nvSpPr>
        <p:spPr>
          <a:xfrm>
            <a:off x="9060746" y="3439554"/>
            <a:ext cx="2172858" cy="45222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Keep calibration papers out of the test sets; filter the demo</a:t>
            </a:r>
            <a:endParaRPr lang="en-US" sz="1200" dirty="0"/>
          </a:p>
        </p:txBody>
      </p:sp>
      <p:sp>
        <p:nvSpPr>
          <p:cNvPr id="20" name="Text 18"/>
          <p:cNvSpPr/>
          <p:nvPr/>
        </p:nvSpPr>
        <p:spPr>
          <a:xfrm>
            <a:off x="812782" y="4987097"/>
            <a:ext cx="10883429" cy="540796"/>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B2A3A"/>
                </a:solidFill>
                <a:latin typeface="IBM Plex Sans" pitchFamily="34" charset="0"/>
                <a:ea typeface="IBM Plex Sans" pitchFamily="34" charset="-122"/>
                <a:cs typeface="IBM Plex Sans" pitchFamily="34" charset="-120"/>
              </a:rPr>
              <a:t>Two pools:</a:t>
            </a:r>
            <a:r>
              <a:rPr lang="en-US" sz="1400" dirty="0">
                <a:solidFill>
                  <a:srgbClr val="4A5563"/>
                </a:solidFill>
                <a:latin typeface="IBM Plex Sans" pitchFamily="34" charset="0"/>
                <a:ea typeface="IBM Plex Sans" pitchFamily="34" charset="-122"/>
                <a:cs typeface="IBM Plex Sans" pitchFamily="34" charset="-120"/>
              </a:rPr>
              <a:t> pool_v11.1/ (29,336, round 1, frozen) and pool_v11.1_ext/ (38,780, round 2 and A4 training), each with prelabels_pool.jsonl, high_confidence_pool.jsonl, pool_summary.json and its counts. No context, title, abstract or chunk text.</a:t>
            </a:r>
            <a:endParaRPr lang="en-US" sz="1400" dirty="0"/>
          </a:p>
        </p:txBody>
      </p:sp>
      <p:sp>
        <p:nvSpPr>
          <p:cNvPr id="21" name="Text 19"/>
          <p:cNvSpPr/>
          <p:nvPr/>
        </p:nvSpPr>
        <p:spPr>
          <a:xfrm>
            <a:off x="812782" y="6238246"/>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8 · contract §4 · inst_key = citing_id | para_idx | span_start-span_end | cited_id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4"/>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A"/>
                </a:solidFill>
                <a:latin typeface="IBM Plex Sans" pitchFamily="34" charset="0"/>
                <a:ea typeface="IBM Plex Sans" pitchFamily="34" charset="-122"/>
                <a:cs typeface="IBM Plex Sans" pitchFamily="34" charset="-120"/>
              </a:rPr>
              <a:t>OUTPUT · A3 ANNOTATION RECORD</a:t>
            </a:r>
            <a:endParaRPr lang="en-US" sz="1200" dirty="0"/>
          </a:p>
        </p:txBody>
      </p:sp>
      <p:sp>
        <p:nvSpPr>
          <p:cNvPr id="3" name="Text 1"/>
          <p:cNvSpPr>
            <a:spLocks noGrp="1"/>
          </p:cNvSpPr>
          <p:nvPr>
            <p:ph type="title"/>
          </p:nvPr>
        </p:nvSpPr>
        <p:spPr>
          <a:xfrm>
            <a:off x="812782" y="1280189"/>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One record per annotator and package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992764"/>
          <a:ext cx="5864188" cy="2984139"/>
        </p:xfrm>
        <a:graphic>
          <a:graphicData uri="http://schemas.openxmlformats.org/drawingml/2006/table">
            <a:tbl>
              <a:tblPr/>
              <a:tblGrid>
                <a:gridCol w="2228392">
                  <a:extLst>
                    <a:ext uri="{9D8B030D-6E8A-4147-A177-3AD203B41FA5}">
                      <a16:colId xmlns:a16="http://schemas.microsoft.com/office/drawing/2014/main" val="20000"/>
                    </a:ext>
                  </a:extLst>
                </a:gridCol>
                <a:gridCol w="2345675">
                  <a:extLst>
                    <a:ext uri="{9D8B030D-6E8A-4147-A177-3AD203B41FA5}">
                      <a16:colId xmlns:a16="http://schemas.microsoft.com/office/drawing/2014/main" val="20001"/>
                    </a:ext>
                  </a:extLst>
                </a:gridCol>
                <a:gridCol w="1290121">
                  <a:extLst>
                    <a:ext uri="{9D8B030D-6E8A-4147-A177-3AD203B41FA5}">
                      <a16:colId xmlns:a16="http://schemas.microsoft.com/office/drawing/2014/main" val="20002"/>
                    </a:ext>
                  </a:extLst>
                </a:gridCol>
              </a:tblGrid>
              <a:tr h="331571">
                <a:tc>
                  <a:txBody>
                    <a:bodyPr/>
                    <a:lstStyle/>
                    <a:p>
                      <a:pPr marL="0" indent="0">
                        <a:lnSpc>
                          <a:spcPts val="1680"/>
                        </a:lnSpc>
                        <a:buNone/>
                      </a:pPr>
                      <a:r>
                        <a:rPr lang="en-US" sz="1200" b="1" dirty="0">
                          <a:solidFill>
                            <a:srgbClr val="1B2A3A"/>
                          </a:solidFill>
                          <a:latin typeface="IBM Plex Sans" pitchFamily="34" charset="0"/>
                          <a:ea typeface="IBM Plex Sans" pitchFamily="34" charset="-122"/>
                          <a:cs typeface="IBM Plex Sans" pitchFamily="34" charset="-120"/>
                        </a:rPr>
                        <a:t>Field</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1B2B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4"/>
                      </a:solidFill>
                      <a:prstDash val="solid"/>
                      <a:round/>
                      <a:headEnd type="none" w="med" len="med"/>
                      <a:tailEnd type="none" w="med" len="med"/>
                    </a:lnB>
                    <a:solidFill>
                      <a:srgbClr val="DDDFE2"/>
                    </a:solidFill>
                  </a:tcPr>
                </a:tc>
                <a:tc>
                  <a:txBody>
                    <a:bodyPr/>
                    <a:lstStyle/>
                    <a:p>
                      <a:pPr marL="0" indent="0">
                        <a:lnSpc>
                          <a:spcPts val="1680"/>
                        </a:lnSpc>
                        <a:buNone/>
                      </a:pPr>
                      <a:r>
                        <a:rPr lang="en-US" sz="1200" b="1" dirty="0">
                          <a:solidFill>
                            <a:srgbClr val="1B2A3A"/>
                          </a:solidFill>
                          <a:latin typeface="IBM Plex Sans" pitchFamily="34" charset="0"/>
                          <a:ea typeface="IBM Plex Sans" pitchFamily="34" charset="-122"/>
                          <a:cs typeface="IBM Plex Sans" pitchFamily="34" charset="-120"/>
                        </a:rPr>
                        <a:t>Values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1B2B4"/>
                      </a:solidFill>
                      <a:prstDash val="solid"/>
                      <a:round/>
                      <a:headEnd type="none" w="med" len="med"/>
                      <a:tailEnd type="none" w="med" len="med"/>
                    </a:lnL>
                    <a:lnR w="12700" cap="flat" cmpd="sng" algn="ctr">
                      <a:solidFill>
                        <a:srgbClr val="B1B2B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4"/>
                      </a:solidFill>
                      <a:prstDash val="solid"/>
                      <a:round/>
                      <a:headEnd type="none" w="med" len="med"/>
                      <a:tailEnd type="none" w="med" len="med"/>
                    </a:lnB>
                    <a:solidFill>
                      <a:srgbClr val="DDDFE2"/>
                    </a:solidFill>
                  </a:tcPr>
                </a:tc>
                <a:tc>
                  <a:txBody>
                    <a:bodyPr/>
                    <a:lstStyle/>
                    <a:p>
                      <a:pPr marL="0" indent="0">
                        <a:lnSpc>
                          <a:spcPts val="1680"/>
                        </a:lnSpc>
                        <a:buNone/>
                      </a:pPr>
                      <a:r>
                        <a:rPr lang="en-US" sz="1200" b="1" dirty="0">
                          <a:solidFill>
                            <a:srgbClr val="1B2A3A"/>
                          </a:solidFill>
                          <a:latin typeface="IBM Plex Sans" pitchFamily="34" charset="0"/>
                          <a:ea typeface="IBM Plex Sans" pitchFamily="34" charset="-122"/>
                          <a:cs typeface="IBM Plex Sans" pitchFamily="34" charset="-120"/>
                        </a:rPr>
                        <a:t>Filled by</a:t>
                      </a:r>
                      <a:endParaRPr lang="en-US" sz="1200" dirty="0">
                        <a:latin typeface="IBM Plex Sans" charset="0"/>
                        <a:ea typeface="IBM Plex Sans" charset="0"/>
                        <a:cs typeface="IBM Plex Sans" charset="0"/>
                      </a:endParaRPr>
                    </a:p>
                  </a:txBody>
                  <a:tcPr marL="53340" marR="53340" marT="53340" marB="53340">
                    <a:lnL w="12700" cap="flat" cmpd="sng" algn="ctr">
                      <a:solidFill>
                        <a:srgbClr val="B1B2B4"/>
                      </a:solidFill>
                      <a:prstDash val="solid"/>
                      <a:round/>
                      <a:headEnd type="none" w="med" len="med"/>
                      <a:tailEnd type="none" w="med" len="med"/>
                    </a:lnL>
                    <a:lnR w="12700" cap="flat" cmpd="sng" algn="ctr">
                      <a:solidFill>
                        <a:srgbClr val="B1B2B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4"/>
                      </a:solidFill>
                      <a:prstDash val="solid"/>
                      <a:round/>
                      <a:headEnd type="none" w="med" len="med"/>
                      <a:tailEnd type="none" w="med" len="med"/>
                    </a:lnB>
                    <a:solidFill>
                      <a:srgbClr val="DDDFE2"/>
                    </a:solidFill>
                  </a:tcPr>
                </a:tc>
                <a:extLst>
                  <a:ext uri="{0D108BD9-81ED-4DB2-BD59-A6C34878D82A}">
                    <a16:rowId xmlns:a16="http://schemas.microsoft.com/office/drawing/2014/main" val="10000"/>
                  </a:ext>
                </a:extLst>
              </a:tr>
              <a:tr h="331571">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package_id</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P0001…P6480</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pre-loaded</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1"/>
                  </a:ext>
                </a:extLst>
              </a:tr>
              <a:tr h="331571">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annotator_id</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G14-01, G15-02…</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pre-loaded</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2"/>
                  </a:ext>
                </a:extLst>
              </a:tr>
              <a:tr h="331571">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pre_label</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A2 pre-label, shown</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pre-loaded</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3"/>
                  </a:ext>
                </a:extLst>
              </a:tr>
              <a:tr h="331571">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primary_label</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C8C2BC"/>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2BC"/>
                      </a:solidFill>
                      <a:prstDash val="solid"/>
                      <a:round/>
                      <a:headEnd type="none" w="med" len="med"/>
                      <a:tailEnd type="none" w="med" len="med"/>
                    </a:lnB>
                    <a:solidFill>
                      <a:srgbClr val="FBF3EC"/>
                    </a:solidFill>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9 labels or unclear (required)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2BC"/>
                      </a:solidFill>
                      <a:prstDash val="solid"/>
                      <a:round/>
                      <a:headEnd type="none" w="med" len="med"/>
                      <a:tailEnd type="none" w="med" len="med"/>
                    </a:lnL>
                    <a:lnR w="12700" cap="flat" cmpd="sng" algn="ctr">
                      <a:solidFill>
                        <a:srgbClr val="C8C2BC"/>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2BC"/>
                      </a:solidFill>
                      <a:prstDash val="solid"/>
                      <a:round/>
                      <a:headEnd type="none" w="med" len="med"/>
                      <a:tailEnd type="none" w="med" len="med"/>
                    </a:lnB>
                    <a:solidFill>
                      <a:srgbClr val="FBF3EC"/>
                    </a:solidFill>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annotator</a:t>
                      </a:r>
                      <a:endParaRPr lang="en-US" sz="1200" dirty="0">
                        <a:latin typeface="IBM Plex Sans" charset="0"/>
                        <a:ea typeface="IBM Plex Sans" charset="0"/>
                        <a:cs typeface="IBM Plex Sans" charset="0"/>
                      </a:endParaRPr>
                    </a:p>
                  </a:txBody>
                  <a:tcPr marL="53340" marR="53340" marT="53340" marB="53340">
                    <a:lnL w="12700" cap="flat" cmpd="sng" algn="ctr">
                      <a:solidFill>
                        <a:srgbClr val="C8C2BC"/>
                      </a:solidFill>
                      <a:prstDash val="solid"/>
                      <a:round/>
                      <a:headEnd type="none" w="med" len="med"/>
                      <a:tailEnd type="none" w="med" len="med"/>
                    </a:lnL>
                    <a:lnR w="12700" cap="flat" cmpd="sng" algn="ctr">
                      <a:solidFill>
                        <a:srgbClr val="C8C2BC"/>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C2BC"/>
                      </a:solidFill>
                      <a:prstDash val="solid"/>
                      <a:round/>
                      <a:headEnd type="none" w="med" len="med"/>
                      <a:tailEnd type="none" w="med" len="med"/>
                    </a:lnB>
                    <a:solidFill>
                      <a:srgbClr val="FBF3EC"/>
                    </a:solidFill>
                  </a:tcPr>
                </a:tc>
                <a:extLst>
                  <a:ext uri="{0D108BD9-81ED-4DB2-BD59-A6C34878D82A}">
                    <a16:rowId xmlns:a16="http://schemas.microsoft.com/office/drawing/2014/main" val="10004"/>
                  </a:ext>
                </a:extLst>
              </a:tr>
              <a:tr h="331571">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secondary_labels</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2BC"/>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zero to two</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2BC"/>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annotator</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2BC"/>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5"/>
                  </a:ext>
                </a:extLst>
              </a:tr>
              <a:tr h="331571">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confidence</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Alta / Media / Baja</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annotator</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6"/>
                  </a:ext>
                </a:extLst>
              </a:tr>
              <a:tr h="331571">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notes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required if unclear</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annotator</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7"/>
                  </a:ext>
                </a:extLst>
              </a:tr>
              <a:tr h="331571">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guide_version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rev3.1</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nSpc>
                          <a:spcPts val="1680"/>
                        </a:lnSpc>
                        <a:buNone/>
                      </a:pPr>
                      <a:r>
                        <a:rPr lang="en-US" sz="1200" dirty="0">
                          <a:solidFill>
                            <a:srgbClr val="1B2A3A"/>
                          </a:solidFill>
                          <a:latin typeface="IBM Plex Sans" pitchFamily="34" charset="0"/>
                          <a:ea typeface="IBM Plex Sans" pitchFamily="34" charset="-122"/>
                          <a:cs typeface="IBM Plex Sans" pitchFamily="34" charset="-120"/>
                        </a:rPr>
                        <a:t>pre-loaded</a:t>
                      </a:r>
                      <a:endParaRPr lang="en-US" sz="1200" dirty="0">
                        <a:latin typeface="IBM Plex Sans" charset="0"/>
                        <a:ea typeface="IBM Plex Sans" charset="0"/>
                        <a:cs typeface="IBM Plex Sans" charset="0"/>
                      </a:endParaRPr>
                    </a:p>
                  </a:txBody>
                  <a:tcPr marL="53340" marR="53340" marT="53340" marB="53340">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812782" y="5078462"/>
            <a:ext cx="6052006" cy="45222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Computed after: pre_label_decision (confirma / corrige), inst_key, group_key, test_set, role, round, wave.</a:t>
            </a:r>
            <a:endParaRPr lang="en-US" sz="1200" dirty="0"/>
          </a:p>
        </p:txBody>
      </p:sp>
      <p:sp>
        <p:nvSpPr>
          <p:cNvPr id="6" name="Shape 3"/>
          <p:cNvSpPr/>
          <p:nvPr/>
        </p:nvSpPr>
        <p:spPr>
          <a:xfrm>
            <a:off x="6945691" y="1984394"/>
            <a:ext cx="4430352" cy="3517719"/>
          </a:xfrm>
          <a:prstGeom prst="roundRect">
            <a:avLst>
              <a:gd name="adj" fmla="val 2798"/>
            </a:avLst>
          </a:prstGeom>
          <a:solidFill>
            <a:srgbClr val="FFFFFF"/>
          </a:solidFill>
          <a:ln w="6350">
            <a:solidFill>
              <a:srgbClr val="D3D9DF"/>
            </a:solidFill>
            <a:prstDash val="solid"/>
          </a:ln>
        </p:spPr>
        <p:txBody>
          <a:bodyPr/>
          <a:lstStyle/>
          <a:p>
            <a:endParaRPr lang="es-ES_tradnl"/>
          </a:p>
        </p:txBody>
      </p:sp>
      <p:sp>
        <p:nvSpPr>
          <p:cNvPr id="7" name="Text 4"/>
          <p:cNvSpPr/>
          <p:nvPr/>
        </p:nvSpPr>
        <p:spPr>
          <a:xfrm>
            <a:off x="7202289" y="2240986"/>
            <a:ext cx="4034671" cy="26920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Deliverables, keys and labels only</a:t>
            </a:r>
            <a:endParaRPr lang="en-US" sz="1600" dirty="0"/>
          </a:p>
        </p:txBody>
      </p:sp>
      <p:sp>
        <p:nvSpPr>
          <p:cNvPr id="8" name="Text 5"/>
          <p:cNvSpPr/>
          <p:nvPr/>
        </p:nvSpPr>
        <p:spPr>
          <a:xfrm>
            <a:off x="7202289" y="2611797"/>
            <a:ext cx="4034671"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6DB5"/>
                </a:solidFill>
                <a:latin typeface="IBM Plex Mono" pitchFamily="49" charset="0"/>
                <a:ea typeface="IBM Plex Mono" pitchFamily="49" charset="-122"/>
                <a:cs typeface="IBM Plex Mono" pitchFamily="49" charset="-120"/>
              </a:rPr>
              <a:t>test_set_gold.jsonl</a:t>
            </a:r>
            <a:endParaRPr lang="en-US" sz="1200" dirty="0"/>
          </a:p>
        </p:txBody>
      </p:sp>
      <p:sp>
        <p:nvSpPr>
          <p:cNvPr id="9" name="Text 6"/>
          <p:cNvSpPr/>
          <p:nvPr/>
        </p:nvSpPr>
        <p:spPr>
          <a:xfrm>
            <a:off x="7202289" y="2952204"/>
            <a:ext cx="4034671" cy="45222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Gold label per instance, both annotations, adjudication, pre-label</a:t>
            </a:r>
            <a:endParaRPr lang="en-US" sz="1200" dirty="0"/>
          </a:p>
        </p:txBody>
      </p:sp>
      <p:sp>
        <p:nvSpPr>
          <p:cNvPr id="10" name="Text 7"/>
          <p:cNvSpPr/>
          <p:nvPr/>
        </p:nvSpPr>
        <p:spPr>
          <a:xfrm>
            <a:off x="7202289" y="3506025"/>
            <a:ext cx="4034671"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6DB5"/>
                </a:solidFill>
                <a:latin typeface="IBM Plex Mono" pitchFamily="49" charset="0"/>
                <a:ea typeface="IBM Plex Mono" pitchFamily="49" charset="-122"/>
                <a:cs typeface="IBM Plex Mono" pitchFamily="49" charset="-120"/>
              </a:rPr>
              <a:t>exclusion_list.jsonl</a:t>
            </a:r>
            <a:endParaRPr lang="en-US" sz="1200" dirty="0"/>
          </a:p>
        </p:txBody>
      </p:sp>
      <p:sp>
        <p:nvSpPr>
          <p:cNvPr id="11" name="Text 8"/>
          <p:cNvSpPr/>
          <p:nvPr/>
        </p:nvSpPr>
        <p:spPr>
          <a:xfrm>
            <a:off x="7202289" y="3846438"/>
            <a:ext cx="4034671" cy="45222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Per group: its own test set’s papers and the calibration papers</a:t>
            </a:r>
            <a:endParaRPr lang="en-US" sz="1200" dirty="0"/>
          </a:p>
        </p:txBody>
      </p:sp>
      <p:sp>
        <p:nvSpPr>
          <p:cNvPr id="12" name="Text 9"/>
          <p:cNvSpPr/>
          <p:nvPr/>
        </p:nvSpPr>
        <p:spPr>
          <a:xfrm>
            <a:off x="7202289" y="4400259"/>
            <a:ext cx="4034671"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6DB5"/>
                </a:solidFill>
                <a:latin typeface="IBM Plex Mono" pitchFamily="49" charset="0"/>
                <a:ea typeface="IBM Plex Mono" pitchFamily="49" charset="-122"/>
                <a:cs typeface="IBM Plex Mono" pitchFamily="49" charset="-120"/>
              </a:rPr>
              <a:t>iaa_report.md</a:t>
            </a:r>
            <a:endParaRPr lang="en-US" sz="1200" dirty="0"/>
          </a:p>
        </p:txBody>
      </p:sp>
      <p:sp>
        <p:nvSpPr>
          <p:cNvPr id="13" name="Text 10"/>
          <p:cNvSpPr/>
          <p:nvPr/>
        </p:nvSpPr>
        <p:spPr>
          <a:xfrm>
            <a:off x="7202289" y="4740672"/>
            <a:ext cx="4170578"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κ, α, correction rate per cell and annotator, unclear count</a:t>
            </a:r>
            <a:endParaRPr lang="en-US" sz="1200" dirty="0"/>
          </a:p>
        </p:txBody>
      </p:sp>
      <p:sp>
        <p:nvSpPr>
          <p:cNvPr id="14" name="Text 11"/>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9 · guide rev3.1 §7, contract §8 and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4"/>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A"/>
                </a:solidFill>
                <a:latin typeface="IBM Plex Sans" pitchFamily="34" charset="0"/>
                <a:ea typeface="IBM Plex Sans" pitchFamily="34" charset="-122"/>
                <a:cs typeface="IBM Plex Sans" pitchFamily="34" charset="-120"/>
              </a:rPr>
              <a:t>A3 · THE PROCESS</a:t>
            </a:r>
            <a:endParaRPr lang="en-US" sz="1200" dirty="0"/>
          </a:p>
        </p:txBody>
      </p:sp>
      <p:sp>
        <p:nvSpPr>
          <p:cNvPr id="3" name="Text 1"/>
          <p:cNvSpPr>
            <a:spLocks noGrp="1"/>
          </p:cNvSpPr>
          <p:nvPr>
            <p:ph type="title"/>
          </p:nvPr>
        </p:nvSpPr>
        <p:spPr>
          <a:xfrm>
            <a:off x="812782" y="1178539"/>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From the pool to two gold test sets</a:t>
            </a:r>
            <a:endParaRPr lang="en-US" sz="3200" dirty="0"/>
          </a:p>
        </p:txBody>
      </p:sp>
      <p:sp>
        <p:nvSpPr>
          <p:cNvPr id="4" name="Text 2"/>
          <p:cNvSpPr/>
          <p:nvPr/>
        </p:nvSpPr>
        <p:spPr>
          <a:xfrm>
            <a:off x="812782" y="1777907"/>
            <a:ext cx="4639739" cy="340410"/>
          </a:xfrm>
          <a:prstGeom prst="roundRect">
            <a:avLst>
              <a:gd name="adj" fmla="val 44770"/>
            </a:avLst>
          </a:prstGeom>
          <a:solidFill>
            <a:srgbClr val="DDE5EC"/>
          </a:solidFill>
          <a:ln/>
        </p:spPr>
        <p:txBody>
          <a:bodyPr wrap="none" lIns="0" tIns="0" rIns="0" bIns="0" rtlCol="0" anchor="ctr">
            <a:normAutofit/>
          </a:bodyPr>
          <a:lstStyle/>
          <a:p>
            <a:pPr marL="0" indent="0" algn="ctr">
              <a:lnSpc>
                <a:spcPts val="1680"/>
              </a:lnSpc>
              <a:buNone/>
            </a:pPr>
            <a:r>
              <a:rPr lang="en-US" sz="1200" dirty="0">
                <a:solidFill>
                  <a:srgbClr val="1B2A3A"/>
                </a:solidFill>
                <a:latin typeface="IBM Plex Sans" pitchFamily="34" charset="0"/>
                <a:ea typeface="IBM Plex Sans" pitchFamily="34" charset="-122"/>
                <a:cs typeface="IBM Plex Sans" pitchFamily="34" charset="-120"/>
              </a:rPr>
              <a:t>Gate passed 18 Oct: calib2, 16 of 16 cross-group pairs at κ ≥ 0.6</a:t>
            </a:r>
            <a:endParaRPr lang="en-US" sz="1200" dirty="0"/>
          </a:p>
        </p:txBody>
      </p:sp>
      <p:sp>
        <p:nvSpPr>
          <p:cNvPr id="5" name="Shape 3"/>
          <p:cNvSpPr/>
          <p:nvPr/>
        </p:nvSpPr>
        <p:spPr>
          <a:xfrm>
            <a:off x="815957" y="2380543"/>
            <a:ext cx="3228001" cy="838272"/>
          </a:xfrm>
          <a:prstGeom prst="roundRect">
            <a:avLst>
              <a:gd name="adj" fmla="val 11741"/>
            </a:avLst>
          </a:prstGeom>
          <a:solidFill>
            <a:srgbClr val="FFFFFF"/>
          </a:solidFill>
          <a:ln w="6350">
            <a:solidFill>
              <a:srgbClr val="D3D9DF"/>
            </a:solidFill>
            <a:prstDash val="solid"/>
          </a:ln>
        </p:spPr>
        <p:txBody>
          <a:bodyPr/>
          <a:lstStyle/>
          <a:p>
            <a:endParaRPr lang="es-ES_tradnl"/>
          </a:p>
        </p:txBody>
      </p:sp>
      <p:sp>
        <p:nvSpPr>
          <p:cNvPr id="6" name="Text 4"/>
          <p:cNvSpPr/>
          <p:nvPr/>
        </p:nvSpPr>
        <p:spPr>
          <a:xfrm>
            <a:off x="996337" y="2560923"/>
            <a:ext cx="2953259"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F6DB5"/>
                </a:solidFill>
                <a:latin typeface="IBM Plex Sans" pitchFamily="34" charset="0"/>
                <a:ea typeface="IBM Plex Sans" pitchFamily="34" charset="-122"/>
                <a:cs typeface="IBM Plex Sans" pitchFamily="34" charset="-120"/>
              </a:rPr>
              <a:t>1 · Filter the pool</a:t>
            </a:r>
            <a:endParaRPr lang="en-US" sz="1400" dirty="0"/>
          </a:p>
        </p:txBody>
      </p:sp>
      <p:sp>
        <p:nvSpPr>
          <p:cNvPr id="7" name="Text 5"/>
          <p:cNvSpPr/>
          <p:nvPr/>
        </p:nvSpPr>
        <p:spPr>
          <a:xfrm>
            <a:off x="996337" y="2825024"/>
            <a:ext cx="2953259"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high_confidence and test_eligible only</a:t>
            </a:r>
            <a:endParaRPr lang="en-US" sz="1200" dirty="0"/>
          </a:p>
        </p:txBody>
      </p:sp>
      <p:pic>
        <p:nvPicPr>
          <p:cNvPr id="8" name="Image 0" descr="arrow-right"/>
          <p:cNvPicPr>
            <a:picLocks noChangeAspect="1"/>
          </p:cNvPicPr>
          <p:nvPr/>
        </p:nvPicPr>
        <p:blipFill>
          <a:blip r:embed="rId3"/>
          <a:srcRect l="-8" r="-8"/>
          <a:stretch/>
        </p:blipFill>
        <p:spPr>
          <a:xfrm>
            <a:off x="4123260" y="2723462"/>
            <a:ext cx="279346" cy="152346"/>
          </a:xfrm>
          <a:prstGeom prst="rect">
            <a:avLst/>
          </a:prstGeom>
        </p:spPr>
      </p:pic>
      <p:sp>
        <p:nvSpPr>
          <p:cNvPr id="9" name="Shape 6"/>
          <p:cNvSpPr/>
          <p:nvPr/>
        </p:nvSpPr>
        <p:spPr>
          <a:xfrm>
            <a:off x="4481909" y="2273840"/>
            <a:ext cx="3228091" cy="1051683"/>
          </a:xfrm>
          <a:prstGeom prst="roundRect">
            <a:avLst>
              <a:gd name="adj" fmla="val 9359"/>
            </a:avLst>
          </a:prstGeom>
          <a:solidFill>
            <a:srgbClr val="FFFFFF"/>
          </a:solidFill>
          <a:ln w="6350">
            <a:solidFill>
              <a:srgbClr val="D3D9DF"/>
            </a:solidFill>
            <a:prstDash val="solid"/>
          </a:ln>
        </p:spPr>
        <p:txBody>
          <a:bodyPr/>
          <a:lstStyle/>
          <a:p>
            <a:endParaRPr lang="es-ES_tradnl"/>
          </a:p>
        </p:txBody>
      </p:sp>
      <p:sp>
        <p:nvSpPr>
          <p:cNvPr id="10" name="Text 7"/>
          <p:cNvSpPr/>
          <p:nvPr/>
        </p:nvSpPr>
        <p:spPr>
          <a:xfrm>
            <a:off x="4662289" y="2454219"/>
            <a:ext cx="295335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F6DB5"/>
                </a:solidFill>
                <a:latin typeface="IBM Plex Sans" pitchFamily="34" charset="0"/>
                <a:ea typeface="IBM Plex Sans" pitchFamily="34" charset="-122"/>
                <a:cs typeface="IBM Plex Sans" pitchFamily="34" charset="-120"/>
              </a:rPr>
              <a:t>2 · Split by citing paper</a:t>
            </a:r>
            <a:endParaRPr lang="en-US" sz="1400" dirty="0"/>
          </a:p>
        </p:txBody>
      </p:sp>
      <p:sp>
        <p:nvSpPr>
          <p:cNvPr id="11" name="Text 8"/>
          <p:cNvSpPr/>
          <p:nvPr/>
        </p:nvSpPr>
        <p:spPr>
          <a:xfrm>
            <a:off x="4662289" y="2718321"/>
            <a:ext cx="2953352" cy="45222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sha256 of seed and citing_id: half A, half B</a:t>
            </a:r>
            <a:endParaRPr lang="en-US" sz="1200" dirty="0"/>
          </a:p>
        </p:txBody>
      </p:sp>
      <p:pic>
        <p:nvPicPr>
          <p:cNvPr id="12" name="Image 1" descr="arrow-right"/>
          <p:cNvPicPr>
            <a:picLocks noChangeAspect="1"/>
          </p:cNvPicPr>
          <p:nvPr/>
        </p:nvPicPr>
        <p:blipFill>
          <a:blip r:embed="rId3"/>
          <a:srcRect l="-8" r="-8"/>
          <a:stretch/>
        </p:blipFill>
        <p:spPr>
          <a:xfrm>
            <a:off x="7789303" y="2723462"/>
            <a:ext cx="279346" cy="152346"/>
          </a:xfrm>
          <a:prstGeom prst="rect">
            <a:avLst/>
          </a:prstGeom>
        </p:spPr>
      </p:pic>
      <p:sp>
        <p:nvSpPr>
          <p:cNvPr id="13" name="Shape 9"/>
          <p:cNvSpPr/>
          <p:nvPr/>
        </p:nvSpPr>
        <p:spPr>
          <a:xfrm>
            <a:off x="8147951" y="2273840"/>
            <a:ext cx="3228091" cy="1051683"/>
          </a:xfrm>
          <a:prstGeom prst="roundRect">
            <a:avLst>
              <a:gd name="adj" fmla="val 9359"/>
            </a:avLst>
          </a:prstGeom>
          <a:solidFill>
            <a:srgbClr val="FFFFFF"/>
          </a:solidFill>
          <a:ln w="6350">
            <a:solidFill>
              <a:srgbClr val="D3D9DF"/>
            </a:solidFill>
            <a:prstDash val="solid"/>
          </a:ln>
        </p:spPr>
        <p:txBody>
          <a:bodyPr/>
          <a:lstStyle/>
          <a:p>
            <a:endParaRPr lang="es-ES_tradnl"/>
          </a:p>
        </p:txBody>
      </p:sp>
      <p:sp>
        <p:nvSpPr>
          <p:cNvPr id="14" name="Text 10"/>
          <p:cNvSpPr/>
          <p:nvPr/>
        </p:nvSpPr>
        <p:spPr>
          <a:xfrm>
            <a:off x="8328331" y="2454219"/>
            <a:ext cx="295335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F6DB5"/>
                </a:solidFill>
                <a:latin typeface="IBM Plex Sans" pitchFamily="34" charset="0"/>
                <a:ea typeface="IBM Plex Sans" pitchFamily="34" charset="-122"/>
                <a:cs typeface="IBM Plex Sans" pitchFamily="34" charset="-120"/>
              </a:rPr>
              <a:t>3 · Stratified sample</a:t>
            </a:r>
            <a:endParaRPr lang="en-US" sz="1400" dirty="0"/>
          </a:p>
        </p:txBody>
      </p:sp>
      <p:sp>
        <p:nvSpPr>
          <p:cNvPr id="15" name="Text 11"/>
          <p:cNvSpPr/>
          <p:nvPr/>
        </p:nvSpPr>
        <p:spPr>
          <a:xfrm>
            <a:off x="8328331" y="2718321"/>
            <a:ext cx="2953352" cy="45222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Per cell: 330 active, 30 reserve, then a 30 buffer</a:t>
            </a:r>
            <a:endParaRPr lang="en-US" sz="1200" dirty="0"/>
          </a:p>
        </p:txBody>
      </p:sp>
      <p:sp>
        <p:nvSpPr>
          <p:cNvPr id="16" name="Shape 12"/>
          <p:cNvSpPr/>
          <p:nvPr/>
        </p:nvSpPr>
        <p:spPr>
          <a:xfrm>
            <a:off x="815957" y="3489989"/>
            <a:ext cx="3224212" cy="1051683"/>
          </a:xfrm>
          <a:prstGeom prst="roundRect">
            <a:avLst>
              <a:gd name="adj" fmla="val 9359"/>
            </a:avLst>
          </a:prstGeom>
          <a:solidFill>
            <a:srgbClr val="FFFFFF"/>
          </a:solidFill>
          <a:ln w="6350">
            <a:solidFill>
              <a:srgbClr val="D3D9DF"/>
            </a:solidFill>
            <a:prstDash val="solid"/>
          </a:ln>
        </p:spPr>
        <p:txBody>
          <a:bodyPr/>
          <a:lstStyle/>
          <a:p>
            <a:endParaRPr lang="es-ES_tradnl"/>
          </a:p>
        </p:txBody>
      </p:sp>
      <p:sp>
        <p:nvSpPr>
          <p:cNvPr id="17" name="Text 13"/>
          <p:cNvSpPr/>
          <p:nvPr/>
        </p:nvSpPr>
        <p:spPr>
          <a:xfrm>
            <a:off x="996337" y="3670368"/>
            <a:ext cx="294935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F6DB5"/>
                </a:solidFill>
                <a:latin typeface="IBM Plex Sans" pitchFamily="34" charset="0"/>
                <a:ea typeface="IBM Plex Sans" pitchFamily="34" charset="-122"/>
                <a:cs typeface="IBM Plex Sans" pitchFamily="34" charset="-120"/>
              </a:rPr>
              <a:t>4 · Frozen packages</a:t>
            </a:r>
            <a:endParaRPr lang="en-US" sz="1400" dirty="0"/>
          </a:p>
        </p:txBody>
      </p:sp>
      <p:sp>
        <p:nvSpPr>
          <p:cNvPr id="18" name="Text 14"/>
          <p:cNvSpPr/>
          <p:nvPr/>
        </p:nvSpPr>
        <p:spPr>
          <a:xfrm>
            <a:off x="996337" y="3934470"/>
            <a:ext cx="2949357" cy="45222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Batches of 55, categories mixed, released in waves</a:t>
            </a:r>
            <a:endParaRPr lang="en-US" sz="1200" dirty="0"/>
          </a:p>
        </p:txBody>
      </p:sp>
      <p:pic>
        <p:nvPicPr>
          <p:cNvPr id="19" name="Image 2" descr="arrow-right"/>
          <p:cNvPicPr>
            <a:picLocks noChangeAspect="1"/>
          </p:cNvPicPr>
          <p:nvPr/>
        </p:nvPicPr>
        <p:blipFill>
          <a:blip r:embed="rId3"/>
          <a:srcRect l="-8" r="-8"/>
          <a:stretch/>
        </p:blipFill>
        <p:spPr>
          <a:xfrm>
            <a:off x="4119472" y="3939611"/>
            <a:ext cx="279346" cy="152346"/>
          </a:xfrm>
          <a:prstGeom prst="rect">
            <a:avLst/>
          </a:prstGeom>
        </p:spPr>
      </p:pic>
      <p:sp>
        <p:nvSpPr>
          <p:cNvPr id="20" name="Shape 15"/>
          <p:cNvSpPr/>
          <p:nvPr/>
        </p:nvSpPr>
        <p:spPr>
          <a:xfrm>
            <a:off x="4481296" y="3487390"/>
            <a:ext cx="3229408" cy="1056878"/>
          </a:xfrm>
          <a:prstGeom prst="roundRect">
            <a:avLst>
              <a:gd name="adj" fmla="val 9012"/>
            </a:avLst>
          </a:prstGeom>
          <a:solidFill>
            <a:srgbClr val="FFFFFF"/>
          </a:solidFill>
          <a:ln w="12700">
            <a:solidFill>
              <a:srgbClr val="B4501A"/>
            </a:solidFill>
            <a:prstDash val="solid"/>
          </a:ln>
        </p:spPr>
        <p:txBody>
          <a:bodyPr/>
          <a:lstStyle/>
          <a:p>
            <a:endParaRPr lang="es-ES_tradnl"/>
          </a:p>
        </p:txBody>
      </p:sp>
      <p:sp>
        <p:nvSpPr>
          <p:cNvPr id="21" name="Text 16"/>
          <p:cNvSpPr/>
          <p:nvPr/>
        </p:nvSpPr>
        <p:spPr>
          <a:xfrm>
            <a:off x="4664273" y="3670368"/>
            <a:ext cx="294935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B4501A"/>
                </a:solidFill>
                <a:latin typeface="IBM Plex Sans" pitchFamily="34" charset="0"/>
                <a:ea typeface="IBM Plex Sans" pitchFamily="34" charset="-122"/>
                <a:cs typeface="IBM Plex Sans" pitchFamily="34" charset="-120"/>
              </a:rPr>
              <a:t>5 · Confirm or correct</a:t>
            </a:r>
            <a:endParaRPr lang="en-US" sz="1400" dirty="0"/>
          </a:p>
        </p:txBody>
      </p:sp>
      <p:sp>
        <p:nvSpPr>
          <p:cNvPr id="22" name="Text 17"/>
          <p:cNvSpPr/>
          <p:nvPr/>
        </p:nvSpPr>
        <p:spPr>
          <a:xfrm>
            <a:off x="4664273" y="3934470"/>
            <a:ext cx="2949357" cy="45222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Two annotators, one per group, pre-label shown, alone</a:t>
            </a:r>
            <a:endParaRPr lang="en-US" sz="1200" dirty="0"/>
          </a:p>
        </p:txBody>
      </p:sp>
      <p:pic>
        <p:nvPicPr>
          <p:cNvPr id="23" name="Image 3" descr="arrow-right"/>
          <p:cNvPicPr>
            <a:picLocks noChangeAspect="1"/>
          </p:cNvPicPr>
          <p:nvPr/>
        </p:nvPicPr>
        <p:blipFill>
          <a:blip r:embed="rId3"/>
          <a:srcRect l="-8" r="-8"/>
          <a:stretch/>
        </p:blipFill>
        <p:spPr>
          <a:xfrm>
            <a:off x="7793182" y="3939611"/>
            <a:ext cx="279346" cy="152346"/>
          </a:xfrm>
          <a:prstGeom prst="rect">
            <a:avLst/>
          </a:prstGeom>
        </p:spPr>
      </p:pic>
      <p:sp>
        <p:nvSpPr>
          <p:cNvPr id="24" name="Shape 18"/>
          <p:cNvSpPr/>
          <p:nvPr/>
        </p:nvSpPr>
        <p:spPr>
          <a:xfrm>
            <a:off x="8151830" y="3489989"/>
            <a:ext cx="3224212" cy="1051683"/>
          </a:xfrm>
          <a:prstGeom prst="roundRect">
            <a:avLst>
              <a:gd name="adj" fmla="val 9359"/>
            </a:avLst>
          </a:prstGeom>
          <a:solidFill>
            <a:srgbClr val="FFFFFF"/>
          </a:solidFill>
          <a:ln w="6350">
            <a:solidFill>
              <a:srgbClr val="D3D9DF"/>
            </a:solidFill>
            <a:prstDash val="solid"/>
          </a:ln>
        </p:spPr>
        <p:txBody>
          <a:bodyPr/>
          <a:lstStyle/>
          <a:p>
            <a:endParaRPr lang="es-ES_tradnl"/>
          </a:p>
        </p:txBody>
      </p:sp>
      <p:sp>
        <p:nvSpPr>
          <p:cNvPr id="25" name="Text 19"/>
          <p:cNvSpPr/>
          <p:nvPr/>
        </p:nvSpPr>
        <p:spPr>
          <a:xfrm>
            <a:off x="8332210" y="3670368"/>
            <a:ext cx="294935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F6DB5"/>
                </a:solidFill>
                <a:latin typeface="IBM Plex Sans" pitchFamily="34" charset="0"/>
                <a:ea typeface="IBM Plex Sans" pitchFamily="34" charset="-122"/>
                <a:cs typeface="IBM Plex Sans" pitchFamily="34" charset="-120"/>
              </a:rPr>
              <a:t>6 · κ, adjudication, top-up</a:t>
            </a:r>
            <a:endParaRPr lang="en-US" sz="1400" dirty="0"/>
          </a:p>
        </p:txBody>
      </p:sp>
      <p:sp>
        <p:nvSpPr>
          <p:cNvPr id="26" name="Text 20"/>
          <p:cNvSpPr/>
          <p:nvPr/>
        </p:nvSpPr>
        <p:spPr>
          <a:xfrm>
            <a:off x="8332210" y="3934470"/>
            <a:ext cx="2949357" cy="45222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Agree: gold. Disagree: a pair per package decides</a:t>
            </a:r>
            <a:endParaRPr lang="en-US" sz="1200" dirty="0"/>
          </a:p>
        </p:txBody>
      </p:sp>
      <p:sp>
        <p:nvSpPr>
          <p:cNvPr id="27" name="Text 21"/>
          <p:cNvSpPr/>
          <p:nvPr/>
        </p:nvSpPr>
        <p:spPr>
          <a:xfrm>
            <a:off x="812782" y="4702969"/>
            <a:ext cx="10566436" cy="870960"/>
          </a:xfrm>
          <a:prstGeom prst="roundRect">
            <a:avLst>
              <a:gd name="adj" fmla="val 11665"/>
            </a:avLst>
          </a:prstGeom>
          <a:solidFill>
            <a:srgbClr val="1B2A3A"/>
          </a:solidFill>
          <a:ln/>
        </p:spPr>
        <p:txBody>
          <a:bodyPr wrap="square" lIns="198806" tIns="148042" rIns="0" bIns="122606" rtlCol="0" anchor="t">
            <a:normAutofit/>
          </a:bodyPr>
          <a:lstStyle/>
          <a:p>
            <a:pPr marL="0" indent="0" algn="l">
              <a:lnSpc>
                <a:spcPts val="2030"/>
              </a:lnSpc>
              <a:buNone/>
            </a:pPr>
            <a:r>
              <a:rPr lang="en-US" sz="1400" b="1" dirty="0">
                <a:solidFill>
                  <a:srgbClr val="F7F5F0"/>
                </a:solidFill>
                <a:latin typeface="IBM Plex Sans" pitchFamily="34" charset="0"/>
                <a:ea typeface="IBM Plex Sans" pitchFamily="34" charset="-122"/>
                <a:cs typeface="IBM Plex Sans" pitchFamily="34" charset="-120"/>
              </a:rPr>
              <a:t>Two rounds:</a:t>
            </a:r>
            <a:r>
              <a:rPr lang="en-US" sz="1400" dirty="0">
                <a:solidFill>
                  <a:srgbClr val="F7F5F0"/>
                </a:solidFill>
                <a:latin typeface="IBM Plex Sans" pitchFamily="34" charset="0"/>
                <a:ea typeface="IBM Plex Sans" pitchFamily="34" charset="-122"/>
                <a:cs typeface="IBM Plex Sans" pitchFamily="34" charset="-120"/>
              </a:rPr>
              <a:t> round 1, six categories from pool_v11.1; round 2, Basis, Improvement/Modification and Further Reading from the extended pool, with every limit counted over both.</a:t>
            </a:r>
            <a:endParaRPr lang="en-US" sz="1400" dirty="0"/>
          </a:p>
        </p:txBody>
      </p:sp>
      <p:sp>
        <p:nvSpPr>
          <p:cNvPr id="28" name="Text 22"/>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10 · ≤ 2 instances per citing paper and 1 per citation group in each test set · contract §6, §7, §9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1F4"/>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A"/>
                </a:solidFill>
                <a:latin typeface="IBM Plex Sans" pitchFamily="34" charset="0"/>
                <a:ea typeface="IBM Plex Sans" pitchFamily="34" charset="-122"/>
                <a:cs typeface="IBM Plex Sans" pitchFamily="34" charset="-120"/>
              </a:rPr>
              <a:t>A3 · ONE ANNOTATION, ONE STEP</a:t>
            </a:r>
            <a:endParaRPr lang="en-US" sz="1200" dirty="0"/>
          </a:p>
        </p:txBody>
      </p:sp>
      <p:sp>
        <p:nvSpPr>
          <p:cNvPr id="3" name="Text 1"/>
          <p:cNvSpPr>
            <a:spLocks noGrp="1"/>
          </p:cNvSpPr>
          <p:nvPr>
            <p:ph type="title"/>
          </p:nvPr>
        </p:nvSpPr>
        <p:spPr>
          <a:xfrm>
            <a:off x="812782" y="1280189"/>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What the annotator sees and does</a:t>
            </a:r>
            <a:endParaRPr lang="en-US" sz="3200" dirty="0"/>
          </a:p>
        </p:txBody>
      </p:sp>
      <p:sp>
        <p:nvSpPr>
          <p:cNvPr id="4" name="Shape 2"/>
          <p:cNvSpPr/>
          <p:nvPr/>
        </p:nvSpPr>
        <p:spPr>
          <a:xfrm>
            <a:off x="815957" y="1984394"/>
            <a:ext cx="5358768" cy="2726675"/>
          </a:xfrm>
          <a:prstGeom prst="roundRect">
            <a:avLst>
              <a:gd name="adj" fmla="val 3610"/>
            </a:avLst>
          </a:prstGeom>
          <a:solidFill>
            <a:srgbClr val="FFFFFF"/>
          </a:solidFill>
          <a:ln w="6350">
            <a:solidFill>
              <a:srgbClr val="D3D9DF"/>
            </a:solidFill>
            <a:prstDash val="solid"/>
          </a:ln>
        </p:spPr>
        <p:txBody>
          <a:bodyPr/>
          <a:lstStyle/>
          <a:p>
            <a:endParaRPr lang="es-ES_tradnl"/>
          </a:p>
        </p:txBody>
      </p:sp>
      <p:sp>
        <p:nvSpPr>
          <p:cNvPr id="5" name="Text 3"/>
          <p:cNvSpPr/>
          <p:nvPr/>
        </p:nvSpPr>
        <p:spPr>
          <a:xfrm>
            <a:off x="1021683" y="2190117"/>
            <a:ext cx="5095737" cy="23881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A6573"/>
                </a:solidFill>
                <a:latin typeface="IBM Plex Sans" pitchFamily="34" charset="0"/>
                <a:ea typeface="IBM Plex Sans" pitchFamily="34" charset="-122"/>
                <a:cs typeface="IBM Plex Sans" pitchFamily="34" charset="-120"/>
              </a:rPr>
              <a:t>PACKAGE P0417 · 3 co-cited</a:t>
            </a:r>
            <a:endParaRPr lang="en-US" sz="1200" dirty="0"/>
          </a:p>
        </p:txBody>
      </p:sp>
      <p:sp>
        <p:nvSpPr>
          <p:cNvPr id="6" name="Text 4"/>
          <p:cNvSpPr/>
          <p:nvPr/>
        </p:nvSpPr>
        <p:spPr>
          <a:xfrm>
            <a:off x="1021683" y="2505087"/>
            <a:ext cx="5095737" cy="46737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3"/>
                </a:solidFill>
                <a:latin typeface="IBM Plex Sans" pitchFamily="34" charset="0"/>
                <a:ea typeface="IBM Plex Sans" pitchFamily="34" charset="-122"/>
                <a:cs typeface="IBM Plex Sans" pitchFamily="34" charset="-120"/>
              </a:rPr>
              <a:t>Citing paragraph … </a:t>
            </a:r>
            <a:r>
              <a:rPr lang="en-US" sz="1200" b="1" dirty="0">
                <a:solidFill>
                  <a:srgbClr val="1B2A3A"/>
                </a:solidFill>
                <a:latin typeface="IBM Plex Sans" pitchFamily="34" charset="0"/>
                <a:ea typeface="IBM Plex Sans" pitchFamily="34" charset="-122"/>
                <a:cs typeface="IBM Plex Sans" pitchFamily="34" charset="-120"/>
              </a:rPr>
              <a:t>Existing trackers [[TARGET]], [CITE] drift over long sequences.</a:t>
            </a:r>
            <a:r>
              <a:rPr lang="en-US" sz="1200" dirty="0">
                <a:solidFill>
                  <a:srgbClr val="4A5563"/>
                </a:solidFill>
                <a:latin typeface="IBM Plex Sans" pitchFamily="34" charset="0"/>
                <a:ea typeface="IBM Plex Sans" pitchFamily="34" charset="-122"/>
                <a:cs typeface="IBM Plex Sans" pitchFamily="34" charset="-120"/>
              </a:rPr>
              <a:t> …</a:t>
            </a:r>
            <a:endParaRPr lang="en-US" sz="1200" dirty="0"/>
          </a:p>
        </p:txBody>
      </p:sp>
      <p:sp>
        <p:nvSpPr>
          <p:cNvPr id="7" name="Text 5"/>
          <p:cNvSpPr/>
          <p:nvPr/>
        </p:nvSpPr>
        <p:spPr>
          <a:xfrm>
            <a:off x="1021683" y="3048626"/>
            <a:ext cx="5095737" cy="246387"/>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1B2A3A"/>
                </a:solidFill>
                <a:latin typeface="IBM Plex Sans" pitchFamily="34" charset="0"/>
                <a:ea typeface="IBM Plex Sans" pitchFamily="34" charset="-122"/>
                <a:cs typeface="IBM Plex Sans" pitchFamily="34" charset="-120"/>
              </a:rPr>
              <a:t>Cited paper:</a:t>
            </a:r>
            <a:r>
              <a:rPr lang="en-US" sz="1200" dirty="0">
                <a:solidFill>
                  <a:srgbClr val="4A5563"/>
                </a:solidFill>
                <a:latin typeface="IBM Plex Sans" pitchFamily="34" charset="0"/>
                <a:ea typeface="IBM Plex Sans" pitchFamily="34" charset="-122"/>
                <a:cs typeface="IBM Plex Sans" pitchFamily="34" charset="-120"/>
              </a:rPr>
              <a:t> title and abstract</a:t>
            </a:r>
            <a:endParaRPr lang="en-US" sz="1200" dirty="0"/>
          </a:p>
        </p:txBody>
      </p:sp>
      <p:sp>
        <p:nvSpPr>
          <p:cNvPr id="8" name="Text 6"/>
          <p:cNvSpPr/>
          <p:nvPr/>
        </p:nvSpPr>
        <p:spPr>
          <a:xfrm>
            <a:off x="1021683" y="3371180"/>
            <a:ext cx="4947317" cy="365666"/>
          </a:xfrm>
          <a:prstGeom prst="roundRect">
            <a:avLst>
              <a:gd name="adj" fmla="val 13892"/>
            </a:avLst>
          </a:prstGeom>
          <a:solidFill>
            <a:srgbClr val="EEF1F4"/>
          </a:solidFill>
          <a:ln/>
        </p:spPr>
        <p:txBody>
          <a:bodyPr wrap="square" lIns="86721" tIns="61321" rIns="0" bIns="35921" rtlCol="0" anchor="t">
            <a:normAutofit/>
          </a:bodyPr>
          <a:lstStyle/>
          <a:p>
            <a:pPr marL="0" indent="0" algn="l">
              <a:lnSpc>
                <a:spcPts val="1680"/>
              </a:lnSpc>
              <a:buNone/>
            </a:pPr>
            <a:r>
              <a:rPr lang="en-US" sz="1200" dirty="0">
                <a:solidFill>
                  <a:srgbClr val="1B2A3A"/>
                </a:solidFill>
                <a:latin typeface="IBM Plex Sans" pitchFamily="34" charset="0"/>
                <a:ea typeface="IBM Plex Sans" pitchFamily="34" charset="-122"/>
                <a:cs typeface="IBM Plex Sans" pitchFamily="34" charset="-120"/>
              </a:rPr>
              <a:t>▸ Top-3 chunks with sections (collapsed; one click)</a:t>
            </a:r>
            <a:endParaRPr lang="en-US" sz="1200" dirty="0"/>
          </a:p>
        </p:txBody>
      </p:sp>
      <p:sp>
        <p:nvSpPr>
          <p:cNvPr id="9" name="Text 7"/>
          <p:cNvSpPr/>
          <p:nvPr/>
        </p:nvSpPr>
        <p:spPr>
          <a:xfrm>
            <a:off x="1021683" y="3844181"/>
            <a:ext cx="1213084" cy="340410"/>
          </a:xfrm>
          <a:prstGeom prst="roundRect">
            <a:avLst>
              <a:gd name="adj" fmla="val 44770"/>
            </a:avLst>
          </a:prstGeom>
          <a:solidFill>
            <a:srgbClr val="FBE3D3"/>
          </a:solidFill>
          <a:ln/>
        </p:spPr>
        <p:txBody>
          <a:bodyPr wrap="none" lIns="0" tIns="0" rIns="0" bIns="0" rtlCol="0" anchor="ctr">
            <a:normAutofit/>
          </a:bodyPr>
          <a:lstStyle/>
          <a:p>
            <a:pPr marL="0" indent="0" algn="ctr">
              <a:lnSpc>
                <a:spcPts val="1680"/>
              </a:lnSpc>
              <a:buNone/>
            </a:pPr>
            <a:r>
              <a:rPr lang="en-US" sz="1200" dirty="0">
                <a:solidFill>
                  <a:srgbClr val="1B2A3A"/>
                </a:solidFill>
                <a:latin typeface="IBM Plex Sans" pitchFamily="34" charset="0"/>
                <a:ea typeface="IBM Plex Sans" pitchFamily="34" charset="-122"/>
                <a:cs typeface="IBM Plex Sans" pitchFamily="34" charset="-120"/>
              </a:rPr>
              <a:t>Pre-label: Gap</a:t>
            </a:r>
            <a:endParaRPr lang="en-US" sz="1200" dirty="0"/>
          </a:p>
        </p:txBody>
      </p:sp>
      <p:sp>
        <p:nvSpPr>
          <p:cNvPr id="10" name="Text 8"/>
          <p:cNvSpPr/>
          <p:nvPr/>
        </p:nvSpPr>
        <p:spPr>
          <a:xfrm>
            <a:off x="2339506" y="3841583"/>
            <a:ext cx="1632744" cy="345606"/>
          </a:xfrm>
          <a:prstGeom prst="roundRect">
            <a:avLst>
              <a:gd name="adj" fmla="val 13780"/>
            </a:avLst>
          </a:prstGeom>
          <a:solidFill>
            <a:srgbClr val="FFFFFF"/>
          </a:solidFill>
          <a:ln w="6350">
            <a:solidFill>
              <a:srgbClr val="8A96A3"/>
            </a:solidFill>
            <a:prstDash val="solid"/>
          </a:ln>
        </p:spPr>
        <p:txBody>
          <a:bodyPr wrap="none" lIns="0" tIns="0" rIns="0" bIns="0" rtlCol="0" anchor="ctr">
            <a:normAutofit/>
          </a:bodyPr>
          <a:lstStyle/>
          <a:p>
            <a:pPr marL="0" indent="0" algn="ctr">
              <a:lnSpc>
                <a:spcPts val="1680"/>
              </a:lnSpc>
              <a:buNone/>
            </a:pPr>
            <a:r>
              <a:rPr lang="en-US" sz="1200" dirty="0">
                <a:solidFill>
                  <a:srgbClr val="1B2A3A"/>
                </a:solidFill>
                <a:latin typeface="IBM Plex Sans" pitchFamily="34" charset="0"/>
                <a:ea typeface="IBM Plex Sans" pitchFamily="34" charset="-122"/>
                <a:cs typeface="IBM Plex Sans" pitchFamily="34" charset="-120"/>
              </a:rPr>
              <a:t>primary_label: Gap ▾</a:t>
            </a:r>
            <a:endParaRPr lang="en-US" sz="1200" dirty="0"/>
          </a:p>
        </p:txBody>
      </p:sp>
      <p:sp>
        <p:nvSpPr>
          <p:cNvPr id="11" name="Text 9"/>
          <p:cNvSpPr/>
          <p:nvPr/>
        </p:nvSpPr>
        <p:spPr>
          <a:xfrm>
            <a:off x="1021683" y="4291930"/>
            <a:ext cx="5095737"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 secondary, confidence, notes</a:t>
            </a:r>
            <a:endParaRPr lang="en-US" sz="1200" dirty="0"/>
          </a:p>
        </p:txBody>
      </p:sp>
      <p:sp>
        <p:nvSpPr>
          <p:cNvPr id="12" name="Text 10"/>
          <p:cNvSpPr/>
          <p:nvPr/>
        </p:nvSpPr>
        <p:spPr>
          <a:xfrm>
            <a:off x="6431900" y="1981219"/>
            <a:ext cx="355582" cy="416592"/>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501A"/>
                </a:solidFill>
                <a:latin typeface="Source Serif 4" pitchFamily="18" charset="0"/>
                <a:ea typeface="Source Serif 4" pitchFamily="18" charset="-122"/>
                <a:cs typeface="Source Serif 4" pitchFamily="18" charset="-120"/>
              </a:rPr>
              <a:t>1</a:t>
            </a:r>
            <a:endParaRPr lang="en-US" sz="2200" dirty="0"/>
          </a:p>
        </p:txBody>
      </p:sp>
      <p:sp>
        <p:nvSpPr>
          <p:cNvPr id="13" name="Text 11"/>
          <p:cNvSpPr/>
          <p:nvPr/>
        </p:nvSpPr>
        <p:spPr>
          <a:xfrm>
            <a:off x="6838246" y="1981219"/>
            <a:ext cx="5353754" cy="41659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A3A"/>
                </a:solidFill>
                <a:latin typeface="IBM Plex Sans" pitchFamily="34" charset="0"/>
                <a:ea typeface="IBM Plex Sans" pitchFamily="34" charset="-122"/>
                <a:cs typeface="IBM Plex Sans" pitchFamily="34" charset="-120"/>
              </a:rPr>
              <a:t>Read the target’s sentence and decide what it does (R0)</a:t>
            </a:r>
            <a:endParaRPr lang="en-US" sz="1400" dirty="0"/>
          </a:p>
        </p:txBody>
      </p:sp>
      <p:sp>
        <p:nvSpPr>
          <p:cNvPr id="14" name="Text 12"/>
          <p:cNvSpPr/>
          <p:nvPr/>
        </p:nvSpPr>
        <p:spPr>
          <a:xfrm>
            <a:off x="6431900" y="2499407"/>
            <a:ext cx="355582" cy="523117"/>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501A"/>
                </a:solidFill>
                <a:latin typeface="Source Serif 4" pitchFamily="18" charset="0"/>
                <a:ea typeface="Source Serif 4" pitchFamily="18" charset="-122"/>
                <a:cs typeface="Source Serif 4" pitchFamily="18" charset="-120"/>
              </a:rPr>
              <a:t>2</a:t>
            </a:r>
            <a:endParaRPr lang="en-US" sz="2200" dirty="0"/>
          </a:p>
        </p:txBody>
      </p:sp>
      <p:sp>
        <p:nvSpPr>
          <p:cNvPr id="15" name="Text 13"/>
          <p:cNvSpPr/>
          <p:nvPr/>
        </p:nvSpPr>
        <p:spPr>
          <a:xfrm>
            <a:off x="6838246" y="2499407"/>
            <a:ext cx="4677200"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A3A"/>
                </a:solidFill>
                <a:latin typeface="IBM Plex Sans" pitchFamily="34" charset="0"/>
                <a:ea typeface="IBM Plex Sans" pitchFamily="34" charset="-122"/>
                <a:cs typeface="IBM Plex Sans" pitchFamily="34" charset="-120"/>
              </a:rPr>
              <a:t>Compare with the pre-label: confirm it, or correct it citing the rule</a:t>
            </a:r>
            <a:endParaRPr lang="en-US" sz="1400" dirty="0"/>
          </a:p>
        </p:txBody>
      </p:sp>
      <p:sp>
        <p:nvSpPr>
          <p:cNvPr id="16" name="Text 14"/>
          <p:cNvSpPr/>
          <p:nvPr/>
        </p:nvSpPr>
        <p:spPr>
          <a:xfrm>
            <a:off x="6431900" y="3124126"/>
            <a:ext cx="355582" cy="523117"/>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4501A"/>
                </a:solidFill>
                <a:latin typeface="Source Serif 4" pitchFamily="18" charset="0"/>
                <a:ea typeface="Source Serif 4" pitchFamily="18" charset="-122"/>
                <a:cs typeface="Source Serif 4" pitchFamily="18" charset="-120"/>
              </a:rPr>
              <a:t>3</a:t>
            </a:r>
            <a:endParaRPr lang="en-US" sz="2200" dirty="0"/>
          </a:p>
        </p:txBody>
      </p:sp>
      <p:sp>
        <p:nvSpPr>
          <p:cNvPr id="17" name="Text 15"/>
          <p:cNvSpPr/>
          <p:nvPr/>
        </p:nvSpPr>
        <p:spPr>
          <a:xfrm>
            <a:off x="6838246" y="3124126"/>
            <a:ext cx="4677200"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A3A"/>
                </a:solidFill>
                <a:latin typeface="IBM Plex Sans" pitchFamily="34" charset="0"/>
                <a:ea typeface="IBM Plex Sans" pitchFamily="34" charset="-122"/>
                <a:cs typeface="IBM Plex Sans" pitchFamily="34" charset="-120"/>
              </a:rPr>
              <a:t>Open the chunks when the cited paper decides it: Gap vs Evidence, Application vs IM</a:t>
            </a:r>
            <a:endParaRPr lang="en-US" sz="1400" dirty="0"/>
          </a:p>
        </p:txBody>
      </p:sp>
      <p:sp>
        <p:nvSpPr>
          <p:cNvPr id="18" name="Text 16"/>
          <p:cNvSpPr/>
          <p:nvPr/>
        </p:nvSpPr>
        <p:spPr>
          <a:xfrm>
            <a:off x="6431900" y="3748844"/>
            <a:ext cx="5095737" cy="46737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3"/>
                </a:solidFill>
                <a:latin typeface="IBM Plex Sans" pitchFamily="34" charset="0"/>
                <a:ea typeface="IBM Plex Sans" pitchFamily="34" charset="-122"/>
                <a:cs typeface="IBM Plex Sans" pitchFamily="34" charset="-120"/>
              </a:rPr>
              <a:t>Never shown: judges’ votes, test set, citing paper. The report gives κ together with the correction rate.</a:t>
            </a:r>
            <a:endParaRPr lang="en-US" sz="1200" dirty="0"/>
          </a:p>
        </p:txBody>
      </p:sp>
      <p:sp>
        <p:nvSpPr>
          <p:cNvPr id="19" name="Text 17"/>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11 · one Google Sheet per annotator and batch · measured 1.6 min per package in wave 1 · guide rev3.1 §2, §4, §8</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34391"/>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B4501A"/>
                </a:solidFill>
                <a:latin typeface="IBM Plex Sans" pitchFamily="34" charset="0"/>
                <a:ea typeface="IBM Plex Sans" pitchFamily="34" charset="-122"/>
                <a:cs typeface="IBM Plex Sans" pitchFamily="34" charset="-120"/>
              </a:rPr>
              <a:t>A3 · ROUNDS AND WAVES</a:t>
            </a:r>
            <a:endParaRPr lang="en-US" sz="1196" dirty="0"/>
          </a:p>
        </p:txBody>
      </p:sp>
      <p:sp>
        <p:nvSpPr>
          <p:cNvPr id="3" name="Text 1"/>
          <p:cNvSpPr>
            <a:spLocks noGrp="1"/>
          </p:cNvSpPr>
          <p:nvPr>
            <p:ph type="title"/>
          </p:nvPr>
        </p:nvSpPr>
        <p:spPr>
          <a:xfrm>
            <a:off x="812782" y="1275767"/>
            <a:ext cx="10883429" cy="462955"/>
          </a:xfrm>
          <a:prstGeom prst="rect">
            <a:avLst/>
          </a:prstGeom>
          <a:noFill/>
          <a:ln/>
        </p:spPr>
        <p:txBody>
          <a:bodyPr wrap="square" lIns="0" tIns="0" rIns="0" bIns="0" rtlCol="0" anchor="t">
            <a:normAutofit/>
          </a:bodyPr>
          <a:lstStyle/>
          <a:p>
            <a:pPr marL="0" indent="0" algn="l">
              <a:lnSpc>
                <a:spcPts val="3465"/>
              </a:lnSpc>
              <a:buNone/>
            </a:pPr>
            <a:r>
              <a:rPr lang="en-US" sz="3150" b="1" i="0" dirty="0">
                <a:solidFill>
                  <a:srgbClr val="1B2A3A"/>
                </a:solidFill>
                <a:latin typeface="Source Serif 4" pitchFamily="18" charset="0"/>
                <a:ea typeface="Source Serif 4" pitchFamily="18" charset="-122"/>
                <a:cs typeface="Source Serif 4" pitchFamily="18" charset="-120"/>
              </a:rPr>
              <a:t>Two rounds, released in waves</a:t>
            </a:r>
            <a:endParaRPr lang="en-US" sz="3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978867"/>
          <a:ext cx="10554800" cy="2454131"/>
        </p:xfrm>
        <a:graphic>
          <a:graphicData uri="http://schemas.openxmlformats.org/drawingml/2006/table">
            <a:tbl>
              <a:tblPr/>
              <a:tblGrid>
                <a:gridCol w="949932">
                  <a:extLst>
                    <a:ext uri="{9D8B030D-6E8A-4147-A177-3AD203B41FA5}">
                      <a16:colId xmlns:a16="http://schemas.microsoft.com/office/drawing/2014/main" val="20000"/>
                    </a:ext>
                  </a:extLst>
                </a:gridCol>
                <a:gridCol w="844384">
                  <a:extLst>
                    <a:ext uri="{9D8B030D-6E8A-4147-A177-3AD203B41FA5}">
                      <a16:colId xmlns:a16="http://schemas.microsoft.com/office/drawing/2014/main" val="20001"/>
                    </a:ext>
                  </a:extLst>
                </a:gridCol>
                <a:gridCol w="4538564">
                  <a:extLst>
                    <a:ext uri="{9D8B030D-6E8A-4147-A177-3AD203B41FA5}">
                      <a16:colId xmlns:a16="http://schemas.microsoft.com/office/drawing/2014/main" val="20002"/>
                    </a:ext>
                  </a:extLst>
                </a:gridCol>
                <a:gridCol w="1055480">
                  <a:extLst>
                    <a:ext uri="{9D8B030D-6E8A-4147-A177-3AD203B41FA5}">
                      <a16:colId xmlns:a16="http://schemas.microsoft.com/office/drawing/2014/main" val="20003"/>
                    </a:ext>
                  </a:extLst>
                </a:gridCol>
                <a:gridCol w="3166440">
                  <a:extLst>
                    <a:ext uri="{9D8B030D-6E8A-4147-A177-3AD203B41FA5}">
                      <a16:colId xmlns:a16="http://schemas.microsoft.com/office/drawing/2014/main" val="20004"/>
                    </a:ext>
                  </a:extLst>
                </a:gridCol>
              </a:tblGrid>
              <a:tr h="350513">
                <a:tc>
                  <a:txBody>
                    <a:bodyPr/>
                    <a:lstStyle/>
                    <a:p>
                      <a:pPr marL="0" indent="0">
                        <a:lnSpc>
                          <a:spcPts val="1780"/>
                        </a:lnSpc>
                        <a:buNone/>
                      </a:pPr>
                      <a:r>
                        <a:rPr lang="en-US" sz="1272" b="1" dirty="0">
                          <a:solidFill>
                            <a:srgbClr val="1B2A3A"/>
                          </a:solidFill>
                          <a:latin typeface="IBM Plex Sans" pitchFamily="34" charset="0"/>
                          <a:ea typeface="IBM Plex Sans" pitchFamily="34" charset="-122"/>
                          <a:cs typeface="IBM Plex Sans" pitchFamily="34" charset="-120"/>
                        </a:rPr>
                        <a:t>Round</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780"/>
                        </a:lnSpc>
                        <a:buNone/>
                      </a:pPr>
                      <a:r>
                        <a:rPr lang="en-US" sz="1272" b="1" dirty="0">
                          <a:solidFill>
                            <a:srgbClr val="1B2A3A"/>
                          </a:solidFill>
                          <a:latin typeface="IBM Plex Sans" pitchFamily="34" charset="0"/>
                          <a:ea typeface="IBM Plex Sans" pitchFamily="34" charset="-122"/>
                          <a:cs typeface="IBM Plex Sans" pitchFamily="34" charset="-120"/>
                        </a:rPr>
                        <a:t>Wave</a:t>
                      </a:r>
                      <a:endParaRPr lang="en-US" sz="1272" dirty="0">
                        <a:latin typeface="IBM Plex Sans" charset="0"/>
                        <a:ea typeface="IBM Plex Sans" charset="0"/>
                        <a:cs typeface="IBM Plex Sans" charset="0"/>
                      </a:endParaRPr>
                    </a:p>
                  </a:txBody>
                  <a:tcPr marL="56521" marR="56521" marT="56521" marB="56521">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780"/>
                        </a:lnSpc>
                        <a:buNone/>
                      </a:pPr>
                      <a:r>
                        <a:rPr lang="en-US" sz="1272" b="1" dirty="0">
                          <a:solidFill>
                            <a:srgbClr val="1B2A3A"/>
                          </a:solidFill>
                          <a:latin typeface="IBM Plex Sans" pitchFamily="34" charset="0"/>
                          <a:ea typeface="IBM Plex Sans" pitchFamily="34" charset="-122"/>
                          <a:cs typeface="IBM Plex Sans" pitchFamily="34" charset="-120"/>
                        </a:rPr>
                        <a:t>Batches</a:t>
                      </a:r>
                      <a:endParaRPr lang="en-US" sz="1272" dirty="0">
                        <a:latin typeface="IBM Plex Sans" charset="0"/>
                        <a:ea typeface="IBM Plex Sans" charset="0"/>
                        <a:cs typeface="IBM Plex Sans" charset="0"/>
                      </a:endParaRPr>
                    </a:p>
                  </a:txBody>
                  <a:tcPr marL="56521" marR="56521" marT="56521" marB="56521">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gn="r">
                        <a:lnSpc>
                          <a:spcPts val="1780"/>
                        </a:lnSpc>
                        <a:buNone/>
                      </a:pPr>
                      <a:r>
                        <a:rPr lang="en-US" sz="1272" b="1" dirty="0">
                          <a:solidFill>
                            <a:srgbClr val="1B2A3A"/>
                          </a:solidFill>
                          <a:latin typeface="IBM Plex Sans" pitchFamily="34" charset="0"/>
                          <a:ea typeface="IBM Plex Sans" pitchFamily="34" charset="-122"/>
                          <a:cs typeface="IBM Plex Sans" pitchFamily="34" charset="-120"/>
                        </a:rPr>
                        <a:t>Sheets</a:t>
                      </a:r>
                      <a:endParaRPr lang="en-US" sz="1272" dirty="0">
                        <a:latin typeface="IBM Plex Sans" charset="0"/>
                        <a:ea typeface="IBM Plex Sans" charset="0"/>
                        <a:cs typeface="IBM Plex Sans" charset="0"/>
                      </a:endParaRPr>
                    </a:p>
                  </a:txBody>
                  <a:tcPr marL="56521" marR="56521" marT="56521" marB="56521">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780"/>
                        </a:lnSpc>
                        <a:buNone/>
                      </a:pPr>
                      <a:r>
                        <a:rPr lang="en-US" sz="1272" b="1" dirty="0">
                          <a:solidFill>
                            <a:srgbClr val="1B2A3A"/>
                          </a:solidFill>
                          <a:latin typeface="IBM Plex Sans" pitchFamily="34" charset="0"/>
                          <a:ea typeface="IBM Plex Sans" pitchFamily="34" charset="-122"/>
                          <a:cs typeface="IBM Plex Sans" pitchFamily="34" charset="-120"/>
                        </a:rPr>
                        <a:t>Status</a:t>
                      </a:r>
                      <a:endParaRPr lang="en-US" sz="1272" dirty="0">
                        <a:latin typeface="IBM Plex Sans" charset="0"/>
                        <a:ea typeface="IBM Plex Sans" charset="0"/>
                        <a:cs typeface="IBM Plex Sans" charset="0"/>
                      </a:endParaRPr>
                    </a:p>
                  </a:txBody>
                  <a:tcPr marL="56521" marR="56521" marT="56521" marB="56521">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350603">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1</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1</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8 (4 per set)</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780"/>
                        </a:lnSpc>
                        <a:buNone/>
                      </a:pPr>
                      <a:r>
                        <a:rPr lang="en-US" sz="1272" dirty="0">
                          <a:solidFill>
                            <a:srgbClr val="1B2A3A"/>
                          </a:solidFill>
                          <a:latin typeface="IBM Plex Sans" pitchFamily="34" charset="0"/>
                          <a:ea typeface="IBM Plex Sans" pitchFamily="34" charset="-122"/>
                          <a:cs typeface="IBM Plex Sans" pitchFamily="34" charset="-120"/>
                        </a:rPr>
                        <a:t>16</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Complete 21 Oct</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50603">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1</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2</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64</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780"/>
                        </a:lnSpc>
                        <a:buNone/>
                      </a:pPr>
                      <a:r>
                        <a:rPr lang="en-US" sz="1272" dirty="0">
                          <a:solidFill>
                            <a:srgbClr val="1B2A3A"/>
                          </a:solidFill>
                          <a:latin typeface="IBM Plex Sans" pitchFamily="34" charset="0"/>
                          <a:ea typeface="IBM Plex Sans" pitchFamily="34" charset="-122"/>
                          <a:cs typeface="IBM Plex Sans" pitchFamily="34" charset="-120"/>
                        </a:rPr>
                        <a:t>128</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Shared 19 Oct · due 26 Oct</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350603">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2</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1</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8 (4 per set)</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r">
                        <a:lnSpc>
                          <a:spcPts val="1780"/>
                        </a:lnSpc>
                        <a:buNone/>
                      </a:pPr>
                      <a:r>
                        <a:rPr lang="en-US" sz="1272" dirty="0">
                          <a:solidFill>
                            <a:srgbClr val="1B2A3A"/>
                          </a:solidFill>
                          <a:latin typeface="IBM Plex Sans" pitchFamily="34" charset="0"/>
                          <a:ea typeface="IBM Plex Sans" pitchFamily="34" charset="-122"/>
                          <a:cs typeface="IBM Plex Sans" pitchFamily="34" charset="-120"/>
                        </a:rPr>
                        <a:t>16</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Proposed 26 Oct</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3"/>
                  </a:ext>
                </a:extLst>
              </a:tr>
              <a:tr h="350603">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2</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2</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24 (12 per set)</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r">
                        <a:lnSpc>
                          <a:spcPts val="1780"/>
                        </a:lnSpc>
                        <a:buNone/>
                      </a:pPr>
                      <a:r>
                        <a:rPr lang="en-US" sz="1272" dirty="0">
                          <a:solidFill>
                            <a:srgbClr val="1B2A3A"/>
                          </a:solidFill>
                          <a:latin typeface="IBM Plex Sans" pitchFamily="34" charset="0"/>
                          <a:ea typeface="IBM Plex Sans" pitchFamily="34" charset="-122"/>
                          <a:cs typeface="IBM Plex Sans" pitchFamily="34" charset="-120"/>
                        </a:rPr>
                        <a:t>48</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Proposed 28 Oct</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4"/>
                  </a:ext>
                </a:extLst>
              </a:tr>
              <a:tr h="350603">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2</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3</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4 (2 per set) + round-1 top-up, batched together</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r">
                        <a:lnSpc>
                          <a:spcPts val="1780"/>
                        </a:lnSpc>
                        <a:buNone/>
                      </a:pPr>
                      <a:r>
                        <a:rPr lang="en-US" sz="1272" dirty="0">
                          <a:solidFill>
                            <a:srgbClr val="1B2A3A"/>
                          </a:solidFill>
                          <a:latin typeface="IBM Plex Sans" pitchFamily="34" charset="0"/>
                          <a:ea typeface="IBM Plex Sans" pitchFamily="34" charset="-122"/>
                          <a:cs typeface="IBM Plex Sans" pitchFamily="34" charset="-120"/>
                        </a:rPr>
                        <a:t>≈ 8+</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After round-1 adjudication</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5"/>
                  </a:ext>
                </a:extLst>
              </a:tr>
              <a:tr h="350603">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2</a:t>
                      </a:r>
                      <a:endParaRPr lang="en-US" sz="1272" dirty="0">
                        <a:latin typeface="IBM Plex Sans" charset="0"/>
                        <a:ea typeface="IBM Plex Sans" charset="0"/>
                        <a:cs typeface="IBM Plex Sans" charset="0"/>
                      </a:endParaRPr>
                    </a:p>
                  </a:txBody>
                  <a:tcPr marL="56521" marR="56521" marT="56521" marB="56521">
                    <a:lnL w="12700" cap="flat" cmpd="sng" algn="ctr">
                      <a:solidFill>
                        <a:srgbClr val="C5C4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4</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Round-2 top-up</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gn="r">
                        <a:lnSpc>
                          <a:spcPts val="1780"/>
                        </a:lnSpc>
                        <a:buNone/>
                      </a:pPr>
                      <a:r>
                        <a:rPr lang="en-US" sz="1272" dirty="0">
                          <a:solidFill>
                            <a:srgbClr val="1B2A3A"/>
                          </a:solidFill>
                          <a:latin typeface="IBM Plex Sans" pitchFamily="34" charset="0"/>
                          <a:ea typeface="IBM Plex Sans" pitchFamily="34" charset="-122"/>
                          <a:cs typeface="IBM Plex Sans" pitchFamily="34" charset="-120"/>
                        </a:rPr>
                        <a:t>—</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780"/>
                        </a:lnSpc>
                        <a:buNone/>
                      </a:pPr>
                      <a:r>
                        <a:rPr lang="en-US" sz="1272" dirty="0">
                          <a:solidFill>
                            <a:srgbClr val="1B2A3A"/>
                          </a:solidFill>
                          <a:latin typeface="IBM Plex Sans" pitchFamily="34" charset="0"/>
                          <a:ea typeface="IBM Plex Sans" pitchFamily="34" charset="-122"/>
                          <a:cs typeface="IBM Plex Sans" pitchFamily="34" charset="-120"/>
                        </a:rPr>
                        <a:t>After round-2 adjudication</a:t>
                      </a:r>
                      <a:endParaRPr lang="en-US" sz="1272" dirty="0">
                        <a:latin typeface="IBM Plex Sans" charset="0"/>
                        <a:ea typeface="IBM Plex Sans" charset="0"/>
                        <a:cs typeface="IBM Plex Sans" charset="0"/>
                      </a:endParaRPr>
                    </a:p>
                  </a:txBody>
                  <a:tcPr marL="56521" marR="56521" marT="56521" marB="56521">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6"/>
                  </a:ext>
                </a:extLst>
              </a:tr>
            </a:tbl>
          </a:graphicData>
        </a:graphic>
      </p:graphicFrame>
      <p:sp>
        <p:nvSpPr>
          <p:cNvPr id="5" name="Shape 2"/>
          <p:cNvSpPr/>
          <p:nvPr/>
        </p:nvSpPr>
        <p:spPr>
          <a:xfrm>
            <a:off x="815957" y="4690176"/>
            <a:ext cx="3380347" cy="1148646"/>
          </a:xfrm>
          <a:prstGeom prst="roundRect">
            <a:avLst>
              <a:gd name="adj" fmla="val 8569"/>
            </a:avLst>
          </a:prstGeom>
          <a:solidFill>
            <a:srgbClr val="FFFFFF"/>
          </a:solidFill>
          <a:ln w="6350">
            <a:solidFill>
              <a:srgbClr val="DCD8CE"/>
            </a:solidFill>
            <a:prstDash val="solid"/>
          </a:ln>
        </p:spPr>
        <p:txBody>
          <a:bodyPr/>
          <a:lstStyle/>
          <a:p>
            <a:endParaRPr lang="es-ES_tradnl"/>
          </a:p>
        </p:txBody>
      </p:sp>
      <p:sp>
        <p:nvSpPr>
          <p:cNvPr id="6" name="Text 3"/>
          <p:cNvSpPr/>
          <p:nvPr/>
        </p:nvSpPr>
        <p:spPr>
          <a:xfrm>
            <a:off x="1021683" y="4895900"/>
            <a:ext cx="3057962" cy="505799"/>
          </a:xfrm>
          <a:prstGeom prst="rect">
            <a:avLst/>
          </a:prstGeom>
          <a:noFill/>
          <a:ln/>
        </p:spPr>
        <p:txBody>
          <a:bodyPr wrap="square" lIns="0" tIns="0" rIns="0" bIns="0" rtlCol="0" anchor="t">
            <a:normAutofit/>
          </a:bodyPr>
          <a:lstStyle/>
          <a:p>
            <a:pPr marL="0" indent="0" algn="l">
              <a:lnSpc>
                <a:spcPts val="3822"/>
              </a:lnSpc>
              <a:buNone/>
            </a:pPr>
            <a:r>
              <a:rPr lang="en-US" sz="2730" b="1" dirty="0">
                <a:solidFill>
                  <a:srgbClr val="2F6DB5"/>
                </a:solidFill>
                <a:latin typeface="Source Serif 4" pitchFamily="18" charset="0"/>
                <a:ea typeface="Source Serif 4" pitchFamily="18" charset="-122"/>
                <a:cs typeface="Source Serif 4" pitchFamily="18" charset="-120"/>
              </a:rPr>
              <a:t>880 / 880</a:t>
            </a:r>
            <a:endParaRPr lang="en-US" sz="2730" dirty="0"/>
          </a:p>
        </p:txBody>
      </p:sp>
      <p:sp>
        <p:nvSpPr>
          <p:cNvPr id="7" name="Text 4"/>
          <p:cNvSpPr/>
          <p:nvPr/>
        </p:nvSpPr>
        <p:spPr>
          <a:xfrm>
            <a:off x="1021683" y="5427080"/>
            <a:ext cx="3057962" cy="231414"/>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A5563"/>
                </a:solidFill>
                <a:latin typeface="IBM Plex Sans" pitchFamily="34" charset="0"/>
                <a:ea typeface="IBM Plex Sans" pitchFamily="34" charset="-122"/>
                <a:cs typeface="IBM Plex Sans" pitchFamily="34" charset="-120"/>
              </a:rPr>
              <a:t>round 1, wave 1 annotations</a:t>
            </a:r>
            <a:endParaRPr lang="en-US" sz="1159" dirty="0"/>
          </a:p>
        </p:txBody>
      </p:sp>
      <p:sp>
        <p:nvSpPr>
          <p:cNvPr id="8" name="Shape 5"/>
          <p:cNvSpPr/>
          <p:nvPr/>
        </p:nvSpPr>
        <p:spPr>
          <a:xfrm>
            <a:off x="4405781" y="4690176"/>
            <a:ext cx="3380437" cy="1148646"/>
          </a:xfrm>
          <a:prstGeom prst="roundRect">
            <a:avLst>
              <a:gd name="adj" fmla="val 8569"/>
            </a:avLst>
          </a:prstGeom>
          <a:solidFill>
            <a:srgbClr val="FFFFFF"/>
          </a:solidFill>
          <a:ln w="6350">
            <a:solidFill>
              <a:srgbClr val="DCD8CE"/>
            </a:solidFill>
            <a:prstDash val="solid"/>
          </a:ln>
        </p:spPr>
        <p:txBody>
          <a:bodyPr/>
          <a:lstStyle/>
          <a:p>
            <a:endParaRPr lang="es-ES_tradnl"/>
          </a:p>
        </p:txBody>
      </p:sp>
      <p:sp>
        <p:nvSpPr>
          <p:cNvPr id="9" name="Text 6"/>
          <p:cNvSpPr/>
          <p:nvPr/>
        </p:nvSpPr>
        <p:spPr>
          <a:xfrm>
            <a:off x="4611507" y="4895900"/>
            <a:ext cx="3058055" cy="505799"/>
          </a:xfrm>
          <a:prstGeom prst="rect">
            <a:avLst/>
          </a:prstGeom>
          <a:noFill/>
          <a:ln/>
        </p:spPr>
        <p:txBody>
          <a:bodyPr wrap="square" lIns="0" tIns="0" rIns="0" bIns="0" rtlCol="0" anchor="t">
            <a:normAutofit/>
          </a:bodyPr>
          <a:lstStyle/>
          <a:p>
            <a:pPr marL="0" indent="0" algn="l">
              <a:lnSpc>
                <a:spcPts val="3822"/>
              </a:lnSpc>
              <a:buNone/>
            </a:pPr>
            <a:r>
              <a:rPr lang="en-US" sz="2730" b="1" dirty="0">
                <a:solidFill>
                  <a:srgbClr val="2F6DB5"/>
                </a:solidFill>
                <a:latin typeface="Source Serif 4" pitchFamily="18" charset="0"/>
                <a:ea typeface="Source Serif 4" pitchFamily="18" charset="-122"/>
                <a:cs typeface="Source Serif 4" pitchFamily="18" charset="-120"/>
              </a:rPr>
              <a:t>8.1%</a:t>
            </a:r>
            <a:endParaRPr lang="en-US" sz="2730" dirty="0"/>
          </a:p>
        </p:txBody>
      </p:sp>
      <p:sp>
        <p:nvSpPr>
          <p:cNvPr id="10" name="Text 7"/>
          <p:cNvSpPr/>
          <p:nvPr/>
        </p:nvSpPr>
        <p:spPr>
          <a:xfrm>
            <a:off x="4611507" y="5427080"/>
            <a:ext cx="3058055" cy="231414"/>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A5563"/>
                </a:solidFill>
                <a:latin typeface="IBM Plex Sans" pitchFamily="34" charset="0"/>
                <a:ea typeface="IBM Plex Sans" pitchFamily="34" charset="-122"/>
                <a:cs typeface="IBM Plex Sans" pitchFamily="34" charset="-120"/>
              </a:rPr>
              <a:t>changed the pre-label (calib2: 7.4%)</a:t>
            </a:r>
            <a:endParaRPr lang="en-US" sz="1159" dirty="0"/>
          </a:p>
        </p:txBody>
      </p:sp>
      <p:sp>
        <p:nvSpPr>
          <p:cNvPr id="11" name="Shape 8"/>
          <p:cNvSpPr/>
          <p:nvPr/>
        </p:nvSpPr>
        <p:spPr>
          <a:xfrm>
            <a:off x="7995696" y="4690176"/>
            <a:ext cx="3380347" cy="1148646"/>
          </a:xfrm>
          <a:prstGeom prst="roundRect">
            <a:avLst>
              <a:gd name="adj" fmla="val 8569"/>
            </a:avLst>
          </a:prstGeom>
          <a:solidFill>
            <a:srgbClr val="FFFFFF"/>
          </a:solidFill>
          <a:ln w="6350">
            <a:solidFill>
              <a:srgbClr val="DCD8CE"/>
            </a:solidFill>
            <a:prstDash val="solid"/>
          </a:ln>
        </p:spPr>
        <p:txBody>
          <a:bodyPr/>
          <a:lstStyle/>
          <a:p>
            <a:endParaRPr lang="es-ES_tradnl"/>
          </a:p>
        </p:txBody>
      </p:sp>
      <p:sp>
        <p:nvSpPr>
          <p:cNvPr id="12" name="Text 9"/>
          <p:cNvSpPr/>
          <p:nvPr/>
        </p:nvSpPr>
        <p:spPr>
          <a:xfrm>
            <a:off x="8201422" y="4895900"/>
            <a:ext cx="3057962" cy="505799"/>
          </a:xfrm>
          <a:prstGeom prst="rect">
            <a:avLst/>
          </a:prstGeom>
          <a:noFill/>
          <a:ln/>
        </p:spPr>
        <p:txBody>
          <a:bodyPr wrap="square" lIns="0" tIns="0" rIns="0" bIns="0" rtlCol="0" anchor="t">
            <a:normAutofit/>
          </a:bodyPr>
          <a:lstStyle/>
          <a:p>
            <a:pPr marL="0" indent="0" algn="l">
              <a:lnSpc>
                <a:spcPts val="3822"/>
              </a:lnSpc>
              <a:buNone/>
            </a:pPr>
            <a:r>
              <a:rPr lang="en-US" sz="2730" b="1" dirty="0">
                <a:solidFill>
                  <a:srgbClr val="2F6DB5"/>
                </a:solidFill>
                <a:latin typeface="Source Serif 4" pitchFamily="18" charset="0"/>
                <a:ea typeface="Source Serif 4" pitchFamily="18" charset="-122"/>
                <a:cs typeface="Source Serif 4" pitchFamily="18" charset="-120"/>
              </a:rPr>
              <a:t>1.6 min</a:t>
            </a:r>
            <a:endParaRPr lang="en-US" sz="2730" dirty="0"/>
          </a:p>
        </p:txBody>
      </p:sp>
      <p:sp>
        <p:nvSpPr>
          <p:cNvPr id="13" name="Text 10"/>
          <p:cNvSpPr/>
          <p:nvPr/>
        </p:nvSpPr>
        <p:spPr>
          <a:xfrm>
            <a:off x="8201422" y="5427080"/>
            <a:ext cx="3057962" cy="231414"/>
          </a:xfrm>
          <a:prstGeom prst="rect">
            <a:avLst/>
          </a:prstGeom>
          <a:noFill/>
          <a:ln/>
        </p:spPr>
        <p:txBody>
          <a:bodyPr wrap="square" lIns="0" tIns="0" rIns="0" bIns="0" rtlCol="0" anchor="t">
            <a:normAutofit/>
          </a:bodyPr>
          <a:lstStyle/>
          <a:p>
            <a:pPr marL="0" indent="0" algn="l">
              <a:lnSpc>
                <a:spcPts val="1622"/>
              </a:lnSpc>
              <a:buNone/>
            </a:pPr>
            <a:r>
              <a:rPr lang="en-US" sz="1159" dirty="0">
                <a:solidFill>
                  <a:srgbClr val="4A5563"/>
                </a:solidFill>
                <a:latin typeface="IBM Plex Sans" pitchFamily="34" charset="0"/>
                <a:ea typeface="IBM Plex Sans" pitchFamily="34" charset="-122"/>
                <a:cs typeface="IBM Plex Sans" pitchFamily="34" charset="-120"/>
              </a:rPr>
              <a:t>per package (1.0–2.75 per person)</a:t>
            </a:r>
            <a:endParaRPr lang="en-US" sz="1159" dirty="0"/>
          </a:p>
        </p:txBody>
      </p:sp>
      <p:sp>
        <p:nvSpPr>
          <p:cNvPr id="14" name="Text 11"/>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12 · a top-up releases ceil(1.1 × deficit) per short cell, reserve first, then buffer · contract §6.4, §7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34301"/>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B4501A"/>
                </a:solidFill>
                <a:latin typeface="IBM Plex Sans" pitchFamily="34" charset="0"/>
                <a:ea typeface="IBM Plex Sans" pitchFamily="34" charset="-122"/>
                <a:cs typeface="IBM Plex Sans" pitchFamily="34" charset="-120"/>
              </a:rPr>
              <a:t>A3 · BATCHES AND ASSIGNMENT</a:t>
            </a:r>
            <a:endParaRPr lang="en-US" sz="1196" dirty="0"/>
          </a:p>
        </p:txBody>
      </p:sp>
      <p:sp>
        <p:nvSpPr>
          <p:cNvPr id="3" name="Text 1"/>
          <p:cNvSpPr>
            <a:spLocks noGrp="1"/>
          </p:cNvSpPr>
          <p:nvPr>
            <p:ph type="title"/>
          </p:nvPr>
        </p:nvSpPr>
        <p:spPr>
          <a:xfrm>
            <a:off x="812782" y="1275680"/>
            <a:ext cx="10883429" cy="462864"/>
          </a:xfrm>
          <a:prstGeom prst="rect">
            <a:avLst/>
          </a:prstGeom>
          <a:noFill/>
          <a:ln/>
        </p:spPr>
        <p:txBody>
          <a:bodyPr wrap="square" lIns="0" tIns="0" rIns="0" bIns="0" rtlCol="0" anchor="t">
            <a:normAutofit/>
          </a:bodyPr>
          <a:lstStyle/>
          <a:p>
            <a:pPr marL="0" indent="0" algn="l">
              <a:lnSpc>
                <a:spcPts val="3465"/>
              </a:lnSpc>
              <a:buNone/>
            </a:pPr>
            <a:r>
              <a:rPr lang="en-US" sz="3150" b="1" i="0" dirty="0">
                <a:solidFill>
                  <a:srgbClr val="1B2A3A"/>
                </a:solidFill>
                <a:latin typeface="Source Serif 4" pitchFamily="18" charset="0"/>
                <a:ea typeface="Source Serif 4" pitchFamily="18" charset="-122"/>
                <a:cs typeface="Source Serif 4" pitchFamily="18" charset="-120"/>
              </a:rPr>
              <a:t>Batches of 55 that reveal nothing</a:t>
            </a:r>
            <a:endParaRPr lang="en-US" sz="3150" dirty="0"/>
          </a:p>
        </p:txBody>
      </p:sp>
      <p:sp>
        <p:nvSpPr>
          <p:cNvPr id="4" name="Shape 2"/>
          <p:cNvSpPr/>
          <p:nvPr/>
        </p:nvSpPr>
        <p:spPr>
          <a:xfrm>
            <a:off x="815957" y="1970317"/>
            <a:ext cx="3380347" cy="2200906"/>
          </a:xfrm>
          <a:prstGeom prst="roundRect">
            <a:avLst>
              <a:gd name="adj" fmla="val 4472"/>
            </a:avLst>
          </a:prstGeom>
          <a:solidFill>
            <a:srgbClr val="FFFFFF"/>
          </a:solidFill>
          <a:ln w="6350">
            <a:solidFill>
              <a:srgbClr val="DCD8CE"/>
            </a:solidFill>
            <a:prstDash val="solid"/>
          </a:ln>
        </p:spPr>
        <p:txBody>
          <a:bodyPr/>
          <a:lstStyle/>
          <a:p>
            <a:endParaRPr lang="es-ES_tradnl"/>
          </a:p>
        </p:txBody>
      </p:sp>
      <p:sp>
        <p:nvSpPr>
          <p:cNvPr id="5" name="Text 3"/>
          <p:cNvSpPr/>
          <p:nvPr/>
        </p:nvSpPr>
        <p:spPr>
          <a:xfrm>
            <a:off x="1072555" y="2226915"/>
            <a:ext cx="2953166" cy="261631"/>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1B2A3A"/>
                </a:solidFill>
                <a:latin typeface="IBM Plex Sans" pitchFamily="34" charset="0"/>
                <a:ea typeface="IBM Plex Sans" pitchFamily="34" charset="-122"/>
                <a:cs typeface="IBM Plex Sans" pitchFamily="34" charset="-120"/>
              </a:rPr>
              <a:t>Composition</a:t>
            </a:r>
            <a:endParaRPr lang="en-US" sz="1560" dirty="0"/>
          </a:p>
        </p:txBody>
      </p:sp>
      <p:sp>
        <p:nvSpPr>
          <p:cNvPr id="6" name="Text 4"/>
          <p:cNvSpPr/>
          <p:nvPr/>
        </p:nvSpPr>
        <p:spPr>
          <a:xfrm>
            <a:off x="1072555" y="2564712"/>
            <a:ext cx="2953166" cy="774411"/>
          </a:xfrm>
          <a:prstGeom prst="rect">
            <a:avLst/>
          </a:prstGeom>
          <a:noFill/>
          <a:ln/>
        </p:spPr>
        <p:txBody>
          <a:bodyPr wrap="square" lIns="0" tIns="0" rIns="0" bIns="0" rtlCol="0" anchor="t">
            <a:normAutofit/>
          </a:bodyPr>
          <a:lstStyle/>
          <a:p>
            <a:pPr marL="0" indent="0" algn="l">
              <a:lnSpc>
                <a:spcPts val="1973"/>
              </a:lnSpc>
              <a:buNone/>
            </a:pPr>
            <a:r>
              <a:rPr lang="en-US" sz="1361" dirty="0">
                <a:solidFill>
                  <a:srgbClr val="4A5563"/>
                </a:solidFill>
                <a:latin typeface="IBM Plex Sans" pitchFamily="34" charset="0"/>
                <a:ea typeface="IBM Plex Sans" pitchFamily="34" charset="-122"/>
                <a:cs typeface="IBM Plex Sans" pitchFamily="34" charset="-120"/>
              </a:rPr>
              <a:t>One set per batch, every category spread evenly: 9–10 each in round 1, 18–19 in round 2.</a:t>
            </a:r>
            <a:endParaRPr lang="en-US" sz="1361" dirty="0"/>
          </a:p>
        </p:txBody>
      </p:sp>
      <p:sp>
        <p:nvSpPr>
          <p:cNvPr id="7" name="Text 5"/>
          <p:cNvSpPr/>
          <p:nvPr/>
        </p:nvSpPr>
        <p:spPr>
          <a:xfrm>
            <a:off x="1072555" y="3415289"/>
            <a:ext cx="2953166" cy="524741"/>
          </a:xfrm>
          <a:prstGeom prst="rect">
            <a:avLst/>
          </a:prstGeom>
          <a:noFill/>
          <a:ln/>
        </p:spPr>
        <p:txBody>
          <a:bodyPr wrap="square" lIns="0" tIns="0" rIns="0" bIns="0" rtlCol="0" anchor="t">
            <a:normAutofit/>
          </a:bodyPr>
          <a:lstStyle/>
          <a:p>
            <a:pPr marL="0" indent="0" algn="l">
              <a:lnSpc>
                <a:spcPts val="1986"/>
              </a:lnSpc>
              <a:buNone/>
            </a:pPr>
            <a:r>
              <a:rPr lang="en-US" sz="1369" dirty="0">
                <a:solidFill>
                  <a:srgbClr val="4A5563"/>
                </a:solidFill>
                <a:latin typeface="IBM Plex Sans" pitchFamily="34" charset="0"/>
                <a:ea typeface="IBM Plex Sans" pitchFamily="34" charset="-122"/>
                <a:cs typeface="IBM Plex Sans" pitchFamily="34" charset="-120"/>
              </a:rPr>
              <a:t>Never two packages of one citing paper in a batch.</a:t>
            </a:r>
            <a:endParaRPr lang="en-US" sz="1369" dirty="0"/>
          </a:p>
        </p:txBody>
      </p:sp>
      <p:sp>
        <p:nvSpPr>
          <p:cNvPr id="8" name="Shape 6"/>
          <p:cNvSpPr/>
          <p:nvPr/>
        </p:nvSpPr>
        <p:spPr>
          <a:xfrm>
            <a:off x="4405781" y="1970317"/>
            <a:ext cx="3380347" cy="2200906"/>
          </a:xfrm>
          <a:prstGeom prst="roundRect">
            <a:avLst>
              <a:gd name="adj" fmla="val 4472"/>
            </a:avLst>
          </a:prstGeom>
          <a:solidFill>
            <a:srgbClr val="FFFFFF"/>
          </a:solidFill>
          <a:ln w="6350">
            <a:solidFill>
              <a:srgbClr val="DCD8CE"/>
            </a:solidFill>
            <a:prstDash val="solid"/>
          </a:ln>
        </p:spPr>
        <p:txBody>
          <a:bodyPr/>
          <a:lstStyle/>
          <a:p>
            <a:endParaRPr lang="es-ES_tradnl"/>
          </a:p>
        </p:txBody>
      </p:sp>
      <p:sp>
        <p:nvSpPr>
          <p:cNvPr id="9" name="Text 7"/>
          <p:cNvSpPr/>
          <p:nvPr/>
        </p:nvSpPr>
        <p:spPr>
          <a:xfrm>
            <a:off x="4662379" y="2226915"/>
            <a:ext cx="2953166" cy="261631"/>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1B2A3A"/>
                </a:solidFill>
                <a:latin typeface="IBM Plex Sans" pitchFamily="34" charset="0"/>
                <a:ea typeface="IBM Plex Sans" pitchFamily="34" charset="-122"/>
                <a:cs typeface="IBM Plex Sans" pitchFamily="34" charset="-120"/>
              </a:rPr>
              <a:t>Neutral names</a:t>
            </a:r>
            <a:endParaRPr lang="en-US" sz="1560" dirty="0"/>
          </a:p>
        </p:txBody>
      </p:sp>
      <p:sp>
        <p:nvSpPr>
          <p:cNvPr id="10" name="Text 8"/>
          <p:cNvSpPr/>
          <p:nvPr/>
        </p:nvSpPr>
        <p:spPr>
          <a:xfrm>
            <a:off x="4662379" y="2564712"/>
            <a:ext cx="2953166" cy="774411"/>
          </a:xfrm>
          <a:prstGeom prst="rect">
            <a:avLst/>
          </a:prstGeom>
          <a:noFill/>
          <a:ln/>
        </p:spPr>
        <p:txBody>
          <a:bodyPr wrap="square" lIns="0" tIns="0" rIns="0" bIns="0" rtlCol="0" anchor="t">
            <a:normAutofit/>
          </a:bodyPr>
          <a:lstStyle/>
          <a:p>
            <a:pPr marL="0" indent="0" algn="l">
              <a:lnSpc>
                <a:spcPts val="1973"/>
              </a:lnSpc>
              <a:buNone/>
            </a:pPr>
            <a:r>
              <a:rPr lang="en-US" sz="1361" dirty="0">
                <a:solidFill>
                  <a:srgbClr val="4A5563"/>
                </a:solidFill>
                <a:latin typeface="IBM Plex Sans" pitchFamily="34" charset="0"/>
                <a:ea typeface="IBM Plex Sans" pitchFamily="34" charset="-122"/>
                <a:cs typeface="IBM Plex Sans" pitchFamily="34" charset="-120"/>
              </a:rPr>
              <a:t>Packages P0001–P4320 (round 1) and P4321–P6480 (round 2), shuffled over both sets.</a:t>
            </a:r>
            <a:endParaRPr lang="en-US" sz="1361" dirty="0"/>
          </a:p>
        </p:txBody>
      </p:sp>
      <p:sp>
        <p:nvSpPr>
          <p:cNvPr id="11" name="Text 9"/>
          <p:cNvSpPr/>
          <p:nvPr/>
        </p:nvSpPr>
        <p:spPr>
          <a:xfrm>
            <a:off x="4662379" y="3415289"/>
            <a:ext cx="2953166" cy="524741"/>
          </a:xfrm>
          <a:prstGeom prst="rect">
            <a:avLst/>
          </a:prstGeom>
          <a:noFill/>
          <a:ln/>
        </p:spPr>
        <p:txBody>
          <a:bodyPr wrap="square" lIns="0" tIns="0" rIns="0" bIns="0" rtlCol="0" anchor="t">
            <a:normAutofit/>
          </a:bodyPr>
          <a:lstStyle/>
          <a:p>
            <a:pPr marL="0" indent="0" algn="l">
              <a:lnSpc>
                <a:spcPts val="1986"/>
              </a:lnSpc>
              <a:buNone/>
            </a:pPr>
            <a:r>
              <a:rPr lang="en-US" sz="1369" dirty="0">
                <a:solidFill>
                  <a:srgbClr val="4A5563"/>
                </a:solidFill>
                <a:latin typeface="IBM Plex Sans" pitchFamily="34" charset="0"/>
                <a:ea typeface="IBM Plex Sans" pitchFamily="34" charset="-122"/>
                <a:cs typeface="IBM Plex Sans" pitchFamily="34" charset="-120"/>
              </a:rPr>
              <a:t>Batches L001–L072, then L073–L104; wave 3 from L105.</a:t>
            </a:r>
            <a:endParaRPr lang="en-US" sz="1369" dirty="0"/>
          </a:p>
        </p:txBody>
      </p:sp>
      <p:sp>
        <p:nvSpPr>
          <p:cNvPr id="12" name="Shape 10"/>
          <p:cNvSpPr/>
          <p:nvPr/>
        </p:nvSpPr>
        <p:spPr>
          <a:xfrm>
            <a:off x="7995606" y="1970317"/>
            <a:ext cx="3380347" cy="2200906"/>
          </a:xfrm>
          <a:prstGeom prst="roundRect">
            <a:avLst>
              <a:gd name="adj" fmla="val 4472"/>
            </a:avLst>
          </a:prstGeom>
          <a:solidFill>
            <a:srgbClr val="FFFFFF"/>
          </a:solidFill>
          <a:ln w="6350">
            <a:solidFill>
              <a:srgbClr val="DCD8CE"/>
            </a:solidFill>
            <a:prstDash val="solid"/>
          </a:ln>
        </p:spPr>
        <p:txBody>
          <a:bodyPr/>
          <a:lstStyle/>
          <a:p>
            <a:endParaRPr lang="es-ES_tradnl"/>
          </a:p>
        </p:txBody>
      </p:sp>
      <p:sp>
        <p:nvSpPr>
          <p:cNvPr id="13" name="Text 11"/>
          <p:cNvSpPr/>
          <p:nvPr/>
        </p:nvSpPr>
        <p:spPr>
          <a:xfrm>
            <a:off x="8252203" y="2226915"/>
            <a:ext cx="2953166" cy="261631"/>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1B2A3A"/>
                </a:solidFill>
                <a:latin typeface="IBM Plex Sans" pitchFamily="34" charset="0"/>
                <a:ea typeface="IBM Plex Sans" pitchFamily="34" charset="-122"/>
                <a:cs typeface="IBM Plex Sans" pitchFamily="34" charset="-120"/>
              </a:rPr>
              <a:t>Two annotators</a:t>
            </a:r>
            <a:endParaRPr lang="en-US" sz="1560" dirty="0"/>
          </a:p>
        </p:txBody>
      </p:sp>
      <p:sp>
        <p:nvSpPr>
          <p:cNvPr id="14" name="Text 12"/>
          <p:cNvSpPr/>
          <p:nvPr/>
        </p:nvSpPr>
        <p:spPr>
          <a:xfrm>
            <a:off x="8252203" y="2564712"/>
            <a:ext cx="2953166" cy="774411"/>
          </a:xfrm>
          <a:prstGeom prst="rect">
            <a:avLst/>
          </a:prstGeom>
          <a:noFill/>
          <a:ln/>
        </p:spPr>
        <p:txBody>
          <a:bodyPr wrap="square" lIns="0" tIns="0" rIns="0" bIns="0" rtlCol="0" anchor="t">
            <a:normAutofit/>
          </a:bodyPr>
          <a:lstStyle/>
          <a:p>
            <a:pPr marL="0" indent="0" algn="l">
              <a:lnSpc>
                <a:spcPts val="1998"/>
              </a:lnSpc>
              <a:buNone/>
            </a:pPr>
            <a:r>
              <a:rPr lang="en-US" sz="1378" dirty="0">
                <a:solidFill>
                  <a:srgbClr val="4A5563"/>
                </a:solidFill>
                <a:latin typeface="IBM Plex Sans" pitchFamily="34" charset="0"/>
                <a:ea typeface="IBM Plex Sans" pitchFamily="34" charset="-122"/>
                <a:cs typeface="IBM Plex Sans" pitchFamily="34" charset="-120"/>
              </a:rPr>
              <a:t>Each batch: one member of the set's owner group, one of the other group.</a:t>
            </a:r>
            <a:endParaRPr lang="en-US" sz="1378" dirty="0"/>
          </a:p>
        </p:txBody>
      </p:sp>
      <p:sp>
        <p:nvSpPr>
          <p:cNvPr id="15" name="Text 13"/>
          <p:cNvSpPr/>
          <p:nvPr/>
        </p:nvSpPr>
        <p:spPr>
          <a:xfrm>
            <a:off x="8252203" y="3415289"/>
            <a:ext cx="2953166" cy="524741"/>
          </a:xfrm>
          <a:prstGeom prst="rect">
            <a:avLst/>
          </a:prstGeom>
          <a:noFill/>
          <a:ln/>
        </p:spPr>
        <p:txBody>
          <a:bodyPr wrap="square" lIns="0" tIns="0" rIns="0" bIns="0" rtlCol="0" anchor="t">
            <a:normAutofit/>
          </a:bodyPr>
          <a:lstStyle/>
          <a:p>
            <a:pPr marL="0" indent="0" algn="l">
              <a:lnSpc>
                <a:spcPts val="1986"/>
              </a:lnSpc>
              <a:buNone/>
            </a:pPr>
            <a:r>
              <a:rPr lang="en-US" sz="1369" dirty="0">
                <a:solidFill>
                  <a:srgbClr val="4A5563"/>
                </a:solidFill>
                <a:latin typeface="IBM Plex Sans" pitchFamily="34" charset="0"/>
                <a:ea typeface="IBM Plex Sans" pitchFamily="34" charset="-122"/>
                <a:cs typeface="IBM Plex Sans" pitchFamily="34" charset="-120"/>
              </a:rPr>
              <a:t>Every G14–G15 pair shares 6–7 batches over both rounds.</a:t>
            </a:r>
            <a:endParaRPr lang="en-US" sz="1369"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4327" y="4439945"/>
          <a:ext cx="10554800" cy="1406380"/>
        </p:xfrm>
        <a:graphic>
          <a:graphicData uri="http://schemas.openxmlformats.org/drawingml/2006/table">
            <a:tbl>
              <a:tblPr/>
              <a:tblGrid>
                <a:gridCol w="3588632">
                  <a:extLst>
                    <a:ext uri="{9D8B030D-6E8A-4147-A177-3AD203B41FA5}">
                      <a16:colId xmlns:a16="http://schemas.microsoft.com/office/drawing/2014/main" val="20000"/>
                    </a:ext>
                  </a:extLst>
                </a:gridCol>
                <a:gridCol w="2322056">
                  <a:extLst>
                    <a:ext uri="{9D8B030D-6E8A-4147-A177-3AD203B41FA5}">
                      <a16:colId xmlns:a16="http://schemas.microsoft.com/office/drawing/2014/main" val="20001"/>
                    </a:ext>
                  </a:extLst>
                </a:gridCol>
                <a:gridCol w="2322056">
                  <a:extLst>
                    <a:ext uri="{9D8B030D-6E8A-4147-A177-3AD203B41FA5}">
                      <a16:colId xmlns:a16="http://schemas.microsoft.com/office/drawing/2014/main" val="20002"/>
                    </a:ext>
                  </a:extLst>
                </a:gridCol>
                <a:gridCol w="2322056">
                  <a:extLst>
                    <a:ext uri="{9D8B030D-6E8A-4147-A177-3AD203B41FA5}">
                      <a16:colId xmlns:a16="http://schemas.microsoft.com/office/drawing/2014/main" val="20003"/>
                    </a:ext>
                  </a:extLst>
                </a:gridCol>
              </a:tblGrid>
              <a:tr h="351595">
                <a:tc>
                  <a:txBody>
                    <a:bodyPr/>
                    <a:lstStyle/>
                    <a:p>
                      <a:pPr marL="0" indent="0">
                        <a:lnSpc>
                          <a:spcPts val="1786"/>
                        </a:lnSpc>
                        <a:buNone/>
                      </a:pPr>
                      <a:r>
                        <a:rPr lang="en-US" sz="1276" b="1" dirty="0">
                          <a:solidFill>
                            <a:srgbClr val="1B2A3A"/>
                          </a:solidFill>
                          <a:latin typeface="IBM Plex Sans" pitchFamily="34" charset="0"/>
                          <a:ea typeface="IBM Plex Sans" pitchFamily="34" charset="-122"/>
                          <a:cs typeface="IBM Plex Sans" pitchFamily="34" charset="-120"/>
                        </a:rPr>
                        <a:t>Per person</a:t>
                      </a:r>
                      <a:endParaRPr lang="en-US" sz="1276" dirty="0">
                        <a:latin typeface="IBM Plex Sans" charset="0"/>
                        <a:ea typeface="IBM Plex Sans" charset="0"/>
                        <a:cs typeface="IBM Plex Sans" charset="0"/>
                      </a:endParaRPr>
                    </a:p>
                  </a:txBody>
                  <a:tcPr marL="56702" marR="56702" marT="56702" marB="56702">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gn="r">
                        <a:lnSpc>
                          <a:spcPts val="1786"/>
                        </a:lnSpc>
                        <a:buNone/>
                      </a:pPr>
                      <a:r>
                        <a:rPr lang="en-US" sz="1276" b="1" dirty="0">
                          <a:solidFill>
                            <a:srgbClr val="1B2A3A"/>
                          </a:solidFill>
                          <a:latin typeface="IBM Plex Sans" pitchFamily="34" charset="0"/>
                          <a:ea typeface="IBM Plex Sans" pitchFamily="34" charset="-122"/>
                          <a:cs typeface="IBM Plex Sans" pitchFamily="34" charset="-120"/>
                        </a:rPr>
                        <a:t>Own set</a:t>
                      </a:r>
                      <a:endParaRPr lang="en-US" sz="1276" dirty="0">
                        <a:latin typeface="IBM Plex Sans" charset="0"/>
                        <a:ea typeface="IBM Plex Sans" charset="0"/>
                        <a:cs typeface="IBM Plex Sans" charset="0"/>
                      </a:endParaRPr>
                    </a:p>
                  </a:txBody>
                  <a:tcPr marL="56702" marR="56702" marT="56702" marB="56702">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gn="r">
                        <a:lnSpc>
                          <a:spcPts val="1786"/>
                        </a:lnSpc>
                        <a:buNone/>
                      </a:pPr>
                      <a:r>
                        <a:rPr lang="en-US" sz="1276" b="1" dirty="0">
                          <a:solidFill>
                            <a:srgbClr val="1B2A3A"/>
                          </a:solidFill>
                          <a:latin typeface="IBM Plex Sans" pitchFamily="34" charset="0"/>
                          <a:ea typeface="IBM Plex Sans" pitchFamily="34" charset="-122"/>
                          <a:cs typeface="IBM Plex Sans" pitchFamily="34" charset="-120"/>
                        </a:rPr>
                        <a:t>Other set</a:t>
                      </a:r>
                      <a:endParaRPr lang="en-US" sz="1276" dirty="0">
                        <a:latin typeface="IBM Plex Sans" charset="0"/>
                        <a:ea typeface="IBM Plex Sans" charset="0"/>
                        <a:cs typeface="IBM Plex Sans" charset="0"/>
                      </a:endParaRPr>
                    </a:p>
                  </a:txBody>
                  <a:tcPr marL="56702" marR="56702" marT="56702" marB="56702">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gn="r">
                        <a:lnSpc>
                          <a:spcPts val="1786"/>
                        </a:lnSpc>
                        <a:buNone/>
                      </a:pPr>
                      <a:r>
                        <a:rPr lang="en-US" sz="1276" b="1" dirty="0">
                          <a:solidFill>
                            <a:srgbClr val="1B2A3A"/>
                          </a:solidFill>
                          <a:latin typeface="IBM Plex Sans" pitchFamily="34" charset="0"/>
                          <a:ea typeface="IBM Plex Sans" pitchFamily="34" charset="-122"/>
                          <a:cs typeface="IBM Plex Sans" pitchFamily="34" charset="-120"/>
                        </a:rPr>
                        <a:t>Packages</a:t>
                      </a:r>
                      <a:endParaRPr lang="en-US" sz="1276" dirty="0">
                        <a:latin typeface="IBM Plex Sans" charset="0"/>
                        <a:ea typeface="IBM Plex Sans" charset="0"/>
                        <a:cs typeface="IBM Plex Sans" charset="0"/>
                      </a:endParaRPr>
                    </a:p>
                  </a:txBody>
                  <a:tcPr marL="56702" marR="56702" marT="56702" marB="56702">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351595">
                <a:tc>
                  <a:txBody>
                    <a:bodyPr/>
                    <a:lstStyle/>
                    <a:p>
                      <a:pPr marL="0" indent="0">
                        <a:lnSpc>
                          <a:spcPts val="1786"/>
                        </a:lnSpc>
                        <a:buNone/>
                      </a:pPr>
                      <a:r>
                        <a:rPr lang="en-US" sz="1276" dirty="0">
                          <a:solidFill>
                            <a:srgbClr val="1B2A3A"/>
                          </a:solidFill>
                          <a:latin typeface="IBM Plex Sans" pitchFamily="34" charset="0"/>
                          <a:ea typeface="IBM Plex Sans" pitchFamily="34" charset="-122"/>
                          <a:cs typeface="IBM Plex Sans" pitchFamily="34" charset="-120"/>
                        </a:rPr>
                        <a:t>Round 1 (72 batches)</a:t>
                      </a:r>
                      <a:endParaRPr lang="en-US" sz="1276" dirty="0">
                        <a:latin typeface="IBM Plex Sans" charset="0"/>
                        <a:ea typeface="IBM Plex Sans" charset="0"/>
                        <a:cs typeface="IBM Plex Sans" charset="0"/>
                      </a:endParaRPr>
                    </a:p>
                  </a:txBody>
                  <a:tcPr marL="56702" marR="56702" marT="56702" marB="56702">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786"/>
                        </a:lnSpc>
                        <a:buNone/>
                      </a:pPr>
                      <a:r>
                        <a:rPr lang="en-US" sz="1276" dirty="0">
                          <a:solidFill>
                            <a:srgbClr val="1B2A3A"/>
                          </a:solidFill>
                          <a:latin typeface="IBM Plex Sans" pitchFamily="34" charset="0"/>
                          <a:ea typeface="IBM Plex Sans" pitchFamily="34" charset="-122"/>
                          <a:cs typeface="IBM Plex Sans" pitchFamily="34" charset="-120"/>
                        </a:rPr>
                        <a:t>9</a:t>
                      </a:r>
                      <a:endParaRPr lang="en-US" sz="1276" dirty="0">
                        <a:latin typeface="IBM Plex Sans" charset="0"/>
                        <a:ea typeface="IBM Plex Sans" charset="0"/>
                        <a:cs typeface="IBM Plex Sans" charset="0"/>
                      </a:endParaRPr>
                    </a:p>
                  </a:txBody>
                  <a:tcPr marL="56702" marR="56702" marT="56702" marB="56702">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786"/>
                        </a:lnSpc>
                        <a:buNone/>
                      </a:pPr>
                      <a:r>
                        <a:rPr lang="en-US" sz="1276" dirty="0">
                          <a:solidFill>
                            <a:srgbClr val="1B2A3A"/>
                          </a:solidFill>
                          <a:latin typeface="IBM Plex Sans" pitchFamily="34" charset="0"/>
                          <a:ea typeface="IBM Plex Sans" pitchFamily="34" charset="-122"/>
                          <a:cs typeface="IBM Plex Sans" pitchFamily="34" charset="-120"/>
                        </a:rPr>
                        <a:t>9</a:t>
                      </a:r>
                      <a:endParaRPr lang="en-US" sz="1276" dirty="0">
                        <a:latin typeface="IBM Plex Sans" charset="0"/>
                        <a:ea typeface="IBM Plex Sans" charset="0"/>
                        <a:cs typeface="IBM Plex Sans" charset="0"/>
                      </a:endParaRPr>
                    </a:p>
                  </a:txBody>
                  <a:tcPr marL="56702" marR="56702" marT="56702" marB="56702">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786"/>
                        </a:lnSpc>
                        <a:buNone/>
                      </a:pPr>
                      <a:r>
                        <a:rPr lang="en-US" sz="1276" dirty="0">
                          <a:solidFill>
                            <a:srgbClr val="1B2A3A"/>
                          </a:solidFill>
                          <a:latin typeface="IBM Plex Sans" pitchFamily="34" charset="0"/>
                          <a:ea typeface="IBM Plex Sans" pitchFamily="34" charset="-122"/>
                          <a:cs typeface="IBM Plex Sans" pitchFamily="34" charset="-120"/>
                        </a:rPr>
                        <a:t>990</a:t>
                      </a:r>
                      <a:endParaRPr lang="en-US" sz="1276" dirty="0">
                        <a:latin typeface="IBM Plex Sans" charset="0"/>
                        <a:ea typeface="IBM Plex Sans" charset="0"/>
                        <a:cs typeface="IBM Plex Sans" charset="0"/>
                      </a:endParaRPr>
                    </a:p>
                  </a:txBody>
                  <a:tcPr marL="56702" marR="56702" marT="56702" marB="56702">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51595">
                <a:tc>
                  <a:txBody>
                    <a:bodyPr/>
                    <a:lstStyle/>
                    <a:p>
                      <a:pPr marL="0" indent="0">
                        <a:lnSpc>
                          <a:spcPts val="1786"/>
                        </a:lnSpc>
                        <a:buNone/>
                      </a:pPr>
                      <a:r>
                        <a:rPr lang="en-US" sz="1276" dirty="0">
                          <a:solidFill>
                            <a:srgbClr val="1B2A3A"/>
                          </a:solidFill>
                          <a:latin typeface="IBM Plex Sans" pitchFamily="34" charset="0"/>
                          <a:ea typeface="IBM Plex Sans" pitchFamily="34" charset="-122"/>
                          <a:cs typeface="IBM Plex Sans" pitchFamily="34" charset="-120"/>
                        </a:rPr>
                        <a:t>Round 2, waves 1–2 (32 batches)</a:t>
                      </a:r>
                      <a:endParaRPr lang="en-US" sz="1276" dirty="0">
                        <a:latin typeface="IBM Plex Sans" charset="0"/>
                        <a:ea typeface="IBM Plex Sans" charset="0"/>
                        <a:cs typeface="IBM Plex Sans" charset="0"/>
                      </a:endParaRPr>
                    </a:p>
                  </a:txBody>
                  <a:tcPr marL="56702" marR="56702" marT="56702" marB="56702">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786"/>
                        </a:lnSpc>
                        <a:buNone/>
                      </a:pPr>
                      <a:r>
                        <a:rPr lang="en-US" sz="1276" dirty="0">
                          <a:solidFill>
                            <a:srgbClr val="1B2A3A"/>
                          </a:solidFill>
                          <a:latin typeface="IBM Plex Sans" pitchFamily="34" charset="0"/>
                          <a:ea typeface="IBM Plex Sans" pitchFamily="34" charset="-122"/>
                          <a:cs typeface="IBM Plex Sans" pitchFamily="34" charset="-120"/>
                        </a:rPr>
                        <a:t>4</a:t>
                      </a:r>
                      <a:endParaRPr lang="en-US" sz="1276" dirty="0">
                        <a:latin typeface="IBM Plex Sans" charset="0"/>
                        <a:ea typeface="IBM Plex Sans" charset="0"/>
                        <a:cs typeface="IBM Plex Sans" charset="0"/>
                      </a:endParaRPr>
                    </a:p>
                  </a:txBody>
                  <a:tcPr marL="56702" marR="56702" marT="56702" marB="56702">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786"/>
                        </a:lnSpc>
                        <a:buNone/>
                      </a:pPr>
                      <a:r>
                        <a:rPr lang="en-US" sz="1276" dirty="0">
                          <a:solidFill>
                            <a:srgbClr val="1B2A3A"/>
                          </a:solidFill>
                          <a:latin typeface="IBM Plex Sans" pitchFamily="34" charset="0"/>
                          <a:ea typeface="IBM Plex Sans" pitchFamily="34" charset="-122"/>
                          <a:cs typeface="IBM Plex Sans" pitchFamily="34" charset="-120"/>
                        </a:rPr>
                        <a:t>4</a:t>
                      </a:r>
                      <a:endParaRPr lang="en-US" sz="1276" dirty="0">
                        <a:latin typeface="IBM Plex Sans" charset="0"/>
                        <a:ea typeface="IBM Plex Sans" charset="0"/>
                        <a:cs typeface="IBM Plex Sans" charset="0"/>
                      </a:endParaRPr>
                    </a:p>
                  </a:txBody>
                  <a:tcPr marL="56702" marR="56702" marT="56702" marB="56702">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786"/>
                        </a:lnSpc>
                        <a:buNone/>
                      </a:pPr>
                      <a:r>
                        <a:rPr lang="en-US" sz="1276" dirty="0">
                          <a:solidFill>
                            <a:srgbClr val="1B2A3A"/>
                          </a:solidFill>
                          <a:latin typeface="IBM Plex Sans" pitchFamily="34" charset="0"/>
                          <a:ea typeface="IBM Plex Sans" pitchFamily="34" charset="-122"/>
                          <a:cs typeface="IBM Plex Sans" pitchFamily="34" charset="-120"/>
                        </a:rPr>
                        <a:t>440</a:t>
                      </a:r>
                      <a:endParaRPr lang="en-US" sz="1276" dirty="0">
                        <a:latin typeface="IBM Plex Sans" charset="0"/>
                        <a:ea typeface="IBM Plex Sans" charset="0"/>
                        <a:cs typeface="IBM Plex Sans" charset="0"/>
                      </a:endParaRPr>
                    </a:p>
                  </a:txBody>
                  <a:tcPr marL="56702" marR="56702" marT="56702" marB="56702">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351595">
                <a:tc>
                  <a:txBody>
                    <a:bodyPr/>
                    <a:lstStyle/>
                    <a:p>
                      <a:pPr marL="0" indent="0">
                        <a:lnSpc>
                          <a:spcPts val="1786"/>
                        </a:lnSpc>
                        <a:buNone/>
                      </a:pPr>
                      <a:r>
                        <a:rPr lang="en-US" sz="1276" dirty="0">
                          <a:solidFill>
                            <a:srgbClr val="1B2A3A"/>
                          </a:solidFill>
                          <a:latin typeface="IBM Plex Sans" pitchFamily="34" charset="0"/>
                          <a:ea typeface="IBM Plex Sans" pitchFamily="34" charset="-122"/>
                          <a:cs typeface="IBM Plex Sans" pitchFamily="34" charset="-120"/>
                        </a:rPr>
                        <a:t>Round 2, wave 3 (4 batches + top-up)</a:t>
                      </a:r>
                      <a:endParaRPr lang="en-US" sz="1276" dirty="0">
                        <a:latin typeface="IBM Plex Sans" charset="0"/>
                        <a:ea typeface="IBM Plex Sans" charset="0"/>
                        <a:cs typeface="IBM Plex Sans" charset="0"/>
                      </a:endParaRPr>
                    </a:p>
                  </a:txBody>
                  <a:tcPr marL="56702" marR="56702" marT="56702" marB="56702">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786"/>
                        </a:lnSpc>
                        <a:buNone/>
                      </a:pPr>
                      <a:r>
                        <a:rPr lang="en-US" sz="1276" dirty="0">
                          <a:solidFill>
                            <a:srgbClr val="1B2A3A"/>
                          </a:solidFill>
                          <a:latin typeface="IBM Plex Sans" pitchFamily="34" charset="0"/>
                          <a:ea typeface="IBM Plex Sans" pitchFamily="34" charset="-122"/>
                          <a:cs typeface="IBM Plex Sans" pitchFamily="34" charset="-120"/>
                        </a:rPr>
                        <a:t>—</a:t>
                      </a:r>
                      <a:endParaRPr lang="en-US" sz="1276" dirty="0">
                        <a:latin typeface="IBM Plex Sans" charset="0"/>
                        <a:ea typeface="IBM Plex Sans" charset="0"/>
                        <a:cs typeface="IBM Plex Sans" charset="0"/>
                      </a:endParaRPr>
                    </a:p>
                  </a:txBody>
                  <a:tcPr marL="56702" marR="56702" marT="56702" marB="56702">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786"/>
                        </a:lnSpc>
                        <a:buNone/>
                      </a:pPr>
                      <a:r>
                        <a:rPr lang="en-US" sz="1276" dirty="0">
                          <a:solidFill>
                            <a:srgbClr val="1B2A3A"/>
                          </a:solidFill>
                          <a:latin typeface="IBM Plex Sans" pitchFamily="34" charset="0"/>
                          <a:ea typeface="IBM Plex Sans" pitchFamily="34" charset="-122"/>
                          <a:cs typeface="IBM Plex Sans" pitchFamily="34" charset="-120"/>
                        </a:rPr>
                        <a:t>—</a:t>
                      </a:r>
                      <a:endParaRPr lang="en-US" sz="1276" dirty="0">
                        <a:latin typeface="IBM Plex Sans" charset="0"/>
                        <a:ea typeface="IBM Plex Sans" charset="0"/>
                        <a:cs typeface="IBM Plex Sans" charset="0"/>
                      </a:endParaRPr>
                    </a:p>
                  </a:txBody>
                  <a:tcPr marL="56702" marR="56702" marT="56702" marB="56702">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gn="r">
                        <a:lnSpc>
                          <a:spcPts val="1786"/>
                        </a:lnSpc>
                        <a:buNone/>
                      </a:pPr>
                      <a:r>
                        <a:rPr lang="en-US" sz="1276" dirty="0">
                          <a:solidFill>
                            <a:srgbClr val="1B2A3A"/>
                          </a:solidFill>
                          <a:latin typeface="IBM Plex Sans" pitchFamily="34" charset="0"/>
                          <a:ea typeface="IBM Plex Sans" pitchFamily="34" charset="-122"/>
                          <a:cs typeface="IBM Plex Sans" pitchFamily="34" charset="-120"/>
                        </a:rPr>
                        <a:t>balances the totals</a:t>
                      </a:r>
                      <a:endParaRPr lang="en-US" sz="1276" dirty="0">
                        <a:latin typeface="IBM Plex Sans" charset="0"/>
                        <a:ea typeface="IBM Plex Sans" charset="0"/>
                        <a:cs typeface="IBM Plex Sans" charset="0"/>
                      </a:endParaRPr>
                    </a:p>
                  </a:txBody>
                  <a:tcPr marL="56702" marR="56702" marT="56702" marB="56702">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7" name="Text 14"/>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13 · every choice comes from the seed LCR-G14G15-A3-2026 · files written once and checked on every run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2" y="812788"/>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A"/>
                </a:solidFill>
                <a:latin typeface="IBM Plex Sans" pitchFamily="34" charset="0"/>
                <a:ea typeface="IBM Plex Sans" pitchFamily="34" charset="-122"/>
                <a:cs typeface="IBM Plex Sans" pitchFamily="34" charset="-120"/>
              </a:rPr>
              <a:t>WORKLOAD</a:t>
            </a:r>
            <a:endParaRPr lang="en-US" sz="1200" dirty="0"/>
          </a:p>
        </p:txBody>
      </p:sp>
      <p:sp>
        <p:nvSpPr>
          <p:cNvPr id="3" name="Text 1"/>
          <p:cNvSpPr>
            <a:spLocks noGrp="1"/>
          </p:cNvSpPr>
          <p:nvPr>
            <p:ph type="title"/>
          </p:nvPr>
        </p:nvSpPr>
        <p:spPr>
          <a:xfrm>
            <a:off x="812782" y="1330976"/>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About 40 hours per person, measured</a:t>
            </a:r>
            <a:endParaRPr lang="en-US" sz="3200" dirty="0"/>
          </a:p>
        </p:txBody>
      </p:sp>
      <p:sp>
        <p:nvSpPr>
          <p:cNvPr id="4" name="Shape 2"/>
          <p:cNvSpPr/>
          <p:nvPr/>
        </p:nvSpPr>
        <p:spPr>
          <a:xfrm>
            <a:off x="815957" y="2085963"/>
            <a:ext cx="3380347" cy="1620386"/>
          </a:xfrm>
          <a:prstGeom prst="roundRect">
            <a:avLst>
              <a:gd name="adj" fmla="val 6074"/>
            </a:avLst>
          </a:prstGeom>
          <a:solidFill>
            <a:srgbClr val="FFFFFF"/>
          </a:solidFill>
          <a:ln w="6350">
            <a:solidFill>
              <a:srgbClr val="DCD8CE"/>
            </a:solidFill>
            <a:prstDash val="solid"/>
          </a:ln>
        </p:spPr>
        <p:txBody>
          <a:bodyPr/>
          <a:lstStyle/>
          <a:p>
            <a:endParaRPr lang="es-ES_tradnl"/>
          </a:p>
        </p:txBody>
      </p:sp>
      <p:sp>
        <p:nvSpPr>
          <p:cNvPr id="5" name="Text 3"/>
          <p:cNvSpPr/>
          <p:nvPr/>
        </p:nvSpPr>
        <p:spPr>
          <a:xfrm>
            <a:off x="1072555" y="2342555"/>
            <a:ext cx="2953166" cy="558746"/>
          </a:xfrm>
          <a:prstGeom prst="rect">
            <a:avLst/>
          </a:prstGeom>
          <a:noFill/>
          <a:ln/>
        </p:spPr>
        <p:txBody>
          <a:bodyPr wrap="square" lIns="0" tIns="0" rIns="0" bIns="0" rtlCol="0" anchor="t">
            <a:normAutofit/>
          </a:bodyPr>
          <a:lstStyle/>
          <a:p>
            <a:pPr marL="0" indent="0" algn="l">
              <a:lnSpc>
                <a:spcPts val="4200"/>
              </a:lnSpc>
              <a:buNone/>
            </a:pPr>
            <a:r>
              <a:rPr lang="en-US" sz="4000" b="1" dirty="0">
                <a:solidFill>
                  <a:srgbClr val="2F6DB5"/>
                </a:solidFill>
                <a:latin typeface="Source Serif 4" pitchFamily="18" charset="0"/>
                <a:ea typeface="Source Serif 4" pitchFamily="18" charset="-122"/>
                <a:cs typeface="Source Serif 4" pitchFamily="18" charset="-120"/>
              </a:rPr>
              <a:t>11,880</a:t>
            </a:r>
            <a:endParaRPr lang="en-US" sz="4000" dirty="0"/>
          </a:p>
        </p:txBody>
      </p:sp>
      <p:sp>
        <p:nvSpPr>
          <p:cNvPr id="6" name="Text 4"/>
          <p:cNvSpPr/>
          <p:nvPr/>
        </p:nvSpPr>
        <p:spPr>
          <a:xfrm>
            <a:off x="1072555" y="2952031"/>
            <a:ext cx="2953166"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annotations: 2 test sets × 2,970 active packages × 2 annotators</a:t>
            </a:r>
            <a:endParaRPr lang="en-US" sz="1400" dirty="0"/>
          </a:p>
        </p:txBody>
      </p:sp>
      <p:sp>
        <p:nvSpPr>
          <p:cNvPr id="7" name="Shape 5"/>
          <p:cNvSpPr/>
          <p:nvPr/>
        </p:nvSpPr>
        <p:spPr>
          <a:xfrm>
            <a:off x="4405781" y="2085963"/>
            <a:ext cx="3380347" cy="1620386"/>
          </a:xfrm>
          <a:prstGeom prst="roundRect">
            <a:avLst>
              <a:gd name="adj" fmla="val 6074"/>
            </a:avLst>
          </a:prstGeom>
          <a:solidFill>
            <a:srgbClr val="FFFFFF"/>
          </a:solidFill>
          <a:ln w="6350">
            <a:solidFill>
              <a:srgbClr val="DCD8CE"/>
            </a:solidFill>
            <a:prstDash val="solid"/>
          </a:ln>
        </p:spPr>
        <p:txBody>
          <a:bodyPr/>
          <a:lstStyle/>
          <a:p>
            <a:endParaRPr lang="es-ES_tradnl"/>
          </a:p>
        </p:txBody>
      </p:sp>
      <p:sp>
        <p:nvSpPr>
          <p:cNvPr id="8" name="Text 6"/>
          <p:cNvSpPr/>
          <p:nvPr/>
        </p:nvSpPr>
        <p:spPr>
          <a:xfrm>
            <a:off x="4662379" y="2342555"/>
            <a:ext cx="2953166" cy="558746"/>
          </a:xfrm>
          <a:prstGeom prst="rect">
            <a:avLst/>
          </a:prstGeom>
          <a:noFill/>
          <a:ln/>
        </p:spPr>
        <p:txBody>
          <a:bodyPr wrap="square" lIns="0" tIns="0" rIns="0" bIns="0" rtlCol="0" anchor="t">
            <a:normAutofit/>
          </a:bodyPr>
          <a:lstStyle/>
          <a:p>
            <a:pPr marL="0" indent="0" algn="l">
              <a:lnSpc>
                <a:spcPts val="4200"/>
              </a:lnSpc>
              <a:buNone/>
            </a:pPr>
            <a:r>
              <a:rPr lang="en-US" sz="4000" b="1" dirty="0">
                <a:solidFill>
                  <a:srgbClr val="2F6DB5"/>
                </a:solidFill>
                <a:latin typeface="Source Serif 4" pitchFamily="18" charset="0"/>
                <a:ea typeface="Source Serif 4" pitchFamily="18" charset="-122"/>
                <a:cs typeface="Source Serif 4" pitchFamily="18" charset="-120"/>
              </a:rPr>
              <a:t>≈1,485</a:t>
            </a:r>
            <a:endParaRPr lang="en-US" sz="4000" dirty="0"/>
          </a:p>
        </p:txBody>
      </p:sp>
      <p:sp>
        <p:nvSpPr>
          <p:cNvPr id="9" name="Text 7"/>
          <p:cNvSpPr/>
          <p:nvPr/>
        </p:nvSpPr>
        <p:spPr>
          <a:xfrm>
            <a:off x="4662379" y="2952031"/>
            <a:ext cx="2953166"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packages per person: 990 in round 1, ≈ 495 in round 2</a:t>
            </a:r>
            <a:endParaRPr lang="en-US" sz="1400" dirty="0"/>
          </a:p>
        </p:txBody>
      </p:sp>
      <p:sp>
        <p:nvSpPr>
          <p:cNvPr id="10" name="Shape 8"/>
          <p:cNvSpPr/>
          <p:nvPr/>
        </p:nvSpPr>
        <p:spPr>
          <a:xfrm>
            <a:off x="7995606" y="2085963"/>
            <a:ext cx="3380347" cy="1620386"/>
          </a:xfrm>
          <a:prstGeom prst="roundRect">
            <a:avLst>
              <a:gd name="adj" fmla="val 6074"/>
            </a:avLst>
          </a:prstGeom>
          <a:solidFill>
            <a:srgbClr val="FFFFFF"/>
          </a:solidFill>
          <a:ln w="6350">
            <a:solidFill>
              <a:srgbClr val="DCD8CE"/>
            </a:solidFill>
            <a:prstDash val="solid"/>
          </a:ln>
        </p:spPr>
        <p:txBody>
          <a:bodyPr/>
          <a:lstStyle/>
          <a:p>
            <a:endParaRPr lang="es-ES_tradnl"/>
          </a:p>
        </p:txBody>
      </p:sp>
      <p:sp>
        <p:nvSpPr>
          <p:cNvPr id="11" name="Text 9"/>
          <p:cNvSpPr/>
          <p:nvPr/>
        </p:nvSpPr>
        <p:spPr>
          <a:xfrm>
            <a:off x="8252203" y="2342555"/>
            <a:ext cx="2953166" cy="558746"/>
          </a:xfrm>
          <a:prstGeom prst="rect">
            <a:avLst/>
          </a:prstGeom>
          <a:noFill/>
          <a:ln/>
        </p:spPr>
        <p:txBody>
          <a:bodyPr wrap="square" lIns="0" tIns="0" rIns="0" bIns="0" rtlCol="0" anchor="t">
            <a:normAutofit/>
          </a:bodyPr>
          <a:lstStyle/>
          <a:p>
            <a:pPr marL="0" indent="0" algn="l">
              <a:lnSpc>
                <a:spcPts val="4200"/>
              </a:lnSpc>
              <a:buNone/>
            </a:pPr>
            <a:r>
              <a:rPr lang="en-US" sz="4000" b="1" dirty="0">
                <a:solidFill>
                  <a:srgbClr val="B4501A"/>
                </a:solidFill>
                <a:latin typeface="Source Serif 4" pitchFamily="18" charset="0"/>
                <a:ea typeface="Source Serif 4" pitchFamily="18" charset="-122"/>
                <a:cs typeface="Source Serif 4" pitchFamily="18" charset="-120"/>
              </a:rPr>
              <a:t>≈40 h</a:t>
            </a:r>
            <a:endParaRPr lang="en-US" sz="4000" dirty="0"/>
          </a:p>
        </p:txBody>
      </p:sp>
      <p:sp>
        <p:nvSpPr>
          <p:cNvPr id="12" name="Text 10"/>
          <p:cNvSpPr/>
          <p:nvPr/>
        </p:nvSpPr>
        <p:spPr>
          <a:xfrm>
            <a:off x="8252203" y="2952031"/>
            <a:ext cx="2953166" cy="52311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IBM Plex Sans" pitchFamily="34" charset="0"/>
                <a:ea typeface="IBM Plex Sans" pitchFamily="34" charset="-122"/>
                <a:cs typeface="IBM Plex Sans" pitchFamily="34" charset="-120"/>
              </a:rPr>
              <a:t>per person at 1.6 min per package: ≈ 26 h round 1, ≈ 13 h round 2</a:t>
            </a:r>
            <a:endParaRPr lang="en-US" sz="1400" dirty="0"/>
          </a:p>
        </p:txBody>
      </p:sp>
      <p:sp>
        <p:nvSpPr>
          <p:cNvPr id="13" name="Text 11"/>
          <p:cNvSpPr/>
          <p:nvPr/>
        </p:nvSpPr>
        <p:spPr>
          <a:xfrm>
            <a:off x="812782" y="4014304"/>
            <a:ext cx="9810750" cy="540796"/>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3"/>
                </a:solidFill>
                <a:latin typeface="IBM Plex Sans" pitchFamily="34" charset="0"/>
                <a:ea typeface="IBM Plex Sans" pitchFamily="34" charset="-122"/>
                <a:cs typeface="IBM Plex Sans" pitchFamily="34" charset="-120"/>
              </a:rPr>
              <a:t>On top: the released top-up packages and each person's share of adjudication, about 10–13% of packages in round 1 and more expected in round 2.</a:t>
            </a:r>
            <a:endParaRPr lang="en-US" sz="1400" dirty="0"/>
          </a:p>
        </p:txBody>
      </p:sp>
      <p:sp>
        <p:nvSpPr>
          <p:cNvPr id="14" name="Text 12"/>
          <p:cNvSpPr/>
          <p:nvPr/>
        </p:nvSpPr>
        <p:spPr>
          <a:xfrm>
            <a:off x="812782" y="6238249"/>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14 · time measured in round 1 wave 1: 1,409 min for 880 annotations · contract §11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1F4"/>
        </a:solidFill>
        <a:effectLst/>
      </p:bgPr>
    </p:bg>
    <p:spTree>
      <p:nvGrpSpPr>
        <p:cNvPr id="1" name=""/>
        <p:cNvGrpSpPr/>
        <p:nvPr/>
      </p:nvGrpSpPr>
      <p:grpSpPr>
        <a:xfrm>
          <a:off x="0" y="0"/>
          <a:ext cx="0" cy="0"/>
          <a:chOff x="0" y="0"/>
          <a:chExt cx="0" cy="0"/>
        </a:xfrm>
      </p:grpSpPr>
      <p:sp>
        <p:nvSpPr>
          <p:cNvPr id="2" name="Text 0"/>
          <p:cNvSpPr/>
          <p:nvPr/>
        </p:nvSpPr>
        <p:spPr>
          <a:xfrm>
            <a:off x="812782" y="812788"/>
            <a:ext cx="10883429" cy="232316"/>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B4501A"/>
                </a:solidFill>
                <a:latin typeface="IBM Plex Sans" pitchFamily="34" charset="0"/>
                <a:ea typeface="IBM Plex Sans" pitchFamily="34" charset="-122"/>
                <a:cs typeface="IBM Plex Sans" pitchFamily="34" charset="-120"/>
              </a:rPr>
              <a:t>A4 PREVIEW · WHAT ISOLATION COSTS</a:t>
            </a:r>
            <a:endParaRPr lang="en-US" sz="1196" dirty="0"/>
          </a:p>
        </p:txBody>
      </p:sp>
      <p:sp>
        <p:nvSpPr>
          <p:cNvPr id="3" name="Text 1"/>
          <p:cNvSpPr>
            <a:spLocks noGrp="1"/>
          </p:cNvSpPr>
          <p:nvPr>
            <p:ph type="title"/>
          </p:nvPr>
        </p:nvSpPr>
        <p:spPr>
          <a:xfrm>
            <a:off x="812782" y="1172046"/>
            <a:ext cx="10883429" cy="431565"/>
          </a:xfrm>
          <a:prstGeom prst="rect">
            <a:avLst/>
          </a:prstGeom>
          <a:noFill/>
          <a:ln/>
        </p:spPr>
        <p:txBody>
          <a:bodyPr wrap="square" lIns="0" tIns="0" rIns="0" bIns="0" rtlCol="0" anchor="t">
            <a:normAutofit/>
          </a:bodyPr>
          <a:lstStyle/>
          <a:p>
            <a:pPr marL="0" indent="0" algn="l">
              <a:lnSpc>
                <a:spcPts val="3218"/>
              </a:lnSpc>
              <a:buNone/>
            </a:pPr>
            <a:r>
              <a:rPr lang="en-US" sz="2925" b="1" i="0" dirty="0">
                <a:solidFill>
                  <a:srgbClr val="1B2A3A"/>
                </a:solidFill>
                <a:latin typeface="Source Serif 4" pitchFamily="18" charset="0"/>
                <a:ea typeface="Source Serif 4" pitchFamily="18" charset="-122"/>
                <a:cs typeface="Source Serif 4" pitchFamily="18" charset="-120"/>
              </a:rPr>
              <a:t>What each isolation variant leaves to train</a:t>
            </a:r>
            <a:endParaRPr lang="en-US" sz="2925"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742106"/>
          <a:ext cx="10554800" cy="3214420"/>
        </p:xfrm>
        <a:graphic>
          <a:graphicData uri="http://schemas.openxmlformats.org/drawingml/2006/table">
            <a:tbl>
              <a:tblPr/>
              <a:tblGrid>
                <a:gridCol w="2427604">
                  <a:extLst>
                    <a:ext uri="{9D8B030D-6E8A-4147-A177-3AD203B41FA5}">
                      <a16:colId xmlns:a16="http://schemas.microsoft.com/office/drawing/2014/main" val="20000"/>
                    </a:ext>
                  </a:extLst>
                </a:gridCol>
                <a:gridCol w="1161028">
                  <a:extLst>
                    <a:ext uri="{9D8B030D-6E8A-4147-A177-3AD203B41FA5}">
                      <a16:colId xmlns:a16="http://schemas.microsoft.com/office/drawing/2014/main" val="20001"/>
                    </a:ext>
                  </a:extLst>
                </a:gridCol>
                <a:gridCol w="1161028">
                  <a:extLst>
                    <a:ext uri="{9D8B030D-6E8A-4147-A177-3AD203B41FA5}">
                      <a16:colId xmlns:a16="http://schemas.microsoft.com/office/drawing/2014/main" val="20002"/>
                    </a:ext>
                  </a:extLst>
                </a:gridCol>
                <a:gridCol w="1161028">
                  <a:extLst>
                    <a:ext uri="{9D8B030D-6E8A-4147-A177-3AD203B41FA5}">
                      <a16:colId xmlns:a16="http://schemas.microsoft.com/office/drawing/2014/main" val="20003"/>
                    </a:ext>
                  </a:extLst>
                </a:gridCol>
                <a:gridCol w="1161028">
                  <a:extLst>
                    <a:ext uri="{9D8B030D-6E8A-4147-A177-3AD203B41FA5}">
                      <a16:colId xmlns:a16="http://schemas.microsoft.com/office/drawing/2014/main" val="20004"/>
                    </a:ext>
                  </a:extLst>
                </a:gridCol>
                <a:gridCol w="1161028">
                  <a:extLst>
                    <a:ext uri="{9D8B030D-6E8A-4147-A177-3AD203B41FA5}">
                      <a16:colId xmlns:a16="http://schemas.microsoft.com/office/drawing/2014/main" val="20005"/>
                    </a:ext>
                  </a:extLst>
                </a:gridCol>
                <a:gridCol w="1161028">
                  <a:extLst>
                    <a:ext uri="{9D8B030D-6E8A-4147-A177-3AD203B41FA5}">
                      <a16:colId xmlns:a16="http://schemas.microsoft.com/office/drawing/2014/main" val="20006"/>
                    </a:ext>
                  </a:extLst>
                </a:gridCol>
                <a:gridCol w="1161028">
                  <a:extLst>
                    <a:ext uri="{9D8B030D-6E8A-4147-A177-3AD203B41FA5}">
                      <a16:colId xmlns:a16="http://schemas.microsoft.com/office/drawing/2014/main" val="20007"/>
                    </a:ext>
                  </a:extLst>
                </a:gridCol>
              </a:tblGrid>
              <a:tr h="321379">
                <a:tc>
                  <a:txBody>
                    <a:bodyPr/>
                    <a:lstStyle/>
                    <a:p>
                      <a:pPr marL="0" indent="0">
                        <a:lnSpc>
                          <a:spcPts val="1627"/>
                        </a:lnSpc>
                        <a:buNone/>
                      </a:pPr>
                      <a:r>
                        <a:rPr lang="en-US" sz="1163" b="1" dirty="0">
                          <a:solidFill>
                            <a:srgbClr val="1B2A3A"/>
                          </a:solidFill>
                          <a:latin typeface="IBM Plex Sans" pitchFamily="34" charset="0"/>
                          <a:ea typeface="IBM Plex Sans" pitchFamily="34" charset="-122"/>
                          <a:cs typeface="IBM Plex Sans" pitchFamily="34" charset="-120"/>
                        </a:rPr>
                        <a:t>Train + own test</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1B2B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4"/>
                      </a:solidFill>
                      <a:prstDash val="solid"/>
                      <a:round/>
                      <a:headEnd type="none" w="med" len="med"/>
                      <a:tailEnd type="none" w="med" len="med"/>
                    </a:lnB>
                    <a:solidFill>
                      <a:srgbClr val="DDDFE2"/>
                    </a:solidFill>
                  </a:tcPr>
                </a:tc>
                <a:tc>
                  <a:txBody>
                    <a:bodyPr/>
                    <a:lstStyle/>
                    <a:p>
                      <a:pPr marL="0" indent="0" algn="r">
                        <a:lnSpc>
                          <a:spcPts val="1627"/>
                        </a:lnSpc>
                        <a:buNone/>
                      </a:pPr>
                      <a:r>
                        <a:rPr lang="en-US" sz="1163" b="1" dirty="0">
                          <a:solidFill>
                            <a:srgbClr val="1B2A3A"/>
                          </a:solidFill>
                          <a:latin typeface="IBM Plex Sans" pitchFamily="34" charset="0"/>
                          <a:ea typeface="IBM Plex Sans" pitchFamily="34" charset="-122"/>
                          <a:cs typeface="IBM Plex Sans" pitchFamily="34" charset="-120"/>
                        </a:rPr>
                        <a:t>G14 V0</a:t>
                      </a:r>
                      <a:endParaRPr lang="en-US" sz="1163" dirty="0">
                        <a:latin typeface="IBM Plex Sans" charset="0"/>
                        <a:ea typeface="IBM Plex Sans" charset="0"/>
                        <a:cs typeface="IBM Plex Sans" charset="0"/>
                      </a:endParaRPr>
                    </a:p>
                  </a:txBody>
                  <a:tcPr marL="51673" marR="51673" marT="51673" marB="51673">
                    <a:lnL w="12700" cap="flat" cmpd="sng" algn="ctr">
                      <a:solidFill>
                        <a:srgbClr val="B1B2B4"/>
                      </a:solidFill>
                      <a:prstDash val="solid"/>
                      <a:round/>
                      <a:headEnd type="none" w="med" len="med"/>
                      <a:tailEnd type="none" w="med" len="med"/>
                    </a:lnL>
                    <a:lnR w="12700" cap="flat" cmpd="sng" algn="ctr">
                      <a:solidFill>
                        <a:srgbClr val="B1B2B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4"/>
                      </a:solidFill>
                      <a:prstDash val="solid"/>
                      <a:round/>
                      <a:headEnd type="none" w="med" len="med"/>
                      <a:tailEnd type="none" w="med" len="med"/>
                    </a:lnB>
                    <a:solidFill>
                      <a:srgbClr val="DDDFE2"/>
                    </a:solidFill>
                  </a:tcPr>
                </a:tc>
                <a:tc>
                  <a:txBody>
                    <a:bodyPr/>
                    <a:lstStyle/>
                    <a:p>
                      <a:pPr marL="0" indent="0" algn="r">
                        <a:lnSpc>
                          <a:spcPts val="1627"/>
                        </a:lnSpc>
                        <a:buNone/>
                      </a:pPr>
                      <a:r>
                        <a:rPr lang="en-US" sz="1163" b="1" dirty="0">
                          <a:solidFill>
                            <a:srgbClr val="1B2A3A"/>
                          </a:solidFill>
                          <a:latin typeface="IBM Plex Sans" pitchFamily="34" charset="0"/>
                          <a:ea typeface="IBM Plex Sans" pitchFamily="34" charset="-122"/>
                          <a:cs typeface="IBM Plex Sans" pitchFamily="34" charset="-120"/>
                        </a:rPr>
                        <a:t>G14 V1</a:t>
                      </a:r>
                      <a:endParaRPr lang="en-US" sz="1163" dirty="0">
                        <a:latin typeface="IBM Plex Sans" charset="0"/>
                        <a:ea typeface="IBM Plex Sans" charset="0"/>
                        <a:cs typeface="IBM Plex Sans" charset="0"/>
                      </a:endParaRPr>
                    </a:p>
                  </a:txBody>
                  <a:tcPr marL="51673" marR="51673" marT="51673" marB="51673">
                    <a:lnL w="12700" cap="flat" cmpd="sng" algn="ctr">
                      <a:solidFill>
                        <a:srgbClr val="B1B2B4"/>
                      </a:solidFill>
                      <a:prstDash val="solid"/>
                      <a:round/>
                      <a:headEnd type="none" w="med" len="med"/>
                      <a:tailEnd type="none" w="med" len="med"/>
                    </a:lnL>
                    <a:lnR w="12700" cap="flat" cmpd="sng" algn="ctr">
                      <a:solidFill>
                        <a:srgbClr val="B1B2B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4"/>
                      </a:solidFill>
                      <a:prstDash val="solid"/>
                      <a:round/>
                      <a:headEnd type="none" w="med" len="med"/>
                      <a:tailEnd type="none" w="med" len="med"/>
                    </a:lnB>
                    <a:solidFill>
                      <a:srgbClr val="DDDFE2"/>
                    </a:solidFill>
                  </a:tcPr>
                </a:tc>
                <a:tc>
                  <a:txBody>
                    <a:bodyPr/>
                    <a:lstStyle/>
                    <a:p>
                      <a:pPr marL="0" indent="0" algn="r">
                        <a:lnSpc>
                          <a:spcPts val="1627"/>
                        </a:lnSpc>
                        <a:buNone/>
                      </a:pPr>
                      <a:r>
                        <a:rPr lang="en-US" sz="1163" b="1" dirty="0">
                          <a:solidFill>
                            <a:srgbClr val="1B2A3A"/>
                          </a:solidFill>
                          <a:latin typeface="IBM Plex Sans" pitchFamily="34" charset="0"/>
                          <a:ea typeface="IBM Plex Sans" pitchFamily="34" charset="-122"/>
                          <a:cs typeface="IBM Plex Sans" pitchFamily="34" charset="-120"/>
                        </a:rPr>
                        <a:t>G14 V2</a:t>
                      </a:r>
                      <a:endParaRPr lang="en-US" sz="1163" dirty="0">
                        <a:latin typeface="IBM Plex Sans" charset="0"/>
                        <a:ea typeface="IBM Plex Sans" charset="0"/>
                        <a:cs typeface="IBM Plex Sans" charset="0"/>
                      </a:endParaRPr>
                    </a:p>
                  </a:txBody>
                  <a:tcPr marL="51673" marR="51673" marT="51673" marB="51673">
                    <a:lnL w="12700" cap="flat" cmpd="sng" algn="ctr">
                      <a:solidFill>
                        <a:srgbClr val="B1B2B4"/>
                      </a:solidFill>
                      <a:prstDash val="solid"/>
                      <a:round/>
                      <a:headEnd type="none" w="med" len="med"/>
                      <a:tailEnd type="none" w="med" len="med"/>
                    </a:lnL>
                    <a:lnR w="12700" cap="flat" cmpd="sng" algn="ctr">
                      <a:solidFill>
                        <a:srgbClr val="B1B2B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4"/>
                      </a:solidFill>
                      <a:prstDash val="solid"/>
                      <a:round/>
                      <a:headEnd type="none" w="med" len="med"/>
                      <a:tailEnd type="none" w="med" len="med"/>
                    </a:lnB>
                    <a:solidFill>
                      <a:srgbClr val="DDDFE2"/>
                    </a:solidFill>
                  </a:tcPr>
                </a:tc>
                <a:tc>
                  <a:txBody>
                    <a:bodyPr/>
                    <a:lstStyle/>
                    <a:p>
                      <a:pPr marL="0" indent="0" algn="r">
                        <a:lnSpc>
                          <a:spcPts val="1627"/>
                        </a:lnSpc>
                        <a:buNone/>
                      </a:pPr>
                      <a:r>
                        <a:rPr lang="en-US" sz="1163" b="1" dirty="0">
                          <a:solidFill>
                            <a:srgbClr val="1B2A3A"/>
                          </a:solidFill>
                          <a:latin typeface="IBM Plex Sans" pitchFamily="34" charset="0"/>
                          <a:ea typeface="IBM Plex Sans" pitchFamily="34" charset="-122"/>
                          <a:cs typeface="IBM Plex Sans" pitchFamily="34" charset="-120"/>
                        </a:rPr>
                        <a:t>G15 V0</a:t>
                      </a:r>
                      <a:endParaRPr lang="en-US" sz="1163" dirty="0">
                        <a:latin typeface="IBM Plex Sans" charset="0"/>
                        <a:ea typeface="IBM Plex Sans" charset="0"/>
                        <a:cs typeface="IBM Plex Sans" charset="0"/>
                      </a:endParaRPr>
                    </a:p>
                  </a:txBody>
                  <a:tcPr marL="51673" marR="51673" marT="51673" marB="51673">
                    <a:lnL w="12700" cap="flat" cmpd="sng" algn="ctr">
                      <a:solidFill>
                        <a:srgbClr val="B1B2B4"/>
                      </a:solidFill>
                      <a:prstDash val="solid"/>
                      <a:round/>
                      <a:headEnd type="none" w="med" len="med"/>
                      <a:tailEnd type="none" w="med" len="med"/>
                    </a:lnL>
                    <a:lnR w="12700" cap="flat" cmpd="sng" algn="ctr">
                      <a:solidFill>
                        <a:srgbClr val="B1B2B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4"/>
                      </a:solidFill>
                      <a:prstDash val="solid"/>
                      <a:round/>
                      <a:headEnd type="none" w="med" len="med"/>
                      <a:tailEnd type="none" w="med" len="med"/>
                    </a:lnB>
                    <a:solidFill>
                      <a:srgbClr val="DDDFE2"/>
                    </a:solidFill>
                  </a:tcPr>
                </a:tc>
                <a:tc>
                  <a:txBody>
                    <a:bodyPr/>
                    <a:lstStyle/>
                    <a:p>
                      <a:pPr marL="0" indent="0" algn="r">
                        <a:lnSpc>
                          <a:spcPts val="1627"/>
                        </a:lnSpc>
                        <a:buNone/>
                      </a:pPr>
                      <a:r>
                        <a:rPr lang="en-US" sz="1163" b="1" dirty="0">
                          <a:solidFill>
                            <a:srgbClr val="1B2A3A"/>
                          </a:solidFill>
                          <a:latin typeface="IBM Plex Sans" pitchFamily="34" charset="0"/>
                          <a:ea typeface="IBM Plex Sans" pitchFamily="34" charset="-122"/>
                          <a:cs typeface="IBM Plex Sans" pitchFamily="34" charset="-120"/>
                        </a:rPr>
                        <a:t>G15 V1</a:t>
                      </a:r>
                      <a:endParaRPr lang="en-US" sz="1163" dirty="0">
                        <a:latin typeface="IBM Plex Sans" charset="0"/>
                        <a:ea typeface="IBM Plex Sans" charset="0"/>
                        <a:cs typeface="IBM Plex Sans" charset="0"/>
                      </a:endParaRPr>
                    </a:p>
                  </a:txBody>
                  <a:tcPr marL="51673" marR="51673" marT="51673" marB="51673">
                    <a:lnL w="12700" cap="flat" cmpd="sng" algn="ctr">
                      <a:solidFill>
                        <a:srgbClr val="B1B2B4"/>
                      </a:solidFill>
                      <a:prstDash val="solid"/>
                      <a:round/>
                      <a:headEnd type="none" w="med" len="med"/>
                      <a:tailEnd type="none" w="med" len="med"/>
                    </a:lnL>
                    <a:lnR w="12700" cap="flat" cmpd="sng" algn="ctr">
                      <a:solidFill>
                        <a:srgbClr val="B1B2B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4"/>
                      </a:solidFill>
                      <a:prstDash val="solid"/>
                      <a:round/>
                      <a:headEnd type="none" w="med" len="med"/>
                      <a:tailEnd type="none" w="med" len="med"/>
                    </a:lnB>
                    <a:solidFill>
                      <a:srgbClr val="DDDFE2"/>
                    </a:solidFill>
                  </a:tcPr>
                </a:tc>
                <a:tc>
                  <a:txBody>
                    <a:bodyPr/>
                    <a:lstStyle/>
                    <a:p>
                      <a:pPr marL="0" indent="0" algn="r">
                        <a:lnSpc>
                          <a:spcPts val="1627"/>
                        </a:lnSpc>
                        <a:buNone/>
                      </a:pPr>
                      <a:r>
                        <a:rPr lang="en-US" sz="1163" b="1" dirty="0">
                          <a:solidFill>
                            <a:srgbClr val="1B2A3A"/>
                          </a:solidFill>
                          <a:latin typeface="IBM Plex Sans" pitchFamily="34" charset="0"/>
                          <a:ea typeface="IBM Plex Sans" pitchFamily="34" charset="-122"/>
                          <a:cs typeface="IBM Plex Sans" pitchFamily="34" charset="-120"/>
                        </a:rPr>
                        <a:t>G15 V2</a:t>
                      </a:r>
                      <a:endParaRPr lang="en-US" sz="1163" dirty="0">
                        <a:latin typeface="IBM Plex Sans" charset="0"/>
                        <a:ea typeface="IBM Plex Sans" charset="0"/>
                        <a:cs typeface="IBM Plex Sans" charset="0"/>
                      </a:endParaRPr>
                    </a:p>
                  </a:txBody>
                  <a:tcPr marL="51673" marR="51673" marT="51673" marB="51673">
                    <a:lnL w="12700" cap="flat" cmpd="sng" algn="ctr">
                      <a:solidFill>
                        <a:srgbClr val="B1B2B4"/>
                      </a:solidFill>
                      <a:prstDash val="solid"/>
                      <a:round/>
                      <a:headEnd type="none" w="med" len="med"/>
                      <a:tailEnd type="none" w="med" len="med"/>
                    </a:lnL>
                    <a:lnR w="12700" cap="flat" cmpd="sng" algn="ctr">
                      <a:solidFill>
                        <a:srgbClr val="B1B2B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4"/>
                      </a:solidFill>
                      <a:prstDash val="solid"/>
                      <a:round/>
                      <a:headEnd type="none" w="med" len="med"/>
                      <a:tailEnd type="none" w="med" len="med"/>
                    </a:lnB>
                    <a:solidFill>
                      <a:srgbClr val="DDDFE2"/>
                    </a:solidFill>
                  </a:tcPr>
                </a:tc>
                <a:tc>
                  <a:txBody>
                    <a:bodyPr/>
                    <a:lstStyle/>
                    <a:p>
                      <a:pPr marL="0" indent="0" algn="r">
                        <a:lnSpc>
                          <a:spcPts val="1627"/>
                        </a:lnSpc>
                        <a:buNone/>
                      </a:pPr>
                      <a:r>
                        <a:rPr lang="en-US" sz="1163" b="1" dirty="0">
                          <a:solidFill>
                            <a:srgbClr val="1B2A3A"/>
                          </a:solidFill>
                          <a:latin typeface="IBM Plex Sans" pitchFamily="34" charset="0"/>
                          <a:ea typeface="IBM Plex Sans" pitchFamily="34" charset="-122"/>
                          <a:cs typeface="IBM Plex Sans" pitchFamily="34" charset="-120"/>
                        </a:rPr>
                        <a:t>Target</a:t>
                      </a:r>
                      <a:endParaRPr lang="en-US" sz="1163" dirty="0">
                        <a:latin typeface="IBM Plex Sans" charset="0"/>
                        <a:ea typeface="IBM Plex Sans" charset="0"/>
                        <a:cs typeface="IBM Plex Sans" charset="0"/>
                      </a:endParaRPr>
                    </a:p>
                  </a:txBody>
                  <a:tcPr marL="51673" marR="51673" marT="51673" marB="51673">
                    <a:lnL w="12700" cap="flat" cmpd="sng" algn="ctr">
                      <a:solidFill>
                        <a:srgbClr val="B1B2B4"/>
                      </a:solidFill>
                      <a:prstDash val="solid"/>
                      <a:round/>
                      <a:headEnd type="none" w="med" len="med"/>
                      <a:tailEnd type="none" w="med" len="med"/>
                    </a:lnL>
                    <a:lnR w="12700" cap="flat" cmpd="sng" algn="ctr">
                      <a:solidFill>
                        <a:srgbClr val="B1B2B4"/>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1B2B4"/>
                      </a:solidFill>
                      <a:prstDash val="solid"/>
                      <a:round/>
                      <a:headEnd type="none" w="med" len="med"/>
                      <a:tailEnd type="none" w="med" len="med"/>
                    </a:lnB>
                    <a:solidFill>
                      <a:srgbClr val="DDDFE2"/>
                    </a:solidFill>
                  </a:tcPr>
                </a:tc>
                <a:extLst>
                  <a:ext uri="{0D108BD9-81ED-4DB2-BD59-A6C34878D82A}">
                    <a16:rowId xmlns:a16="http://schemas.microsoft.com/office/drawing/2014/main" val="10000"/>
                  </a:ext>
                </a:extLst>
              </a:tr>
              <a:tr h="321379">
                <a:tc>
                  <a:txBody>
                    <a:bodyPr/>
                    <a:lstStyle/>
                    <a:p>
                      <a:pPr marL="0" indent="0">
                        <a:lnSpc>
                          <a:spcPts val="1627"/>
                        </a:lnSpc>
                        <a:buNone/>
                      </a:pPr>
                      <a:r>
                        <a:rPr lang="en-US" sz="1163" dirty="0">
                          <a:solidFill>
                            <a:srgbClr val="1B2A3A"/>
                          </a:solidFill>
                          <a:latin typeface="IBM Plex Sans" pitchFamily="34" charset="0"/>
                          <a:ea typeface="IBM Plex Sans" pitchFamily="34" charset="-122"/>
                          <a:cs typeface="IBM Plex Sans" pitchFamily="34" charset="-120"/>
                        </a:rPr>
                        <a:t>Background</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12,536</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7,553</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7,066</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12,544</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7,576</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7,061</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2,000</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1B2B4"/>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1"/>
                  </a:ext>
                </a:extLst>
              </a:tr>
              <a:tr h="321379">
                <a:tc>
                  <a:txBody>
                    <a:bodyPr/>
                    <a:lstStyle/>
                    <a:p>
                      <a:pPr marL="0" indent="0">
                        <a:lnSpc>
                          <a:spcPts val="1627"/>
                        </a:lnSpc>
                        <a:buNone/>
                      </a:pPr>
                      <a:r>
                        <a:rPr lang="en-US" sz="1163" dirty="0">
                          <a:solidFill>
                            <a:srgbClr val="1B2A3A"/>
                          </a:solidFill>
                          <a:latin typeface="IBM Plex Sans" pitchFamily="34" charset="0"/>
                          <a:ea typeface="IBM Plex Sans" pitchFamily="34" charset="-122"/>
                          <a:cs typeface="IBM Plex Sans" pitchFamily="34" charset="-120"/>
                        </a:rPr>
                        <a:t>Gap</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3,138</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2,103</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1,950</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3,137</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2,065</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1,929</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2,000</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2"/>
                  </a:ext>
                </a:extLst>
              </a:tr>
              <a:tr h="321469">
                <a:tc>
                  <a:txBody>
                    <a:bodyPr/>
                    <a:lstStyle/>
                    <a:p>
                      <a:pPr marL="0" indent="0">
                        <a:lnSpc>
                          <a:spcPts val="1627"/>
                        </a:lnSpc>
                        <a:buNone/>
                      </a:pPr>
                      <a:r>
                        <a:rPr lang="en-US" sz="1163" dirty="0">
                          <a:solidFill>
                            <a:srgbClr val="1B2A3A"/>
                          </a:solidFill>
                          <a:latin typeface="IBM Plex Sans" pitchFamily="34" charset="0"/>
                          <a:ea typeface="IBM Plex Sans" pitchFamily="34" charset="-122"/>
                          <a:cs typeface="IBM Plex Sans" pitchFamily="34" charset="-120"/>
                        </a:rPr>
                        <a:t>Basis</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2,944</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1,531</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1,439</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2,936</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1,516</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1,438</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2,000</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3"/>
                  </a:ext>
                </a:extLst>
              </a:tr>
              <a:tr h="321469">
                <a:tc>
                  <a:txBody>
                    <a:bodyPr/>
                    <a:lstStyle/>
                    <a:p>
                      <a:pPr marL="0" indent="0">
                        <a:lnSpc>
                          <a:spcPts val="1627"/>
                        </a:lnSpc>
                        <a:buNone/>
                      </a:pPr>
                      <a:r>
                        <a:rPr lang="en-US" sz="1163" dirty="0">
                          <a:solidFill>
                            <a:srgbClr val="1B2A3A"/>
                          </a:solidFill>
                          <a:latin typeface="IBM Plex Sans" pitchFamily="34" charset="0"/>
                          <a:ea typeface="IBM Plex Sans" pitchFamily="34" charset="-122"/>
                          <a:cs typeface="IBM Plex Sans" pitchFamily="34" charset="-120"/>
                        </a:rPr>
                        <a:t>Comparison</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3,444</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2,054</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1,928</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3,487</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2,068</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1,896</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2,000</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4"/>
                  </a:ext>
                </a:extLst>
              </a:tr>
              <a:tr h="321469">
                <a:tc>
                  <a:txBody>
                    <a:bodyPr/>
                    <a:lstStyle/>
                    <a:p>
                      <a:pPr marL="0" indent="0">
                        <a:lnSpc>
                          <a:spcPts val="1627"/>
                        </a:lnSpc>
                        <a:buNone/>
                      </a:pPr>
                      <a:r>
                        <a:rPr lang="en-US" sz="1163" dirty="0">
                          <a:solidFill>
                            <a:srgbClr val="1B2A3A"/>
                          </a:solidFill>
                          <a:latin typeface="IBM Plex Sans" pitchFamily="34" charset="0"/>
                          <a:ea typeface="IBM Plex Sans" pitchFamily="34" charset="-122"/>
                          <a:cs typeface="IBM Plex Sans" pitchFamily="34" charset="-120"/>
                        </a:rPr>
                        <a:t>Application</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4,511</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1,690</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1,560</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4,573</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1,719</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1,596</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2,000</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5"/>
                  </a:ext>
                </a:extLst>
              </a:tr>
              <a:tr h="321469">
                <a:tc>
                  <a:txBody>
                    <a:bodyPr/>
                    <a:lstStyle/>
                    <a:p>
                      <a:pPr marL="0" indent="0">
                        <a:lnSpc>
                          <a:spcPts val="1627"/>
                        </a:lnSpc>
                        <a:buNone/>
                      </a:pPr>
                      <a:r>
                        <a:rPr lang="en-US" sz="1163" dirty="0">
                          <a:solidFill>
                            <a:srgbClr val="1B2A3A"/>
                          </a:solidFill>
                          <a:latin typeface="IBM Plex Sans" pitchFamily="34" charset="0"/>
                          <a:ea typeface="IBM Plex Sans" pitchFamily="34" charset="-122"/>
                          <a:cs typeface="IBM Plex Sans" pitchFamily="34" charset="-120"/>
                        </a:rPr>
                        <a:t>Evidence</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3,330</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2,072</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1,953</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3,357</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2,086</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1,975</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2,000</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6"/>
                  </a:ext>
                </a:extLst>
              </a:tr>
              <a:tr h="321469">
                <a:tc>
                  <a:txBody>
                    <a:bodyPr/>
                    <a:lstStyle/>
                    <a:p>
                      <a:pPr marL="0" indent="0">
                        <a:lnSpc>
                          <a:spcPts val="1627"/>
                        </a:lnSpc>
                        <a:buNone/>
                      </a:pPr>
                      <a:r>
                        <a:rPr lang="en-US" sz="1163" dirty="0">
                          <a:solidFill>
                            <a:srgbClr val="1B2A3A"/>
                          </a:solidFill>
                          <a:latin typeface="IBM Plex Sans" pitchFamily="34" charset="0"/>
                          <a:ea typeface="IBM Plex Sans" pitchFamily="34" charset="-122"/>
                          <a:cs typeface="IBM Plex Sans" pitchFamily="34" charset="-120"/>
                        </a:rPr>
                        <a:t>Improvement/Mod.</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878</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526</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508</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875</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527</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504</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958</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7"/>
                  </a:ext>
                </a:extLst>
              </a:tr>
              <a:tr h="321469">
                <a:tc>
                  <a:txBody>
                    <a:bodyPr/>
                    <a:lstStyle/>
                    <a:p>
                      <a:pPr marL="0" indent="0">
                        <a:lnSpc>
                          <a:spcPts val="1627"/>
                        </a:lnSpc>
                        <a:buNone/>
                      </a:pPr>
                      <a:r>
                        <a:rPr lang="en-US" sz="1163" dirty="0">
                          <a:solidFill>
                            <a:srgbClr val="1B2A3A"/>
                          </a:solidFill>
                          <a:latin typeface="IBM Plex Sans" pitchFamily="34" charset="0"/>
                          <a:ea typeface="IBM Plex Sans" pitchFamily="34" charset="-122"/>
                          <a:cs typeface="IBM Plex Sans" pitchFamily="34" charset="-120"/>
                        </a:rPr>
                        <a:t>Originator</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1,649</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810</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784</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1,642</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793</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767</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1,786</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8"/>
                  </a:ext>
                </a:extLst>
              </a:tr>
              <a:tr h="321469">
                <a:tc>
                  <a:txBody>
                    <a:bodyPr/>
                    <a:lstStyle/>
                    <a:p>
                      <a:pPr marL="0" indent="0">
                        <a:lnSpc>
                          <a:spcPts val="1627"/>
                        </a:lnSpc>
                        <a:buNone/>
                      </a:pPr>
                      <a:r>
                        <a:rPr lang="en-US" sz="1163" dirty="0">
                          <a:solidFill>
                            <a:srgbClr val="1B2A3A"/>
                          </a:solidFill>
                          <a:latin typeface="IBM Plex Sans" pitchFamily="34" charset="0"/>
                          <a:ea typeface="IBM Plex Sans" pitchFamily="34" charset="-122"/>
                          <a:cs typeface="IBM Plex Sans" pitchFamily="34" charset="-120"/>
                        </a:rPr>
                        <a:t>Further Reading</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1,660</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1,184</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1,152</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1,684</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1,184</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1,153</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tc>
                  <a:txBody>
                    <a:bodyPr/>
                    <a:lstStyle/>
                    <a:p>
                      <a:pPr marL="0" indent="0" algn="r">
                        <a:lnSpc>
                          <a:spcPts val="1627"/>
                        </a:lnSpc>
                        <a:buNone/>
                      </a:pPr>
                      <a:r>
                        <a:rPr lang="en-US" sz="1163" dirty="0">
                          <a:solidFill>
                            <a:srgbClr val="1B2A3A"/>
                          </a:solidFill>
                          <a:latin typeface="IBM Plex Sans" pitchFamily="34" charset="0"/>
                          <a:ea typeface="IBM Plex Sans" pitchFamily="34" charset="-122"/>
                          <a:cs typeface="IBM Plex Sans" pitchFamily="34" charset="-120"/>
                        </a:rPr>
                        <a:t>1,776</a:t>
                      </a:r>
                      <a:endParaRPr lang="en-US" sz="1163" dirty="0">
                        <a:latin typeface="IBM Plex Sans" charset="0"/>
                        <a:ea typeface="IBM Plex Sans" charset="0"/>
                        <a:cs typeface="IBM Plex Sans" charset="0"/>
                      </a:endParaRPr>
                    </a:p>
                  </a:txBody>
                  <a:tcPr marL="51673" marR="51673" marT="51673" marB="51673">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BEC0C3"/>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782" y="5108866"/>
            <a:ext cx="10566436" cy="733136"/>
          </a:xfrm>
          <a:prstGeom prst="roundRect">
            <a:avLst>
              <a:gd name="adj" fmla="val 13858"/>
            </a:avLst>
          </a:prstGeom>
          <a:solidFill>
            <a:srgbClr val="1B2A3A"/>
          </a:solidFill>
          <a:ln/>
        </p:spPr>
        <p:txBody>
          <a:bodyPr wrap="square" lIns="198806" tIns="122642" rIns="0" bIns="97134" rtlCol="0" anchor="t">
            <a:normAutofit/>
          </a:bodyPr>
          <a:lstStyle/>
          <a:p>
            <a:pPr marL="0" indent="0" algn="l">
              <a:lnSpc>
                <a:spcPts val="1686"/>
              </a:lnSpc>
              <a:buNone/>
            </a:pPr>
            <a:r>
              <a:rPr lang="en-US" sz="1163" b="1" dirty="0">
                <a:solidFill>
                  <a:srgbClr val="F7F5F0"/>
                </a:solidFill>
                <a:latin typeface="IBM Plex Sans" pitchFamily="34" charset="0"/>
                <a:ea typeface="IBM Plex Sans" pitchFamily="34" charset="-122"/>
                <a:cs typeface="IBM Plex Sans" pitchFamily="34" charset="-120"/>
              </a:rPr>
              <a:t>V0</a:t>
            </a:r>
            <a:r>
              <a:rPr lang="en-US" sz="1163" dirty="0">
                <a:solidFill>
                  <a:srgbClr val="F7F5F0"/>
                </a:solidFill>
                <a:latin typeface="IBM Plex Sans" pitchFamily="34" charset="0"/>
                <a:ea typeface="IBM Plex Sans" pitchFamily="34" charset="-122"/>
                <a:cs typeface="IBM Plex Sans" pitchFamily="34" charset="-120"/>
              </a:rPr>
              <a:t> own test set's citing papers · </a:t>
            </a:r>
            <a:r>
              <a:rPr lang="en-US" sz="1163" b="1" dirty="0">
                <a:solidFill>
                  <a:srgbClr val="F7F5F0"/>
                </a:solidFill>
                <a:latin typeface="IBM Plex Sans" pitchFamily="34" charset="0"/>
                <a:ea typeface="IBM Plex Sans" pitchFamily="34" charset="-122"/>
                <a:cs typeface="IBM Plex Sans" pitchFamily="34" charset="-120"/>
              </a:rPr>
              <a:t>V1</a:t>
            </a:r>
            <a:r>
              <a:rPr lang="en-US" sz="1163" dirty="0">
                <a:solidFill>
                  <a:srgbClr val="F7F5F0"/>
                </a:solidFill>
                <a:latin typeface="IBM Plex Sans" pitchFamily="34" charset="0"/>
                <a:ea typeface="IBM Plex Sans" pitchFamily="34" charset="-122"/>
                <a:cs typeface="IBM Plex Sans" pitchFamily="34" charset="-120"/>
              </a:rPr>
              <a:t> + their cited papers · </a:t>
            </a:r>
            <a:r>
              <a:rPr lang="en-US" sz="1163" b="1" dirty="0">
                <a:solidFill>
                  <a:srgbClr val="F7F5F0"/>
                </a:solidFill>
                <a:latin typeface="IBM Plex Sans" pitchFamily="34" charset="0"/>
                <a:ea typeface="IBM Plex Sans" pitchFamily="34" charset="-122"/>
                <a:cs typeface="IBM Plex Sans" pitchFamily="34" charset="-120"/>
              </a:rPr>
              <a:t>V2</a:t>
            </a:r>
            <a:r>
              <a:rPr lang="en-US" sz="1163" dirty="0">
                <a:solidFill>
                  <a:srgbClr val="F7F5F0"/>
                </a:solidFill>
                <a:latin typeface="IBM Plex Sans" pitchFamily="34" charset="0"/>
                <a:ea typeface="IBM Plex Sans" pitchFamily="34" charset="-122"/>
                <a:cs typeface="IBM Plex Sans" pitchFamily="34" charset="-120"/>
              </a:rPr>
              <a:t> + papers in the other role. Beyond V0, V1 removes ≈ 14,600 rows per group, mostly standard tools (ResNet, U-Net, Adam).</a:t>
            </a:r>
            <a:endParaRPr lang="en-US" sz="1163" dirty="0"/>
          </a:p>
        </p:txBody>
      </p:sp>
      <p:sp>
        <p:nvSpPr>
          <p:cNvPr id="6" name="Text 3"/>
          <p:cNvSpPr/>
          <p:nvPr/>
        </p:nvSpPr>
        <p:spPr>
          <a:xfrm>
            <a:off x="812782" y="6238249"/>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15 · §10 of the A3 notebook, 23 Oct · calibration papers excluded in all variants · each group excludes only its own test set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1F4"/>
        </a:solidFill>
        <a:effectLst/>
      </p:bgPr>
    </p:bg>
    <p:spTree>
      <p:nvGrpSpPr>
        <p:cNvPr id="1" name=""/>
        <p:cNvGrpSpPr/>
        <p:nvPr/>
      </p:nvGrpSpPr>
      <p:grpSpPr>
        <a:xfrm>
          <a:off x="0" y="0"/>
          <a:ext cx="0" cy="0"/>
          <a:chOff x="0" y="0"/>
          <a:chExt cx="0" cy="0"/>
        </a:xfrm>
      </p:grpSpPr>
      <p:sp>
        <p:nvSpPr>
          <p:cNvPr id="2" name="Text 0"/>
          <p:cNvSpPr/>
          <p:nvPr/>
        </p:nvSpPr>
        <p:spPr>
          <a:xfrm>
            <a:off x="812782" y="812781"/>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A"/>
                </a:solidFill>
                <a:latin typeface="IBM Plex Sans" pitchFamily="34" charset="0"/>
                <a:ea typeface="IBM Plex Sans" pitchFamily="34" charset="-122"/>
                <a:cs typeface="IBM Plex Sans" pitchFamily="34" charset="-120"/>
              </a:rPr>
              <a:t>A4 PREVIEW · TRAINING SET V1</a:t>
            </a:r>
            <a:endParaRPr lang="en-US" sz="1200" dirty="0"/>
          </a:p>
        </p:txBody>
      </p:sp>
      <p:sp>
        <p:nvSpPr>
          <p:cNvPr id="3" name="Text 1"/>
          <p:cNvSpPr>
            <a:spLocks noGrp="1"/>
          </p:cNvSpPr>
          <p:nvPr>
            <p:ph type="title"/>
          </p:nvPr>
        </p:nvSpPr>
        <p:spPr>
          <a:xfrm>
            <a:off x="812782" y="1280201"/>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Training can start before annotation ends</a:t>
            </a:r>
            <a:endParaRPr lang="en-US" sz="3200" dirty="0"/>
          </a:p>
        </p:txBody>
      </p:sp>
      <p:sp>
        <p:nvSpPr>
          <p:cNvPr id="4" name="Shape 2"/>
          <p:cNvSpPr/>
          <p:nvPr/>
        </p:nvSpPr>
        <p:spPr>
          <a:xfrm>
            <a:off x="815957" y="1984394"/>
            <a:ext cx="3380347" cy="2135242"/>
          </a:xfrm>
          <a:prstGeom prst="roundRect">
            <a:avLst>
              <a:gd name="adj" fmla="val 4610"/>
            </a:avLst>
          </a:prstGeom>
          <a:solidFill>
            <a:srgbClr val="FFFFFF"/>
          </a:solidFill>
          <a:ln w="6350">
            <a:solidFill>
              <a:srgbClr val="D3D9DF"/>
            </a:solidFill>
            <a:prstDash val="solid"/>
          </a:ln>
        </p:spPr>
        <p:txBody>
          <a:bodyPr/>
          <a:lstStyle/>
          <a:p>
            <a:endParaRPr lang="es-ES_tradnl"/>
          </a:p>
        </p:txBody>
      </p:sp>
      <p:sp>
        <p:nvSpPr>
          <p:cNvPr id="5" name="Text 3"/>
          <p:cNvSpPr/>
          <p:nvPr/>
        </p:nvSpPr>
        <p:spPr>
          <a:xfrm>
            <a:off x="1072555" y="2240998"/>
            <a:ext cx="2953166" cy="23881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B5"/>
                </a:solidFill>
                <a:latin typeface="IBM Plex Sans" pitchFamily="34" charset="0"/>
                <a:ea typeface="IBM Plex Sans" pitchFamily="34" charset="-122"/>
                <a:cs typeface="IBM Plex Sans" pitchFamily="34" charset="-120"/>
              </a:rPr>
              <a:t>WHAT IT IS</a:t>
            </a:r>
            <a:endParaRPr lang="en-US" sz="1200" dirty="0"/>
          </a:p>
        </p:txBody>
      </p:sp>
      <p:sp>
        <p:nvSpPr>
          <p:cNvPr id="6" name="Text 4"/>
          <p:cNvSpPr/>
          <p:nvPr/>
        </p:nvSpPr>
        <p:spPr>
          <a:xfrm>
            <a:off x="1072555" y="2555968"/>
            <a:ext cx="2953166" cy="51301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High-confidence rows minus the group's list</a:t>
            </a:r>
            <a:endParaRPr lang="en-US" sz="1600" dirty="0"/>
          </a:p>
        </p:txBody>
      </p:sp>
      <p:sp>
        <p:nvSpPr>
          <p:cNvPr id="7" name="Text 5"/>
          <p:cNvSpPr/>
          <p:nvPr/>
        </p:nvSpPr>
        <p:spPr>
          <a:xfrm>
            <a:off x="1072555" y="3145141"/>
            <a:ext cx="2953166" cy="743293"/>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3"/>
                </a:solidFill>
                <a:latin typeface="IBM Plex Sans" pitchFamily="34" charset="0"/>
                <a:ea typeface="IBM Plex Sans" pitchFamily="34" charset="-122"/>
                <a:cs typeface="IBM Plex Sans" pitchFamily="34" charset="-120"/>
              </a:rPr>
              <a:t>Identifiers only, one file per group. Every package that could ever be annotated is already out.</a:t>
            </a:r>
            <a:endParaRPr lang="en-US" sz="1300" dirty="0"/>
          </a:p>
        </p:txBody>
      </p:sp>
      <p:sp>
        <p:nvSpPr>
          <p:cNvPr id="8" name="Shape 6"/>
          <p:cNvSpPr/>
          <p:nvPr/>
        </p:nvSpPr>
        <p:spPr>
          <a:xfrm>
            <a:off x="4405781" y="1984394"/>
            <a:ext cx="3380347" cy="2135242"/>
          </a:xfrm>
          <a:prstGeom prst="roundRect">
            <a:avLst>
              <a:gd name="adj" fmla="val 4610"/>
            </a:avLst>
          </a:prstGeom>
          <a:solidFill>
            <a:srgbClr val="FFFFFF"/>
          </a:solidFill>
          <a:ln w="6350">
            <a:solidFill>
              <a:srgbClr val="D3D9DF"/>
            </a:solidFill>
            <a:prstDash val="solid"/>
          </a:ln>
        </p:spPr>
        <p:txBody>
          <a:bodyPr/>
          <a:lstStyle/>
          <a:p>
            <a:endParaRPr lang="es-ES_tradnl"/>
          </a:p>
        </p:txBody>
      </p:sp>
      <p:sp>
        <p:nvSpPr>
          <p:cNvPr id="9" name="Text 7"/>
          <p:cNvSpPr/>
          <p:nvPr/>
        </p:nvSpPr>
        <p:spPr>
          <a:xfrm>
            <a:off x="4662379" y="2240998"/>
            <a:ext cx="2953166" cy="23881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B5"/>
                </a:solidFill>
                <a:latin typeface="IBM Plex Sans" pitchFamily="34" charset="0"/>
                <a:ea typeface="IBM Plex Sans" pitchFamily="34" charset="-122"/>
                <a:cs typeface="IBM Plex Sans" pitchFamily="34" charset="-120"/>
              </a:rPr>
              <a:t>THE OTHER TEST SET</a:t>
            </a:r>
            <a:endParaRPr lang="en-US" sz="1200" dirty="0"/>
          </a:p>
        </p:txBody>
      </p:sp>
      <p:sp>
        <p:nvSpPr>
          <p:cNvPr id="10" name="Text 8"/>
          <p:cNvSpPr/>
          <p:nvPr/>
        </p:nvSpPr>
        <p:spPr>
          <a:xfrm>
            <a:off x="4662379" y="2555968"/>
            <a:ext cx="2953166" cy="26920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In with pre-labels, gold later</a:t>
            </a:r>
            <a:endParaRPr lang="en-US" sz="1600" dirty="0"/>
          </a:p>
        </p:txBody>
      </p:sp>
      <p:sp>
        <p:nvSpPr>
          <p:cNvPr id="11" name="Text 9"/>
          <p:cNvSpPr/>
          <p:nvPr/>
        </p:nvSpPr>
        <p:spPr>
          <a:xfrm>
            <a:off x="4662379" y="2901336"/>
            <a:ext cx="2953166" cy="743293"/>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3"/>
                </a:solidFill>
                <a:latin typeface="IBM Plex Sans" pitchFamily="34" charset="0"/>
                <a:ea typeface="IBM Plex Sans" pitchFamily="34" charset="-122"/>
                <a:cs typeface="IBM Plex Sans" pitchFamily="34" charset="-120"/>
              </a:rPr>
              <a:t>Rows carry test_set, sample_status and round. Annotated rows switch to their gold label; rows never change.</a:t>
            </a:r>
            <a:endParaRPr lang="en-US" sz="1300" dirty="0"/>
          </a:p>
        </p:txBody>
      </p:sp>
      <p:sp>
        <p:nvSpPr>
          <p:cNvPr id="12" name="Shape 10"/>
          <p:cNvSpPr/>
          <p:nvPr/>
        </p:nvSpPr>
        <p:spPr>
          <a:xfrm>
            <a:off x="7995606" y="1984394"/>
            <a:ext cx="3380347" cy="2135242"/>
          </a:xfrm>
          <a:prstGeom prst="roundRect">
            <a:avLst>
              <a:gd name="adj" fmla="val 4610"/>
            </a:avLst>
          </a:prstGeom>
          <a:solidFill>
            <a:srgbClr val="FFFFFF"/>
          </a:solidFill>
          <a:ln w="6350">
            <a:solidFill>
              <a:srgbClr val="D3D9DF"/>
            </a:solidFill>
            <a:prstDash val="solid"/>
          </a:ln>
        </p:spPr>
        <p:txBody>
          <a:bodyPr/>
          <a:lstStyle/>
          <a:p>
            <a:endParaRPr lang="es-ES_tradnl"/>
          </a:p>
        </p:txBody>
      </p:sp>
      <p:sp>
        <p:nvSpPr>
          <p:cNvPr id="13" name="Text 11"/>
          <p:cNvSpPr/>
          <p:nvPr/>
        </p:nvSpPr>
        <p:spPr>
          <a:xfrm>
            <a:off x="8252203" y="2240998"/>
            <a:ext cx="2953166" cy="23881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DB5"/>
                </a:solidFill>
                <a:latin typeface="IBM Plex Sans" pitchFamily="34" charset="0"/>
                <a:ea typeface="IBM Plex Sans" pitchFamily="34" charset="-122"/>
                <a:cs typeface="IBM Plex Sans" pitchFamily="34" charset="-120"/>
              </a:rPr>
              <a:t>SEEN VS UNSEEN</a:t>
            </a:r>
            <a:endParaRPr lang="en-US" sz="1200" dirty="0"/>
          </a:p>
        </p:txBody>
      </p:sp>
      <p:sp>
        <p:nvSpPr>
          <p:cNvPr id="14" name="Text 12"/>
          <p:cNvSpPr/>
          <p:nvPr/>
        </p:nvSpPr>
        <p:spPr>
          <a:xfrm>
            <a:off x="8252203" y="2555968"/>
            <a:ext cx="2953166" cy="513015"/>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82% of test packages cite a paper training also cites</a:t>
            </a:r>
            <a:endParaRPr lang="en-US" sz="1600" dirty="0"/>
          </a:p>
        </p:txBody>
      </p:sp>
      <p:sp>
        <p:nvSpPr>
          <p:cNvPr id="15" name="Text 13"/>
          <p:cNvSpPr/>
          <p:nvPr/>
        </p:nvSpPr>
        <p:spPr>
          <a:xfrm>
            <a:off x="8252203" y="3145141"/>
            <a:ext cx="2953166" cy="503995"/>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A5563"/>
                </a:solidFill>
                <a:latin typeface="IBM Plex Sans" pitchFamily="34" charset="0"/>
                <a:ea typeface="IBM Plex Sans" pitchFamily="34" charset="-122"/>
                <a:cs typeface="IBM Plex Sans" pitchFamily="34" charset="-120"/>
              </a:rPr>
              <a:t>Under V0: 542 (G14) and 507 (G15) unseen, for a separate Macro F1.</a:t>
            </a:r>
            <a:endParaRPr lang="en-US" sz="1300" dirty="0"/>
          </a:p>
        </p:txBody>
      </p:sp>
      <p:sp>
        <p:nvSpPr>
          <p:cNvPr id="16" name="Text 14"/>
          <p:cNvSpPr/>
          <p:nvPr/>
        </p:nvSpPr>
        <p:spPr>
          <a:xfrm>
            <a:off x="812782" y="4376818"/>
            <a:ext cx="10566436" cy="870960"/>
          </a:xfrm>
          <a:prstGeom prst="roundRect">
            <a:avLst>
              <a:gd name="adj" fmla="val 11665"/>
            </a:avLst>
          </a:prstGeom>
          <a:solidFill>
            <a:srgbClr val="1B2A3A"/>
          </a:solidFill>
          <a:ln/>
        </p:spPr>
        <p:txBody>
          <a:bodyPr wrap="square" lIns="198806" tIns="148042" rIns="0" bIns="122606" rtlCol="0" anchor="t">
            <a:normAutofit/>
          </a:bodyPr>
          <a:lstStyle/>
          <a:p>
            <a:pPr marL="0" indent="0" algn="l">
              <a:lnSpc>
                <a:spcPts val="2030"/>
              </a:lnSpc>
              <a:buNone/>
            </a:pPr>
            <a:r>
              <a:rPr lang="en-US" sz="1400" b="1" dirty="0">
                <a:solidFill>
                  <a:srgbClr val="F7F5F0"/>
                </a:solidFill>
                <a:latin typeface="IBM Plex Sans" pitchFamily="34" charset="0"/>
                <a:ea typeface="IBM Plex Sans" pitchFamily="34" charset="-122"/>
                <a:cs typeface="IBM Plex Sans" pitchFamily="34" charset="-120"/>
              </a:rPr>
              <a:t>Unseen test packages per category (V0):</a:t>
            </a:r>
            <a:r>
              <a:rPr lang="en-US" sz="1400" dirty="0">
                <a:solidFill>
                  <a:srgbClr val="F7F5F0"/>
                </a:solidFill>
                <a:latin typeface="IBM Plex Sans" pitchFamily="34" charset="0"/>
                <a:ea typeface="IBM Plex Sans" pitchFamily="34" charset="-122"/>
                <a:cs typeface="IBM Plex Sans" pitchFamily="34" charset="-120"/>
              </a:rPr>
              <a:t> Further Reading 106–122 · Evidence, Gap, Background, Basis, Comparison 49–79 · IM 38–48 · Application and Originator 21–25.</a:t>
            </a:r>
            <a:endParaRPr lang="en-US" sz="1400" dirty="0"/>
          </a:p>
        </p:txBody>
      </p:sp>
      <p:sp>
        <p:nvSpPr>
          <p:cNvPr id="17" name="Text 15"/>
          <p:cNvSpPr/>
          <p:nvPr/>
        </p:nvSpPr>
        <p:spPr>
          <a:xfrm>
            <a:off x="812782" y="6238249"/>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16 · §10 and §11 of the A3 notebook · counts by pre-label; final ones after adjudication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F1F4"/>
        </a:solidFill>
        <a:effectLst/>
      </p:bgPr>
    </p:bg>
    <p:spTree>
      <p:nvGrpSpPr>
        <p:cNvPr id="1" name=""/>
        <p:cNvGrpSpPr/>
        <p:nvPr/>
      </p:nvGrpSpPr>
      <p:grpSpPr>
        <a:xfrm>
          <a:off x="0" y="0"/>
          <a:ext cx="0" cy="0"/>
          <a:chOff x="0" y="0"/>
          <a:chExt cx="0" cy="0"/>
        </a:xfrm>
      </p:grpSpPr>
      <p:sp>
        <p:nvSpPr>
          <p:cNvPr id="2" name="Text 0"/>
          <p:cNvSpPr/>
          <p:nvPr/>
        </p:nvSpPr>
        <p:spPr>
          <a:xfrm>
            <a:off x="812782" y="812775"/>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A"/>
                </a:solidFill>
                <a:latin typeface="IBM Plex Sans" pitchFamily="34" charset="0"/>
                <a:ea typeface="IBM Plex Sans" pitchFamily="34" charset="-122"/>
                <a:cs typeface="IBM Plex Sans" pitchFamily="34" charset="-120"/>
              </a:rPr>
              <a:t>A3 · THE DOCUMENTS</a:t>
            </a:r>
            <a:endParaRPr lang="en-US" sz="1200" dirty="0"/>
          </a:p>
        </p:txBody>
      </p:sp>
      <p:sp>
        <p:nvSpPr>
          <p:cNvPr id="3" name="Text 1"/>
          <p:cNvSpPr>
            <a:spLocks noGrp="1"/>
          </p:cNvSpPr>
          <p:nvPr>
            <p:ph type="title"/>
          </p:nvPr>
        </p:nvSpPr>
        <p:spPr>
          <a:xfrm>
            <a:off x="812782" y="1280182"/>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Guide rev3.1 and the data contract</a:t>
            </a:r>
            <a:endParaRPr lang="en-US" sz="3200" dirty="0"/>
          </a:p>
        </p:txBody>
      </p:sp>
      <p:sp>
        <p:nvSpPr>
          <p:cNvPr id="4" name="Shape 2"/>
          <p:cNvSpPr/>
          <p:nvPr/>
        </p:nvSpPr>
        <p:spPr>
          <a:xfrm>
            <a:off x="815957" y="1984387"/>
            <a:ext cx="5175304" cy="2435153"/>
          </a:xfrm>
          <a:prstGeom prst="roundRect">
            <a:avLst>
              <a:gd name="adj" fmla="val 4042"/>
            </a:avLst>
          </a:prstGeom>
          <a:solidFill>
            <a:srgbClr val="FFFFFF"/>
          </a:solidFill>
          <a:ln w="6350">
            <a:solidFill>
              <a:srgbClr val="D3D9DF"/>
            </a:solidFill>
            <a:prstDash val="solid"/>
          </a:ln>
        </p:spPr>
        <p:txBody>
          <a:bodyPr/>
          <a:lstStyle/>
          <a:p>
            <a:endParaRPr lang="es-ES_tradnl"/>
          </a:p>
        </p:txBody>
      </p:sp>
      <p:sp>
        <p:nvSpPr>
          <p:cNvPr id="5" name="Text 3"/>
          <p:cNvSpPr/>
          <p:nvPr/>
        </p:nvSpPr>
        <p:spPr>
          <a:xfrm>
            <a:off x="1072555" y="2240992"/>
            <a:ext cx="4801972"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A3A"/>
                </a:solidFill>
                <a:latin typeface="IBM Plex Sans" pitchFamily="34" charset="0"/>
                <a:ea typeface="IBM Plex Sans" pitchFamily="34" charset="-122"/>
                <a:cs typeface="IBM Plex Sans" pitchFamily="34" charset="-120"/>
              </a:rPr>
              <a:t>Guide rev3.1</a:t>
            </a:r>
            <a:endParaRPr lang="en-US" sz="1800" dirty="0"/>
          </a:p>
        </p:txBody>
      </p:sp>
      <p:sp>
        <p:nvSpPr>
          <p:cNvPr id="6" name="Text 4"/>
          <p:cNvSpPr/>
          <p:nvPr/>
        </p:nvSpPr>
        <p:spPr>
          <a:xfrm>
            <a:off x="1150787" y="2616758"/>
            <a:ext cx="4716120" cy="1571589"/>
          </a:xfrm>
          <a:prstGeom prst="rect">
            <a:avLst/>
          </a:prstGeom>
          <a:noFill/>
          <a:ln/>
        </p:spPr>
        <p:txBody>
          <a:bodyPr wrap="square" lIns="0" tIns="0" rIns="0" bIns="0" rtlCol="0" anchor="t">
            <a:normAutofit/>
          </a:bodyPr>
          <a:lstStyle/>
          <a:p>
            <a:pPr marL="175768" indent="-175768" algn="l">
              <a:lnSpc>
                <a:spcPts val="2030"/>
              </a:lnSpc>
              <a:buSzPct val="100000"/>
              <a:buChar char="•"/>
            </a:pPr>
            <a:r>
              <a:rPr lang="en-US" sz="1400" dirty="0">
                <a:solidFill>
                  <a:srgbClr val="4A5563"/>
                </a:solidFill>
                <a:latin typeface="IBM Plex Sans" pitchFamily="34" charset="0"/>
                <a:ea typeface="IBM Plex Sans" pitchFamily="34" charset="-122"/>
                <a:cs typeface="IBM Plex Sans" pitchFamily="34" charset="-120"/>
              </a:rPr>
              <a:t>Category definitions and decision rules, worded as in prompt v11.1</a:t>
            </a:r>
            <a:endParaRPr lang="en-US" sz="1400" dirty="0"/>
          </a:p>
          <a:p>
            <a:pPr marL="175768" indent="-175768" algn="l">
              <a:lnSpc>
                <a:spcPts val="2030"/>
              </a:lnSpc>
              <a:buSzPct val="100000"/>
              <a:buChar char="•"/>
            </a:pPr>
            <a:r>
              <a:rPr lang="en-US" sz="1400" dirty="0">
                <a:solidFill>
                  <a:srgbClr val="4A5563"/>
                </a:solidFill>
                <a:latin typeface="IBM Plex Sans" pitchFamily="34" charset="0"/>
                <a:ea typeface="IBM Plex Sans" pitchFamily="34" charset="-122"/>
                <a:cs typeface="IBM Plex Sans" pitchFamily="34" charset="-120"/>
              </a:rPr>
              <a:t>Worked examples from calib30 and eval60</a:t>
            </a:r>
            <a:endParaRPr lang="en-US" sz="1400" dirty="0"/>
          </a:p>
          <a:p>
            <a:pPr marL="175768" indent="-175768" algn="l">
              <a:lnSpc>
                <a:spcPts val="2030"/>
              </a:lnSpc>
              <a:buSzPct val="100000"/>
              <a:buChar char="•"/>
            </a:pPr>
            <a:r>
              <a:rPr lang="en-US" sz="1400" dirty="0">
                <a:solidFill>
                  <a:srgbClr val="4A5563"/>
                </a:solidFill>
                <a:latin typeface="IBM Plex Sans" pitchFamily="34" charset="0"/>
                <a:ea typeface="IBM Plex Sans" pitchFamily="34" charset="-122"/>
                <a:cs typeface="IBM Plex Sans" pitchFamily="34" charset="-120"/>
              </a:rPr>
              <a:t>One step: pre-label shown; chunks on demand</a:t>
            </a:r>
            <a:endParaRPr lang="en-US" sz="1400" dirty="0"/>
          </a:p>
          <a:p>
            <a:pPr marL="175768" indent="-175768" algn="l">
              <a:lnSpc>
                <a:spcPts val="2030"/>
              </a:lnSpc>
              <a:buSzPct val="100000"/>
              <a:buChar char="•"/>
            </a:pPr>
            <a:r>
              <a:rPr lang="en-US" sz="1400" dirty="0">
                <a:solidFill>
                  <a:srgbClr val="4A5563"/>
                </a:solidFill>
                <a:latin typeface="IBM Plex Sans" pitchFamily="34" charset="0"/>
                <a:ea typeface="IBM Plex Sans" pitchFamily="34" charset="-122"/>
                <a:cs typeface="IBM Plex Sans" pitchFamily="34" charset="-120"/>
              </a:rPr>
              <a:t>Summarized in the instructions Sheet beside each batch</a:t>
            </a:r>
            <a:endParaRPr lang="en-US" sz="1400" dirty="0"/>
          </a:p>
        </p:txBody>
      </p:sp>
      <p:sp>
        <p:nvSpPr>
          <p:cNvPr id="7" name="Shape 5"/>
          <p:cNvSpPr/>
          <p:nvPr/>
        </p:nvSpPr>
        <p:spPr>
          <a:xfrm>
            <a:off x="6200739" y="1984387"/>
            <a:ext cx="5175304" cy="2435153"/>
          </a:xfrm>
          <a:prstGeom prst="roundRect">
            <a:avLst>
              <a:gd name="adj" fmla="val 4042"/>
            </a:avLst>
          </a:prstGeom>
          <a:solidFill>
            <a:srgbClr val="FFFFFF"/>
          </a:solidFill>
          <a:ln w="6350">
            <a:solidFill>
              <a:srgbClr val="D3D9DF"/>
            </a:solidFill>
            <a:prstDash val="solid"/>
          </a:ln>
        </p:spPr>
        <p:txBody>
          <a:bodyPr/>
          <a:lstStyle/>
          <a:p>
            <a:endParaRPr lang="es-ES_tradnl"/>
          </a:p>
        </p:txBody>
      </p:sp>
      <p:sp>
        <p:nvSpPr>
          <p:cNvPr id="8" name="Text 6"/>
          <p:cNvSpPr/>
          <p:nvPr/>
        </p:nvSpPr>
        <p:spPr>
          <a:xfrm>
            <a:off x="6457336" y="2240992"/>
            <a:ext cx="4801972" cy="29960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A3A"/>
                </a:solidFill>
                <a:latin typeface="IBM Plex Sans" pitchFamily="34" charset="0"/>
                <a:ea typeface="IBM Plex Sans" pitchFamily="34" charset="-122"/>
                <a:cs typeface="IBM Plex Sans" pitchFamily="34" charset="-120"/>
              </a:rPr>
              <a:t>Data contract</a:t>
            </a:r>
            <a:endParaRPr lang="en-US" sz="1800" dirty="0"/>
          </a:p>
        </p:txBody>
      </p:sp>
      <p:sp>
        <p:nvSpPr>
          <p:cNvPr id="9" name="Text 7"/>
          <p:cNvSpPr/>
          <p:nvPr/>
        </p:nvSpPr>
        <p:spPr>
          <a:xfrm>
            <a:off x="6535568" y="2616758"/>
            <a:ext cx="4716120" cy="1056193"/>
          </a:xfrm>
          <a:prstGeom prst="rect">
            <a:avLst/>
          </a:prstGeom>
          <a:noFill/>
          <a:ln/>
        </p:spPr>
        <p:txBody>
          <a:bodyPr wrap="square" lIns="0" tIns="0" rIns="0" bIns="0" rtlCol="0" anchor="t">
            <a:normAutofit/>
          </a:bodyPr>
          <a:lstStyle/>
          <a:p>
            <a:pPr marL="175768" indent="-175768" algn="l">
              <a:lnSpc>
                <a:spcPts val="2030"/>
              </a:lnSpc>
              <a:buSzPct val="100000"/>
              <a:buChar char="•"/>
            </a:pPr>
            <a:r>
              <a:rPr lang="en-US" sz="1400" dirty="0">
                <a:solidFill>
                  <a:srgbClr val="4A5563"/>
                </a:solidFill>
                <a:latin typeface="IBM Plex Sans" pitchFamily="34" charset="0"/>
                <a:ea typeface="IBM Plex Sans" pitchFamily="34" charset="-122"/>
                <a:cs typeface="IBM Plex Sans" pitchFamily="34" charset="-120"/>
              </a:rPr>
              <a:t>Two pools; sampling, reserve, buffer and top-up</a:t>
            </a:r>
            <a:endParaRPr lang="en-US" sz="1400" dirty="0"/>
          </a:p>
          <a:p>
            <a:pPr marL="175768" indent="-175768" algn="l">
              <a:lnSpc>
                <a:spcPts val="2030"/>
              </a:lnSpc>
              <a:buSzPct val="100000"/>
              <a:buChar char="•"/>
            </a:pPr>
            <a:r>
              <a:rPr lang="en-US" sz="1400" dirty="0">
                <a:solidFill>
                  <a:srgbClr val="4A5563"/>
                </a:solidFill>
                <a:latin typeface="IBM Plex Sans" pitchFamily="34" charset="0"/>
                <a:ea typeface="IBM Plex Sans" pitchFamily="34" charset="-122"/>
                <a:cs typeface="IBM Plex Sans" pitchFamily="34" charset="-120"/>
              </a:rPr>
              <a:t>Annotation protocol, record and adjudication</a:t>
            </a:r>
            <a:endParaRPr lang="en-US" sz="1400" dirty="0"/>
          </a:p>
          <a:p>
            <a:pPr marL="175768" indent="-175768" algn="l">
              <a:lnSpc>
                <a:spcPts val="2030"/>
              </a:lnSpc>
              <a:buSzPct val="100000"/>
              <a:buChar char="•"/>
            </a:pPr>
            <a:r>
              <a:rPr lang="en-US" sz="1400" dirty="0">
                <a:solidFill>
                  <a:srgbClr val="4A5563"/>
                </a:solidFill>
                <a:latin typeface="IBM Plex Sans" pitchFamily="34" charset="0"/>
                <a:ea typeface="IBM Plex Sans" pitchFamily="34" charset="-122"/>
                <a:cs typeface="IBM Plex Sans" pitchFamily="34" charset="-120"/>
              </a:rPr>
              <a:t>Isolation variants and exclusion lists</a:t>
            </a:r>
            <a:endParaRPr lang="en-US" sz="1400" dirty="0"/>
          </a:p>
          <a:p>
            <a:pPr marL="175768" indent="-175768" algn="l">
              <a:lnSpc>
                <a:spcPts val="2030"/>
              </a:lnSpc>
              <a:buSzPct val="100000"/>
              <a:buChar char="•"/>
            </a:pPr>
            <a:r>
              <a:rPr lang="en-US" sz="1400" dirty="0">
                <a:solidFill>
                  <a:srgbClr val="4A5563"/>
                </a:solidFill>
                <a:latin typeface="IBM Plex Sans" pitchFamily="34" charset="0"/>
                <a:ea typeface="IBM Plex Sans" pitchFamily="34" charset="-122"/>
                <a:cs typeface="IBM Plex Sans" pitchFamily="34" charset="-120"/>
              </a:rPr>
              <a:t>Deliverables, training set versions, dates</a:t>
            </a:r>
            <a:endParaRPr lang="en-US" sz="1400" dirty="0"/>
          </a:p>
        </p:txBody>
      </p:sp>
      <p:sp>
        <p:nvSpPr>
          <p:cNvPr id="10" name="Text 8"/>
          <p:cNvSpPr/>
          <p:nvPr/>
        </p:nvSpPr>
        <p:spPr>
          <a:xfrm>
            <a:off x="812782" y="4676713"/>
            <a:ext cx="10883429" cy="283098"/>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5563"/>
                </a:solidFill>
                <a:latin typeface="IBM Plex Sans" pitchFamily="34" charset="0"/>
                <a:ea typeface="IBM Plex Sans" pitchFamily="34" charset="-122"/>
                <a:cs typeface="IBM Plex Sans" pitchFamily="34" charset="-120"/>
              </a:rPr>
              <a:t>Both reviewed by groups 14 and 15 and applied since the second calibration (18 Oct).</a:t>
            </a:r>
            <a:endParaRPr lang="en-US" sz="1400" dirty="0"/>
          </a:p>
        </p:txBody>
      </p:sp>
      <p:sp>
        <p:nvSpPr>
          <p:cNvPr id="11" name="Text 9"/>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17 · in Spanish, in the project: guia_anotacion_funcion_cita_rev3.1, Contrato_Datos_A3_2026-10-23_guia_rev3.1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812782" y="812775"/>
            <a:ext cx="10883429" cy="23881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4501A"/>
                </a:solidFill>
                <a:latin typeface="IBM Plex Sans" pitchFamily="34" charset="0"/>
                <a:ea typeface="IBM Plex Sans" pitchFamily="34" charset="-122"/>
                <a:cs typeface="IBM Plex Sans" pitchFamily="34" charset="-120"/>
              </a:rPr>
              <a:t>NEXT STEPS</a:t>
            </a:r>
            <a:endParaRPr lang="en-US" sz="1200" dirty="0"/>
          </a:p>
        </p:txBody>
      </p:sp>
      <p:sp>
        <p:nvSpPr>
          <p:cNvPr id="3" name="Text 1"/>
          <p:cNvSpPr>
            <a:spLocks noGrp="1"/>
          </p:cNvSpPr>
          <p:nvPr>
            <p:ph type="title"/>
          </p:nvPr>
        </p:nvSpPr>
        <p:spPr>
          <a:xfrm>
            <a:off x="812782" y="1280182"/>
            <a:ext cx="10883429" cy="472426"/>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From the waves to gold test sets and A4</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992758"/>
          <a:ext cx="10554890" cy="3222801"/>
        </p:xfrm>
        <a:graphic>
          <a:graphicData uri="http://schemas.openxmlformats.org/drawingml/2006/table">
            <a:tbl>
              <a:tblPr/>
              <a:tblGrid>
                <a:gridCol w="527745">
                  <a:extLst>
                    <a:ext uri="{9D8B030D-6E8A-4147-A177-3AD203B41FA5}">
                      <a16:colId xmlns:a16="http://schemas.microsoft.com/office/drawing/2014/main" val="20000"/>
                    </a:ext>
                  </a:extLst>
                </a:gridCol>
                <a:gridCol w="6016287">
                  <a:extLst>
                    <a:ext uri="{9D8B030D-6E8A-4147-A177-3AD203B41FA5}">
                      <a16:colId xmlns:a16="http://schemas.microsoft.com/office/drawing/2014/main" val="20001"/>
                    </a:ext>
                  </a:extLst>
                </a:gridCol>
                <a:gridCol w="2322076">
                  <a:extLst>
                    <a:ext uri="{9D8B030D-6E8A-4147-A177-3AD203B41FA5}">
                      <a16:colId xmlns:a16="http://schemas.microsoft.com/office/drawing/2014/main" val="20002"/>
                    </a:ext>
                  </a:extLst>
                </a:gridCol>
                <a:gridCol w="1688782">
                  <a:extLst>
                    <a:ext uri="{9D8B030D-6E8A-4147-A177-3AD203B41FA5}">
                      <a16:colId xmlns:a16="http://schemas.microsoft.com/office/drawing/2014/main" val="20003"/>
                    </a:ext>
                  </a:extLst>
                </a:gridCol>
              </a:tblGrid>
              <a:tr h="358089">
                <a:tc>
                  <a:txBody>
                    <a:bodyPr/>
                    <a:lstStyle/>
                    <a:p>
                      <a:pPr marL="0" indent="0">
                        <a:lnSpc>
                          <a:spcPts val="1820"/>
                        </a:lnSpc>
                        <a:buNone/>
                      </a:pPr>
                      <a:r>
                        <a:rPr lang="en-US" sz="1300" b="1" dirty="0">
                          <a:solidFill>
                            <a:srgbClr val="1B2A3A"/>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820"/>
                        </a:lnSpc>
                        <a:buNone/>
                      </a:pPr>
                      <a:r>
                        <a:rPr lang="en-US" sz="1300" b="1" dirty="0">
                          <a:solidFill>
                            <a:srgbClr val="1B2A3A"/>
                          </a:solidFill>
                          <a:latin typeface="IBM Plex Sans" pitchFamily="34" charset="0"/>
                          <a:ea typeface="IBM Plex Sans" pitchFamily="34" charset="-122"/>
                          <a:cs typeface="IBM Plex Sans" pitchFamily="34" charset="-120"/>
                        </a:rPr>
                        <a:t>Step</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820"/>
                        </a:lnSpc>
                        <a:buNone/>
                      </a:pPr>
                      <a:r>
                        <a:rPr lang="en-US" sz="1300" b="1" dirty="0">
                          <a:solidFill>
                            <a:srgbClr val="1B2A3A"/>
                          </a:solidFill>
                          <a:latin typeface="IBM Plex Sans" pitchFamily="34" charset="0"/>
                          <a:ea typeface="IBM Plex Sans" pitchFamily="34" charset="-122"/>
                          <a:cs typeface="IBM Plex Sans" pitchFamily="34" charset="-120"/>
                        </a:rPr>
                        <a:t>Who</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marL="0" indent="0">
                        <a:lnSpc>
                          <a:spcPts val="1820"/>
                        </a:lnSpc>
                        <a:buNone/>
                      </a:pPr>
                      <a:r>
                        <a:rPr lang="en-US" sz="1300" b="1" dirty="0">
                          <a:solidFill>
                            <a:srgbClr val="1B2A3A"/>
                          </a:solidFill>
                          <a:latin typeface="IBM Plex Sans" pitchFamily="34" charset="0"/>
                          <a:ea typeface="IBM Plex Sans" pitchFamily="34" charset="-122"/>
                          <a:cs typeface="IBM Plex Sans" pitchFamily="34" charset="-120"/>
                        </a:rPr>
                        <a:t>When</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358089">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Round 1, wave 2 complete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All 8</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26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358089">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Round 2, wave 1 shared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Sampling lead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26 Oct (proposed)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358089">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Round 2, wave 2 shared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Sampling lead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28 Oct (proposed)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r h="358089">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Isolation variant → training set v1 → A4 starts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Each group</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[date]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4"/>
                  </a:ext>
                </a:extLst>
              </a:tr>
              <a:tr h="358089">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Round 1 adjudication, count per cell, top-up release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Pairs per package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after 26 Oct</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5"/>
                  </a:ext>
                </a:extLst>
              </a:tr>
              <a:tr h="358089">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Round 2, wave 3 (4 batches + round-1 top-up)</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All 8</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after step 5</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6"/>
                  </a:ext>
                </a:extLst>
              </a:tr>
              <a:tr h="358089">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7</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Round 2 adjudication; wave 4 if needed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Pairs per package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[date]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7"/>
                  </a:ext>
                </a:extLst>
              </a:tr>
              <a:tr h="358089">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8</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Agreement metrics and deliverables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Metrics lead</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1820"/>
                        </a:lnSpc>
                        <a:buNone/>
                      </a:pPr>
                      <a:r>
                        <a:rPr lang="en-US" sz="1300" dirty="0">
                          <a:solidFill>
                            <a:srgbClr val="1B2A3A"/>
                          </a:solidFill>
                          <a:latin typeface="IBM Plex Sans" pitchFamily="34" charset="0"/>
                          <a:ea typeface="IBM Plex Sans" pitchFamily="34" charset="-122"/>
                          <a:cs typeface="IBM Plex Sans" pitchFamily="34" charset="-120"/>
                        </a:rPr>
                        <a:t>[date]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812782" y="6238242"/>
            <a:ext cx="10883336" cy="2388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73"/>
                </a:solidFill>
                <a:latin typeface="IBM Plex Sans" pitchFamily="34" charset="0"/>
                <a:ea typeface="IBM Plex Sans" pitchFamily="34" charset="-122"/>
                <a:cs typeface="IBM Plex Sans" pitchFamily="34" charset="-120"/>
              </a:rPr>
              <a:t>A2 pool and A3 plan · 18 · deliverables: test_set_gold.jsonl, exclusion_list.jsonl, iaa_report.md (contract §10)</a:t>
            </a:r>
            <a:endParaRPr lang="en-US" sz="1200" dirty="0"/>
          </a:p>
        </p:txBody>
      </p:sp>
    </p:spTree>
  </p:cSld>
  <p:clrMapOvr>
    <a:masterClrMapping/>
  </p:clrMapOvr>
</p:sld>
</file>

<file path=ppt/theme/theme1.xml><?xml version="1.0" encoding="utf-8"?>
<a:theme xmlns:a="http://schemas.openxmlformats.org/drawingml/2006/main" name="A2 Pool Results and A3 Plan">
  <a:themeElements>
    <a:clrScheme name="A2 Pool Results and A3 Plan">
      <a:dk1>
        <a:srgbClr val="1B2A3A"/>
      </a:dk1>
      <a:lt1>
        <a:srgbClr val="F7F5F0"/>
      </a:lt1>
      <a:dk2>
        <a:srgbClr val="525D68"/>
      </a:dk2>
      <a:lt2>
        <a:srgbClr val="E1E1DE"/>
      </a:lt2>
      <a:accent1>
        <a:srgbClr val="2F6DB5"/>
      </a:accent1>
      <a:accent2>
        <a:srgbClr val="B4501A"/>
      </a:accent2>
      <a:accent3>
        <a:srgbClr val="C2571A"/>
      </a:accent3>
      <a:accent4>
        <a:srgbClr val="FBE3D3"/>
      </a:accent4>
      <a:accent5>
        <a:srgbClr val="F0A35E"/>
      </a:accent5>
      <a:accent6>
        <a:srgbClr val="4A5563"/>
      </a:accent6>
      <a:hlink>
        <a:srgbClr val="0563C1"/>
      </a:hlink>
      <a:folHlink>
        <a:srgbClr val="954F72"/>
      </a:folHlink>
    </a:clrScheme>
    <a:fontScheme name="A2 Pool Results and A3 Pla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4551</Words>
  <Application>Microsoft Macintosh PowerPoint</Application>
  <PresentationFormat>Widescreen</PresentationFormat>
  <Paragraphs>488</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IBM Plex Mono</vt:lpstr>
      <vt:lpstr>IBM Plex Sans</vt:lpstr>
      <vt:lpstr>Source Serif 4</vt:lpstr>
      <vt:lpstr>A2 Pool Results and A3 Plan</vt:lpstr>
      <vt:lpstr>The pool is extended. A3 runs in waves.</vt:lpstr>
      <vt:lpstr>Where A2, A3 and A4 stand</vt:lpstr>
      <vt:lpstr>Three judges, 28,553 instances, 8 h 44 min</vt:lpstr>
      <vt:lpstr>A large, stable pool of pre-labels</vt:lpstr>
      <vt:lpstr>The short categories need targeted sampling</vt:lpstr>
      <vt:lpstr>Two new batches, judged with the frozen setup</vt:lpstr>
      <vt:lpstr>Six categories reach 2,000; three remain short</vt:lpstr>
      <vt:lpstr>One record per instance, identifiers only</vt:lpstr>
      <vt:lpstr>One record per annotator and package</vt:lpstr>
      <vt:lpstr>From the pool to two gold test sets</vt:lpstr>
      <vt:lpstr>What the annotator sees and does</vt:lpstr>
      <vt:lpstr>Two rounds, released in waves</vt:lpstr>
      <vt:lpstr>Batches of 55 that reveal nothing</vt:lpstr>
      <vt:lpstr>About 40 hours per person, measured</vt:lpstr>
      <vt:lpstr>What each isolation variant leaves to train</vt:lpstr>
      <vt:lpstr>Training can start before annotation ends</vt:lpstr>
      <vt:lpstr>Guide rev3.1 and the data contract</vt:lpstr>
      <vt:lpstr>From the waves to gold test sets and A4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A2 Pool Results and A3 Plan</dc:title>
  <dc:subject/>
  <dc:creator/>
  <cp:lastModifiedBy>Alejandra Barbosa</cp:lastModifiedBy>
  <cp:revision>1</cp:revision>
  <dcterms:created xsi:type="dcterms:W3CDTF">2026-10-23T22:37:21Z</dcterms:created>
  <dcterms:modified xsi:type="dcterms:W3CDTF">2026-10-23T22:46:01Z</dcterms:modified>
</cp:coreProperties>
</file>