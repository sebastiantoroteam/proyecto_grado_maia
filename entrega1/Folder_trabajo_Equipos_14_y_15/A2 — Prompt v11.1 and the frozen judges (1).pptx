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12192000"/>
  <p:embeddedFontLst>
    <p:embeddedFont>
      <p:font typeface="IBM Plex Sans"/>
      <p:regular r:id="rId18"/>
      <p:bold r:id="rId19"/>
      <p:italic r:id="rId20"/>
      <p:boldItalic r:id="rId21"/>
    </p:embeddedFont>
    <p:embeddedFont>
      <p:font typeface="Source Serif 4"/>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94lbQZWRM8yWQOemiEv3yhU89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3EEF11-E5C5-462E-ADDC-C61251426378}">
  <a:tblStyle styleId="{E63EEF11-E5C5-462E-ADDC-C6125142637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BMPlexSans-italic.fntdata"/><Relationship Id="rId22" Type="http://schemas.openxmlformats.org/officeDocument/2006/relationships/font" Target="fonts/SourceSerif4-regular.fntdata"/><Relationship Id="rId21" Type="http://schemas.openxmlformats.org/officeDocument/2006/relationships/font" Target="fonts/IBMPlexSans-boldItalic.fntdata"/><Relationship Id="rId24" Type="http://schemas.openxmlformats.org/officeDocument/2006/relationships/font" Target="fonts/SourceSerif4-italic.fntdata"/><Relationship Id="rId23" Type="http://schemas.openxmlformats.org/officeDocument/2006/relationships/font" Target="fonts/SourceSerif4-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SourceSerif4-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BMPlexSans-bold.fntdata"/><Relationship Id="rId18" Type="http://schemas.openxmlformats.org/officeDocument/2006/relationships/font" Target="fonts/IBMPlex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Decisions 105–113 (claude/engineering_decisions_2026-10-13.md). Setup frozen: prompt v11.1 + Qwen3.8-27B + Gemma 4 26B + Mistral Small 3.2 24B, filtered passages. Next: the team calibration quiz.</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Frozen: prompt v11.1, Qwen3.8-27B + gemma-4-26B-A4B-it + Mistral-Small-3.2-24B, filtered (norw) passages, vLLM 0.29.0 + transformers 5.16.1. The blind 40-row third-judge check was dropped. Rules rev1.1 still need group 8's agreement before guide rev2.</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Unchanged: definitions, Lyu clarifications, rules 2, 3, 6, 7, 8 and 9, output schema. R-IM follows the teams' reading of the definition ("adapted, expanded, or modified"). R-FR is written content-first; pointer-first was the alternative. The rules still need group 8's agreement before guide rev2.</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proposal's A2 text mentions only the citation context; the director's clarification (decision 17, 2026-10-03) makes the citation context plus the Top-3 required, title and abstract optional. The prompt's cited-paper block is headed "for verification only": the label comes from what the citing text does with the target, and the cited paper's detail confirms it (rule 6 applies to Comparison, Application, Improvement/Modification, Evidence and Basis). v11's R-IM no longer needs the passages to describe a methodological change. The proposal compares title+abstract against section+Top-3 as encoder inputs in A4. No run without passages has been made; it would be informational only, since the passages are required.</a:t>
            </a:r>
            <a:endParaRPr/>
          </a:p>
        </p:txBody>
      </p:sp>
      <p:sp>
        <p:nvSpPr>
          <p:cNvPr id="58" name="Google Shape;5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Blind 41 = instances both teams agreed on in the blind pass. Adjudicated 60 = those 41 after the recheck (E19, E39, E51 changed) plus the 19 hard cases as decided. Under v11 each trio had one regression (Ministral E01 to Gap, Mistral Small E56 to Comparison); both are gone in v11.1. The longer prompt cost nothing: no errors, no ungrounded quotes, nothing too long.</a:t>
            </a:r>
            <a:endParaRPr/>
          </a:p>
        </p:txBody>
      </p:sp>
      <p:sp>
        <p:nvSpPr>
          <p:cNvPr id="75" name="Google Shape;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Gap stays the weak spot on eval60 (2 of 5), which is why Gap labels get human confirmation in A3. Ministral's trio still turns E26 into Gap (the source of a limitation); the Mistral Small trio gets it right (Evidence).</a:t>
            </a:r>
            <a:endParaRPr/>
          </a:p>
        </p:txBody>
      </p:sp>
      <p:sp>
        <p:nvSpPr>
          <p:cNvPr id="84" name="Google Shape;8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new Gap labels come mostly out of Background (184 to 125 on the Gap stratum for the Mistral Small trio). Evidence and Comparison hold or rise slightly. Basis stays rare on random data (5 to 6 of 285) but does not collapse; of the 1-2 instances that moved in or out of Basis, half are defensible.</a:t>
            </a:r>
            <a:endParaRPr/>
          </a:p>
        </p:txBody>
      </p:sp>
      <p:sp>
        <p:nvSpPr>
          <p:cNvPr id="95" name="Google Shape;9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by one reader who knew which trio produced each sample, and the two samples are different instances; not blind. Under v11 (before the position test) the Ministral trio's flips were 12 right, 6 wrong. The remaining errors are sources of a limitation ("as discussed in [T]", "numerous studies have revealed … [T]") and one open problem of the field.</a:t>
            </a:r>
            <a:endParaRPr/>
          </a:p>
        </p:txBody>
      </p:sp>
      <p:sp>
        <p:nvSpPr>
          <p:cNvPr id="111" name="Google Shape;11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Selected with --prompt-version v11.1 (a2_prompt_v11.py). Examples are invented, not taken from eval60 or the flips. The test barely moves Ministral on its own (still 42 Gap answers on Evidence cues), which is part of why the third judge is Mistral Small.</a:t>
            </a:r>
            <a:endParaRPr/>
          </a:p>
        </p:txBody>
      </p:sp>
      <p:sp>
        <p:nvSpPr>
          <p:cNvPr id="129" name="Google Shape;1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reads were not blind (one reader who knew the trio), but the Gap difference is large and every other signal points the same way. Weighted voting was considered and not adopted: with three judges a Qwen weight only breaks 1-1-1 ties, and the trio's job is confidence (2 of 3 agree), not per-answer accuracy.</a:t>
            </a:r>
            <a:endParaRPr/>
          </a:p>
        </p:txBody>
      </p:sp>
      <p:sp>
        <p:nvSpPr>
          <p:cNvPr id="146" name="Google Shape;14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Calibration set: 20 cue hits each for Further Reading, Originator and Improvement/Modification are judged by the frozen trio (calib_targeted); the other categories come from runs already done (pool_cue_yield, pilot_check300). Citing-paper information stays out because it made the teams' labels worse in the second pass (agreement 41 to 32; decision 95). Gap labels keep human confirmation in A3; for training data, a unanimity filter on Gap is an option after the re-judge.</a:t>
            </a:r>
            <a:endParaRPr/>
          </a:p>
        </p:txBody>
      </p:sp>
      <p:sp>
        <p:nvSpPr>
          <p:cNvPr id="155" name="Google Shape;15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7ce998915355f06f_0_0: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7ce998915355f06f_0_0: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6F1"/>
        </a:solidFill>
      </p:bgPr>
    </p:bg>
    <p:spTree>
      <p:nvGrpSpPr>
        <p:cNvPr id="12" name="Shape 12"/>
        <p:cNvGrpSpPr/>
        <p:nvPr/>
      </p:nvGrpSpPr>
      <p:grpSpPr>
        <a:xfrm>
          <a:off x="0" y="0"/>
          <a:ext cx="0" cy="0"/>
          <a:chOff x="0" y="0"/>
          <a:chExt cx="0" cy="0"/>
        </a:xfrm>
      </p:grpSpPr>
      <p:sp>
        <p:nvSpPr>
          <p:cNvPr id="13" name="Google Shape;13;p13"/>
          <p:cNvSpPr txBox="1"/>
          <p:nvPr>
            <p:ph type="title"/>
          </p:nvPr>
        </p:nvSpPr>
        <p:spPr>
          <a:xfrm>
            <a:off x="812800" y="812800"/>
            <a:ext cx="10566400" cy="934641"/>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4213D"/>
              </a:buClr>
              <a:buSzPts val="3200"/>
              <a:buFont typeface="Source Serif 4"/>
              <a:buNone/>
              <a:defRPr sz="3200">
                <a:solidFill>
                  <a:srgbClr val="14213D"/>
                </a:solidFill>
                <a:latin typeface="Source Serif 4"/>
                <a:ea typeface="Source Serif 4"/>
                <a:cs typeface="Source Serif 4"/>
                <a:sym typeface="Source Serif 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3"/>
          <p:cNvSpPr txBox="1"/>
          <p:nvPr>
            <p:ph idx="1" type="body"/>
          </p:nvPr>
        </p:nvSpPr>
        <p:spPr>
          <a:xfrm>
            <a:off x="812800" y="2052241"/>
            <a:ext cx="10566400" cy="39929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4213D"/>
              </a:buClr>
              <a:buSzPts val="1600"/>
              <a:buNone/>
              <a:defRPr sz="1600">
                <a:solidFill>
                  <a:srgbClr val="14213D"/>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h7ce998915355f06f_0_1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12800" y="812800"/>
            <a:ext cx="10566400" cy="934641"/>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4213D"/>
              </a:buClr>
              <a:buSzPts val="3200"/>
              <a:buFont typeface="Source Serif 4"/>
              <a:buNone/>
              <a:defRPr b="0" i="0" sz="3200" u="none" cap="none" strike="noStrike">
                <a:solidFill>
                  <a:srgbClr val="14213D"/>
                </a:solidFill>
                <a:latin typeface="Source Serif 4"/>
                <a:ea typeface="Source Serif 4"/>
                <a:cs typeface="Source Serif 4"/>
                <a:sym typeface="Source Serif 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812800" y="2052241"/>
            <a:ext cx="10566400" cy="39929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4213D"/>
              </a:buClr>
              <a:buSzPts val="1600"/>
              <a:buFont typeface="Arial"/>
              <a:buNone/>
              <a:defRPr b="0" i="0" sz="1600" u="none" cap="none" strike="noStrike">
                <a:solidFill>
                  <a:srgbClr val="14213D"/>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22" name="Shape 22"/>
        <p:cNvGrpSpPr/>
        <p:nvPr/>
      </p:nvGrpSpPr>
      <p:grpSpPr>
        <a:xfrm>
          <a:off x="0" y="0"/>
          <a:ext cx="0" cy="0"/>
          <a:chOff x="0" y="0"/>
          <a:chExt cx="0" cy="0"/>
        </a:xfrm>
      </p:grpSpPr>
      <p:sp>
        <p:nvSpPr>
          <p:cNvPr id="23" name="Google Shape;23;p1"/>
          <p:cNvSpPr/>
          <p:nvPr/>
        </p:nvSpPr>
        <p:spPr>
          <a:xfrm>
            <a:off x="812800" y="812800"/>
            <a:ext cx="10883392"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8A55C"/>
              </a:buClr>
              <a:buSzPts val="1600"/>
              <a:buFont typeface="IBM Plex Sans"/>
              <a:buNone/>
            </a:pPr>
            <a:r>
              <a:rPr b="0" i="0" lang="en-US" sz="1600" u="none" cap="none" strike="noStrike">
                <a:solidFill>
                  <a:srgbClr val="E8A55C"/>
                </a:solidFill>
                <a:latin typeface="IBM Plex Sans"/>
                <a:ea typeface="IBM Plex Sans"/>
                <a:cs typeface="IBM Plex Sans"/>
                <a:sym typeface="IBM Plex Sans"/>
              </a:rPr>
              <a:t>NLP LCR PROJECT · A2 PRE-LABELING</a:t>
            </a:r>
            <a:endParaRPr b="0" i="0" sz="1600" u="none" cap="none" strike="noStrike">
              <a:solidFill>
                <a:schemeClr val="dk1"/>
              </a:solidFill>
              <a:latin typeface="IBM Plex Sans"/>
              <a:ea typeface="IBM Plex Sans"/>
              <a:cs typeface="IBM Plex Sans"/>
              <a:sym typeface="IBM Plex Sans"/>
            </a:endParaRPr>
          </a:p>
        </p:txBody>
      </p:sp>
      <p:sp>
        <p:nvSpPr>
          <p:cNvPr id="24" name="Google Shape;24;p1"/>
          <p:cNvSpPr txBox="1"/>
          <p:nvPr>
            <p:ph type="title"/>
          </p:nvPr>
        </p:nvSpPr>
        <p:spPr>
          <a:xfrm>
            <a:off x="812800" y="2207320"/>
            <a:ext cx="10883392" cy="16256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4F2EC"/>
              </a:buClr>
              <a:buSzPts val="6000"/>
              <a:buFont typeface="Source Serif 4"/>
              <a:buNone/>
            </a:pPr>
            <a:r>
              <a:rPr b="1" i="0" lang="en-US" sz="6000">
                <a:solidFill>
                  <a:srgbClr val="F4F2EC"/>
                </a:solidFill>
                <a:latin typeface="Source Serif 4"/>
                <a:ea typeface="Source Serif 4"/>
                <a:cs typeface="Source Serif 4"/>
                <a:sym typeface="Source Serif 4"/>
              </a:rPr>
              <a:t>Prompt v11.1 and</a:t>
            </a:r>
            <a:endParaRPr sz="6000"/>
          </a:p>
          <a:p>
            <a:pPr indent="0" lvl="0" marL="0" rtl="0" algn="l">
              <a:lnSpc>
                <a:spcPct val="104999"/>
              </a:lnSpc>
              <a:spcBef>
                <a:spcPts val="0"/>
              </a:spcBef>
              <a:spcAft>
                <a:spcPts val="0"/>
              </a:spcAft>
              <a:buClr>
                <a:srgbClr val="F4F2EC"/>
              </a:buClr>
              <a:buSzPts val="6000"/>
              <a:buFont typeface="Source Serif 4"/>
              <a:buNone/>
            </a:pPr>
            <a:r>
              <a:rPr b="1" i="0" lang="en-US" sz="6000">
                <a:solidFill>
                  <a:srgbClr val="F4F2EC"/>
                </a:solidFill>
                <a:latin typeface="Source Serif 4"/>
                <a:ea typeface="Source Serif 4"/>
                <a:cs typeface="Source Serif 4"/>
                <a:sym typeface="Source Serif 4"/>
              </a:rPr>
              <a:t>the frozen judges</a:t>
            </a:r>
            <a:endParaRPr sz="6000"/>
          </a:p>
        </p:txBody>
      </p:sp>
      <p:sp>
        <p:nvSpPr>
          <p:cNvPr id="25" name="Google Shape;25;p1"/>
          <p:cNvSpPr/>
          <p:nvPr/>
        </p:nvSpPr>
        <p:spPr>
          <a:xfrm>
            <a:off x="812800" y="4061520"/>
            <a:ext cx="10883392" cy="685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D3E3"/>
              </a:buClr>
              <a:buSzPts val="2000"/>
              <a:buFont typeface="IBM Plex Sans"/>
              <a:buNone/>
            </a:pPr>
            <a:r>
              <a:rPr b="0" i="0" lang="en-US" sz="2000" u="none" cap="none" strike="noStrike">
                <a:solidFill>
                  <a:srgbClr val="C9D3E3"/>
                </a:solidFill>
                <a:latin typeface="IBM Plex Sans"/>
                <a:ea typeface="IBM Plex Sans"/>
                <a:cs typeface="IBM Plex Sans"/>
                <a:sym typeface="IBM Plex Sans"/>
              </a:rPr>
              <a:t>From the adjudication rules to the setup we freeze: eval60, the pool check, Basis and the third judge</a:t>
            </a:r>
            <a:endParaRPr b="0" i="0" sz="2000" u="none" cap="none" strike="noStrike">
              <a:solidFill>
                <a:schemeClr val="dk1"/>
              </a:solidFill>
              <a:latin typeface="IBM Plex Sans"/>
              <a:ea typeface="IBM Plex Sans"/>
              <a:cs typeface="IBM Plex Sans"/>
              <a:sym typeface="IBM Plex Sans"/>
            </a:endParaRPr>
          </a:p>
        </p:txBody>
      </p:sp>
      <p:sp>
        <p:nvSpPr>
          <p:cNvPr id="26" name="Google Shape;26;p1"/>
          <p:cNvSpPr/>
          <p:nvPr/>
        </p:nvSpPr>
        <p:spPr>
          <a:xfrm>
            <a:off x="812800" y="58318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3"/>
              </a:buClr>
              <a:buSzPts val="1200"/>
              <a:buFont typeface="IBM Plex Sans"/>
              <a:buNone/>
            </a:pPr>
            <a:r>
              <a:rPr b="0" i="0" lang="en-US" sz="1200" u="none" cap="none" strike="noStrike">
                <a:solidFill>
                  <a:srgbClr val="C9D3E3"/>
                </a:solidFill>
                <a:latin typeface="IBM Plex Sans"/>
                <a:ea typeface="IBM Plex Sans"/>
                <a:cs typeface="IBM Plex Sans"/>
                <a:sym typeface="IBM Plex Sans"/>
              </a:rPr>
              <a:t>October 13, 2026</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31" name="Shape 31"/>
        <p:cNvGrpSpPr/>
        <p:nvPr/>
      </p:nvGrpSpPr>
      <p:grpSpPr>
        <a:xfrm>
          <a:off x="0" y="0"/>
          <a:ext cx="0" cy="0"/>
          <a:chOff x="0" y="0"/>
          <a:chExt cx="0" cy="0"/>
        </a:xfrm>
      </p:grpSpPr>
      <p:sp>
        <p:nvSpPr>
          <p:cNvPr id="32" name="Google Shape;32;p2"/>
          <p:cNvSpPr txBox="1"/>
          <p:nvPr>
            <p:ph type="title"/>
          </p:nvPr>
        </p:nvSpPr>
        <p:spPr>
          <a:xfrm>
            <a:off x="812800" y="812800"/>
            <a:ext cx="10883392" cy="960041"/>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We freeze prompt v11.1 with Qwen3.8, Gemma 4 and Mistral Small; next is the team calibration quiz</a:t>
            </a:r>
            <a:endParaRPr sz="3200"/>
          </a:p>
        </p:txBody>
      </p:sp>
      <p:sp>
        <p:nvSpPr>
          <p:cNvPr id="33" name="Google Shape;33;p2"/>
          <p:cNvSpPr/>
          <p:nvPr/>
        </p:nvSpPr>
        <p:spPr>
          <a:xfrm>
            <a:off x="815975" y="2106216"/>
            <a:ext cx="3380284" cy="2286992"/>
          </a:xfrm>
          <a:prstGeom prst="roundRect">
            <a:avLst>
              <a:gd fmla="val 4304" name="adj"/>
            </a:avLst>
          </a:prstGeom>
          <a:solidFill>
            <a:srgbClr val="FFFFFF"/>
          </a:solidFill>
          <a:ln cap="flat" cmpd="sng" w="9525">
            <a:solidFill>
              <a:srgbClr val="DCE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073150" y="2363391"/>
            <a:ext cx="295191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FB0"/>
              </a:buClr>
              <a:buSzPts val="1200"/>
              <a:buFont typeface="IBM Plex Sans"/>
              <a:buNone/>
            </a:pPr>
            <a:r>
              <a:rPr b="1" i="0" lang="en-US" sz="1200" u="none" cap="none" strike="noStrike">
                <a:solidFill>
                  <a:srgbClr val="2F6FB0"/>
                </a:solidFill>
                <a:latin typeface="IBM Plex Sans"/>
                <a:ea typeface="IBM Plex Sans"/>
                <a:cs typeface="IBM Plex Sans"/>
                <a:sym typeface="IBM Plex Sans"/>
              </a:rPr>
              <a:t>PROMPT</a:t>
            </a:r>
            <a:endParaRPr b="0" i="0" sz="1200" u="none" cap="none" strike="noStrike">
              <a:solidFill>
                <a:schemeClr val="dk1"/>
              </a:solidFill>
              <a:latin typeface="IBM Plex Sans"/>
              <a:ea typeface="IBM Plex Sans"/>
              <a:cs typeface="IBM Plex Sans"/>
              <a:sym typeface="IBM Plex Sans"/>
            </a:endParaRPr>
          </a:p>
        </p:txBody>
      </p:sp>
      <p:sp>
        <p:nvSpPr>
          <p:cNvPr id="35" name="Google Shape;35;p2"/>
          <p:cNvSpPr/>
          <p:nvPr/>
        </p:nvSpPr>
        <p:spPr>
          <a:xfrm>
            <a:off x="1073150" y="2678311"/>
            <a:ext cx="2951912" cy="635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2000"/>
              <a:buFont typeface="IBM Plex Sans"/>
              <a:buNone/>
            </a:pPr>
            <a:r>
              <a:rPr b="1" i="0" lang="en-US" sz="2000" u="none" cap="none" strike="noStrike">
                <a:solidFill>
                  <a:srgbClr val="14213D"/>
                </a:solidFill>
                <a:latin typeface="IBM Plex Sans"/>
                <a:ea typeface="IBM Plex Sans"/>
                <a:cs typeface="IBM Plex Sans"/>
                <a:sym typeface="IBM Plex Sans"/>
              </a:rPr>
              <a:t>v11.1 = v8 + the adjudication rules</a:t>
            </a:r>
            <a:endParaRPr b="0" i="0" sz="2000" u="none" cap="none" strike="noStrike">
              <a:solidFill>
                <a:schemeClr val="dk1"/>
              </a:solidFill>
              <a:latin typeface="IBM Plex Sans"/>
              <a:ea typeface="IBM Plex Sans"/>
              <a:cs typeface="IBM Plex Sans"/>
              <a:sym typeface="IBM Plex Sans"/>
            </a:endParaRPr>
          </a:p>
        </p:txBody>
      </p:sp>
      <p:sp>
        <p:nvSpPr>
          <p:cNvPr id="36" name="Google Shape;36;p2"/>
          <p:cNvSpPr/>
          <p:nvPr/>
        </p:nvSpPr>
        <p:spPr>
          <a:xfrm>
            <a:off x="1073150" y="3389511"/>
            <a:ext cx="2951912" cy="77192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eval60 trio 43 → 48 of 60; on the pool, Gap about 5× more; Basis holds.</a:t>
            </a:r>
            <a:endParaRPr b="0" i="0" sz="1400" u="none" cap="none" strike="noStrike">
              <a:solidFill>
                <a:schemeClr val="dk1"/>
              </a:solidFill>
              <a:latin typeface="IBM Plex Sans"/>
              <a:ea typeface="IBM Plex Sans"/>
              <a:cs typeface="IBM Plex Sans"/>
              <a:sym typeface="IBM Plex Sans"/>
            </a:endParaRPr>
          </a:p>
        </p:txBody>
      </p:sp>
      <p:sp>
        <p:nvSpPr>
          <p:cNvPr id="37" name="Google Shape;37;p2"/>
          <p:cNvSpPr/>
          <p:nvPr/>
        </p:nvSpPr>
        <p:spPr>
          <a:xfrm>
            <a:off x="4405809" y="2106216"/>
            <a:ext cx="3380383" cy="2286992"/>
          </a:xfrm>
          <a:prstGeom prst="roundRect">
            <a:avLst>
              <a:gd fmla="val 4304" name="adj"/>
            </a:avLst>
          </a:prstGeom>
          <a:solidFill>
            <a:srgbClr val="FFFFFF"/>
          </a:solidFill>
          <a:ln cap="flat" cmpd="sng" w="9525">
            <a:solidFill>
              <a:srgbClr val="DCE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662984" y="2363391"/>
            <a:ext cx="295201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FB0"/>
              </a:buClr>
              <a:buSzPts val="1200"/>
              <a:buFont typeface="IBM Plex Sans"/>
              <a:buNone/>
            </a:pPr>
            <a:r>
              <a:rPr b="1" i="0" lang="en-US" sz="1200" u="none" cap="none" strike="noStrike">
                <a:solidFill>
                  <a:srgbClr val="2F6FB0"/>
                </a:solidFill>
                <a:latin typeface="IBM Plex Sans"/>
                <a:ea typeface="IBM Plex Sans"/>
                <a:cs typeface="IBM Plex Sans"/>
                <a:sym typeface="IBM Plex Sans"/>
              </a:rPr>
              <a:t>THIRD JUDGE</a:t>
            </a:r>
            <a:endParaRPr b="0" i="0" sz="1200" u="none" cap="none" strike="noStrike">
              <a:solidFill>
                <a:schemeClr val="dk1"/>
              </a:solidFill>
              <a:latin typeface="IBM Plex Sans"/>
              <a:ea typeface="IBM Plex Sans"/>
              <a:cs typeface="IBM Plex Sans"/>
              <a:sym typeface="IBM Plex Sans"/>
            </a:endParaRPr>
          </a:p>
        </p:txBody>
      </p:sp>
      <p:sp>
        <p:nvSpPr>
          <p:cNvPr id="39" name="Google Shape;39;p2"/>
          <p:cNvSpPr/>
          <p:nvPr/>
        </p:nvSpPr>
        <p:spPr>
          <a:xfrm>
            <a:off x="4662984" y="2678311"/>
            <a:ext cx="2952014" cy="635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2000"/>
              <a:buFont typeface="IBM Plex Sans"/>
              <a:buNone/>
            </a:pPr>
            <a:r>
              <a:rPr b="1" i="0" lang="en-US" sz="2000" u="none" cap="none" strike="noStrike">
                <a:solidFill>
                  <a:srgbClr val="14213D"/>
                </a:solidFill>
                <a:latin typeface="IBM Plex Sans"/>
                <a:ea typeface="IBM Plex Sans"/>
                <a:cs typeface="IBM Plex Sans"/>
                <a:sym typeface="IBM Plex Sans"/>
              </a:rPr>
              <a:t>Mistral Small, not Ministral</a:t>
            </a:r>
            <a:endParaRPr b="0" i="0" sz="2000" u="none" cap="none" strike="noStrike">
              <a:solidFill>
                <a:schemeClr val="dk1"/>
              </a:solidFill>
              <a:latin typeface="IBM Plex Sans"/>
              <a:ea typeface="IBM Plex Sans"/>
              <a:cs typeface="IBM Plex Sans"/>
              <a:sym typeface="IBM Plex Sans"/>
            </a:endParaRPr>
          </a:p>
        </p:txBody>
      </p:sp>
      <p:sp>
        <p:nvSpPr>
          <p:cNvPr id="40" name="Google Shape;40;p2"/>
          <p:cNvSpPr/>
          <p:nvPr/>
        </p:nvSpPr>
        <p:spPr>
          <a:xfrm>
            <a:off x="4662984" y="3389511"/>
            <a:ext cx="2952014"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New Gap labels are 85% right with it, 60% with Ministral.</a:t>
            </a:r>
            <a:endParaRPr b="0" i="0" sz="1400" u="none" cap="none" strike="noStrike">
              <a:solidFill>
                <a:schemeClr val="dk1"/>
              </a:solidFill>
              <a:latin typeface="IBM Plex Sans"/>
              <a:ea typeface="IBM Plex Sans"/>
              <a:cs typeface="IBM Plex Sans"/>
              <a:sym typeface="IBM Plex Sans"/>
            </a:endParaRPr>
          </a:p>
        </p:txBody>
      </p:sp>
      <p:sp>
        <p:nvSpPr>
          <p:cNvPr id="41" name="Google Shape;41;p2"/>
          <p:cNvSpPr/>
          <p:nvPr/>
        </p:nvSpPr>
        <p:spPr>
          <a:xfrm>
            <a:off x="7995741" y="2106216"/>
            <a:ext cx="3380284" cy="2286992"/>
          </a:xfrm>
          <a:prstGeom prst="roundRect">
            <a:avLst>
              <a:gd fmla="val 4304" name="adj"/>
            </a:avLst>
          </a:prstGeom>
          <a:solidFill>
            <a:srgbClr val="FFFFFF"/>
          </a:solidFill>
          <a:ln cap="flat" cmpd="sng" w="9525">
            <a:solidFill>
              <a:srgbClr val="DCE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8252916" y="2363391"/>
            <a:ext cx="295191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5A1C"/>
              </a:buClr>
              <a:buSzPts val="1200"/>
              <a:buFont typeface="IBM Plex Sans"/>
              <a:buNone/>
            </a:pPr>
            <a:r>
              <a:rPr b="1" i="0" lang="en-US" sz="1200" u="none" cap="none" strike="noStrike">
                <a:solidFill>
                  <a:srgbClr val="A85A1C"/>
                </a:solidFill>
                <a:latin typeface="IBM Plex Sans"/>
                <a:ea typeface="IBM Plex Sans"/>
                <a:cs typeface="IBM Plex Sans"/>
                <a:sym typeface="IBM Plex Sans"/>
              </a:rPr>
              <a:t>NEXT</a:t>
            </a:r>
            <a:endParaRPr b="0" i="0" sz="1200" u="none" cap="none" strike="noStrike">
              <a:solidFill>
                <a:schemeClr val="dk1"/>
              </a:solidFill>
              <a:latin typeface="IBM Plex Sans"/>
              <a:ea typeface="IBM Plex Sans"/>
              <a:cs typeface="IBM Plex Sans"/>
              <a:sym typeface="IBM Plex Sans"/>
            </a:endParaRPr>
          </a:p>
        </p:txBody>
      </p:sp>
      <p:sp>
        <p:nvSpPr>
          <p:cNvPr id="43" name="Google Shape;43;p2"/>
          <p:cNvSpPr/>
          <p:nvPr/>
        </p:nvSpPr>
        <p:spPr>
          <a:xfrm>
            <a:off x="8252916" y="2678311"/>
            <a:ext cx="2951912"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2000"/>
              <a:buFont typeface="IBM Plex Sans"/>
              <a:buNone/>
            </a:pPr>
            <a:r>
              <a:rPr b="1" i="0" lang="en-US" sz="2000" u="none" cap="none" strike="noStrike">
                <a:solidFill>
                  <a:srgbClr val="14213D"/>
                </a:solidFill>
                <a:latin typeface="IBM Plex Sans"/>
                <a:ea typeface="IBM Plex Sans"/>
                <a:cs typeface="IBM Plex Sans"/>
                <a:sym typeface="IBM Plex Sans"/>
              </a:rPr>
              <a:t>Calibrate the team</a:t>
            </a:r>
            <a:endParaRPr b="0" i="0" sz="2000" u="none" cap="none" strike="noStrike">
              <a:solidFill>
                <a:schemeClr val="dk1"/>
              </a:solidFill>
              <a:latin typeface="IBM Plex Sans"/>
              <a:ea typeface="IBM Plex Sans"/>
              <a:cs typeface="IBM Plex Sans"/>
              <a:sym typeface="IBM Plex Sans"/>
            </a:endParaRPr>
          </a:p>
        </p:txBody>
      </p:sp>
      <p:sp>
        <p:nvSpPr>
          <p:cNvPr id="44" name="Google Shape;44;p2"/>
          <p:cNvSpPr/>
          <p:nvPr/>
        </p:nvSpPr>
        <p:spPr>
          <a:xfrm>
            <a:off x="8252916" y="3084711"/>
            <a:ext cx="2951912"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A 30-question </a:t>
            </a:r>
            <a:r>
              <a:rPr lang="en-US">
                <a:solidFill>
                  <a:srgbClr val="4A5568"/>
                </a:solidFill>
                <a:latin typeface="IBM Plex Sans"/>
                <a:ea typeface="IBM Plex Sans"/>
                <a:cs typeface="IBM Plex Sans"/>
                <a:sym typeface="IBM Plex Sans"/>
              </a:rPr>
              <a:t>poll</a:t>
            </a:r>
            <a:r>
              <a:rPr b="0" i="0" lang="en-US" sz="1400" u="none" cap="none" strike="noStrike">
                <a:solidFill>
                  <a:srgbClr val="4A5568"/>
                </a:solidFill>
                <a:latin typeface="IBM Plex Sans"/>
                <a:ea typeface="IBM Plex Sans"/>
                <a:cs typeface="IBM Plex Sans"/>
                <a:sym typeface="IBM Plex Sans"/>
              </a:rPr>
              <a:t> on the frozen setup's labels, then A3.</a:t>
            </a:r>
            <a:endParaRPr b="0" i="0" sz="1400" u="none" cap="none" strike="noStrike">
              <a:solidFill>
                <a:schemeClr val="dk1"/>
              </a:solidFill>
              <a:latin typeface="IBM Plex Sans"/>
              <a:ea typeface="IBM Plex Sans"/>
              <a:cs typeface="IBM Plex Sans"/>
              <a:sym typeface="IBM Plex Sans"/>
            </a:endParaRPr>
          </a:p>
        </p:txBody>
      </p:sp>
      <p:sp>
        <p:nvSpPr>
          <p:cNvPr id="45" name="Google Shape;45;p2"/>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A2 · Prompt v11.1 and the frozen judges · 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50" name="Shape 50"/>
        <p:cNvGrpSpPr/>
        <p:nvPr/>
      </p:nvGrpSpPr>
      <p:grpSpPr>
        <a:xfrm>
          <a:off x="0" y="0"/>
          <a:ext cx="0" cy="0"/>
          <a:chOff x="0" y="0"/>
          <a:chExt cx="0" cy="0"/>
        </a:xfrm>
      </p:grpSpPr>
      <p:sp>
        <p:nvSpPr>
          <p:cNvPr id="51" name="Google Shape;51;p3"/>
          <p:cNvSpPr txBox="1"/>
          <p:nvPr>
            <p:ph type="title"/>
          </p:nvPr>
        </p:nvSpPr>
        <p:spPr>
          <a:xfrm>
            <a:off x="812800" y="81280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The adjudication rules became prompt v11.1</a:t>
            </a:r>
            <a:endParaRPr sz="3200"/>
          </a:p>
        </p:txBody>
      </p:sp>
      <p:graphicFrame>
        <p:nvGraphicFramePr>
          <p:cNvPr id="52" name="Google Shape;52;p3"/>
          <p:cNvGraphicFramePr/>
          <p:nvPr/>
        </p:nvGraphicFramePr>
        <p:xfrm>
          <a:off x="825500" y="1597620"/>
          <a:ext cx="3000000" cy="3000000"/>
        </p:xfrm>
        <a:graphic>
          <a:graphicData uri="http://schemas.openxmlformats.org/drawingml/2006/table">
            <a:tbl>
              <a:tblPr>
                <a:noFill/>
                <a:tableStyleId>{E63EEF11-E5C5-462E-ADDC-C61251426378}</a:tableStyleId>
              </a:tblPr>
              <a:tblGrid>
                <a:gridCol w="2532900"/>
                <a:gridCol w="5910075"/>
                <a:gridCol w="2110750"/>
              </a:tblGrid>
              <a:tr h="359275">
                <a:tc>
                  <a:txBody>
                    <a:bodyPr/>
                    <a:lstStyle/>
                    <a:p>
                      <a:pPr indent="0" lvl="0" marL="0" marR="0" rtl="0" algn="l">
                        <a:lnSpc>
                          <a:spcPct val="140000"/>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Rule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l">
                        <a:lnSpc>
                          <a:spcPct val="140000"/>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What it says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l">
                        <a:lnSpc>
                          <a:spcPct val="140000"/>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Change to v8</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R0 · Reading scope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Start from the target's sentence; others count only if they refer back</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Part of rule 1</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R-EV · Evidence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The source reporting another method's limitation is Evidence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Adds to rule 10</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R-GAP · Gap</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Works that have a limitation are Gap; its source is Evidence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Replaces rule 11</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R-IM · Improvement</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"We adapt / extend [x]" counts, even with no change described</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Replaces rule 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R-CMP · Comparison</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A dataset detail or a family contrasted as a whole is Background</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Adds to rule 4</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R-FR · Further Reading</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"See [x]" is Further Reading unless the sentence compares or claims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New rule 12</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bl>
          </a:graphicData>
        </a:graphic>
      </p:graphicFrame>
      <p:sp>
        <p:nvSpPr>
          <p:cNvPr id="53" name="Google Shape;53;p3"/>
          <p:cNvSpPr/>
          <p:nvPr/>
        </p:nvSpPr>
        <p:spPr>
          <a:xfrm>
            <a:off x="812800" y="4417318"/>
            <a:ext cx="10883392"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Same wording goes into guide rev2. Examples in the prompt are invented, so eval60 stays a fair test.</a:t>
            </a:r>
            <a:endParaRPr b="0" i="0" sz="1400" u="none" cap="none" strike="noStrike">
              <a:solidFill>
                <a:schemeClr val="dk1"/>
              </a:solidFill>
              <a:latin typeface="IBM Plex Sans"/>
              <a:ea typeface="IBM Plex Sans"/>
              <a:cs typeface="IBM Plex Sans"/>
              <a:sym typeface="IBM Plex Sans"/>
            </a:endParaRPr>
          </a:p>
        </p:txBody>
      </p:sp>
      <p:sp>
        <p:nvSpPr>
          <p:cNvPr id="54" name="Google Shape;54;p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A2 · Prompt v11.1 and the frozen judges · 3 · rules rev1.1</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59" name="Shape 59"/>
        <p:cNvGrpSpPr/>
        <p:nvPr/>
      </p:nvGrpSpPr>
      <p:grpSpPr>
        <a:xfrm>
          <a:off x="0" y="0"/>
          <a:ext cx="0" cy="0"/>
          <a:chOff x="0" y="0"/>
          <a:chExt cx="0" cy="0"/>
        </a:xfrm>
      </p:grpSpPr>
      <p:sp>
        <p:nvSpPr>
          <p:cNvPr id="60" name="Google Shape;60;p4"/>
          <p:cNvSpPr txBox="1"/>
          <p:nvPr>
            <p:ph type="title"/>
          </p:nvPr>
        </p:nvSpPr>
        <p:spPr>
          <a:xfrm>
            <a:off x="812800" y="812800"/>
            <a:ext cx="10883392" cy="960041"/>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The Top-3 passages are required input; they check the reading of the citing text</a:t>
            </a:r>
            <a:endParaRPr sz="3200"/>
          </a:p>
        </p:txBody>
      </p:sp>
      <p:cxnSp>
        <p:nvCxnSpPr>
          <p:cNvPr id="61" name="Google Shape;61;p4"/>
          <p:cNvCxnSpPr/>
          <p:nvPr/>
        </p:nvCxnSpPr>
        <p:spPr>
          <a:xfrm>
            <a:off x="838200" y="1950641"/>
            <a:ext cx="0" cy="880070"/>
          </a:xfrm>
          <a:prstGeom prst="straightConnector1">
            <a:avLst/>
          </a:prstGeom>
          <a:noFill/>
          <a:ln cap="flat" cmpd="sng" w="50800">
            <a:solidFill>
              <a:srgbClr val="E8A55C"/>
            </a:solidFill>
            <a:prstDash val="solid"/>
            <a:round/>
            <a:headEnd len="sm" w="sm" type="none"/>
            <a:tailEnd len="sm" w="sm" type="none"/>
          </a:ln>
        </p:spPr>
      </p:cxnSp>
      <p:sp>
        <p:nvSpPr>
          <p:cNvPr id="62" name="Google Shape;62;p4"/>
          <p:cNvSpPr/>
          <p:nvPr/>
        </p:nvSpPr>
        <p:spPr>
          <a:xfrm>
            <a:off x="1066800" y="2001441"/>
            <a:ext cx="10621772" cy="5397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4213D"/>
              </a:buClr>
              <a:buSzPts val="1500"/>
              <a:buFont typeface="Source Serif 4"/>
              <a:buNone/>
            </a:pPr>
            <a:r>
              <a:rPr b="0" i="1" lang="en-US" sz="1500" u="none" cap="none" strike="noStrike">
                <a:solidFill>
                  <a:srgbClr val="14213D"/>
                </a:solidFill>
                <a:latin typeface="Source Serif 4"/>
                <a:ea typeface="Source Serif 4"/>
                <a:cs typeface="Source Serif 4"/>
                <a:sym typeface="Source Serif 4"/>
              </a:rPr>
              <a:t>"…deben usar el contexto de la cita y los 3 párrafos extraídos. Opcionalmente, pueden agregar también el abstract y el título."</a:t>
            </a:r>
            <a:endParaRPr b="0" i="0" sz="1500" u="none" cap="none" strike="noStrike">
              <a:solidFill>
                <a:schemeClr val="dk1"/>
              </a:solidFill>
              <a:latin typeface="IBM Plex Sans"/>
              <a:ea typeface="IBM Plex Sans"/>
              <a:cs typeface="IBM Plex Sans"/>
              <a:sym typeface="IBM Plex Sans"/>
            </a:endParaRPr>
          </a:p>
        </p:txBody>
      </p:sp>
      <p:sp>
        <p:nvSpPr>
          <p:cNvPr id="63" name="Google Shape;63;p4"/>
          <p:cNvSpPr/>
          <p:nvPr/>
        </p:nvSpPr>
        <p:spPr>
          <a:xfrm>
            <a:off x="1066800" y="2566591"/>
            <a:ext cx="1062177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Project director, on the A2 pre-labeling input</a:t>
            </a:r>
            <a:endParaRPr b="0" i="0" sz="1200" u="none" cap="none" strike="noStrike">
              <a:solidFill>
                <a:schemeClr val="dk1"/>
              </a:solidFill>
              <a:latin typeface="IBM Plex Sans"/>
              <a:ea typeface="IBM Plex Sans"/>
              <a:cs typeface="IBM Plex Sans"/>
              <a:sym typeface="IBM Plex Sans"/>
            </a:endParaRPr>
          </a:p>
        </p:txBody>
      </p:sp>
      <p:sp>
        <p:nvSpPr>
          <p:cNvPr id="64" name="Google Shape;64;p4"/>
          <p:cNvSpPr/>
          <p:nvPr/>
        </p:nvSpPr>
        <p:spPr>
          <a:xfrm>
            <a:off x="815975" y="3037086"/>
            <a:ext cx="5175250" cy="2134394"/>
          </a:xfrm>
          <a:prstGeom prst="roundRect">
            <a:avLst>
              <a:gd fmla="val 4611" name="adj"/>
            </a:avLst>
          </a:prstGeom>
          <a:solidFill>
            <a:srgbClr val="FFFFFF"/>
          </a:solidFill>
          <a:ln cap="flat" cmpd="sng" w="9525">
            <a:solidFill>
              <a:srgbClr val="DD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1073150" y="3294261"/>
            <a:ext cx="4800727" cy="29964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800"/>
              <a:buFont typeface="IBM Plex Sans"/>
              <a:buNone/>
            </a:pPr>
            <a:r>
              <a:rPr b="1" i="0" lang="en-US" sz="1800" u="none" cap="none" strike="noStrike">
                <a:solidFill>
                  <a:srgbClr val="14213D"/>
                </a:solidFill>
                <a:latin typeface="IBM Plex Sans"/>
                <a:ea typeface="IBM Plex Sans"/>
                <a:cs typeface="IBM Plex Sans"/>
                <a:sym typeface="IBM Plex Sans"/>
              </a:rPr>
              <a:t>What each judge reads</a:t>
            </a:r>
            <a:endParaRPr b="0" i="0" sz="1800" u="none" cap="none" strike="noStrike">
              <a:solidFill>
                <a:schemeClr val="dk1"/>
              </a:solidFill>
              <a:latin typeface="IBM Plex Sans"/>
              <a:ea typeface="IBM Plex Sans"/>
              <a:cs typeface="IBM Plex Sans"/>
              <a:sym typeface="IBM Plex Sans"/>
            </a:endParaRPr>
          </a:p>
        </p:txBody>
      </p:sp>
      <p:sp>
        <p:nvSpPr>
          <p:cNvPr id="66" name="Google Shape;66;p4"/>
          <p:cNvSpPr/>
          <p:nvPr/>
        </p:nvSpPr>
        <p:spPr>
          <a:xfrm>
            <a:off x="1159007" y="3627827"/>
            <a:ext cx="4714800" cy="1269600"/>
          </a:xfrm>
          <a:prstGeom prst="rect">
            <a:avLst/>
          </a:prstGeom>
          <a:noFill/>
          <a:ln>
            <a:noFill/>
          </a:ln>
        </p:spPr>
        <p:txBody>
          <a:bodyPr anchorCtr="0" anchor="t" bIns="0" lIns="0" spcFirstLastPara="1" rIns="0" wrap="square" tIns="0">
            <a:normAutofit/>
          </a:bodyPr>
          <a:lstStyle/>
          <a:p>
            <a:pPr indent="-175768" lvl="0" marL="175768" marR="0" rtl="0" algn="l">
              <a:lnSpc>
                <a:spcPct val="140000"/>
              </a:lnSpc>
              <a:spcBef>
                <a:spcPts val="0"/>
              </a:spcBef>
              <a:spcAft>
                <a:spcPts val="0"/>
              </a:spcAft>
              <a:buClr>
                <a:srgbClr val="33405A"/>
              </a:buClr>
              <a:buSzPts val="1400"/>
              <a:buFont typeface="IBM Plex Sans"/>
              <a:buChar char="•"/>
            </a:pPr>
            <a:r>
              <a:rPr b="0" i="0" lang="en-US" sz="1400" u="none" cap="none" strike="noStrike">
                <a:solidFill>
                  <a:srgbClr val="33405A"/>
                </a:solidFill>
                <a:latin typeface="IBM Plex Sans"/>
                <a:ea typeface="IBM Plex Sans"/>
                <a:cs typeface="IBM Plex Sans"/>
                <a:sym typeface="IBM Plex Sans"/>
              </a:rPr>
              <a:t>Citing paragraph with [[TARGET]], and the target's sentence</a:t>
            </a:r>
            <a:endParaRPr b="0" i="0" sz="1400" u="none" cap="none" strike="noStrike">
              <a:solidFill>
                <a:schemeClr val="dk1"/>
              </a:solidFill>
              <a:latin typeface="IBM Plex Sans"/>
              <a:ea typeface="IBM Plex Sans"/>
              <a:cs typeface="IBM Plex Sans"/>
              <a:sym typeface="IBM Plex Sans"/>
            </a:endParaRPr>
          </a:p>
          <a:p>
            <a:pPr indent="-175768" lvl="0" marL="175768" marR="0" rtl="0" algn="l">
              <a:lnSpc>
                <a:spcPct val="140000"/>
              </a:lnSpc>
              <a:spcBef>
                <a:spcPts val="0"/>
              </a:spcBef>
              <a:spcAft>
                <a:spcPts val="0"/>
              </a:spcAft>
              <a:buClr>
                <a:srgbClr val="33405A"/>
              </a:buClr>
              <a:buSzPts val="1400"/>
              <a:buFont typeface="IBM Plex Sans"/>
              <a:buChar char="•"/>
            </a:pPr>
            <a:r>
              <a:rPr b="0" i="0" lang="en-US" sz="1400" u="none" cap="none" strike="noStrike">
                <a:solidFill>
                  <a:srgbClr val="33405A"/>
                </a:solidFill>
                <a:latin typeface="IBM Plex Sans"/>
                <a:ea typeface="IBM Plex Sans"/>
                <a:cs typeface="IBM Plex Sans"/>
                <a:sym typeface="IBM Plex Sans"/>
              </a:rPr>
              <a:t>Top-3 passages with their sections (related-work chunks excluded)</a:t>
            </a:r>
            <a:endParaRPr b="0" i="0" sz="1400" u="none" cap="none" strike="noStrike">
              <a:solidFill>
                <a:schemeClr val="dk1"/>
              </a:solidFill>
              <a:latin typeface="IBM Plex Sans"/>
              <a:ea typeface="IBM Plex Sans"/>
              <a:cs typeface="IBM Plex Sans"/>
              <a:sym typeface="IBM Plex Sans"/>
            </a:endParaRPr>
          </a:p>
          <a:p>
            <a:pPr indent="-175768" lvl="0" marL="175768" marR="0" rtl="0" algn="l">
              <a:lnSpc>
                <a:spcPct val="140000"/>
              </a:lnSpc>
              <a:spcBef>
                <a:spcPts val="0"/>
              </a:spcBef>
              <a:spcAft>
                <a:spcPts val="0"/>
              </a:spcAft>
              <a:buClr>
                <a:srgbClr val="33405A"/>
              </a:buClr>
              <a:buSzPts val="1400"/>
              <a:buFont typeface="IBM Plex Sans"/>
              <a:buChar char="•"/>
            </a:pPr>
            <a:r>
              <a:rPr b="0" i="0" lang="en-US" sz="1400" u="none" cap="none" strike="noStrike">
                <a:solidFill>
                  <a:srgbClr val="33405A"/>
                </a:solidFill>
                <a:latin typeface="IBM Plex Sans"/>
                <a:ea typeface="IBM Plex Sans"/>
                <a:cs typeface="IBM Plex Sans"/>
                <a:sym typeface="IBM Plex Sans"/>
              </a:rPr>
              <a:t>Cited title and abstract (optional; we include them)</a:t>
            </a:r>
            <a:endParaRPr b="0" i="0" sz="1400" u="none" cap="none" strike="noStrike">
              <a:solidFill>
                <a:schemeClr val="dk1"/>
              </a:solidFill>
              <a:latin typeface="IBM Plex Sans"/>
              <a:ea typeface="IBM Plex Sans"/>
              <a:cs typeface="IBM Plex Sans"/>
              <a:sym typeface="IBM Plex Sans"/>
            </a:endParaRPr>
          </a:p>
        </p:txBody>
      </p:sp>
      <p:sp>
        <p:nvSpPr>
          <p:cNvPr id="67" name="Google Shape;67;p4"/>
          <p:cNvSpPr/>
          <p:nvPr/>
        </p:nvSpPr>
        <p:spPr>
          <a:xfrm>
            <a:off x="6200775" y="3037086"/>
            <a:ext cx="5175250" cy="2134394"/>
          </a:xfrm>
          <a:prstGeom prst="roundRect">
            <a:avLst>
              <a:gd fmla="val 4611" name="adj"/>
            </a:avLst>
          </a:prstGeom>
          <a:solidFill>
            <a:srgbClr val="FFFFFF"/>
          </a:solidFill>
          <a:ln cap="flat" cmpd="sng" w="9525">
            <a:solidFill>
              <a:srgbClr val="DD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6457950" y="3294261"/>
            <a:ext cx="4800727" cy="29964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800"/>
              <a:buFont typeface="IBM Plex Sans"/>
              <a:buNone/>
            </a:pPr>
            <a:r>
              <a:rPr b="1" i="0" lang="en-US" sz="1800" u="none" cap="none" strike="noStrike">
                <a:solidFill>
                  <a:srgbClr val="14213D"/>
                </a:solidFill>
                <a:latin typeface="IBM Plex Sans"/>
                <a:ea typeface="IBM Plex Sans"/>
                <a:cs typeface="IBM Plex Sans"/>
                <a:sym typeface="IBM Plex Sans"/>
              </a:rPr>
              <a:t>How the prompt uses the passages</a:t>
            </a:r>
            <a:endParaRPr b="0" i="0" sz="1800" u="none" cap="none" strike="noStrike">
              <a:solidFill>
                <a:schemeClr val="dk1"/>
              </a:solidFill>
              <a:latin typeface="IBM Plex Sans"/>
              <a:ea typeface="IBM Plex Sans"/>
              <a:cs typeface="IBM Plex Sans"/>
              <a:sym typeface="IBM Plex Sans"/>
            </a:endParaRPr>
          </a:p>
        </p:txBody>
      </p:sp>
      <p:sp>
        <p:nvSpPr>
          <p:cNvPr id="69" name="Google Shape;69;p4"/>
          <p:cNvSpPr/>
          <p:nvPr/>
        </p:nvSpPr>
        <p:spPr>
          <a:xfrm>
            <a:off x="6536182" y="3670102"/>
            <a:ext cx="4714875" cy="1269603"/>
          </a:xfrm>
          <a:prstGeom prst="rect">
            <a:avLst/>
          </a:prstGeom>
          <a:noFill/>
          <a:ln>
            <a:noFill/>
          </a:ln>
        </p:spPr>
        <p:txBody>
          <a:bodyPr anchorCtr="0" anchor="t" bIns="0" lIns="0" spcFirstLastPara="1" rIns="0" wrap="square" tIns="0">
            <a:normAutofit/>
          </a:bodyPr>
          <a:lstStyle/>
          <a:p>
            <a:pPr indent="-175768" lvl="0" marL="175768" marR="0" rtl="0" algn="l">
              <a:lnSpc>
                <a:spcPct val="140000"/>
              </a:lnSpc>
              <a:spcBef>
                <a:spcPts val="0"/>
              </a:spcBef>
              <a:spcAft>
                <a:spcPts val="0"/>
              </a:spcAft>
              <a:buClr>
                <a:srgbClr val="33405A"/>
              </a:buClr>
              <a:buSzPts val="1400"/>
              <a:buFont typeface="IBM Plex Sans"/>
              <a:buChar char="•"/>
            </a:pPr>
            <a:r>
              <a:rPr b="0" i="0" lang="en-US" sz="1400" u="none" cap="none" strike="noStrike">
                <a:solidFill>
                  <a:srgbClr val="33405A"/>
                </a:solidFill>
                <a:latin typeface="IBM Plex Sans"/>
                <a:ea typeface="IBM Plex Sans"/>
                <a:cs typeface="IBM Plex Sans"/>
                <a:sym typeface="IBM Plex Sans"/>
              </a:rPr>
              <a:t>The function is read from the citing text (rule 1, R0)</a:t>
            </a:r>
            <a:endParaRPr b="0" i="0" sz="1400" u="none" cap="none" strike="noStrike">
              <a:solidFill>
                <a:schemeClr val="dk1"/>
              </a:solidFill>
              <a:latin typeface="IBM Plex Sans"/>
              <a:ea typeface="IBM Plex Sans"/>
              <a:cs typeface="IBM Plex Sans"/>
              <a:sym typeface="IBM Plex Sans"/>
            </a:endParaRPr>
          </a:p>
          <a:p>
            <a:pPr indent="-175768" lvl="0" marL="175768" marR="0" rtl="0" algn="l">
              <a:lnSpc>
                <a:spcPct val="140000"/>
              </a:lnSpc>
              <a:spcBef>
                <a:spcPts val="0"/>
              </a:spcBef>
              <a:spcAft>
                <a:spcPts val="0"/>
              </a:spcAft>
              <a:buClr>
                <a:srgbClr val="33405A"/>
              </a:buClr>
              <a:buSzPts val="1400"/>
              <a:buFont typeface="IBM Plex Sans"/>
              <a:buChar char="•"/>
            </a:pPr>
            <a:r>
              <a:rPr b="0" i="0" lang="en-US" sz="1400" u="none" cap="none" strike="noStrike">
                <a:solidFill>
                  <a:srgbClr val="33405A"/>
                </a:solidFill>
                <a:latin typeface="IBM Plex Sans"/>
                <a:ea typeface="IBM Plex Sans"/>
                <a:cs typeface="IBM Plex Sans"/>
                <a:sym typeface="IBM Plex Sans"/>
              </a:rPr>
              <a:t>Passages check that reading: is the target a dataset, a method, a survey? (rule 6)</a:t>
            </a:r>
            <a:endParaRPr b="0" i="0" sz="1400" u="none" cap="none" strike="noStrike">
              <a:solidFill>
                <a:schemeClr val="dk1"/>
              </a:solidFill>
              <a:latin typeface="IBM Plex Sans"/>
              <a:ea typeface="IBM Plex Sans"/>
              <a:cs typeface="IBM Plex Sans"/>
              <a:sym typeface="IBM Plex Sans"/>
            </a:endParaRPr>
          </a:p>
          <a:p>
            <a:pPr indent="-175768" lvl="0" marL="175768" marR="0" rtl="0" algn="l">
              <a:lnSpc>
                <a:spcPct val="140000"/>
              </a:lnSpc>
              <a:spcBef>
                <a:spcPts val="0"/>
              </a:spcBef>
              <a:spcAft>
                <a:spcPts val="0"/>
              </a:spcAft>
              <a:buClr>
                <a:srgbClr val="33405A"/>
              </a:buClr>
              <a:buSzPts val="1400"/>
              <a:buFont typeface="IBM Plex Sans"/>
              <a:buChar char="•"/>
            </a:pPr>
            <a:r>
              <a:rPr b="0" i="0" lang="en-US" sz="1400" u="none" cap="none" strike="noStrike">
                <a:solidFill>
                  <a:srgbClr val="33405A"/>
                </a:solidFill>
                <a:latin typeface="IBM Plex Sans"/>
                <a:ea typeface="IBM Plex Sans"/>
                <a:cs typeface="IBM Plex Sans"/>
                <a:sym typeface="IBM Plex Sans"/>
              </a:rPr>
              <a:t>The evidence quote must come from the citing text, or the judge abstains</a:t>
            </a:r>
            <a:endParaRPr b="0" i="0" sz="1400" u="none" cap="none" strike="noStrike">
              <a:solidFill>
                <a:schemeClr val="dk1"/>
              </a:solidFill>
              <a:latin typeface="IBM Plex Sans"/>
              <a:ea typeface="IBM Plex Sans"/>
              <a:cs typeface="IBM Plex Sans"/>
              <a:sym typeface="IBM Plex Sans"/>
            </a:endParaRPr>
          </a:p>
        </p:txBody>
      </p:sp>
      <p:sp>
        <p:nvSpPr>
          <p:cNvPr id="70" name="Google Shape;70;p4"/>
          <p:cNvSpPr/>
          <p:nvPr/>
        </p:nvSpPr>
        <p:spPr>
          <a:xfrm>
            <a:off x="812800" y="5377855"/>
            <a:ext cx="10883392"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A3 annotators see the same passages; filtered passages changed 1–6% of labels, not accuracy.</a:t>
            </a:r>
            <a:endParaRPr b="0" i="0" sz="1400" u="none" cap="none" strike="noStrike">
              <a:solidFill>
                <a:schemeClr val="dk1"/>
              </a:solidFill>
              <a:latin typeface="IBM Plex Sans"/>
              <a:ea typeface="IBM Plex Sans"/>
              <a:cs typeface="IBM Plex Sans"/>
              <a:sym typeface="IBM Plex Sans"/>
            </a:endParaRPr>
          </a:p>
        </p:txBody>
      </p:sp>
      <p:sp>
        <p:nvSpPr>
          <p:cNvPr id="71" name="Google Shape;71;p4"/>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A2 · Prompt v11.1 and the frozen judges · 4 · the role of the passages</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76" name="Shape 76"/>
        <p:cNvGrpSpPr/>
        <p:nvPr/>
      </p:nvGrpSpPr>
      <p:grpSpPr>
        <a:xfrm>
          <a:off x="0" y="0"/>
          <a:ext cx="0" cy="0"/>
          <a:chOff x="0" y="0"/>
          <a:chExt cx="0" cy="0"/>
        </a:xfrm>
      </p:grpSpPr>
      <p:sp>
        <p:nvSpPr>
          <p:cNvPr id="77" name="Google Shape;77;p5"/>
          <p:cNvSpPr txBox="1"/>
          <p:nvPr>
            <p:ph type="title"/>
          </p:nvPr>
        </p:nvSpPr>
        <p:spPr>
          <a:xfrm>
            <a:off x="812800" y="812800"/>
            <a:ext cx="10883392" cy="960041"/>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eval60: v11.1 is the best version for every judge and both trios</a:t>
            </a:r>
            <a:endParaRPr sz="3200"/>
          </a:p>
        </p:txBody>
      </p:sp>
      <p:graphicFrame>
        <p:nvGraphicFramePr>
          <p:cNvPr id="78" name="Google Shape;78;p5"/>
          <p:cNvGraphicFramePr/>
          <p:nvPr/>
        </p:nvGraphicFramePr>
        <p:xfrm>
          <a:off x="825500" y="2064941"/>
          <a:ext cx="3000000" cy="3000000"/>
        </p:xfrm>
        <a:graphic>
          <a:graphicData uri="http://schemas.openxmlformats.org/drawingml/2006/table">
            <a:tbl>
              <a:tblPr>
                <a:noFill/>
                <a:tableStyleId>{E63EEF11-E5C5-462E-ADDC-C61251426378}</a:tableStyleId>
              </a:tblPr>
              <a:tblGrid>
                <a:gridCol w="3377175"/>
                <a:gridCol w="1371975"/>
                <a:gridCol w="1371975"/>
                <a:gridCol w="1477525"/>
                <a:gridCol w="2955025"/>
              </a:tblGrid>
              <a:tr h="385950">
                <a:tc>
                  <a:txBody>
                    <a:bodyPr/>
                    <a:lstStyle/>
                    <a:p>
                      <a:pPr indent="0" lvl="0" marL="0" marR="0" rtl="0" algn="l">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Judge / trio</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v8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v11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v11.1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Blind 41, v8 → v11.1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Qwen3.8-27B</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49</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50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33 → 34</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Gemma 4 26B</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46</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30 → 34</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Mistral Small 3.2 24B</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23 → 29</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Ministral 3 14B</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35</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35</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24 → 27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Trio with Mistral Small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43</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30 → 33</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Trio with Ministral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44</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45</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30 → 32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bl>
          </a:graphicData>
        </a:graphic>
      </p:graphicFrame>
      <p:sp>
        <p:nvSpPr>
          <p:cNvPr id="79" name="Google Shape;79;p5"/>
          <p:cNvSpPr/>
          <p:nvPr/>
        </p:nvSpPr>
        <p:spPr>
          <a:xfrm>
            <a:off x="812800" y="5071467"/>
            <a:ext cx="10883392"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No label v8 got right turns wrong under v11.1, in either trio. The gain is partly built in (the rules came from these cases); the pool check is the real test.</a:t>
            </a:r>
            <a:endParaRPr b="0" i="0" sz="1400" u="none" cap="none" strike="noStrike">
              <a:solidFill>
                <a:schemeClr val="dk1"/>
              </a:solidFill>
              <a:latin typeface="IBM Plex Sans"/>
              <a:ea typeface="IBM Plex Sans"/>
              <a:cs typeface="IBM Plex Sans"/>
              <a:sym typeface="IBM Plex Sans"/>
            </a:endParaRPr>
          </a:p>
        </p:txBody>
      </p:sp>
      <p:sp>
        <p:nvSpPr>
          <p:cNvPr id="80" name="Google Shape;80;p5"/>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A2 · Prompt v11.1 and the frozen judges · 5 · correct answers on the adjudicated 60, filtered passages</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85" name="Shape 85"/>
        <p:cNvGrpSpPr/>
        <p:nvPr/>
      </p:nvGrpSpPr>
      <p:grpSpPr>
        <a:xfrm>
          <a:off x="0" y="0"/>
          <a:ext cx="0" cy="0"/>
          <a:chOff x="0" y="0"/>
          <a:chExt cx="0" cy="0"/>
        </a:xfrm>
      </p:grpSpPr>
      <p:sp>
        <p:nvSpPr>
          <p:cNvPr id="86" name="Google Shape;86;p6"/>
          <p:cNvSpPr txBox="1"/>
          <p:nvPr>
            <p:ph type="title"/>
          </p:nvPr>
        </p:nvSpPr>
        <p:spPr>
          <a:xfrm>
            <a:off x="812800" y="812800"/>
            <a:ext cx="10883392" cy="960041"/>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Gap, Evidence and Further Reading improve; nothing gets worse</a:t>
            </a:r>
            <a:endParaRPr sz="3200"/>
          </a:p>
        </p:txBody>
      </p:sp>
      <p:graphicFrame>
        <p:nvGraphicFramePr>
          <p:cNvPr id="87" name="Google Shape;87;p6"/>
          <p:cNvGraphicFramePr/>
          <p:nvPr/>
        </p:nvGraphicFramePr>
        <p:xfrm>
          <a:off x="825500" y="2014141"/>
          <a:ext cx="3000000" cy="3000000"/>
        </p:xfrm>
        <a:graphic>
          <a:graphicData uri="http://schemas.openxmlformats.org/drawingml/2006/table">
            <a:tbl>
              <a:tblPr>
                <a:noFill/>
                <a:tableStyleId>{E63EEF11-E5C5-462E-ADDC-C61251426378}</a:tableStyleId>
              </a:tblPr>
              <a:tblGrid>
                <a:gridCol w="2903475"/>
                <a:gridCol w="1704225"/>
                <a:gridCol w="1704225"/>
              </a:tblGrid>
              <a:tr h="359275">
                <a:tc>
                  <a:txBody>
                    <a:bodyPr/>
                    <a:lstStyle/>
                    <a:p>
                      <a:pPr indent="0" lvl="0" marL="0" marR="0" rtl="0" algn="l">
                        <a:lnSpc>
                          <a:spcPct val="140000"/>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Category (n)</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Mistral Small trio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Ministral trio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Gap (5)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0 → 2</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0 → 2</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Evidence (9)</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6 → 7</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3 → 4</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Further Reading (10)</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7 → 9</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7 → 8</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Background (15)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15 → 15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15 → 15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Improvement/Mod. (9)</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7 → 7</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7 → 7</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Originator (5)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5 → 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5 → 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Comparison (4)</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2 → 2</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2 → 2</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Application (3)</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1 → 1</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2 → 2</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bl>
          </a:graphicData>
        </a:graphic>
      </p:graphicFrame>
      <p:sp>
        <p:nvSpPr>
          <p:cNvPr id="88" name="Google Shape;88;p6"/>
          <p:cNvSpPr/>
          <p:nvPr/>
        </p:nvSpPr>
        <p:spPr>
          <a:xfrm>
            <a:off x="7442200" y="2001441"/>
            <a:ext cx="4055110"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Gap:</a:t>
            </a:r>
            <a:r>
              <a:rPr b="0" i="0" lang="en-US" sz="1400" u="none" cap="none" strike="noStrike">
                <a:solidFill>
                  <a:srgbClr val="4A5568"/>
                </a:solidFill>
                <a:latin typeface="IBM Plex Sans"/>
                <a:ea typeface="IBM Plex Sans"/>
                <a:cs typeface="IBM Plex Sans"/>
                <a:sym typeface="IBM Plex Sans"/>
              </a:rPr>
              <a:t> E04 and E58 now right; E44, E50, E52 still missed.</a:t>
            </a:r>
            <a:endParaRPr b="0" i="0" sz="1400" u="none" cap="none" strike="noStrike">
              <a:solidFill>
                <a:schemeClr val="dk1"/>
              </a:solidFill>
              <a:latin typeface="IBM Plex Sans"/>
              <a:ea typeface="IBM Plex Sans"/>
              <a:cs typeface="IBM Plex Sans"/>
              <a:sym typeface="IBM Plex Sans"/>
            </a:endParaRPr>
          </a:p>
        </p:txBody>
      </p:sp>
      <p:sp>
        <p:nvSpPr>
          <p:cNvPr id="89" name="Google Shape;89;p6"/>
          <p:cNvSpPr/>
          <p:nvPr/>
        </p:nvSpPr>
        <p:spPr>
          <a:xfrm>
            <a:off x="7442200" y="2651522"/>
            <a:ext cx="4055110"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"See [x]"</a:t>
            </a:r>
            <a:r>
              <a:rPr b="0" i="0" lang="en-US" sz="1400" u="none" cap="none" strike="noStrike">
                <a:solidFill>
                  <a:srgbClr val="4A5568"/>
                </a:solidFill>
                <a:latin typeface="IBM Plex Sans"/>
                <a:ea typeface="IBM Plex Sans"/>
                <a:cs typeface="IBM Plex Sans"/>
                <a:sym typeface="IBM Plex Sans"/>
              </a:rPr>
              <a:t> is read pointer-first: E42 → Further Reading (its acceptable secondary).</a:t>
            </a:r>
            <a:endParaRPr b="0" i="0" sz="1400" u="none" cap="none" strike="noStrike">
              <a:solidFill>
                <a:schemeClr val="dk1"/>
              </a:solidFill>
              <a:latin typeface="IBM Plex Sans"/>
              <a:ea typeface="IBM Plex Sans"/>
              <a:cs typeface="IBM Plex Sans"/>
              <a:sym typeface="IBM Plex Sans"/>
            </a:endParaRPr>
          </a:p>
        </p:txBody>
      </p:sp>
      <p:sp>
        <p:nvSpPr>
          <p:cNvPr id="90" name="Google Shape;90;p6"/>
          <p:cNvSpPr/>
          <p:nvPr/>
        </p:nvSpPr>
        <p:spPr>
          <a:xfrm>
            <a:off x="7442200" y="3301603"/>
            <a:ext cx="4055110"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Basis:</a:t>
            </a:r>
            <a:r>
              <a:rPr b="0" i="0" lang="en-US" sz="1400" u="none" cap="none" strike="noStrike">
                <a:solidFill>
                  <a:srgbClr val="4A5568"/>
                </a:solidFill>
                <a:latin typeface="IBM Plex Sans"/>
                <a:ea typeface="IBM Plex Sans"/>
                <a:cs typeface="IBM Plex Sans"/>
                <a:sym typeface="IBM Plex Sans"/>
              </a:rPr>
              <a:t> none left in this reference; checked on random data instead (next slide).</a:t>
            </a:r>
            <a:endParaRPr b="0" i="0" sz="1400" u="none" cap="none" strike="noStrike">
              <a:solidFill>
                <a:schemeClr val="dk1"/>
              </a:solidFill>
              <a:latin typeface="IBM Plex Sans"/>
              <a:ea typeface="IBM Plex Sans"/>
              <a:cs typeface="IBM Plex Sans"/>
              <a:sym typeface="IBM Plex Sans"/>
            </a:endParaRPr>
          </a:p>
        </p:txBody>
      </p:sp>
      <p:sp>
        <p:nvSpPr>
          <p:cNvPr id="91" name="Google Shape;91;p6"/>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A2 · Prompt v11.1 and the frozen judges · 6 · trio recall on the adjudicated 60, v8 → v11.1</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1F5"/>
        </a:solidFill>
      </p:bgPr>
    </p:bg>
    <p:spTree>
      <p:nvGrpSpPr>
        <p:cNvPr id="96" name="Shape 96"/>
        <p:cNvGrpSpPr/>
        <p:nvPr/>
      </p:nvGrpSpPr>
      <p:grpSpPr>
        <a:xfrm>
          <a:off x="0" y="0"/>
          <a:ext cx="0" cy="0"/>
          <a:chOff x="0" y="0"/>
          <a:chExt cx="0" cy="0"/>
        </a:xfrm>
      </p:grpSpPr>
      <p:sp>
        <p:nvSpPr>
          <p:cNvPr id="97" name="Google Shape;97;p7"/>
          <p:cNvSpPr txBox="1"/>
          <p:nvPr>
            <p:ph type="title"/>
          </p:nvPr>
        </p:nvSpPr>
        <p:spPr>
          <a:xfrm>
            <a:off x="812800" y="812800"/>
            <a:ext cx="11379200"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On the pool, Gap multiplies about 5× and Basis holds</a:t>
            </a:r>
            <a:endParaRPr sz="3200"/>
          </a:p>
        </p:txBody>
      </p:sp>
      <p:sp>
        <p:nvSpPr>
          <p:cNvPr id="98" name="Google Shape;98;p7"/>
          <p:cNvSpPr/>
          <p:nvPr/>
        </p:nvSpPr>
        <p:spPr>
          <a:xfrm>
            <a:off x="812800" y="1584920"/>
            <a:ext cx="5181600" cy="1836341"/>
          </a:xfrm>
          <a:prstGeom prst="roundRect">
            <a:avLst>
              <a:gd fmla="val 5533"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1066800" y="1838920"/>
            <a:ext cx="48138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3"/>
              </a:buClr>
              <a:buSzPts val="1200"/>
              <a:buFont typeface="IBM Plex Sans"/>
              <a:buNone/>
            </a:pPr>
            <a:r>
              <a:rPr b="0" i="0" lang="en-US" sz="1200" u="none" cap="none" strike="noStrike">
                <a:solidFill>
                  <a:srgbClr val="C9D3E3"/>
                </a:solidFill>
                <a:latin typeface="IBM Plex Sans"/>
                <a:ea typeface="IBM Plex Sans"/>
                <a:cs typeface="IBM Plex Sans"/>
                <a:sym typeface="IBM Plex Sans"/>
              </a:rPr>
              <a:t>Gap cue stratum · Mistral Small trio</a:t>
            </a:r>
            <a:endParaRPr b="0" i="0" sz="1200" u="none" cap="none" strike="noStrike">
              <a:solidFill>
                <a:schemeClr val="dk1"/>
              </a:solidFill>
              <a:latin typeface="IBM Plex Sans"/>
              <a:ea typeface="IBM Plex Sans"/>
              <a:cs typeface="IBM Plex Sans"/>
              <a:sym typeface="IBM Plex Sans"/>
            </a:endParaRPr>
          </a:p>
        </p:txBody>
      </p:sp>
      <p:sp>
        <p:nvSpPr>
          <p:cNvPr id="100" name="Google Shape;100;p7"/>
          <p:cNvSpPr/>
          <p:nvPr/>
        </p:nvSpPr>
        <p:spPr>
          <a:xfrm>
            <a:off x="1066800" y="2103041"/>
            <a:ext cx="4813808"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F4F2EC"/>
              </a:buClr>
              <a:buSzPts val="6000"/>
              <a:buFont typeface="Source Serif 4"/>
              <a:buNone/>
            </a:pPr>
            <a:r>
              <a:rPr b="1" i="0" lang="en-US" sz="6000" u="none" cap="none" strike="noStrike">
                <a:solidFill>
                  <a:srgbClr val="F4F2EC"/>
                </a:solidFill>
                <a:latin typeface="Source Serif 4"/>
                <a:ea typeface="Source Serif 4"/>
                <a:cs typeface="Source Serif 4"/>
                <a:sym typeface="Source Serif 4"/>
              </a:rPr>
              <a:t>23 → 109</a:t>
            </a:r>
            <a:endParaRPr b="0" i="0" sz="6000" u="none" cap="none" strike="noStrike">
              <a:solidFill>
                <a:schemeClr val="dk1"/>
              </a:solidFill>
              <a:latin typeface="IBM Plex Sans"/>
              <a:ea typeface="IBM Plex Sans"/>
              <a:cs typeface="IBM Plex Sans"/>
              <a:sym typeface="IBM Plex Sans"/>
            </a:endParaRPr>
          </a:p>
        </p:txBody>
      </p:sp>
      <p:sp>
        <p:nvSpPr>
          <p:cNvPr id="101" name="Google Shape;101;p7"/>
          <p:cNvSpPr/>
          <p:nvPr/>
        </p:nvSpPr>
        <p:spPr>
          <a:xfrm>
            <a:off x="1066800" y="2953941"/>
            <a:ext cx="48138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3"/>
              </a:buClr>
              <a:buSzPts val="1200"/>
              <a:buFont typeface="IBM Plex Sans"/>
              <a:buNone/>
            </a:pPr>
            <a:r>
              <a:rPr b="0" i="0" lang="en-US" sz="1200" u="none" cap="none" strike="noStrike">
                <a:solidFill>
                  <a:srgbClr val="C9D3E3"/>
                </a:solidFill>
                <a:latin typeface="IBM Plex Sans"/>
                <a:ea typeface="IBM Plex Sans"/>
                <a:cs typeface="IBM Plex Sans"/>
                <a:sym typeface="IBM Plex Sans"/>
              </a:rPr>
              <a:t>high-confidence Gap labels, v8 → v11.1</a:t>
            </a:r>
            <a:endParaRPr b="0" i="0" sz="1200" u="none" cap="none" strike="noStrike">
              <a:solidFill>
                <a:schemeClr val="dk1"/>
              </a:solidFill>
              <a:latin typeface="IBM Plex Sans"/>
              <a:ea typeface="IBM Plex Sans"/>
              <a:cs typeface="IBM Plex Sans"/>
              <a:sym typeface="IBM Plex Sans"/>
            </a:endParaRPr>
          </a:p>
        </p:txBody>
      </p:sp>
      <p:sp>
        <p:nvSpPr>
          <p:cNvPr id="102" name="Google Shape;102;p7"/>
          <p:cNvSpPr/>
          <p:nvPr/>
        </p:nvSpPr>
        <p:spPr>
          <a:xfrm>
            <a:off x="6197600" y="1584920"/>
            <a:ext cx="5181600" cy="1836341"/>
          </a:xfrm>
          <a:prstGeom prst="roundRect">
            <a:avLst>
              <a:gd fmla="val 5533"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6451600" y="1838920"/>
            <a:ext cx="48138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3"/>
              </a:buClr>
              <a:buSzPts val="1200"/>
              <a:buFont typeface="IBM Plex Sans"/>
              <a:buNone/>
            </a:pPr>
            <a:r>
              <a:rPr b="0" i="0" lang="en-US" sz="1200" u="none" cap="none" strike="noStrike">
                <a:solidFill>
                  <a:srgbClr val="C9D3E3"/>
                </a:solidFill>
                <a:latin typeface="IBM Plex Sans"/>
                <a:ea typeface="IBM Plex Sans"/>
                <a:cs typeface="IBM Plex Sans"/>
                <a:sym typeface="IBM Plex Sans"/>
              </a:rPr>
              <a:t>Gap cue stratum · Ministral trio</a:t>
            </a:r>
            <a:endParaRPr b="0" i="0" sz="1200" u="none" cap="none" strike="noStrike">
              <a:solidFill>
                <a:schemeClr val="dk1"/>
              </a:solidFill>
              <a:latin typeface="IBM Plex Sans"/>
              <a:ea typeface="IBM Plex Sans"/>
              <a:cs typeface="IBM Plex Sans"/>
              <a:sym typeface="IBM Plex Sans"/>
            </a:endParaRPr>
          </a:p>
        </p:txBody>
      </p:sp>
      <p:sp>
        <p:nvSpPr>
          <p:cNvPr id="104" name="Google Shape;104;p7"/>
          <p:cNvSpPr/>
          <p:nvPr/>
        </p:nvSpPr>
        <p:spPr>
          <a:xfrm>
            <a:off x="6451600" y="2103041"/>
            <a:ext cx="4813808"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F4F2EC"/>
              </a:buClr>
              <a:buSzPts val="6000"/>
              <a:buFont typeface="Source Serif 4"/>
              <a:buNone/>
            </a:pPr>
            <a:r>
              <a:rPr b="1" i="0" lang="en-US" sz="6000" u="none" cap="none" strike="noStrike">
                <a:solidFill>
                  <a:srgbClr val="F4F2EC"/>
                </a:solidFill>
                <a:latin typeface="Source Serif 4"/>
                <a:ea typeface="Source Serif 4"/>
                <a:cs typeface="Source Serif 4"/>
                <a:sym typeface="Source Serif 4"/>
              </a:rPr>
              <a:t>18 → 113</a:t>
            </a:r>
            <a:endParaRPr b="0" i="0" sz="6000" u="none" cap="none" strike="noStrike">
              <a:solidFill>
                <a:schemeClr val="dk1"/>
              </a:solidFill>
              <a:latin typeface="IBM Plex Sans"/>
              <a:ea typeface="IBM Plex Sans"/>
              <a:cs typeface="IBM Plex Sans"/>
              <a:sym typeface="IBM Plex Sans"/>
            </a:endParaRPr>
          </a:p>
        </p:txBody>
      </p:sp>
      <p:sp>
        <p:nvSpPr>
          <p:cNvPr id="105" name="Google Shape;105;p7"/>
          <p:cNvSpPr/>
          <p:nvPr/>
        </p:nvSpPr>
        <p:spPr>
          <a:xfrm>
            <a:off x="6451600" y="2953941"/>
            <a:ext cx="48138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3"/>
              </a:buClr>
              <a:buSzPts val="1200"/>
              <a:buFont typeface="IBM Plex Sans"/>
              <a:buNone/>
            </a:pPr>
            <a:r>
              <a:rPr b="0" i="0" lang="en-US" sz="1200" u="none" cap="none" strike="noStrike">
                <a:solidFill>
                  <a:srgbClr val="C9D3E3"/>
                </a:solidFill>
                <a:latin typeface="IBM Plex Sans"/>
                <a:ea typeface="IBM Plex Sans"/>
                <a:cs typeface="IBM Plex Sans"/>
                <a:sym typeface="IBM Plex Sans"/>
              </a:rPr>
              <a:t>high-confidence Gap labels, v8 → v11.1</a:t>
            </a:r>
            <a:endParaRPr b="0" i="0" sz="1200" u="none" cap="none" strike="noStrike">
              <a:solidFill>
                <a:schemeClr val="dk1"/>
              </a:solidFill>
              <a:latin typeface="IBM Plex Sans"/>
              <a:ea typeface="IBM Plex Sans"/>
              <a:cs typeface="IBM Plex Sans"/>
              <a:sym typeface="IBM Plex Sans"/>
            </a:endParaRPr>
          </a:p>
        </p:txBody>
      </p:sp>
      <p:graphicFrame>
        <p:nvGraphicFramePr>
          <p:cNvPr id="106" name="Google Shape;106;p7"/>
          <p:cNvGraphicFramePr/>
          <p:nvPr/>
        </p:nvGraphicFramePr>
        <p:xfrm>
          <a:off x="825500" y="3738761"/>
          <a:ext cx="3000000" cy="3000000"/>
        </p:xfrm>
        <a:graphic>
          <a:graphicData uri="http://schemas.openxmlformats.org/drawingml/2006/table">
            <a:tbl>
              <a:tblPr>
                <a:noFill/>
                <a:tableStyleId>{E63EEF11-E5C5-462E-ADDC-C61251426378}</a:tableStyleId>
              </a:tblPr>
              <a:tblGrid>
                <a:gridCol w="4221475"/>
                <a:gridCol w="3166100"/>
                <a:gridCol w="3166100"/>
              </a:tblGrid>
              <a:tr h="359275">
                <a:tc>
                  <a:txBody>
                    <a:bodyPr/>
                    <a:lstStyle/>
                    <a:p>
                      <a:pPr indent="0" lvl="0" marL="0" marR="0" rtl="0" algn="l">
                        <a:lnSpc>
                          <a:spcPct val="140000"/>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Batch · label</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1B2B5"/>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B1B2B5"/>
                      </a:solidFill>
                      <a:prstDash val="solid"/>
                      <a:round/>
                      <a:headEnd len="sm" w="sm" type="none"/>
                      <a:tailEnd len="sm" w="sm" type="none"/>
                    </a:lnB>
                    <a:solidFill>
                      <a:srgbClr val="DDDFE3"/>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Mistral Small trio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1B2B5"/>
                      </a:solidFill>
                      <a:prstDash val="solid"/>
                      <a:round/>
                      <a:headEnd len="sm" w="sm" type="none"/>
                      <a:tailEnd len="sm" w="sm" type="none"/>
                    </a:lnL>
                    <a:lnR cap="flat" cmpd="sng" w="12700">
                      <a:solidFill>
                        <a:srgbClr val="B1B2B5"/>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B1B2B5"/>
                      </a:solidFill>
                      <a:prstDash val="solid"/>
                      <a:round/>
                      <a:headEnd len="sm" w="sm" type="none"/>
                      <a:tailEnd len="sm" w="sm" type="none"/>
                    </a:lnB>
                    <a:solidFill>
                      <a:srgbClr val="DDDFE3"/>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Ministral trio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1B2B5"/>
                      </a:solidFill>
                      <a:prstDash val="solid"/>
                      <a:round/>
                      <a:headEnd len="sm" w="sm" type="none"/>
                      <a:tailEnd len="sm" w="sm" type="none"/>
                    </a:lnL>
                    <a:lnR cap="flat" cmpd="sng" w="12700">
                      <a:solidFill>
                        <a:srgbClr val="B1B2B5"/>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B1B2B5"/>
                      </a:solidFill>
                      <a:prstDash val="solid"/>
                      <a:round/>
                      <a:headEnd len="sm" w="sm" type="none"/>
                      <a:tailEnd len="sm" w="sm" type="none"/>
                    </a:lnB>
                    <a:solidFill>
                      <a:srgbClr val="DDDFE3"/>
                    </a:solidFill>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Evidence cues · Evidence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1B2B5"/>
                      </a:solidFill>
                      <a:prstDash val="solid"/>
                      <a:round/>
                      <a:headEnd len="sm" w="sm" type="none"/>
                      <a:tailEnd len="sm" w="sm" type="none"/>
                    </a:lnT>
                    <a:lnB cap="flat" cmpd="sng" w="12700">
                      <a:solidFill>
                        <a:srgbClr val="C5C4C0"/>
                      </a:solidFill>
                      <a:prstDash val="solid"/>
                      <a:round/>
                      <a:headEnd len="sm" w="sm" type="none"/>
                      <a:tailEnd len="sm" w="sm" type="none"/>
                    </a:lnB>
                    <a:solidFill>
                      <a:srgbClr val="F7F6F1"/>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133 → 139</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1B2B5"/>
                      </a:solidFill>
                      <a:prstDash val="solid"/>
                      <a:round/>
                      <a:headEnd len="sm" w="sm" type="none"/>
                      <a:tailEnd len="sm" w="sm" type="none"/>
                    </a:lnT>
                    <a:lnB cap="flat" cmpd="sng" w="12700">
                      <a:solidFill>
                        <a:srgbClr val="C5C4C0"/>
                      </a:solidFill>
                      <a:prstDash val="solid"/>
                      <a:round/>
                      <a:headEnd len="sm" w="sm" type="none"/>
                      <a:tailEnd len="sm" w="sm" type="none"/>
                    </a:lnB>
                    <a:solidFill>
                      <a:srgbClr val="F7F6F1"/>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113 → 121</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1B2B5"/>
                      </a:solidFill>
                      <a:prstDash val="solid"/>
                      <a:round/>
                      <a:headEnd len="sm" w="sm" type="none"/>
                      <a:tailEnd len="sm" w="sm" type="none"/>
                    </a:lnT>
                    <a:lnB cap="flat" cmpd="sng" w="12700">
                      <a:solidFill>
                        <a:srgbClr val="C5C4C0"/>
                      </a:solidFill>
                      <a:prstDash val="solid"/>
                      <a:round/>
                      <a:headEnd len="sm" w="sm" type="none"/>
                      <a:tailEnd len="sm" w="sm" type="none"/>
                    </a:lnB>
                    <a:solidFill>
                      <a:srgbClr val="F7F6F1"/>
                    </a:solidFill>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Comparison cues · Comparison</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127 → 136</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132 → 135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tcPr>
                </a:tc>
              </a:tr>
              <a:tr h="359275">
                <a:tc>
                  <a:txBody>
                    <a:bodyPr/>
                    <a:lstStyle/>
                    <a:p>
                      <a:pPr indent="0" lvl="0" marL="0" marR="0" rtl="0" algn="l">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285 random instances · Basis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0C3"/>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solidFill>
                      <a:srgbClr val="F7F6F1"/>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5 → 6</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solidFill>
                      <a:srgbClr val="F7F6F1"/>
                    </a:solidFill>
                  </a:tcPr>
                </a:tc>
                <a:tc>
                  <a:txBody>
                    <a:bodyPr/>
                    <a:lstStyle/>
                    <a:p>
                      <a:pPr indent="0" lvl="0" marL="0" marR="0" rtl="0" algn="r">
                        <a:lnSpc>
                          <a:spcPct val="140000"/>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5 → 6</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solidFill>
                      <a:srgbClr val="F7F6F1"/>
                    </a:solidFill>
                  </a:tcPr>
                </a:tc>
              </a:tr>
            </a:tbl>
          </a:graphicData>
        </a:graphic>
      </p:graphicFrame>
      <p:sp>
        <p:nvSpPr>
          <p:cNvPr id="107" name="Google Shape;107;p7"/>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A2 · Prompt v11.1 and the frozen judges · 7 · pool_cue_yield (885) and pilot_check300 (285), eval60 excluded, filtered passages</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F1F5"/>
        </a:solidFill>
      </p:bgPr>
    </p:bg>
    <p:spTree>
      <p:nvGrpSpPr>
        <p:cNvPr id="112" name="Shape 112"/>
        <p:cNvGrpSpPr/>
        <p:nvPr/>
      </p:nvGrpSpPr>
      <p:grpSpPr>
        <a:xfrm>
          <a:off x="0" y="0"/>
          <a:ext cx="0" cy="0"/>
          <a:chOff x="0" y="0"/>
          <a:chExt cx="0" cy="0"/>
        </a:xfrm>
      </p:grpSpPr>
      <p:sp>
        <p:nvSpPr>
          <p:cNvPr id="113" name="Google Shape;113;p8"/>
          <p:cNvSpPr txBox="1"/>
          <p:nvPr>
            <p:ph type="title"/>
          </p:nvPr>
        </p:nvSpPr>
        <p:spPr>
          <a:xfrm>
            <a:off x="812800" y="812800"/>
            <a:ext cx="10883392" cy="960041"/>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New Gap labels are 85% right with Mistral Small, 60% with Ministral</a:t>
            </a:r>
            <a:endParaRPr sz="3200"/>
          </a:p>
        </p:txBody>
      </p:sp>
      <p:sp>
        <p:nvSpPr>
          <p:cNvPr id="114" name="Google Shape;114;p8"/>
          <p:cNvSpPr/>
          <p:nvPr/>
        </p:nvSpPr>
        <p:spPr>
          <a:xfrm>
            <a:off x="812800" y="2052241"/>
            <a:ext cx="5181600" cy="1828602"/>
          </a:xfrm>
          <a:prstGeom prst="roundRect">
            <a:avLst>
              <a:gd fmla="val 5556" name="adj"/>
            </a:avLst>
          </a:prstGeom>
          <a:solidFill>
            <a:srgbClr val="F7F6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812800" y="2052241"/>
            <a:ext cx="5181600" cy="1828602"/>
          </a:xfrm>
          <a:custGeom>
            <a:rect b="b" l="l" r="r" t="t"/>
            <a:pathLst>
              <a:path extrusionOk="0" h="1828602" w="5181600">
                <a:moveTo>
                  <a:pt x="0" y="101600"/>
                </a:moveTo>
                <a:lnTo>
                  <a:pt x="0" y="101600"/>
                </a:lnTo>
                <a:cubicBezTo>
                  <a:pt x="0" y="45488"/>
                  <a:pt x="45488" y="0"/>
                  <a:pt x="101600" y="0"/>
                </a:cubicBezTo>
                <a:lnTo>
                  <a:pt x="5080000" y="0"/>
                </a:lnTo>
                <a:cubicBezTo>
                  <a:pt x="5106946" y="0"/>
                  <a:pt x="5132788" y="10704"/>
                  <a:pt x="5151842" y="29758"/>
                </a:cubicBezTo>
                <a:cubicBezTo>
                  <a:pt x="5170896" y="48812"/>
                  <a:pt x="5181600" y="74654"/>
                  <a:pt x="5181600" y="101600"/>
                </a:cubicBezTo>
                <a:lnTo>
                  <a:pt x="5181600" y="101600"/>
                </a:lnTo>
                <a:cubicBezTo>
                  <a:pt x="5181600" y="73544"/>
                  <a:pt x="5136112" y="50800"/>
                  <a:pt x="5080000" y="50800"/>
                </a:cubicBezTo>
                <a:lnTo>
                  <a:pt x="101600" y="50800"/>
                </a:lnTo>
                <a:cubicBezTo>
                  <a:pt x="45488" y="50800"/>
                  <a:pt x="0" y="73544"/>
                  <a:pt x="0" y="101600"/>
                </a:cubicBezTo>
                <a:close/>
              </a:path>
            </a:pathLst>
          </a:custGeom>
          <a:solidFill>
            <a:srgbClr val="2F6F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1066800" y="2357041"/>
            <a:ext cx="48138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6FB0"/>
              </a:buClr>
              <a:buSzPts val="1200"/>
              <a:buFont typeface="IBM Plex Sans"/>
              <a:buNone/>
            </a:pPr>
            <a:r>
              <a:rPr b="1" i="0" lang="en-US" sz="1200" u="none" cap="none" strike="noStrike">
                <a:solidFill>
                  <a:srgbClr val="2F6FB0"/>
                </a:solidFill>
                <a:latin typeface="IBM Plex Sans"/>
                <a:ea typeface="IBM Plex Sans"/>
                <a:cs typeface="IBM Plex Sans"/>
                <a:sym typeface="IBM Plex Sans"/>
              </a:rPr>
              <a:t>MISTRAL SMALL TRIO · 94 NEW GAP</a:t>
            </a:r>
            <a:endParaRPr b="0" i="0" sz="1200" u="none" cap="none" strike="noStrike">
              <a:solidFill>
                <a:schemeClr val="dk1"/>
              </a:solidFill>
              <a:latin typeface="IBM Plex Sans"/>
              <a:ea typeface="IBM Plex Sans"/>
              <a:cs typeface="IBM Plex Sans"/>
              <a:sym typeface="IBM Plex Sans"/>
            </a:endParaRPr>
          </a:p>
        </p:txBody>
      </p:sp>
      <p:sp>
        <p:nvSpPr>
          <p:cNvPr id="117" name="Google Shape;117;p8"/>
          <p:cNvSpPr/>
          <p:nvPr/>
        </p:nvSpPr>
        <p:spPr>
          <a:xfrm>
            <a:off x="1066800" y="2697361"/>
            <a:ext cx="4813808"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2000"/>
              <a:buFont typeface="IBM Plex Sans"/>
              <a:buNone/>
            </a:pPr>
            <a:r>
              <a:rPr b="1" i="0" lang="en-US" sz="2000" u="none" cap="none" strike="noStrike">
                <a:solidFill>
                  <a:srgbClr val="14213D"/>
                </a:solidFill>
                <a:latin typeface="IBM Plex Sans"/>
                <a:ea typeface="IBM Plex Sans"/>
                <a:cs typeface="IBM Plex Sans"/>
                <a:sym typeface="IBM Plex Sans"/>
              </a:rPr>
              <a:t>17 right · 1 wrong · 2 borderline</a:t>
            </a:r>
            <a:endParaRPr b="0" i="0" sz="2000" u="none" cap="none" strike="noStrike">
              <a:solidFill>
                <a:schemeClr val="dk1"/>
              </a:solidFill>
              <a:latin typeface="IBM Plex Sans"/>
              <a:ea typeface="IBM Plex Sans"/>
              <a:cs typeface="IBM Plex Sans"/>
              <a:sym typeface="IBM Plex Sans"/>
            </a:endParaRPr>
          </a:p>
        </p:txBody>
      </p:sp>
      <p:sp>
        <p:nvSpPr>
          <p:cNvPr id="118" name="Google Shape;118;p8"/>
          <p:cNvSpPr/>
          <p:nvPr/>
        </p:nvSpPr>
        <p:spPr>
          <a:xfrm>
            <a:off x="1066800" y="3129161"/>
            <a:ext cx="49276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"Faster RCNN [T] … is unable to reach … real time speeds"</a:t>
            </a:r>
            <a:endParaRPr b="0" i="0" sz="1400" u="none" cap="none" strike="noStrike">
              <a:solidFill>
                <a:schemeClr val="dk1"/>
              </a:solidFill>
              <a:latin typeface="IBM Plex Sans"/>
              <a:ea typeface="IBM Plex Sans"/>
              <a:cs typeface="IBM Plex Sans"/>
              <a:sym typeface="IBM Plex Sans"/>
            </a:endParaRPr>
          </a:p>
        </p:txBody>
      </p:sp>
      <p:sp>
        <p:nvSpPr>
          <p:cNvPr id="119" name="Google Shape;119;p8"/>
          <p:cNvSpPr/>
          <p:nvPr/>
        </p:nvSpPr>
        <p:spPr>
          <a:xfrm>
            <a:off x="6197600" y="2052241"/>
            <a:ext cx="5181600" cy="1828602"/>
          </a:xfrm>
          <a:prstGeom prst="roundRect">
            <a:avLst>
              <a:gd fmla="val 5556" name="adj"/>
            </a:avLst>
          </a:prstGeom>
          <a:solidFill>
            <a:srgbClr val="F7F6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6197600" y="2052241"/>
            <a:ext cx="5181600" cy="1828602"/>
          </a:xfrm>
          <a:custGeom>
            <a:rect b="b" l="l" r="r" t="t"/>
            <a:pathLst>
              <a:path extrusionOk="0" h="1828602" w="5181600">
                <a:moveTo>
                  <a:pt x="0" y="101600"/>
                </a:moveTo>
                <a:lnTo>
                  <a:pt x="0" y="101600"/>
                </a:lnTo>
                <a:cubicBezTo>
                  <a:pt x="0" y="45488"/>
                  <a:pt x="45488" y="0"/>
                  <a:pt x="101600" y="0"/>
                </a:cubicBezTo>
                <a:lnTo>
                  <a:pt x="5080000" y="0"/>
                </a:lnTo>
                <a:cubicBezTo>
                  <a:pt x="5106946" y="0"/>
                  <a:pt x="5132788" y="10704"/>
                  <a:pt x="5151842" y="29758"/>
                </a:cubicBezTo>
                <a:cubicBezTo>
                  <a:pt x="5170896" y="48812"/>
                  <a:pt x="5181600" y="74654"/>
                  <a:pt x="5181600" y="101600"/>
                </a:cubicBezTo>
                <a:lnTo>
                  <a:pt x="5181600" y="101600"/>
                </a:lnTo>
                <a:cubicBezTo>
                  <a:pt x="5181600" y="73544"/>
                  <a:pt x="5136112" y="50800"/>
                  <a:pt x="5080000" y="50800"/>
                </a:cubicBezTo>
                <a:lnTo>
                  <a:pt x="101600" y="50800"/>
                </a:lnTo>
                <a:cubicBezTo>
                  <a:pt x="45488" y="50800"/>
                  <a:pt x="0" y="73544"/>
                  <a:pt x="0" y="101600"/>
                </a:cubicBezTo>
                <a:close/>
              </a:path>
            </a:pathLst>
          </a:custGeom>
          <a:solidFill>
            <a:srgbClr val="A85A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6451600" y="2357041"/>
            <a:ext cx="48138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5A1C"/>
              </a:buClr>
              <a:buSzPts val="1200"/>
              <a:buFont typeface="IBM Plex Sans"/>
              <a:buNone/>
            </a:pPr>
            <a:r>
              <a:rPr b="1" i="0" lang="en-US" sz="1200" u="none" cap="none" strike="noStrike">
                <a:solidFill>
                  <a:srgbClr val="A85A1C"/>
                </a:solidFill>
                <a:latin typeface="IBM Plex Sans"/>
                <a:ea typeface="IBM Plex Sans"/>
                <a:cs typeface="IBM Plex Sans"/>
                <a:sym typeface="IBM Plex Sans"/>
              </a:rPr>
              <a:t>MINISTRAL TRIO · 109 NEW GAP</a:t>
            </a:r>
            <a:endParaRPr b="0" i="0" sz="1200" u="none" cap="none" strike="noStrike">
              <a:solidFill>
                <a:schemeClr val="dk1"/>
              </a:solidFill>
              <a:latin typeface="IBM Plex Sans"/>
              <a:ea typeface="IBM Plex Sans"/>
              <a:cs typeface="IBM Plex Sans"/>
              <a:sym typeface="IBM Plex Sans"/>
            </a:endParaRPr>
          </a:p>
        </p:txBody>
      </p:sp>
      <p:sp>
        <p:nvSpPr>
          <p:cNvPr id="122" name="Google Shape;122;p8"/>
          <p:cNvSpPr/>
          <p:nvPr/>
        </p:nvSpPr>
        <p:spPr>
          <a:xfrm>
            <a:off x="6451600" y="2697361"/>
            <a:ext cx="4813808"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2000"/>
              <a:buFont typeface="IBM Plex Sans"/>
              <a:buNone/>
            </a:pPr>
            <a:r>
              <a:rPr b="1" i="0" lang="en-US" sz="2000" u="none" cap="none" strike="noStrike">
                <a:solidFill>
                  <a:srgbClr val="14213D"/>
                </a:solidFill>
                <a:latin typeface="IBM Plex Sans"/>
                <a:ea typeface="IBM Plex Sans"/>
                <a:cs typeface="IBM Plex Sans"/>
                <a:sym typeface="IBM Plex Sans"/>
              </a:rPr>
              <a:t>12 right · 4 wrong · 4 borderline</a:t>
            </a:r>
            <a:endParaRPr b="0" i="0" sz="2000" u="none" cap="none" strike="noStrike">
              <a:solidFill>
                <a:schemeClr val="dk1"/>
              </a:solidFill>
              <a:latin typeface="IBM Plex Sans"/>
              <a:ea typeface="IBM Plex Sans"/>
              <a:cs typeface="IBM Plex Sans"/>
              <a:sym typeface="IBM Plex Sans"/>
            </a:endParaRPr>
          </a:p>
        </p:txBody>
      </p:sp>
      <p:sp>
        <p:nvSpPr>
          <p:cNvPr id="123" name="Google Shape;123;p8"/>
          <p:cNvSpPr/>
          <p:nvPr/>
        </p:nvSpPr>
        <p:spPr>
          <a:xfrm>
            <a:off x="6451600" y="3129161"/>
            <a:ext cx="4813808"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"TSDF … is known to lose fine details [T]" (the source, so Evidence)</a:t>
            </a:r>
            <a:endParaRPr b="0" i="0" sz="1400" u="none" cap="none" strike="noStrike">
              <a:solidFill>
                <a:schemeClr val="dk1"/>
              </a:solidFill>
              <a:latin typeface="IBM Plex Sans"/>
              <a:ea typeface="IBM Plex Sans"/>
              <a:cs typeface="IBM Plex Sans"/>
              <a:sym typeface="IBM Plex Sans"/>
            </a:endParaRPr>
          </a:p>
        </p:txBody>
      </p:sp>
      <p:sp>
        <p:nvSpPr>
          <p:cNvPr id="124" name="Google Shape;124;p8"/>
          <p:cNvSpPr/>
          <p:nvPr/>
        </p:nvSpPr>
        <p:spPr>
          <a:xfrm>
            <a:off x="812800" y="4185642"/>
            <a:ext cx="10883392"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In three of Ministral's four errors, Qwen and Ministral said Gap and Gemma said Evidence: Ministral cast the deciding vote.</a:t>
            </a:r>
            <a:endParaRPr b="0" i="0" sz="1400" u="none" cap="none" strike="noStrike">
              <a:solidFill>
                <a:schemeClr val="dk1"/>
              </a:solidFill>
              <a:latin typeface="IBM Plex Sans"/>
              <a:ea typeface="IBM Plex Sans"/>
              <a:cs typeface="IBM Plex Sans"/>
              <a:sym typeface="IBM Plex Sans"/>
            </a:endParaRPr>
          </a:p>
        </p:txBody>
      </p:sp>
      <p:sp>
        <p:nvSpPr>
          <p:cNvPr id="125" name="Google Shape;125;p8"/>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A2 · Prompt v11.1 and the frozen judges · 8 · random 20 of each trio's v8 → v11.1 flips to Gap, read under rules rev1.1</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30" name="Shape 130"/>
        <p:cNvGrpSpPr/>
        <p:nvPr/>
      </p:nvGrpSpPr>
      <p:grpSpPr>
        <a:xfrm>
          <a:off x="0" y="0"/>
          <a:ext cx="0" cy="0"/>
          <a:chOff x="0" y="0"/>
          <a:chExt cx="0" cy="0"/>
        </a:xfrm>
      </p:grpSpPr>
      <p:sp>
        <p:nvSpPr>
          <p:cNvPr id="131" name="Google Shape;131;p9"/>
          <p:cNvSpPr/>
          <p:nvPr/>
        </p:nvSpPr>
        <p:spPr>
          <a:xfrm>
            <a:off x="812800" y="812800"/>
            <a:ext cx="10883392"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8A55C"/>
              </a:buClr>
              <a:buSzPts val="1400"/>
              <a:buFont typeface="IBM Plex Sans"/>
              <a:buNone/>
            </a:pPr>
            <a:r>
              <a:rPr b="1" i="0" lang="en-US" sz="1400" u="none" cap="none" strike="noStrike">
                <a:solidFill>
                  <a:srgbClr val="E8A55C"/>
                </a:solidFill>
                <a:latin typeface="IBM Plex Sans"/>
                <a:ea typeface="IBM Plex Sans"/>
                <a:cs typeface="IBM Plex Sans"/>
                <a:sym typeface="IBM Plex Sans"/>
              </a:rPr>
              <a:t>V11.1 · ONE SENTENCE ADDED TO RULE 11 (R-GAP)</a:t>
            </a:r>
            <a:endParaRPr b="0" i="0" sz="1400" u="none" cap="none" strike="noStrike">
              <a:solidFill>
                <a:schemeClr val="dk1"/>
              </a:solidFill>
              <a:latin typeface="IBM Plex Sans"/>
              <a:ea typeface="IBM Plex Sans"/>
              <a:cs typeface="IBM Plex Sans"/>
              <a:sym typeface="IBM Plex Sans"/>
            </a:endParaRPr>
          </a:p>
        </p:txBody>
      </p:sp>
      <p:sp>
        <p:nvSpPr>
          <p:cNvPr id="132" name="Google Shape;132;p9"/>
          <p:cNvSpPr txBox="1"/>
          <p:nvPr>
            <p:ph type="title"/>
          </p:nvPr>
        </p:nvSpPr>
        <p:spPr>
          <a:xfrm>
            <a:off x="812800" y="1366441"/>
            <a:ext cx="11379200" cy="528241"/>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4F2EC"/>
              </a:buClr>
              <a:buSzPts val="3600"/>
              <a:buFont typeface="Source Serif 4"/>
              <a:buNone/>
            </a:pPr>
            <a:r>
              <a:rPr b="1" i="0" lang="en-US" sz="3600">
                <a:solidFill>
                  <a:srgbClr val="F4F2EC"/>
                </a:solidFill>
                <a:latin typeface="Source Serif 4"/>
                <a:ea typeface="Source Serif 4"/>
                <a:cs typeface="Source Serif 4"/>
                <a:sym typeface="Source Serif 4"/>
              </a:rPr>
              <a:t>Where the citation sits tells holder from source</a:t>
            </a:r>
            <a:endParaRPr sz="3600"/>
          </a:p>
        </p:txBody>
      </p:sp>
      <p:sp>
        <p:nvSpPr>
          <p:cNvPr id="133" name="Google Shape;133;p9"/>
          <p:cNvSpPr/>
          <p:nvPr/>
        </p:nvSpPr>
        <p:spPr>
          <a:xfrm>
            <a:off x="812800" y="2174081"/>
            <a:ext cx="5181600" cy="2082800"/>
          </a:xfrm>
          <a:prstGeom prst="roundRect">
            <a:avLst>
              <a:gd fmla="val 4878" name="adj"/>
            </a:avLst>
          </a:prstGeom>
          <a:solidFill>
            <a:srgbClr val="1F2F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
          <p:cNvSpPr/>
          <p:nvPr/>
        </p:nvSpPr>
        <p:spPr>
          <a:xfrm>
            <a:off x="1066800" y="2428081"/>
            <a:ext cx="4813808"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9CC3EC"/>
              </a:buClr>
              <a:buSzPts val="2000"/>
              <a:buFont typeface="IBM Plex Sans"/>
              <a:buNone/>
            </a:pPr>
            <a:r>
              <a:rPr b="1" i="0" lang="en-US" sz="2000" u="none" cap="none" strike="noStrike">
                <a:solidFill>
                  <a:srgbClr val="9CC3EC"/>
                </a:solidFill>
                <a:latin typeface="IBM Plex Sans"/>
                <a:ea typeface="IBM Plex Sans"/>
                <a:cs typeface="IBM Plex Sans"/>
                <a:sym typeface="IBM Plex Sans"/>
              </a:rPr>
              <a:t>Right after the works → Gap</a:t>
            </a:r>
            <a:endParaRPr b="0" i="0" sz="2000" u="none" cap="none" strike="noStrike">
              <a:solidFill>
                <a:schemeClr val="dk1"/>
              </a:solidFill>
              <a:latin typeface="IBM Plex Sans"/>
              <a:ea typeface="IBM Plex Sans"/>
              <a:cs typeface="IBM Plex Sans"/>
              <a:sym typeface="IBM Plex Sans"/>
            </a:endParaRPr>
          </a:p>
        </p:txBody>
      </p:sp>
      <p:sp>
        <p:nvSpPr>
          <p:cNvPr id="135" name="Google Shape;135;p9"/>
          <p:cNvSpPr/>
          <p:nvPr/>
        </p:nvSpPr>
        <p:spPr>
          <a:xfrm>
            <a:off x="1066800" y="2834481"/>
            <a:ext cx="4813808"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CE3EE"/>
              </a:buClr>
              <a:buSzPts val="1500"/>
              <a:buFont typeface="IBM Plex Sans"/>
              <a:buNone/>
            </a:pPr>
            <a:r>
              <a:rPr b="0" i="0" lang="en-US" sz="1500" u="none" cap="none" strike="noStrike">
                <a:solidFill>
                  <a:srgbClr val="DCE3EE"/>
                </a:solidFill>
                <a:latin typeface="IBM Plex Sans"/>
                <a:ea typeface="IBM Plex Sans"/>
                <a:cs typeface="IBM Plex Sans"/>
                <a:sym typeface="IBM Plex Sans"/>
              </a:rPr>
              <a:t>"existing trackers [1, 2, 3] drift over long sequences"</a:t>
            </a:r>
            <a:endParaRPr b="0" i="0" sz="1500" u="none" cap="none" strike="noStrike">
              <a:solidFill>
                <a:schemeClr val="dk1"/>
              </a:solidFill>
              <a:latin typeface="IBM Plex Sans"/>
              <a:ea typeface="IBM Plex Sans"/>
              <a:cs typeface="IBM Plex Sans"/>
              <a:sym typeface="IBM Plex Sans"/>
            </a:endParaRPr>
          </a:p>
        </p:txBody>
      </p:sp>
      <p:sp>
        <p:nvSpPr>
          <p:cNvPr id="136" name="Google Shape;136;p9"/>
          <p:cNvSpPr/>
          <p:nvPr/>
        </p:nvSpPr>
        <p:spPr>
          <a:xfrm>
            <a:off x="1066800" y="3202781"/>
            <a:ext cx="4813808"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CE3EE"/>
              </a:buClr>
              <a:buSzPts val="1500"/>
              <a:buFont typeface="IBM Plex Sans"/>
              <a:buNone/>
            </a:pPr>
            <a:r>
              <a:rPr b="0" i="0" lang="en-US" sz="1500" u="none" cap="none" strike="noStrike">
                <a:solidFill>
                  <a:srgbClr val="DCE3EE"/>
                </a:solidFill>
                <a:latin typeface="IBM Plex Sans"/>
                <a:ea typeface="IBM Plex Sans"/>
                <a:cs typeface="IBM Plex Sans"/>
                <a:sym typeface="IBM Plex Sans"/>
              </a:rPr>
              <a:t>"a recent method [x] still needs manual tuning"</a:t>
            </a:r>
            <a:endParaRPr b="0" i="0" sz="1500" u="none" cap="none" strike="noStrike">
              <a:solidFill>
                <a:schemeClr val="dk1"/>
              </a:solidFill>
              <a:latin typeface="IBM Plex Sans"/>
              <a:ea typeface="IBM Plex Sans"/>
              <a:cs typeface="IBM Plex Sans"/>
              <a:sym typeface="IBM Plex Sans"/>
            </a:endParaRPr>
          </a:p>
        </p:txBody>
      </p:sp>
      <p:sp>
        <p:nvSpPr>
          <p:cNvPr id="137" name="Google Shape;137;p9"/>
          <p:cNvSpPr/>
          <p:nvPr/>
        </p:nvSpPr>
        <p:spPr>
          <a:xfrm>
            <a:off x="6197600" y="2174081"/>
            <a:ext cx="5181600" cy="2082800"/>
          </a:xfrm>
          <a:prstGeom prst="roundRect">
            <a:avLst>
              <a:gd fmla="val 4878" name="adj"/>
            </a:avLst>
          </a:prstGeom>
          <a:solidFill>
            <a:srgbClr val="1F2F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6451600" y="2428081"/>
            <a:ext cx="4813808"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8A55C"/>
              </a:buClr>
              <a:buSzPts val="2000"/>
              <a:buFont typeface="IBM Plex Sans"/>
              <a:buNone/>
            </a:pPr>
            <a:r>
              <a:rPr b="1" i="0" lang="en-US" sz="2000" u="none" cap="none" strike="noStrike">
                <a:solidFill>
                  <a:srgbClr val="E8A55C"/>
                </a:solidFill>
                <a:latin typeface="IBM Plex Sans"/>
                <a:ea typeface="IBM Plex Sans"/>
                <a:cs typeface="IBM Plex Sans"/>
                <a:sym typeface="IBM Plex Sans"/>
              </a:rPr>
              <a:t>At the end of the claim → Evidence</a:t>
            </a:r>
            <a:endParaRPr b="0" i="0" sz="2000" u="none" cap="none" strike="noStrike">
              <a:solidFill>
                <a:schemeClr val="dk1"/>
              </a:solidFill>
              <a:latin typeface="IBM Plex Sans"/>
              <a:ea typeface="IBM Plex Sans"/>
              <a:cs typeface="IBM Plex Sans"/>
              <a:sym typeface="IBM Plex Sans"/>
            </a:endParaRPr>
          </a:p>
        </p:txBody>
      </p:sp>
      <p:sp>
        <p:nvSpPr>
          <p:cNvPr id="139" name="Google Shape;139;p9"/>
          <p:cNvSpPr/>
          <p:nvPr/>
        </p:nvSpPr>
        <p:spPr>
          <a:xfrm>
            <a:off x="6451600" y="2834481"/>
            <a:ext cx="4813808"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CE3EE"/>
              </a:buClr>
              <a:buSzPts val="1500"/>
              <a:buFont typeface="IBM Plex Sans"/>
              <a:buNone/>
            </a:pPr>
            <a:r>
              <a:rPr b="0" i="0" lang="en-US" sz="1500" u="none" cap="none" strike="noStrike">
                <a:solidFill>
                  <a:srgbClr val="DCE3EE"/>
                </a:solidFill>
                <a:latin typeface="IBM Plex Sans"/>
                <a:ea typeface="IBM Plex Sans"/>
                <a:cs typeface="IBM Plex Sans"/>
                <a:sym typeface="IBM Plex Sans"/>
              </a:rPr>
              <a:t>"recurrent models are known to forget long contexts [x]"</a:t>
            </a:r>
            <a:endParaRPr b="0" i="0" sz="1500" u="none" cap="none" strike="noStrike">
              <a:solidFill>
                <a:schemeClr val="dk1"/>
              </a:solidFill>
              <a:latin typeface="IBM Plex Sans"/>
              <a:ea typeface="IBM Plex Sans"/>
              <a:cs typeface="IBM Plex Sans"/>
              <a:sym typeface="IBM Plex Sans"/>
            </a:endParaRPr>
          </a:p>
        </p:txBody>
      </p:sp>
      <p:sp>
        <p:nvSpPr>
          <p:cNvPr id="140" name="Google Shape;140;p9"/>
          <p:cNvSpPr/>
          <p:nvPr/>
        </p:nvSpPr>
        <p:spPr>
          <a:xfrm>
            <a:off x="6451600" y="3469481"/>
            <a:ext cx="4813808"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CE3EE"/>
              </a:buClr>
              <a:buSzPts val="1500"/>
              <a:buFont typeface="IBM Plex Sans"/>
              <a:buNone/>
            </a:pPr>
            <a:r>
              <a:rPr b="0" i="0" lang="en-US" sz="1500" u="none" cap="none" strike="noStrike">
                <a:solidFill>
                  <a:srgbClr val="DCE3EE"/>
                </a:solidFill>
                <a:latin typeface="IBM Plex Sans"/>
                <a:ea typeface="IBM Plex Sans"/>
                <a:cs typeface="IBM Plex Sans"/>
                <a:sym typeface="IBM Plex Sans"/>
              </a:rPr>
              <a:t>"it has been shown that adversarial training slows convergence [x]"</a:t>
            </a:r>
            <a:endParaRPr b="0" i="0" sz="1500" u="none" cap="none" strike="noStrike">
              <a:solidFill>
                <a:schemeClr val="dk1"/>
              </a:solidFill>
              <a:latin typeface="IBM Plex Sans"/>
              <a:ea typeface="IBM Plex Sans"/>
              <a:cs typeface="IBM Plex Sans"/>
              <a:sym typeface="IBM Plex Sans"/>
            </a:endParaRPr>
          </a:p>
        </p:txBody>
      </p:sp>
      <p:sp>
        <p:nvSpPr>
          <p:cNvPr id="141" name="Google Shape;141;p9"/>
          <p:cNvSpPr/>
          <p:nvPr/>
        </p:nvSpPr>
        <p:spPr>
          <a:xfrm>
            <a:off x="812800" y="4561681"/>
            <a:ext cx="10883392"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3"/>
              </a:buClr>
              <a:buSzPts val="1400"/>
              <a:buFont typeface="IBM Plex Sans"/>
              <a:buNone/>
            </a:pPr>
            <a:r>
              <a:rPr b="0" i="0" lang="en-US" sz="1400" u="none" cap="none" strike="noStrike">
                <a:solidFill>
                  <a:srgbClr val="C9D3E3"/>
                </a:solidFill>
                <a:latin typeface="IBM Plex Sans"/>
                <a:ea typeface="IBM Plex Sans"/>
                <a:cs typeface="IBM Plex Sans"/>
                <a:sym typeface="IBM Plex Sans"/>
              </a:rPr>
              <a:t>Effect: v11's two eval60 regressions are gone, and Ministral-trio Gap errors drop from 6 to 4 in 20. Guide rev2 carries the same test for annotators.</a:t>
            </a:r>
            <a:endParaRPr b="0" i="0" sz="1400" u="none" cap="none" strike="noStrike">
              <a:solidFill>
                <a:schemeClr val="dk1"/>
              </a:solidFill>
              <a:latin typeface="IBM Plex Sans"/>
              <a:ea typeface="IBM Plex Sans"/>
              <a:cs typeface="IBM Plex Sans"/>
              <a:sym typeface="IBM Plex Sans"/>
            </a:endParaRPr>
          </a:p>
        </p:txBody>
      </p:sp>
      <p:sp>
        <p:nvSpPr>
          <p:cNvPr id="142" name="Google Shape;142;p9"/>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3"/>
              </a:buClr>
              <a:buSzPts val="1200"/>
              <a:buFont typeface="IBM Plex Sans"/>
              <a:buNone/>
            </a:pPr>
            <a:r>
              <a:rPr b="0" i="0" lang="en-US" sz="1200" u="none" cap="none" strike="noStrike">
                <a:solidFill>
                  <a:srgbClr val="C9D3E3"/>
                </a:solidFill>
                <a:latin typeface="IBM Plex Sans"/>
                <a:ea typeface="IBM Plex Sans"/>
                <a:cs typeface="IBM Plex Sans"/>
                <a:sym typeface="IBM Plex Sans"/>
              </a:rPr>
              <a:t>A2 · Prompt v11.1 and the frozen judges · 9</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47" name="Shape 147"/>
        <p:cNvGrpSpPr/>
        <p:nvPr/>
      </p:nvGrpSpPr>
      <p:grpSpPr>
        <a:xfrm>
          <a:off x="0" y="0"/>
          <a:ext cx="0" cy="0"/>
          <a:chOff x="0" y="0"/>
          <a:chExt cx="0" cy="0"/>
        </a:xfrm>
      </p:grpSpPr>
      <p:sp>
        <p:nvSpPr>
          <p:cNvPr id="148" name="Google Shape;148;p10"/>
          <p:cNvSpPr txBox="1"/>
          <p:nvPr>
            <p:ph type="title"/>
          </p:nvPr>
        </p:nvSpPr>
        <p:spPr>
          <a:xfrm>
            <a:off x="812800" y="81280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Third judge: Mistral Small wins on every signal</a:t>
            </a:r>
            <a:endParaRPr sz="3200"/>
          </a:p>
        </p:txBody>
      </p:sp>
      <p:graphicFrame>
        <p:nvGraphicFramePr>
          <p:cNvPr id="149" name="Google Shape;149;p10"/>
          <p:cNvGraphicFramePr/>
          <p:nvPr/>
        </p:nvGraphicFramePr>
        <p:xfrm>
          <a:off x="825500" y="1597620"/>
          <a:ext cx="3000000" cy="3000000"/>
        </p:xfrm>
        <a:graphic>
          <a:graphicData uri="http://schemas.openxmlformats.org/drawingml/2006/table">
            <a:tbl>
              <a:tblPr>
                <a:noFill/>
                <a:tableStyleId>{E63EEF11-E5C5-462E-ADDC-C61251426378}</a:tableStyleId>
              </a:tblPr>
              <a:tblGrid>
                <a:gridCol w="6121150"/>
                <a:gridCol w="2216275"/>
                <a:gridCol w="2216275"/>
              </a:tblGrid>
              <a:tr h="385950">
                <a:tc>
                  <a:txBody>
                    <a:bodyPr/>
                    <a:lstStyle/>
                    <a:p>
                      <a:pPr indent="0" lvl="0" marL="0" marR="0" rtl="0" algn="l">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Signal (prompt v11.1 unless noted)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Mistral Small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Ministral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New Gap labels right, pool (20 read)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17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12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Gap answers alone on Evidence cues, pool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As third judge, eval60 adjudicated 60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45</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Alone, eval60 adjudicated 60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35</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Tie-breaks won on eval60 (v8)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Seconds per 900 instances (A100)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549</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401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bl>
          </a:graphicData>
        </a:graphic>
      </p:graphicFrame>
      <p:sp>
        <p:nvSpPr>
          <p:cNvPr id="150" name="Google Shape;150;p10"/>
          <p:cNvSpPr/>
          <p:nvPr/>
        </p:nvSpPr>
        <p:spPr>
          <a:xfrm>
            <a:off x="812800" y="4604147"/>
            <a:ext cx="10883392"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Frozen trio: Qwen3.8-27B + Gemma 4 26B + Mistral Small 3.2 24B. The blind 40-instance check is dropped.</a:t>
            </a:r>
            <a:endParaRPr b="0" i="0" sz="1400" u="none" cap="none" strike="noStrike">
              <a:solidFill>
                <a:schemeClr val="dk1"/>
              </a:solidFill>
              <a:latin typeface="IBM Plex Sans"/>
              <a:ea typeface="IBM Plex Sans"/>
              <a:cs typeface="IBM Plex Sans"/>
              <a:sym typeface="IBM Plex Sans"/>
            </a:endParaRPr>
          </a:p>
        </p:txBody>
      </p:sp>
      <p:sp>
        <p:nvSpPr>
          <p:cNvPr id="151" name="Google Shape;151;p10"/>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A2 · Prompt v11.1 and the frozen judges · 10 · Qwen3.8 and Gemma are the shared judges; the third decides only when they disagree</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1"/>
        </a:solidFill>
      </p:bgPr>
    </p:bg>
    <p:spTree>
      <p:nvGrpSpPr>
        <p:cNvPr id="156" name="Shape 156"/>
        <p:cNvGrpSpPr/>
        <p:nvPr/>
      </p:nvGrpSpPr>
      <p:grpSpPr>
        <a:xfrm>
          <a:off x="0" y="0"/>
          <a:ext cx="0" cy="0"/>
          <a:chOff x="0" y="0"/>
          <a:chExt cx="0" cy="0"/>
        </a:xfrm>
      </p:grpSpPr>
      <p:sp>
        <p:nvSpPr>
          <p:cNvPr id="157" name="Google Shape;157;p11"/>
          <p:cNvSpPr txBox="1"/>
          <p:nvPr>
            <p:ph type="title"/>
          </p:nvPr>
        </p:nvSpPr>
        <p:spPr>
          <a:xfrm>
            <a:off x="812800" y="812800"/>
            <a:ext cx="10883392" cy="960041"/>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Next: calibrate the team on 30 labels, then re-judge the pool</a:t>
            </a:r>
            <a:endParaRPr sz="3200"/>
          </a:p>
        </p:txBody>
      </p:sp>
      <p:graphicFrame>
        <p:nvGraphicFramePr>
          <p:cNvPr id="158" name="Google Shape;158;p11"/>
          <p:cNvGraphicFramePr/>
          <p:nvPr/>
        </p:nvGraphicFramePr>
        <p:xfrm>
          <a:off x="825500" y="2064941"/>
          <a:ext cx="3000000" cy="3000000"/>
        </p:xfrm>
        <a:graphic>
          <a:graphicData uri="http://schemas.openxmlformats.org/drawingml/2006/table">
            <a:tbl>
              <a:tblPr>
                <a:noFill/>
                <a:tableStyleId>{E63EEF11-E5C5-462E-ADDC-C61251426378}</a:tableStyleId>
              </a:tblPr>
              <a:tblGrid>
                <a:gridCol w="3799325"/>
                <a:gridCol w="4643625"/>
                <a:gridCol w="2110750"/>
              </a:tblGrid>
              <a:tr h="385950">
                <a:tc>
                  <a:txBody>
                    <a:bodyPr/>
                    <a:lstStyle/>
                    <a:p>
                      <a:pPr indent="0" lvl="0" marL="0" marR="0" rtl="0" algn="l">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Step</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l">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What it gives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Effort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6B2"/>
                      </a:solidFill>
                      <a:prstDash val="solid"/>
                      <a:round/>
                      <a:headEnd len="sm" w="sm" type="none"/>
                      <a:tailEnd len="sm" w="sm" type="none"/>
                    </a:lnL>
                    <a:lnR cap="flat" cmpd="sng" w="12700">
                      <a:solidFill>
                        <a:srgbClr val="B7B6B2"/>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7B6B2"/>
                      </a:solidFill>
                      <a:prstDash val="solid"/>
                      <a:round/>
                      <a:headEnd len="sm" w="sm" type="none"/>
                      <a:tailEnd len="sm" w="sm" type="none"/>
                    </a:lnB>
                    <a:solidFill>
                      <a:srgbClr val="E5E4DF"/>
                    </a:solidFill>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Calibration sample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30 high-confidence labels, 3+ per category</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~25 min GPU</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7B6B2"/>
                      </a:solidFill>
                      <a:prstDash val="solid"/>
                      <a:round/>
                      <a:headEnd len="sm" w="sm" type="none"/>
                      <a:tailEnd len="sm" w="sm" type="none"/>
                    </a:lnT>
                    <a:lnB cap="flat" cmpd="sng" w="12700">
                      <a:solidFill>
                        <a:srgbClr val="C5C4C0"/>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Answer key</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Checked against the rules, one-line reason each</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Claude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Google </a:t>
                      </a:r>
                      <a:r>
                        <a:rPr lang="en-US">
                          <a:solidFill>
                            <a:srgbClr val="14213D"/>
                          </a:solidFill>
                          <a:latin typeface="IBM Plex Sans"/>
                          <a:ea typeface="IBM Plex Sans"/>
                          <a:cs typeface="IBM Plex Sans"/>
                          <a:sym typeface="IBM Plex Sans"/>
                        </a:rPr>
                        <a:t>sheet poll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Everyone's agreement with the key, team κ</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1–</a:t>
                      </a:r>
                      <a:r>
                        <a:rPr lang="en-US">
                          <a:solidFill>
                            <a:srgbClr val="14213D"/>
                          </a:solidFill>
                          <a:latin typeface="IBM Plex Sans"/>
                          <a:ea typeface="IBM Plex Sans"/>
                          <a:cs typeface="IBM Plex Sans"/>
                          <a:sym typeface="IBM Plex Sans"/>
                        </a:rPr>
                        <a:t>1</a:t>
                      </a:r>
                      <a:r>
                        <a:rPr lang="en-US" sz="1400" u="none" cap="none" strike="noStrike">
                          <a:solidFill>
                            <a:srgbClr val="14213D"/>
                          </a:solidFill>
                          <a:latin typeface="IBM Plex Sans"/>
                          <a:ea typeface="IBM Plex Sans"/>
                          <a:cs typeface="IBM Plex Sans"/>
                          <a:sym typeface="IBM Plex Sans"/>
                        </a:rPr>
                        <a:t>.5 h </a:t>
                      </a:r>
                      <a:r>
                        <a:rPr lang="en-US">
                          <a:solidFill>
                            <a:srgbClr val="14213D"/>
                          </a:solidFill>
                          <a:latin typeface="IBM Plex Sans"/>
                          <a:ea typeface="IBM Plex Sans"/>
                          <a:cs typeface="IBM Plex Sans"/>
                          <a:sym typeface="IBM Plex Sans"/>
                        </a:rPr>
                        <a:t>all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Rules rev1.1 →</a:t>
                      </a:r>
                      <a:r>
                        <a:rPr lang="en-US">
                          <a:solidFill>
                            <a:srgbClr val="14213D"/>
                          </a:solidFill>
                          <a:latin typeface="IBM Plex Sans"/>
                          <a:ea typeface="IBM Plex Sans"/>
                          <a:cs typeface="IBM Plex Sans"/>
                          <a:sym typeface="IBM Plex Sans"/>
                        </a:rPr>
                        <a:t> Extended team review</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Guide rev2, contract update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meeting</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EC0C3"/>
                      </a:solidFill>
                      <a:prstDash val="solid"/>
                      <a:round/>
                      <a:headEnd len="sm" w="sm" type="none"/>
                      <a:tailEnd len="sm" w="sm" type="none"/>
                    </a:lnL>
                    <a:lnR cap="flat" cmpd="sng" w="12700">
                      <a:solidFill>
                        <a:srgbClr val="BEC0C3"/>
                      </a:solidFill>
                      <a:prstDash val="solid"/>
                      <a:round/>
                      <a:headEnd len="sm" w="sm" type="none"/>
                      <a:tailEnd len="sm" w="sm" type="none"/>
                    </a:lnR>
                    <a:lnT cap="flat" cmpd="sng" w="12700">
                      <a:solidFill>
                        <a:srgbClr val="C5C4C0"/>
                      </a:solidFill>
                      <a:prstDash val="solid"/>
                      <a:round/>
                      <a:headEnd len="sm" w="sm" type="none"/>
                      <a:tailEnd len="sm" w="sm" type="none"/>
                    </a:lnT>
                    <a:lnB cap="flat" cmpd="sng" w="12700">
                      <a:solidFill>
                        <a:srgbClr val="BEC0C3"/>
                      </a:solidFill>
                      <a:prstDash val="solid"/>
                      <a:round/>
                      <a:headEnd len="sm" w="sm" type="none"/>
                      <a:tailEnd len="sm" w="sm" type="none"/>
                    </a:lnB>
                    <a:solidFill>
                      <a:srgbClr val="EEF1F5"/>
                    </a:solidFill>
                  </a:tcPr>
                </a:tc>
              </a:tr>
              <a:tr h="385950">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Full pool re-judge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Counts per category with the frozen setup</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GPU</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C0"/>
                      </a:solidFill>
                      <a:prstDash val="solid"/>
                      <a:round/>
                      <a:headEnd len="sm" w="sm" type="none"/>
                      <a:tailEnd len="sm" w="sm" type="none"/>
                    </a:lnL>
                    <a:lnR cap="flat" cmpd="sng" w="12700">
                      <a:solidFill>
                        <a:srgbClr val="C5C4C0"/>
                      </a:solidFill>
                      <a:prstDash val="solid"/>
                      <a:round/>
                      <a:headEnd len="sm" w="sm" type="none"/>
                      <a:tailEnd len="sm" w="sm" type="none"/>
                    </a:lnR>
                    <a:lnT cap="flat" cmpd="sng" w="12700">
                      <a:solidFill>
                        <a:srgbClr val="BEC0C3"/>
                      </a:solidFill>
                      <a:prstDash val="solid"/>
                      <a:round/>
                      <a:headEnd len="sm" w="sm" type="none"/>
                      <a:tailEnd len="sm" w="sm" type="none"/>
                    </a:lnT>
                    <a:lnB cap="flat" cmpd="sng" w="12700">
                      <a:solidFill>
                        <a:srgbClr val="C5C4C0"/>
                      </a:solidFill>
                      <a:prstDash val="solid"/>
                      <a:round/>
                      <a:headEnd len="sm" w="sm" type="none"/>
                      <a:tailEnd len="sm" w="sm" type="none"/>
                    </a:lnB>
                  </a:tcPr>
                </a:tc>
              </a:tr>
            </a:tbl>
          </a:graphicData>
        </a:graphic>
      </p:graphicFrame>
      <p:sp>
        <p:nvSpPr>
          <p:cNvPr id="159" name="Google Shape;159;p11"/>
          <p:cNvSpPr/>
          <p:nvPr/>
        </p:nvSpPr>
        <p:spPr>
          <a:xfrm>
            <a:off x="812800" y="4685506"/>
            <a:ext cx="10883392"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The quiz shows what annotators will see in A3: paragraph, cited title and abstract, 3 passages; no pre-label, no citing-paper information. Its 30 papers are left out of both test sets.</a:t>
            </a:r>
            <a:endParaRPr b="0" i="0" sz="1400" u="none" cap="none" strike="noStrike">
              <a:solidFill>
                <a:schemeClr val="dk1"/>
              </a:solidFill>
              <a:latin typeface="IBM Plex Sans"/>
              <a:ea typeface="IBM Plex Sans"/>
              <a:cs typeface="IBM Plex Sans"/>
              <a:sym typeface="IBM Plex Sans"/>
            </a:endParaRPr>
          </a:p>
        </p:txBody>
      </p:sp>
      <p:sp>
        <p:nvSpPr>
          <p:cNvPr id="160" name="Google Shape;160;p11"/>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A2 · Prompt v11.1 and the frozen judges · 11</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h7ce998915355f06f_0_0"/>
          <p:cNvSpPr txBox="1"/>
          <p:nvPr/>
        </p:nvSpPr>
        <p:spPr>
          <a:xfrm>
            <a:off x="474133" y="169333"/>
            <a:ext cx="11243700" cy="4404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2100">
                <a:solidFill>
                  <a:srgbClr val="16213A"/>
                </a:solidFill>
                <a:latin typeface="Georgia"/>
                <a:ea typeface="Georgia"/>
                <a:cs typeface="Georgia"/>
                <a:sym typeface="Georgia"/>
              </a:rPr>
              <a:t>Rules rev1.1 (same rules as the judges)</a:t>
            </a:r>
            <a:endParaRPr b="1" sz="2100">
              <a:solidFill>
                <a:srgbClr val="16213A"/>
              </a:solidFill>
              <a:latin typeface="Georgia"/>
              <a:ea typeface="Georgia"/>
              <a:cs typeface="Georgia"/>
              <a:sym typeface="Georgia"/>
            </a:endParaRPr>
          </a:p>
        </p:txBody>
      </p:sp>
      <p:sp>
        <p:nvSpPr>
          <p:cNvPr id="166" name="Google Shape;166;h7ce998915355f06f_0_0"/>
          <p:cNvSpPr txBox="1"/>
          <p:nvPr/>
        </p:nvSpPr>
        <p:spPr>
          <a:xfrm>
            <a:off x="474133" y="943033"/>
            <a:ext cx="4504500" cy="304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300">
                <a:solidFill>
                  <a:srgbClr val="586274"/>
                </a:solidFill>
              </a:rPr>
              <a:t>The categories</a:t>
            </a:r>
            <a:endParaRPr b="1" sz="1300">
              <a:solidFill>
                <a:srgbClr val="586274"/>
              </a:solidFill>
            </a:endParaRPr>
          </a:p>
        </p:txBody>
      </p:sp>
      <p:sp>
        <p:nvSpPr>
          <p:cNvPr id="167" name="Google Shape;167;h7ce998915355f06f_0_0"/>
          <p:cNvSpPr txBox="1"/>
          <p:nvPr/>
        </p:nvSpPr>
        <p:spPr>
          <a:xfrm>
            <a:off x="461433" y="1247833"/>
            <a:ext cx="4504500" cy="5588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200">
                <a:solidFill>
                  <a:srgbClr val="16213A"/>
                </a:solidFill>
              </a:rPr>
              <a:t>Background</a:t>
            </a:r>
            <a:r>
              <a:rPr lang="en-US" sz="1200">
                <a:solidFill>
                  <a:srgbClr val="16213A"/>
                </a:solidFill>
              </a:rPr>
              <a:t>: context, history, or one example among related works.</a:t>
            </a:r>
            <a:endParaRPr sz="1200">
              <a:solidFill>
                <a:srgbClr val="16213A"/>
              </a:solidFill>
            </a:endParaRPr>
          </a:p>
          <a:p>
            <a:pPr indent="0" lvl="0" marL="0" rtl="0" algn="l">
              <a:spcBef>
                <a:spcPts val="500"/>
              </a:spcBef>
              <a:spcAft>
                <a:spcPts val="0"/>
              </a:spcAft>
              <a:buNone/>
            </a:pPr>
            <a:r>
              <a:rPr b="1" lang="en-US" sz="1200">
                <a:solidFill>
                  <a:srgbClr val="16213A"/>
                </a:solidFill>
              </a:rPr>
              <a:t>Gap</a:t>
            </a:r>
            <a:r>
              <a:rPr lang="en-US" sz="1200">
                <a:solidFill>
                  <a:srgbClr val="16213A"/>
                </a:solidFill>
              </a:rPr>
              <a:t>: the citing text states a limitation of the target, or something it leaves unsolved.</a:t>
            </a:r>
            <a:endParaRPr sz="1200">
              <a:solidFill>
                <a:srgbClr val="16213A"/>
              </a:solidFill>
            </a:endParaRPr>
          </a:p>
          <a:p>
            <a:pPr indent="0" lvl="0" marL="0" rtl="0" algn="l">
              <a:spcBef>
                <a:spcPts val="500"/>
              </a:spcBef>
              <a:spcAft>
                <a:spcPts val="0"/>
              </a:spcAft>
              <a:buNone/>
            </a:pPr>
            <a:r>
              <a:rPr b="1" lang="en-US" sz="1200">
                <a:solidFill>
                  <a:srgbClr val="16213A"/>
                </a:solidFill>
              </a:rPr>
              <a:t>Basis</a:t>
            </a:r>
            <a:r>
              <a:rPr lang="en-US" sz="1200">
                <a:solidFill>
                  <a:srgbClr val="16213A"/>
                </a:solidFill>
              </a:rPr>
              <a:t>: the current work builds on / follows / extends the target ("we", "our method" as subject).</a:t>
            </a:r>
            <a:endParaRPr sz="1200">
              <a:solidFill>
                <a:srgbClr val="16213A"/>
              </a:solidFill>
            </a:endParaRPr>
          </a:p>
          <a:p>
            <a:pPr indent="0" lvl="0" marL="0" rtl="0" algn="l">
              <a:spcBef>
                <a:spcPts val="500"/>
              </a:spcBef>
              <a:spcAft>
                <a:spcPts val="0"/>
              </a:spcAft>
              <a:buNone/>
            </a:pPr>
            <a:r>
              <a:rPr b="1" lang="en-US" sz="1200">
                <a:solidFill>
                  <a:srgbClr val="16213A"/>
                </a:solidFill>
              </a:rPr>
              <a:t>Comparison</a:t>
            </a:r>
            <a:r>
              <a:rPr lang="en-US" sz="1200">
                <a:solidFill>
                  <a:srgbClr val="16213A"/>
                </a:solidFill>
              </a:rPr>
              <a:t>: likens or contrasts the current work with the target, or the target with other works.</a:t>
            </a:r>
            <a:endParaRPr sz="1200">
              <a:solidFill>
                <a:srgbClr val="16213A"/>
              </a:solidFill>
            </a:endParaRPr>
          </a:p>
          <a:p>
            <a:pPr indent="0" lvl="0" marL="0" rtl="0" algn="l">
              <a:spcBef>
                <a:spcPts val="500"/>
              </a:spcBef>
              <a:spcAft>
                <a:spcPts val="0"/>
              </a:spcAft>
              <a:buNone/>
            </a:pPr>
            <a:r>
              <a:rPr b="1" lang="en-US" sz="1200">
                <a:solidFill>
                  <a:srgbClr val="16213A"/>
                </a:solidFill>
              </a:rPr>
              <a:t>Application</a:t>
            </a:r>
            <a:r>
              <a:rPr lang="en-US" sz="1200">
                <a:solidFill>
                  <a:srgbClr val="16213A"/>
                </a:solidFill>
              </a:rPr>
              <a:t>: the current work uses the target's method, tool or data as is.</a:t>
            </a:r>
            <a:endParaRPr sz="1200">
              <a:solidFill>
                <a:srgbClr val="16213A"/>
              </a:solidFill>
            </a:endParaRPr>
          </a:p>
          <a:p>
            <a:pPr indent="0" lvl="0" marL="0" rtl="0" algn="l">
              <a:spcBef>
                <a:spcPts val="500"/>
              </a:spcBef>
              <a:spcAft>
                <a:spcPts val="0"/>
              </a:spcAft>
              <a:buNone/>
            </a:pPr>
            <a:r>
              <a:rPr b="1" lang="en-US" sz="1200">
                <a:solidFill>
                  <a:srgbClr val="16213A"/>
                </a:solidFill>
              </a:rPr>
              <a:t>Improvement/Modification</a:t>
            </a:r>
            <a:r>
              <a:rPr lang="en-US" sz="1200">
                <a:solidFill>
                  <a:srgbClr val="16213A"/>
                </a:solidFill>
              </a:rPr>
              <a:t>: the current work adapts, extends or modifies the target's method, tool or data.</a:t>
            </a:r>
            <a:endParaRPr sz="1200">
              <a:solidFill>
                <a:srgbClr val="16213A"/>
              </a:solidFill>
            </a:endParaRPr>
          </a:p>
          <a:p>
            <a:pPr indent="0" lvl="0" marL="0" rtl="0" algn="l">
              <a:spcBef>
                <a:spcPts val="500"/>
              </a:spcBef>
              <a:spcAft>
                <a:spcPts val="0"/>
              </a:spcAft>
              <a:buNone/>
            </a:pPr>
            <a:r>
              <a:rPr b="1" lang="en-US" sz="1200">
                <a:solidFill>
                  <a:srgbClr val="16213A"/>
                </a:solidFill>
              </a:rPr>
              <a:t>Evidence</a:t>
            </a:r>
            <a:r>
              <a:rPr lang="en-US" sz="1200">
                <a:solidFill>
                  <a:srgbClr val="16213A"/>
                </a:solidFill>
              </a:rPr>
              <a:t>: the target backs a claim, choice or result of the citing authors.</a:t>
            </a:r>
            <a:endParaRPr sz="1200">
              <a:solidFill>
                <a:srgbClr val="16213A"/>
              </a:solidFill>
            </a:endParaRPr>
          </a:p>
          <a:p>
            <a:pPr indent="0" lvl="0" marL="0" rtl="0" algn="l">
              <a:spcBef>
                <a:spcPts val="500"/>
              </a:spcBef>
              <a:spcAft>
                <a:spcPts val="0"/>
              </a:spcAft>
              <a:buNone/>
            </a:pPr>
            <a:r>
              <a:rPr b="1" lang="en-US" sz="1200">
                <a:solidFill>
                  <a:srgbClr val="16213A"/>
                </a:solidFill>
              </a:rPr>
              <a:t>Identification of the Originator</a:t>
            </a:r>
            <a:r>
              <a:rPr lang="en-US" sz="1200">
                <a:solidFill>
                  <a:srgbClr val="16213A"/>
                </a:solidFill>
              </a:rPr>
              <a:t>: credits the target as the first / original source of an idea.</a:t>
            </a:r>
            <a:endParaRPr sz="1200">
              <a:solidFill>
                <a:srgbClr val="16213A"/>
              </a:solidFill>
            </a:endParaRPr>
          </a:p>
          <a:p>
            <a:pPr indent="0" lvl="0" marL="0" rtl="0" algn="l">
              <a:spcBef>
                <a:spcPts val="500"/>
              </a:spcBef>
              <a:spcAft>
                <a:spcPts val="0"/>
              </a:spcAft>
              <a:buNone/>
            </a:pPr>
            <a:r>
              <a:rPr b="1" lang="en-US" sz="1200">
                <a:solidFill>
                  <a:srgbClr val="16213A"/>
                </a:solidFill>
              </a:rPr>
              <a:t>Further Reading</a:t>
            </a:r>
            <a:r>
              <a:rPr lang="en-US" sz="1200">
                <a:solidFill>
                  <a:srgbClr val="16213A"/>
                </a:solidFill>
              </a:rPr>
              <a:t>: sends the reader to the target ("see [x]", "for a survey see [x]").</a:t>
            </a:r>
            <a:endParaRPr sz="1200">
              <a:solidFill>
                <a:srgbClr val="16213A"/>
              </a:solidFill>
            </a:endParaRPr>
          </a:p>
          <a:p>
            <a:pPr indent="0" lvl="0" marL="0" rtl="0" algn="l">
              <a:spcBef>
                <a:spcPts val="500"/>
              </a:spcBef>
              <a:spcAft>
                <a:spcPts val="500"/>
              </a:spcAft>
              <a:buNone/>
            </a:pPr>
            <a:r>
              <a:rPr b="1" lang="en-US" sz="1200">
                <a:solidFill>
                  <a:srgbClr val="16213A"/>
                </a:solidFill>
              </a:rPr>
              <a:t>Unclear</a:t>
            </a:r>
            <a:r>
              <a:rPr lang="en-US" sz="1200">
                <a:solidFill>
                  <a:srgbClr val="16213A"/>
                </a:solidFill>
              </a:rPr>
              <a:t>: only praise or criticism, or no category clearly applies.</a:t>
            </a:r>
            <a:endParaRPr sz="1200">
              <a:solidFill>
                <a:srgbClr val="16213A"/>
              </a:solidFill>
            </a:endParaRPr>
          </a:p>
        </p:txBody>
      </p:sp>
      <p:sp>
        <p:nvSpPr>
          <p:cNvPr id="168" name="Google Shape;168;h7ce998915355f06f_0_0"/>
          <p:cNvSpPr txBox="1"/>
          <p:nvPr/>
        </p:nvSpPr>
        <p:spPr>
          <a:xfrm>
            <a:off x="5215467" y="943033"/>
            <a:ext cx="6502500" cy="304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300">
                <a:solidFill>
                  <a:srgbClr val="586274"/>
                </a:solidFill>
              </a:rPr>
              <a:t>The rules</a:t>
            </a:r>
            <a:endParaRPr b="1" sz="1300">
              <a:solidFill>
                <a:srgbClr val="586274"/>
              </a:solidFill>
            </a:endParaRPr>
          </a:p>
        </p:txBody>
      </p:sp>
      <p:sp>
        <p:nvSpPr>
          <p:cNvPr id="169" name="Google Shape;169;h7ce998915355f06f_0_0"/>
          <p:cNvSpPr txBox="1"/>
          <p:nvPr/>
        </p:nvSpPr>
        <p:spPr>
          <a:xfrm>
            <a:off x="5215467" y="1247833"/>
            <a:ext cx="6502500" cy="5588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100">
                <a:solidFill>
                  <a:srgbClr val="16213A"/>
                </a:solidFill>
              </a:rPr>
              <a:t>R0 Reading scope</a:t>
            </a:r>
            <a:r>
              <a:rPr lang="en-US" sz="1100">
                <a:solidFill>
                  <a:srgbClr val="16213A"/>
                </a:solidFill>
              </a:rPr>
              <a:t>: Start from the target's sentence. Another sentence counts only if it refers back to the target ("they", "these methods", a list containing it). Never the section, the paragraph topic or other citations' claims.</a:t>
            </a:r>
            <a:endParaRPr sz="1100">
              <a:solidFill>
                <a:srgbClr val="16213A"/>
              </a:solidFill>
            </a:endParaRPr>
          </a:p>
          <a:p>
            <a:pPr indent="0" lvl="0" marL="0" rtl="0" algn="l">
              <a:spcBef>
                <a:spcPts val="500"/>
              </a:spcBef>
              <a:spcAft>
                <a:spcPts val="0"/>
              </a:spcAft>
              <a:buNone/>
            </a:pPr>
            <a:r>
              <a:rPr b="1" lang="en-US" sz="1100">
                <a:solidFill>
                  <a:srgbClr val="16213A"/>
                </a:solidFill>
              </a:rPr>
              <a:t>R-EV</a:t>
            </a:r>
            <a:r>
              <a:rPr lang="en-US" sz="1100">
                <a:solidFill>
                  <a:srgbClr val="16213A"/>
                </a:solidFill>
              </a:rPr>
              <a:t>: Evidence = the target backs a claim of the citing authors, incl. the source that reports another method's limitation. Describing the target, or one example of a family = Background. Using it = Application.</a:t>
            </a:r>
            <a:endParaRPr sz="1100">
              <a:solidFill>
                <a:srgbClr val="16213A"/>
              </a:solidFill>
            </a:endParaRPr>
          </a:p>
          <a:p>
            <a:pPr indent="0" lvl="0" marL="0" rtl="0" algn="l">
              <a:spcBef>
                <a:spcPts val="500"/>
              </a:spcBef>
              <a:spcAft>
                <a:spcPts val="0"/>
              </a:spcAft>
              <a:buNone/>
            </a:pPr>
            <a:r>
              <a:rPr b="1" lang="en-US" sz="1100">
                <a:solidFill>
                  <a:srgbClr val="16213A"/>
                </a:solidFill>
              </a:rPr>
              <a:t>R-GAP</a:t>
            </a:r>
            <a:r>
              <a:rPr lang="en-US" sz="1100">
                <a:solidFill>
                  <a:srgbClr val="16213A"/>
                </a:solidFill>
              </a:rPr>
              <a:t>: A limitation stated about a list makes each listed work Gap. Position test: citation right after the works, before the limitation = Gap; at the end of a statement about a limitation of something else = Evidence. A gap of the field with no limitation attributed to the works = Background.</a:t>
            </a:r>
            <a:endParaRPr sz="1100">
              <a:solidFill>
                <a:srgbClr val="16213A"/>
              </a:solidFill>
            </a:endParaRPr>
          </a:p>
          <a:p>
            <a:pPr indent="0" lvl="0" marL="0" rtl="0" algn="l">
              <a:spcBef>
                <a:spcPts val="500"/>
              </a:spcBef>
              <a:spcAft>
                <a:spcPts val="0"/>
              </a:spcAft>
              <a:buNone/>
            </a:pPr>
            <a:r>
              <a:rPr b="1" lang="en-US" sz="1100">
                <a:solidFill>
                  <a:srgbClr val="16213A"/>
                </a:solidFill>
              </a:rPr>
              <a:t>R-IM</a:t>
            </a:r>
            <a:r>
              <a:rPr lang="en-US" sz="1100">
                <a:solidFill>
                  <a:srgbClr val="16213A"/>
                </a:solidFill>
              </a:rPr>
              <a:t>: "adapt / extend / modify [target's method]" = Improvement/Modification, even if the change is not described. "modify X as in [x]" = Application.</a:t>
            </a:r>
            <a:endParaRPr sz="1100">
              <a:solidFill>
                <a:srgbClr val="16213A"/>
              </a:solidFill>
            </a:endParaRPr>
          </a:p>
          <a:p>
            <a:pPr indent="0" lvl="0" marL="0" rtl="0" algn="l">
              <a:spcBef>
                <a:spcPts val="500"/>
              </a:spcBef>
              <a:spcAft>
                <a:spcPts val="0"/>
              </a:spcAft>
              <a:buNone/>
            </a:pPr>
            <a:r>
              <a:rPr b="1" lang="en-US" sz="1100">
                <a:solidFill>
                  <a:srgbClr val="16213A"/>
                </a:solidFill>
              </a:rPr>
              <a:t>R-CMP</a:t>
            </a:r>
            <a:r>
              <a:rPr lang="en-US" sz="1100">
                <a:solidFill>
                  <a:srgbClr val="16213A"/>
                </a:solidFill>
              </a:rPr>
              <a:t>: Likening or contrasting the current work with the target = Comparison. A dataset detail of a compared work, or a family contrasted as a whole = Background.</a:t>
            </a:r>
            <a:endParaRPr sz="1100">
              <a:solidFill>
                <a:srgbClr val="16213A"/>
              </a:solidFill>
            </a:endParaRPr>
          </a:p>
          <a:p>
            <a:pPr indent="0" lvl="0" marL="0" rtl="0" algn="l">
              <a:spcBef>
                <a:spcPts val="500"/>
              </a:spcBef>
              <a:spcAft>
                <a:spcPts val="0"/>
              </a:spcAft>
              <a:buNone/>
            </a:pPr>
            <a:r>
              <a:rPr b="1" lang="en-US" sz="1100">
                <a:solidFill>
                  <a:srgbClr val="16213A"/>
                </a:solidFill>
              </a:rPr>
              <a:t>R-FR</a:t>
            </a:r>
            <a:r>
              <a:rPr lang="en-US" sz="1100">
                <a:solidFill>
                  <a:srgbClr val="16213A"/>
                </a:solidFill>
              </a:rPr>
              <a:t>: A "see [x]" pointer = Further Reading, unless the sentence also compares or makes a claim the target supports (then that function; Further Reading secondary).</a:t>
            </a:r>
            <a:endParaRPr sz="1100">
              <a:solidFill>
                <a:srgbClr val="16213A"/>
              </a:solidFill>
            </a:endParaRPr>
          </a:p>
          <a:p>
            <a:pPr indent="0" lvl="0" marL="0" rtl="0" algn="l">
              <a:spcBef>
                <a:spcPts val="500"/>
              </a:spcBef>
              <a:spcAft>
                <a:spcPts val="0"/>
              </a:spcAft>
              <a:buNone/>
            </a:pPr>
            <a:r>
              <a:rPr b="1" lang="en-US" sz="1100">
                <a:solidFill>
                  <a:srgbClr val="16213A"/>
                </a:solidFill>
              </a:rPr>
              <a:t>Basis</a:t>
            </a:r>
            <a:r>
              <a:rPr lang="en-US" sz="1100">
                <a:solidFill>
                  <a:srgbClr val="16213A"/>
                </a:solidFill>
              </a:rPr>
              <a:t>: Needs the current work as the subject of "build on / follow / extend". Other works based on [x] = Background.</a:t>
            </a:r>
            <a:endParaRPr sz="1100">
              <a:solidFill>
                <a:srgbClr val="16213A"/>
              </a:solidFill>
            </a:endParaRPr>
          </a:p>
          <a:p>
            <a:pPr indent="0" lvl="0" marL="0" rtl="0" algn="l">
              <a:spcBef>
                <a:spcPts val="500"/>
              </a:spcBef>
              <a:spcAft>
                <a:spcPts val="500"/>
              </a:spcAft>
              <a:buNone/>
            </a:pPr>
            <a:r>
              <a:rPr b="1" lang="en-US" sz="1100">
                <a:solidFill>
                  <a:srgbClr val="16213A"/>
                </a:solidFill>
              </a:rPr>
              <a:t>Pick one</a:t>
            </a:r>
            <a:r>
              <a:rPr lang="en-US" sz="1100">
                <a:solidFill>
                  <a:srgbClr val="16213A"/>
                </a:solidFill>
              </a:rPr>
              <a:t>: The PRIMARY function: the one that applies most clearly to the target.</a:t>
            </a:r>
            <a:endParaRPr sz="1100">
              <a:solidFill>
                <a:srgbClr val="16213A"/>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A2 — Prompt v11.1 and the frozen judges">
  <a:themeElements>
    <a:clrScheme name="A2 — Prompt v11.1 and the frozen judges">
      <a:dk1>
        <a:srgbClr val="14213D"/>
      </a:dk1>
      <a:lt1>
        <a:srgbClr val="F7F6F1"/>
      </a:lt1>
      <a:dk2>
        <a:srgbClr val="4D566A"/>
      </a:dk2>
      <a:lt2>
        <a:srgbClr val="E0E1DF"/>
      </a:lt2>
      <a:accent1>
        <a:srgbClr val="E8A55C"/>
      </a:accent1>
      <a:accent2>
        <a:srgbClr val="2F6FB0"/>
      </a:accent2>
      <a:accent3>
        <a:srgbClr val="A85A1C"/>
      </a:accent3>
      <a:accent4>
        <a:srgbClr val="33405A"/>
      </a:accent4>
      <a:accent5>
        <a:srgbClr val="9CC3EC"/>
      </a:accent5>
      <a:accent6>
        <a:srgbClr val="4A556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2 — Prompt v11.1 and the frozen judges">
  <a:themeElements>
    <a:clrScheme name="A2 — Prompt v11.1 and the frozen judges">
      <a:dk1>
        <a:srgbClr val="14213D"/>
      </a:dk1>
      <a:lt1>
        <a:srgbClr val="F7F6F1"/>
      </a:lt1>
      <a:dk2>
        <a:srgbClr val="4D566A"/>
      </a:dk2>
      <a:lt2>
        <a:srgbClr val="E0E1DF"/>
      </a:lt2>
      <a:accent1>
        <a:srgbClr val="E8A55C"/>
      </a:accent1>
      <a:accent2>
        <a:srgbClr val="2F6FB0"/>
      </a:accent2>
      <a:accent3>
        <a:srgbClr val="A85A1C"/>
      </a:accent3>
      <a:accent4>
        <a:srgbClr val="33405A"/>
      </a:accent4>
      <a:accent5>
        <a:srgbClr val="9CC3EC"/>
      </a:accent5>
      <a:accent6>
        <a:srgbClr val="4A556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2026-10-13T20:40:09Z</dcterms:created>
</cp:coreProperties>
</file>